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Lst>
  <p:notesMasterIdLst>
    <p:notesMasterId r:id="rId7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notesMaster" Target="notesMasters/notesMaster1.xml"/><Relationship Id="rId77" Type="http://schemas.openxmlformats.org/officeDocument/2006/relationships/presProps" Target="presProps.xml"/><Relationship Id="rId78" Type="http://schemas.openxmlformats.org/officeDocument/2006/relationships/viewProps" Target="viewProps.xml"/><Relationship Id="rId79" Type="http://schemas.openxmlformats.org/officeDocument/2006/relationships/theme" Target="theme/theme1.xml"/><Relationship Id="rId8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Report date: 14 October 2026
Purpose: internal management discussion and decisions on further validation
Practitioner: Leo Zhang; practice date: 10 October 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a limited, measurable follow-up evaluation. This practice does not yet justify deployment or wider use. With simulated data and preset workflows, Qwen Office called business-system and DingTalk tools to connect document reading, field extraction, tracking registration and briefing distribution. The most useful value to test is reduced repeated preparation and copying as information moves from documents into work records and collaboration channels. [E04, E07, E11, E20]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evidence also sets clear limits. This was a one-person demonstration. I observed the AI complete contract entry in Qwen Office without clicking the supplementary agreement myself; the specific write call has not been located in the reviewed records. A tracking item was created and read back, but a later inspection returned an empty list. The assistant attributed this to a missed day-seven boundary; the raw records establish neither that cause nor a successful fix. Of four scheduled inspections, two have completion records and two execution errors. This supports the feasibility of selected steps, but does not validate a complete management workflow or sustained reliability. [E01, E05, E07–E10, E15]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Numerical accuracy and sound management judgement need separate acceptance checks. The customer analysis cited ledger figures while also asserting, without independent support, that renewal formalities had not been completed. For project reporting, reviewers must check both the numbers and whether the conclusions go beyond the source material. [E12, E23]
Prioritise document field extraction and draft project-status and decision briefings, compared with manual work using the same standard. If quality is acceptable, test handoffs between two people. Any expansion should depend on net improvement after review, rework and maintenance, together with permitted tools, data and access. The materials contain no measured efficiency gains, cost-benefit results or department-wide rollout outcomes. [E21–E24]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10 October 2026, I attended a Qwen Office event on behalf of the company and followed the event materials to try office collaboration scenarios based on the Shanqin project. I later demonstrated some results to my manager and was asked to prepare this report. It examines changes to office workflows and the value of further validation, not overall product competitiveness, software development or Agentic SDLC practice. [U1]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practice used a demo tenant, preset contracts and project data. The packages comprised environment preparation and six business skills: contract entry, risk review, risk tracking, business briefings, customer decision support and scheduled inspections. One person exercised these workflows; coverage does not mean every step passed acceptance. The AI entered the contract while I watched in Qwen Office. The collaboration group was not used for real multi-person task handling. [E01–E05; U3]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Figure 1. Shanqin Project Manager dashboard
Business demo system /demo30/; read-only capture on 15 October 2026.
The screen shows 4 contracts totalling RMB 11.75 million, 2 at-risk projects, 0 risk-tracking items, and contract and project details.
Values show the demo tenant on 15 October, not business benefits or historical run statistics. The 'due within 30 days' card shows 4 while the contracts below are marked overdue. Its counting definition is unverified; do not interpret it as four future expiries. References: E01, E06, E20.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analysis reviewed three Qwen drafts and the same-day retrospective, then checked the locally saved main conversation, three inspection execution records, and run logs and group messages retrieved on 14 October. It also read seven skill packages and the actual agreement. Draft claims that conflicted with raw returns or overstated the evidence were corrected. These are local records of historical states; the historical analysis did not query or operate remote systems again. This version adds read-only business-screen captures from 15 October, with scope stated in each caption. [Source index in the appendices]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categories are distinguished: A, facts directly supported by material; B, observations from limited practice; C, evidence-based analysis; and D, unimplemented proposals or hypotheses. Manual methods described below are proposed comparators, not descriptions of HSBC's current processes. No on-site manual timing data was collected.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task was to turn contract material in a group into business-ledger fields. A manual comparator would locate and read the document, enter fields and review them. The assistant found the online agreement via group messages, read it, listed the number, customer, project, amount and expiry date, separately explained its status, then requested confirmation. Core values, including RMB 850,000 and expiry on 10 September 2026, matched the input. [A: E04]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Figure 2. Contract HT-2026-0007 in the ledger
Business demo system /demo30/contracts; captured on 15 October 2026.
Visible fields include the contract number, Qinchuan Urban Construction Group, RMB 850,000, expiry 2026-09-10 and entry date 2026-10-10.
This is the ledger state at the later capture. The screenshot does not show the write process; the account that I watched AI entry throughout and did not click the agreement remains based on my correction U3. References: E04, E05, U3.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connects reading, extraction and a confirmation request. However, the input was a short template embedded in a skill and created during setup; unfamiliar contracts, scans, conflicting versions and missing fields were not tested. I did not click the supplementary agreement and observed the AI complete entry in Qwen Office; the contract also appeared in the later ledger. Retain AI entry as an observed outcome, while noting that its write call has not been located in the reviewed main conversation. Confirmation context and execution receipts are still needed to validate the full write process. [A/B: E04–E05; U3]
For technology projects, the useful idea is to extract verifiable handoff fields from defined materials, attach source references and obtain human confirmation. A further test with new material could measure field accuracy, completeness and review effort. Whether this saves time is unknown.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task was to turn separate ledgers into a status briefing for discussion. The assistant read three data sources—contracts, at-risk projects and tracking items—generated 'new', 'risks', 'handled' and 'decisions needed' content, and posted it to the group. Readback showed three pending decisions and distinguished 'agreement archived' from 'ledger entry awaiting confirmation'. These are recorded outputs. [A: E11]
The useful feature is making status and responsibility explicit. Card colours, @mentions and formatting are ordinary features; no evidence shows improved decision quality or response speed. The risk API already returned days overdue, overspend and progress gaps. The model mainly called tools, aggregated data and expressed results; backend rule calculations cannot all be credited as independent risk detection by the model. [A/C: E06, E11, E13]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Figure 3. Progress, budget and spending in the ledger
Business demo system /demo30/projects; read-only capture on 15 October 2026.
The metro-monitoring project shows 45% actual progress against 60% planned, a budget of RMB 3.15 million and spending of RMB 3.40 million. The screen also shows the Yushang project's progress gap.
This read-only capture from 15 October does not replace the 10 October API return. The screen's '15% behind' means a 15-percentage-point gap. Risk labels come from the business system and cannot all be credited to independent model detection. References: E06, E23.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Figure 4. DingTalk's 10 October project briefing (excerpt)
Local DingTalk client, 'Shanqin · Project Collaboration' group; captured on 15 October 2026.
Visible sections include 'new today', 'risk alerts' and 'handled'. This briefing still marks the supplementary agreement as 'ledger entry awaiting confirmation'.
This historical message in the current client alone does not establish the initial version or later closure. The group was a one-person demonstration; 'automatic prompt' in the message does not verify reminder delivery. References: E07, E08, E11.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suitable first test for draft project briefings, with limits on interpretation. Contract expiry does not establish payment arrears, nor is contract value necessarily an amount to recover. Planned progress of 60% versus actual progress of 45% is a 15-percentage-point gap. Matters needing business judgement should be presented for confirmation. [C: E23]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task was to turn 'submit a corrective plan within a week' into a trackable item. Records show the assistant created RT-001 with a project, requirement, deadline and 'project owner', then created a personal to-do, sent a correction notice and read the group message back. Compared with the proposed manual workflow, it generated multiple registrations and notification texts. [A/B: E07]
This connects an instruction to work items, but does not demonstrate accountable follow-through. The owner remained a generic role and the to-do was assigned to the demonstrator. There is no record of another person accepting, executing, reporting on or closing it. A to-do with a deadline does not prove notification delivery. [A: E01, E08]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Figure 5. Decision and corrective-plan follow-up to-dos
Local DingTalk client, To-Dos list; captured on 15 October 2026.
Two practice to-dos, assignees and deadlines are visible. The decision item shows Sunday 9:00 AM and the corrective-plan follow-up Saturday 6:00 PM. Both still have a 'Complete' button.
The screenshot supports the existence of to-dos, not reminder delivery, owner acceptance or business closure. Interpret relative dates with the capture date and original records; this is not a new effectiveness test. References: E07, E08.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Figure 6. Risk-tracking page shows 'No risk-tracking items'
Business demo system /demo30/risks; read-only capture on 15 October 2026.
The 'All' filter is selected. The page says 'No risk-tracking items'; RT-001 is not visible.
This current view on 15 October does not prove RT-001 was deleted or explain the two different reads on 10 October. Alongside the still-existing to-dos, it shows why each work object's status needs separate checks. References: E07, E09, E10.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main conversation read RT-001 at 16:02, but the inspection subtask returned an empty list at 16:11. The records do not establish whether this was caused by a different tenant or connection context, a data reset, persistence or something else. First test how records, to-dos and notifications for one item correspond in an isolated sandbox, then involve a real recipient. Successful sending alone is insufficient for acceptance. [A/C: E09]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task was to query risks repeatedly and notify only when action was needed. Qwen Office created a daily 09:00 task and immediately triggered one demonstration. Of four subsequent scheduled runs, 11 October logged too_late, 12 October sleep, and 13 and 14 October completion. The latter two group messages appeared at 09:11:57 and 09:11:38. Causes are described only to the extent supported by logs. [A: E15–E16]
The earlier retrospective's failure explanation most needs correction. On 10 October the inspection API had already returned an empty tracking list, yet the assistant attributed this to 'exactly day seven being missed', changed the prompt and confirmed scheduling remained enabled. No successful retest under the same data-present conditions is recorded. An updated configuration and an enabled task do not prove that the business issue was fixed. [A/C: E09–E10]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inspections merit further evaluation, but should not yet be the sole protection for critical deadlines. No group message may mean no risk or no execution. Validate business notifications, operational health, delay, failure alerts and human takeover separately. Only this group and available logs were checked; this does not establish that the platform lacks other alert channels. [C/D: E17]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October · Execution error
Log: too_late
This does not establish that the device was offline
12 October · Execution error
Log: sleep
Recovery and other alert channels remain to be checked
13 October · Completion recorded
Group message: 09:11:57
Scheduled time: 09:00
14 October · Completion recorded
Group message: 09:11:38
Scheduled time: 09:00
E15–E17; a manual demonstration also ran on 10 October. These four scheduled runs do not estimate overall product reliability.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Qwen interprets requests, organises content and calls tools. The business system supplies records and some rule calculations. DingTalk holds online documents, group messages and personal to-dos. Qwen Office creates scheduled tasks. Standalone AI can also summarise manually supplied material; DingTalk adds paths for acquiring inputs and placing outputs into collaboration objects, creating the possibility of less manual copying. [A/C: E20]
No same-task comparison of standalone AI and AI connected to a platform was performed, so this additional value cannot be quantified. Existing templates or ordinary automation should also be compared if they can perform fixed-rule tasks more reliably. [D: E21–E22]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Inputs and materials
Group documents and business-ledger query results
Material quality and definitions still need checking
Qwen Office
Interpret requests, organise content and call tools
Create scheduled tasks
Business system
Store and query business records
Return some rule-based calculations
DingTalk
Online documents, group messages and personal to-dos
Multi-person acceptance, execution and closure unverified
Roles summarised from E20, E07–E09. Paths differ by scenario; this does not validate a complete workflow through to closure.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demonstration contains useful positive observations: confirmation requested after contract extraction, customer analysis kept in the conversation, cross-organisation reading denied, invalid @mention format blocked, and some messages read back. [A/B: E03, E13–E14]
These controls serve different purposes. Format validation is not business approval. A skill's instruction not to post to a group does not prove all conflicting instructions are blocked. One confirmation request does not prove confirmation always matches the eventual write. Not clicking the agreement does not establish that AI acted without authorisation; inspect the specific confirmation and execution sequence. Test refusal, changes, retries, wrong destinations and insufficient permissions separately. [C/D: E14]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customer-analysis API returned business amounts, project counts, expiry dates and status. The assistant further asserted that renewal or extension formalities were incomplete and revenue lacked contractual protection. The input did not establish these conclusions; customer resource priorities also lacked complete payment and return information. Reading material correctly does not guarantee a valid business interpretation. [A/C: E12]
Likewise, an unsupported diagnosis of the inspection problem entered the retrospective and was then described as fixed in a draft. AI summaries should retain raw returns and the basis for human corrections. One AI summary cannot independently substantiate another. [C: E10]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Level of judgement | Current basis | Conclusion
Functions work | Records of document reading, tracking writes, to-do creation and message readback | Several functions worked under those conditions
Scenario feasibility | Sequential operations with simulated data, one person and preset skills | Selected paths are feasible; end-to-end gaps remain
Benefits validated | No manual baseline, common quality scoring or handoff-effectiveness measures | Not yet verified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Level of judgement | Current basis | Conclusion
Readiness for wider use | Bank environment, multi-person use and sustained operations not tested | Not yet verified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Seven skill packages provide reusable workflows, but contain example dependencies such as demo groups, people and old dates. Rollout also costs parameter migration, permission confirmation, testing and ongoing maintenance; no such cost data was collected. [E19, E21, E24]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Candidate uses are extracting project information, summarising status, preparing decisions and handing off tasks. These could use AI's language and information-organisation abilities, while still requiring clear business objects, final judgement, recipients and accountability. They are use-case hypotheses, not evidence of problems at this bank or approval to use the products. [C/D: E22, E24]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Internal usability requires a separate assessment. Business or project owners should define information standards, acceptance criteria and final responsibility. Technology teams should design tests, record failures and human takeover. Security and data owners should confirm permitted tools, data categories, transfer, retention and access. Platform teams should confirm identity, permissions, interfaces, audit, scheduling and support. Applicable internal processes remain to be confirmed; this report does not infer existing architecture or control gaps. [D: E24]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limitations are a single preset sample, a one-person demonstration, no benefits baseline and unexplained tracking-state differences. Real material quality, conflicting definitions and exceptions add review cost. Even if generation becomes faster, check whether final delivery still meets requirements and whether data-entry effort has merely become more time-consuming checking.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manager should designate a task owner and arrange a validation window of no more than two weeks in a permitted environment, using synthetic material for field extraction and project-briefing drafts. This is a proposed timebox, not an agreed plan or promise of results. Humans review every output first. Any later use of de-identified or real internal material must remain within the actually permitted scope. [D]
Do not initially prioritise customer business decisions, unattended critical reminders or more presentation formatting. Two-person handoffs can be the next stage, testing whether the collaboration platform adds value.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Prepare six pairs of equally difficult but different tasks per scenario: 12 pairs and 24 executions across two scenarios, with 12 manual and 12 AI-assisted runs. Randomly allocate methods and alternate execution order, avoiding the memory advantage of manually completing material before asking AI to repeat it. Use the same input scope and final acceptance criteria; record practice and setup separately from formal timing. This small sample supports initial observation, not department-wide benefit projections. [D]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four core measures: active human time, elapsed time to acceptance, output completeness/accuracy and revision rounds. Include prompting, review, confirmation, copying, rework and manual recovery after failure; record learning and maintenance costs separately. Score first drafts and final quality separately, retaining failed and abandoned cases. Do not invent baseline values or target savings before data exists. [D]
If initial results are acceptable, use new tasks to compare AI drafting followed by manual copying with AI connected to the collaboration platform, separating integration benefits from generation benefits. A two-person test should check that owner, deadline, item ID and acceptance information are complete.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expanding, require quality against the same standard, net improvement after review and maintenance, traceable error handling and confirmed conditions of use. Critical errors must not escape acceptance, and unauthorised writes or distribution must not occur. The task owner should set time-improvement criteria and tolerances for non-critical errors before seeing results. [D]
If drafts help but integration costs offset the gains, retain drafting assistance alone. If state is inconsistent, critical items are silently missed or responsibility cannot be established, stop the relevant automatic actions and restore manual handling. An inconclusive evaluation may be ended without widening scope just to prolong the trial.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Item | Most direct evidence | Supported conclusion and limits
Contract extraction | R1 lines 320, 325; M5 | Source and core values match; confirmation requested; one preset template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Item | Most direct evidence | Supported conclusion and limits
Subsequent contract entry | User correction U3; R3 line 16, R5 line 73 | I observed AI entry without clicking the agreement; ledger record exists, but the write call and confirmation sequence need checking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Item | Most direct evidence | Supported conclusion and limits
Tracking and distribution | R1 lines 380, 387, 395, 438 | Write, to-do creation and group-notice readback recorded; no multi-person acceptance or closure
Tracking-state discrepancy | R1 line 438 versus R2 line 33 | Same-day reads returned one then zero items; cause and connection context unknown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Item | Most direct evidence | Supported conclusion and limits
Prompt revision | R1 lines 513–525 | Updated and found enabled; this does not establish the cause or a successful retest
Briefing and interpretation risk | R1 line 459; lines 415, 418 | Briefing readable in the group; some customer-analysis judgements exceed the input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Item | Most direct evidence | Supported conclusion and limits
Inspection reliability | R5 lines 61, 69; R3, R4 | Two errors and two completions in four scheduled runs; no estimate of overall product reliability
Demo limits | U2; K1–K7; M7 | One person, demo environment, seven skills; M7 shows an entry point to material, not operation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Why did reads of RT-001 differ? Match tenant, connection context and server-side change records; prompt adjustments alone are insufficient.
2. Which call entered the supplementary agreement, with what confirmation and receipt? I have confirmed watching the AI enter it; execution records still need to be matched to the ledger.
3. Were due-date reminders actually delivered, and do missed runs have other alert channels? Neither creation nor silence in the group establishes delivery.
4. Which two actual tasks merit a trial, who accepts the results, and which tools and material are permitted? The manager and relevant owners must decide.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What are the event's exact official name and organiser? The group display name differs from an existing article; this does not affect the scenario analysis.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Measure | What to record | Current status
Human effort | Minutes spent preparing, operating, reviewing, revising, copying and recovering | Not measured
Elapsed time | From complete inputs to final acceptance, identifying system and human waiting separately | No measured comparator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Measure | What to record | Current status
Quality | Field/fact coverage, critical errors and unsupported judgements; draft and final scored separately | No common scoring
Rework | Revision rounds, failures, manual recovery and maintenance effort | Not systematically recorded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Measure | What to record | Current status
Handoff | Item ID, owner, deadline, consistent status and receipt confirmation | One person; multi-person use not tested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Create separate cases for date boundaries, empty data, read failures, wrong groups, duplicate submissions and changes after confirmation. Report paired task differences, overall median and range, with failure cases. The proposed sample size and timebox are not measured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M1–M3: Qwen-generated report draft, practice-material and fact list, and key findings and management implications dated 2026-10-14. M4: 'Shanqin Three-End Collaboration Demo Retrospective', 2026-10-10. M5: 'Supplementary Agreement' in the demo working directory. M7: screenshot of a handbook card in the group. K1–K7: seven Shanqin skill packages.U1: my requirements for this report; U2: clarification that this was a one-person demonstration; U3: my explicit correction: 'I did not click the supplementary agreement. The AI entered the contract, and I watched Qwen Office throughout.'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R1: local main-conversation record, 3348c252-83d0-43c6-a838-030e53705d0c.jsonl; R2: immediate inspection on 10-10, b55b6d62-aae9-4b47-8e0d-7bef9bdc2355.jsonl; R3: inspection on 10-13, 81da9cc9-9185-4183-8d8d-76e720f8802e.jsonl; R4: inspection on 10-14, e22eafc5-9da8-4339-9bcc-2903cbcf2384.jsonl; R5: material review on 10-14, bda09640-0b4e-4605-97e6-208a3b86c468.jsonl.
E numbers refer to the accompanying Evidence Matrix and Key Findings (02_evidence_matrix.md). Full paths, review scope and file fingerprints are in the Material Inventory (01_material_inventory.md) and evidence directory. See 03_management_analysis.md for independent analysis and the measurement proposal, and 05_open_questions.md for the complete open-question list. Original materials are unchanged.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finding: Attended the event on 10-10, later demonstrated results to a manager and was asked to report; a one-person demonstration
Evidence sources: U1, U2; R1 L257: group creation supplied only the current user
Fact or inference: A: personal account; tool calls corroborate the demo setup
Evidence strength: High, limited to personal experience
Open question: Official event name and demonstration scope
Implication for this report: Establishes an internal management purpose, not acceptance of multi-person collaboration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finding: Seven skills: environment preparation plus six business skills; original ZIP, extracted and installed copies have identical contents
Evidence sources: M6, M8, K1–K7; R1 L164, 187, 193, 205
Fact or inference: A: files and installation records
Evidence strength: High
Open question: Cost of independent setup by a new user
Implication for this report: Reusable workflow material, not proof that seven business scenarios all passed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finding: Organisation access control denied reading the handbook body; the record contains forbidden.accessDenied
Evidence sources: M7; R1 L68, 74
Fact or inference: A; the single blocking observation is B
Evidence strength: High, limited to this request
Open question: Other permission paths and internal identity matching not tested
Implication for this report: Positive observation of an access boundary; not proof that bank access requirements are met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finding: Input came from a template embedded in the preparation skill. The online document was read, five core values shown, status separately explained and confirmation requested
Evidence sources: M5; K1, K2; R1 L272, 280, 320, 325
Fact or inference: A; extraction feasibility is B
Evidence strength: High, limited to one template document
Open question: Accuracy on new contracts, scans, multiple versions and missing fields
Implication for this report: Limited evidence of extraction feasibility, not an evaluation of real-world contract recognition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finding: I explicitly did not click the supplementary agreement and watched AI entry throughout in Qwen Office. A later ledger record was created at 16:13:39; the reviewed main conversation has no located contract_write call
Evidence sources: U3 (clarifying U2); R3 L16, R5 L73; R1 call index
Fact or inference: A: personal account and ledger; B: observed AI entry
Evidence strength: Personal observation and ledger existence supported; specific execution chain unresolved
Open question: Which call performed the write, and how do confirmation context and ledger record correspond?
Implication for this report: Withdraw the manual-web-entry explanation and retain the AI-entry observation. A missing call does not prove unauthorised action or full validation of write controls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finding: Ledger tools already returned days overdue, overspend and progress gaps; at-risk projects came from rule-based queries
Evidence sources: R1 L341–355; R2 L18–31
Fact or inference: A
Evidence strength: High
Open question: Query completeness, business definitions and data freshness
Implication for this report: Mainly demonstrates information organisation and tool calling, not independent discovery of business risk by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finding: RT-001 was created and present in the 16:02 read. To-do creation returned success and the group notice was read back
Evidence sources: R1 L367, 378–395, 438
Fact or inference: A; the one-time connection between steps is B
Evidence strength: High
Open question: No evidence of a named accountable owner, acceptance, execution or closure
Implication for this report: Registration, notification and a personal to-do were demonstrated; the management workflow through to closure was not validated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finding: The risk-tracking to-do was assigned to the demonstrator. The materials explicitly distinguish dueTime from a separate reminder rule
Evidence sources: K2 step 5, K4 step 3; R1 L384, 387; U2
Fact or inference: A: configuration instructions and calls; actual reminder delivery is D
Evidence strength: High for to-do creation; delivery unverified
Open question: Final dueTime readback, reminder rules and client notification records
Implication for this report: Replace 'will remind at the due time' with 'a to-do with a deadline was created; delivery needs testing'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finding: The main conversation returned one RT-001 at 16:02:09; the inspection subtask returned zero at 16:11:36
Evidence sources: R1 L438; R2 L27, 33
Fact or inference: A: discrepancy across reads
Evidence strength: High
Open question: Same tenant/connector scope, concurrent resets and server-side persistence
Implication for this report: The discrepancy already occurred that day; do not describe it only as disappearance on 10-14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finding: A missed day-seven boundary was the assistant's later explanation. Only the task prompt was changed and enabled status checked; no successful retest under the same data-present conditions was found
Evidence sources: R2 L33; R1 L513–525; R3 L20 and R4 L33 still empty
Fact or inference: A: recorded content; the original cause claim is D
Evidence strength: High, limited to the evidence gap
Open question: If RT-001 is returned, does the rule correctly evaluate the seven-day boundary?
Implication for this report: Withdraw the claim that the boundary defect was fixed and correct behaviour restored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finding: The briefing combined three sources, distinguished archived from awaiting entry, and identified three pending decisions. The group message was readable after the sending command was corrected
Evidence sources: R1 L430–459; R5 L69
Fact or inference: A; readability for management is B
Evidence strength: High for content and delivery records
Open question: Contribution to decisions, recipient understanding and subsequent action
Implication for this report: Supports prioritising project-briefing validation; colours and cards have limited value on their 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finding: The reply inferred incomplete formalities and revenue without contract protection from expiry dates/active status; the returned data contained no independent supporting evidence
Evidence sources: R1 L415, 418; K6 template
Fact or inference: A: comparison of reply and input; exceeding the evidence is C
Evidence strength: High
Open question: Renewal, payment and contract validity not checked
Implication for this report: Correct numbers do not ensure reliable judgement; do not treat these interpretations as facts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finding: An @mention missing a placeholder was rejected by validation, then succeeded after correction. This is a format check
Evidence sources: R1 L445, 451, 453, 459
Fact or inference: A
Evidence strength: High
Open question: Blocking of permission issues, business-content problems and wrong-group posts not tested
Implication for this report: Format validation is not business approval or a general safety gate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finding: Confirmation was requested after extraction. I observed later AI entry, but reviewed records do not establish the full confirmation-to-write sequence. Customer analysis stayed in the conversation; the risk skill explicitly posts to the group by default and skips CLI interaction
Evidence sources: R1 L325, 418; U3; K2, K4, K6
Fact or inference: A: request and skill contents; B: entry observation
Evidence strength: High for the existence of a request; enforcement unverified
Open question: Mapping confirmation to writes, refusal, reconfirmation after changes, conflicting instructions and wrong destinations
Implication for this report: A request alone proves neither waiting nor enforcement. Not clicking the agreement also does not establish lack of authorisation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finding: Qwen scheduled daily runs at 09:00. Two execution errors on 10-11/12 and two scheduled ok records on 10-13/14; also a manual demonstration on 10-10
Evidence sources: R1 L474, 476; R5 L61; R2–R4
Fact or inference: A
Evidence strength: High, limited to these five logs
Open question: Root cause of too_late, recovery from sleep and other notification channels
Implication for this report: Say 'two of four scheduled runs have completion records', not four consecutive successful days or an overall product success 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finding: Group messages on 10-13 and 10-14 were at 09:11:57 and 09:11:38, about 12 minutes after 09:00. Possible peak-time queuing was noted when the task was created
Evidence sources: R5 L69; R1 L476
Fact or inference: A; the unproven cause of delay is D
Evidence strength: High, limited to timestamps
Open question: Time attributable to queuing, startup and connection
Implication for this report: Distinguish roughly one minute of runtime from total scheduled-to-delivery delay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finding: No daily briefing for 10-11/12 appeared in the queried group page. Logs recorded errors, but not all notification channels were checked
Evidence sources: R5 L61, 69
Fact or inference: A; inability to distinguish no issue from no run by silence alone is C
Evidence strength: High for this group; no basis for asserting the platform has no alerts
Open question: Personal notifications, system reminders and operational monitoring
Implication for this report: Monitor business silence and execution failure separately; do not claim the platform has no alert mechanism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finding: The first sending command in the 10-14 automatic task failed because '+' was missing; it sent after correction
Evidence sources: R4 L37, 39, 42, 44; R5 L69
Fact or inference: A
Evidence strength: High
Open question: Recovery from other exceptions and possible duplicate sending
Implication for this report: One recovery is useful evidence, but troubleshooting and maintenance still cost effort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finding: Skills contain fixed group/person examples, old dates and differing parameter syntax. Actual runs substituted the current group and schema
Evidence sources: K1–K7; R1 L341, 378, 451, 474
Fact or inference: A; configuration review for migration is C
Evidence strength: High
Open question: Subsequent version management and configuration binding
Implication for this report: Do not claim 'install and use without adjustment'; test unfamiliar inputs and destination binding before reuse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finding: DingTalk held documents, group messages and personal to-dos. The business ledger handled persistence/queries; Qwen handled understanding, orchestration and scheduling
Evidence sources: Calls and returns in R1 and R2–R5
Fact or inference: A; possible reduction of manual copying is C
Evidence strength: High for roles; benefits not measured
Open question: Same-task comparison with standalone AI/existing automation
Implication for this report: Combined value lies in connecting information to action; do not attribute all backend rules and scheduling to the model or DingTalk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finding: No manual baseline, revision effort, quality scoring or real multi-person handoff data in the reviewed material
Evidence sources: M1–M4, R1–R5; U2
Fact or inference: A, within the reviewed scope
Evidence strength: High
Open question: Can comparable tasks be measured later?
Implication for this report: Evidence supports working functions and partial scenario feasibility; benefits and readiness to expand remain unverified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finding: Document extraction and briefing drafts are suitable for limited follow-up tests; test distribution only after people and destinations are clear
Evidence sources: E04, E07–E14, E20–E21
Fact or inference: C: management judgement; D: evaluation proposal
Evidence strength: Medium; testing needed
Open question: Will total review effort offset time savings?
Implication for this report: Recommend a small evaluation, not immediate procurement, deployment or team-wide rollout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finding: Contract amount and expiry cannot directly establish overdue receivables. Planned 60% versus actual 45% is a 15-percentage-point gap
Evidence sources: R1 L353, 355, 415, 418; M5 payment terms
Fact or inference: A: fields; interpretation correction is C
Evidence strength: High
Open question: Actual payments, renewal and contract terms not validated
Implication for this report: Do not label contract value as loss/debt, or percentage points as efficiency or a relative percentage decline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finding: No evidence of adaptation to real bank data, systems, permissions or audit. Relevant internal owners must confirm whether use is permitted
Evidence sources: U1, M1–M4, demo call scope
Fact or inference: A within the reviewed scope; implementation conditions are D
Evidence strength: High, limited to the absence of validation
Open question: Company-permitted tools, data, identities and integration methods
Implication for this report: Decide product capability and eligibility for bank use separately; do not infer existing internal problems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image-1002-2.pn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image" Target="../media/image-1005-1.png"/><Relationship Id="rId2"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image" Target="../media/image-1006-1.png"/><Relationship Id="rId2"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image" Target="../media/image-1007-1.png"/><Relationship Id="rId2"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image" Target="../media/image-1008-1.png"/><Relationship Id="rId2"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image" Target="../media/image-1009-1.png"/><Relationship Id="rId2"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image" Target="../media/image-1010-1.png"/><Relationship Id="rId2"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image" Target="../media/image-1011-1.png"/><Relationship Id="rId2"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image" Target="../media/image-1012-1.png"/><Relationship Id="rId2"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image" Target="../media/image-1013-1.png"/><Relationship Id="rId2"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image" Target="../media/image-1015-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HSBC_COVER">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2000" cy="6858000"/>
          </a:xfrm>
          <a:prstGeom prst="rect">
            <a:avLst/>
          </a:prstGeom>
        </p:spPr>
      </p:pic>
      <p:sp>
        <p:nvSpPr>
          <p:cNvPr id="3" name="Text 0"/>
          <p:cNvSpPr/>
          <p:nvPr>
            <p:ph idx="101" type="title" hasCustomPrompt="1"/>
          </p:nvPr>
        </p:nvSpPr>
        <p:spPr>
          <a:xfrm>
            <a:off x="304800" y="182880"/>
            <a:ext cx="11430000" cy="762000"/>
          </a:xfrm>
          <a:prstGeom prst="rect">
            <a:avLst/>
          </a:prstGeom>
          <a:noFill/>
          <a:ln/>
        </p:spPr>
        <p:txBody>
          <a:bodyPr wrap="square" rtlCol="0"/>
          <a:lstStyle>
            <a:lvl1pPr indent="0" marL="0">
              <a:buNone/>
              <a:defRPr lang="en-US" sz="4560" b="1" dirty="0">
                <a:solidFill>
                  <a:srgbClr val="000000"/>
                </a:solidFill>
                <a:latin typeface="Arial" pitchFamily="34" charset="0"/>
                <a:ea typeface="Arial" pitchFamily="34" charset="-122"/>
                <a:cs typeface="Arial" pitchFamily="34" charset="-120"/>
              </a:defRPr>
            </a:lvl1pPr>
          </a:lstStyle>
          <a:p>
            <a:pPr indent="0" marL="0">
              <a:buNone/>
            </a:pPr>
            <a:r>
              <a:rPr lang="en-US" sz="4560" b="1" dirty="0">
                <a:solidFill>
                  <a:srgbClr val="000000"/>
                </a:solidFill>
                <a:latin typeface="Arial" pitchFamily="34" charset="0"/>
                <a:ea typeface="Arial" pitchFamily="34" charset="-122"/>
                <a:cs typeface="Arial" pitchFamily="34" charset="-120"/>
              </a:rPr>
              <a:t>Click to add title</a:t>
            </a:r>
            <a:endParaRPr lang="en-US" sz="4560" dirty="0"/>
          </a:p>
        </p:txBody>
      </p:sp>
      <p:sp>
        <p:nvSpPr>
          <p:cNvPr id="4" name="Text 0"/>
          <p:cNvSpPr/>
          <p:nvPr>
            <p:ph idx="102" type="body" hasCustomPrompt="1"/>
          </p:nvPr>
        </p:nvSpPr>
        <p:spPr>
          <a:xfrm>
            <a:off x="762000" y="2743200"/>
            <a:ext cx="10668000" cy="2590800"/>
          </a:xfrm>
          <a:prstGeom prst="rect">
            <a:avLst/>
          </a:prstGeom>
          <a:noFill/>
          <a:ln/>
        </p:spPr>
        <p:txBody>
          <a:bodyPr wrap="square" rtlCol="0"/>
          <a:lstStyle>
            <a:lvl1pPr indent="0" marL="0">
              <a:buNone/>
              <a:defRPr lang="en-US" sz="1680" dirty="0">
                <a:solidFill>
                  <a:srgbClr val="000000"/>
                </a:solidFill>
                <a:latin typeface="Arial" pitchFamily="34" charset="0"/>
                <a:ea typeface="Arial" pitchFamily="34" charset="-122"/>
                <a:cs typeface="Arial" pitchFamily="34" charset="-120"/>
              </a:defRPr>
            </a:lvl1pPr>
          </a:lstStyle>
          <a:p>
            <a:pPr indent="0" marL="0">
              <a:buNone/>
            </a:pPr>
            <a:endParaRPr lang="en-US" sz="1680" dirty="0"/>
          </a:p>
        </p:txBody>
      </p:sp>
      <p:pic>
        <p:nvPicPr>
          <p:cNvPr id="5" name="Image 1" descr="preencoded.png">    </p:cNvPr>
          <p:cNvPicPr>
            <a:picLocks noChangeAspect="1"/>
          </p:cNvPicPr>
          <p:nvPr/>
        </p:nvPicPr>
        <p:blipFill>
          <a:blip r:embed="rId2"/>
          <a:stretch>
            <a:fillRect/>
          </a:stretch>
        </p:blipFill>
        <p:spPr>
          <a:xfrm>
            <a:off x="342900" y="6156960"/>
            <a:ext cx="4351020" cy="51816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HSBC_SECTI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81000" y="685800"/>
            <a:ext cx="11430000" cy="7620"/>
          </a:xfrm>
          <a:prstGeom prst="rect">
            <a:avLst/>
          </a:prstGeom>
          <a:solidFill>
            <a:srgbClr val="BDA8AA"/>
          </a:solidFill>
          <a:ln w="12700">
            <a:solidFill>
              <a:srgbClr val="DB0011">
                <a:alpha val="0"/>
              </a:srgbClr>
            </a:solidFill>
            <a:prstDash val="solid"/>
          </a:ln>
        </p:spPr>
      </p:sp>
      <p:sp>
        <p:nvSpPr>
          <p:cNvPr id="3" name="Text 1"/>
          <p:cNvSpPr/>
          <p:nvPr>
            <p:ph idx="101" type="title" hasCustomPrompt="1"/>
          </p:nvPr>
        </p:nvSpPr>
        <p:spPr>
          <a:xfrm>
            <a:off x="381000" y="891540"/>
            <a:ext cx="11430000" cy="487680"/>
          </a:xfrm>
          <a:prstGeom prst="rect">
            <a:avLst/>
          </a:prstGeom>
          <a:noFill/>
          <a:ln/>
        </p:spPr>
        <p:txBody>
          <a:bodyPr wrap="square" rtlCol="0"/>
          <a:lstStyle>
            <a:lvl1pPr indent="0" marL="0">
              <a:buNone/>
              <a:defRPr lang="en-US" sz="2400" b="1" dirty="0">
                <a:solidFill>
                  <a:srgbClr val="000000"/>
                </a:solidFill>
                <a:latin typeface="Arial" pitchFamily="34" charset="0"/>
                <a:ea typeface="Arial" pitchFamily="34" charset="-122"/>
                <a:cs typeface="Arial" pitchFamily="34" charset="-120"/>
              </a:defRPr>
            </a:lvl1pPr>
          </a:lstStyle>
          <a:p>
            <a:pPr indent="0" marL="0">
              <a:buNone/>
            </a:pPr>
            <a:r>
              <a:rPr lang="en-US" sz="2400" b="1" dirty="0">
                <a:solidFill>
                  <a:srgbClr val="000000"/>
                </a:solidFill>
                <a:latin typeface="Arial" pitchFamily="34" charset="0"/>
                <a:ea typeface="Arial" pitchFamily="34" charset="-122"/>
                <a:cs typeface="Arial" pitchFamily="34" charset="-120"/>
              </a:rPr>
              <a:t>Click to add title</a:t>
            </a:r>
            <a:endParaRPr lang="en-US" sz="2400" dirty="0"/>
          </a:p>
        </p:txBody>
      </p:sp>
      <p:sp>
        <p:nvSpPr>
          <p:cNvPr id="4" name="Text 1"/>
          <p:cNvSpPr/>
          <p:nvPr>
            <p:ph idx="102" type="body" hasCustomPrompt="1"/>
          </p:nvPr>
        </p:nvSpPr>
        <p:spPr>
          <a:xfrm>
            <a:off x="762000" y="2743200"/>
            <a:ext cx="10668000" cy="2590800"/>
          </a:xfrm>
          <a:prstGeom prst="rect">
            <a:avLst/>
          </a:prstGeom>
          <a:noFill/>
          <a:ln/>
        </p:spPr>
        <p:txBody>
          <a:bodyPr wrap="square" rtlCol="0"/>
          <a:lstStyle>
            <a:lvl1pPr indent="0" marL="0">
              <a:buNone/>
              <a:defRPr lang="en-US" sz="1680" dirty="0">
                <a:solidFill>
                  <a:srgbClr val="000000"/>
                </a:solidFill>
                <a:latin typeface="Arial" pitchFamily="34" charset="0"/>
                <a:ea typeface="Arial" pitchFamily="34" charset="-122"/>
                <a:cs typeface="Arial" pitchFamily="34" charset="-120"/>
              </a:defRPr>
            </a:lvl1pPr>
          </a:lstStyle>
          <a:p>
            <a:pPr indent="0" marL="0">
              <a:buNone/>
            </a:pPr>
            <a:endParaRPr lang="en-US" sz="1680" dirty="0"/>
          </a:p>
        </p:txBody>
      </p:sp>
      <p:sp>
        <p:nvSpPr>
          <p:cNvPr id="5" name="Shape 1"/>
          <p:cNvSpPr/>
          <p:nvPr/>
        </p:nvSpPr>
        <p:spPr>
          <a:xfrm>
            <a:off x="381000" y="685800"/>
            <a:ext cx="3276600" cy="22860"/>
          </a:xfrm>
          <a:prstGeom prst="rect">
            <a:avLst/>
          </a:prstGeom>
          <a:solidFill>
            <a:srgbClr val="DB0011"/>
          </a:solidFill>
          <a:ln w="12700">
            <a:solidFill>
              <a:srgbClr val="DB0011">
                <a:alpha val="0"/>
              </a:srgbClr>
            </a:solidFill>
            <a:prstDash val="solid"/>
          </a:ln>
        </p:spPr>
      </p:sp>
      <p:sp>
        <p:nvSpPr>
          <p:cNvPr id="6" name="Text 2"/>
          <p:cNvSpPr/>
          <p:nvPr/>
        </p:nvSpPr>
        <p:spPr>
          <a:xfrm>
            <a:off x="381000" y="182880"/>
            <a:ext cx="8229600" cy="297180"/>
          </a:xfrm>
          <a:prstGeom prst="rect">
            <a:avLst/>
          </a:prstGeom>
          <a:noFill/>
          <a:ln/>
        </p:spPr>
        <p:txBody>
          <a:bodyPr wrap="square" lIns="0" tIns="0" rIns="0" bIns="0" rtlCol="0" anchor="ctr"/>
          <a:lstStyle/>
          <a:p>
            <a:pPr indent="0" marL="0">
              <a:buNone/>
            </a:pPr>
            <a:r>
              <a:rPr lang="en-US" sz="1800" dirty="0">
                <a:solidFill>
                  <a:srgbClr val="222222"/>
                </a:solidFill>
                <a:latin typeface="Arial" pitchFamily="34" charset="0"/>
                <a:ea typeface="Arial" pitchFamily="34" charset="-122"/>
                <a:cs typeface="Arial" pitchFamily="34" charset="-120"/>
              </a:rPr>
              <a:t>HK Technology</a:t>
            </a:r>
            <a:endParaRPr lang="en-US" sz="1800" dirty="0"/>
          </a:p>
        </p:txBody>
      </p:sp>
      <p:pic>
        <p:nvPicPr>
          <p:cNvPr id="7" name="Image 0" descr="preencoded.png">    </p:cNvPr>
          <p:cNvPicPr>
            <a:picLocks noChangeAspect="1"/>
          </p:cNvPicPr>
          <p:nvPr/>
        </p:nvPicPr>
        <p:blipFill>
          <a:blip r:embed="rId1"/>
          <a:stretch>
            <a:fillRect/>
          </a:stretch>
        </p:blipFill>
        <p:spPr>
          <a:xfrm>
            <a:off x="419100" y="6172200"/>
            <a:ext cx="1356360" cy="44196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HSBC_TITLE_BODY">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81000" y="685800"/>
            <a:ext cx="11430000" cy="7620"/>
          </a:xfrm>
          <a:prstGeom prst="rect">
            <a:avLst/>
          </a:prstGeom>
          <a:solidFill>
            <a:srgbClr val="BDA8AA"/>
          </a:solidFill>
          <a:ln w="12700">
            <a:solidFill>
              <a:srgbClr val="DB0011">
                <a:alpha val="0"/>
              </a:srgbClr>
            </a:solidFill>
            <a:prstDash val="solid"/>
          </a:ln>
        </p:spPr>
      </p:sp>
      <p:sp>
        <p:nvSpPr>
          <p:cNvPr id="3" name="Text 1"/>
          <p:cNvSpPr/>
          <p:nvPr>
            <p:ph idx="101" type="title" hasCustomPrompt="1"/>
          </p:nvPr>
        </p:nvSpPr>
        <p:spPr>
          <a:xfrm>
            <a:off x="381000" y="891540"/>
            <a:ext cx="11430000" cy="487680"/>
          </a:xfrm>
          <a:prstGeom prst="rect">
            <a:avLst/>
          </a:prstGeom>
          <a:noFill/>
          <a:ln/>
        </p:spPr>
        <p:txBody>
          <a:bodyPr wrap="square" rtlCol="0"/>
          <a:lstStyle>
            <a:lvl1pPr indent="0" marL="0">
              <a:buNone/>
              <a:defRPr lang="en-US" sz="2400" b="1" dirty="0">
                <a:solidFill>
                  <a:srgbClr val="000000"/>
                </a:solidFill>
                <a:latin typeface="Arial" pitchFamily="34" charset="0"/>
                <a:ea typeface="Arial" pitchFamily="34" charset="-122"/>
                <a:cs typeface="Arial" pitchFamily="34" charset="-120"/>
              </a:defRPr>
            </a:lvl1pPr>
          </a:lstStyle>
          <a:p>
            <a:pPr indent="0" marL="0">
              <a:buNone/>
            </a:pPr>
            <a:r>
              <a:rPr lang="en-US" sz="2400" b="1" dirty="0">
                <a:solidFill>
                  <a:srgbClr val="000000"/>
                </a:solidFill>
                <a:latin typeface="Arial" pitchFamily="34" charset="0"/>
                <a:ea typeface="Arial" pitchFamily="34" charset="-122"/>
                <a:cs typeface="Arial" pitchFamily="34" charset="-120"/>
              </a:rPr>
              <a:t>Click to add title</a:t>
            </a:r>
            <a:endParaRPr lang="en-US" sz="2400" dirty="0"/>
          </a:p>
        </p:txBody>
      </p:sp>
      <p:sp>
        <p:nvSpPr>
          <p:cNvPr id="4" name="Text 1"/>
          <p:cNvSpPr/>
          <p:nvPr>
            <p:ph idx="102" type="body" hasCustomPrompt="1"/>
          </p:nvPr>
        </p:nvSpPr>
        <p:spPr>
          <a:xfrm>
            <a:off x="762000" y="2057400"/>
            <a:ext cx="10668000" cy="3886200"/>
          </a:xfrm>
          <a:prstGeom prst="rect">
            <a:avLst/>
          </a:prstGeom>
          <a:noFill/>
          <a:ln/>
        </p:spPr>
        <p:txBody>
          <a:bodyPr wrap="square" rtlCol="0"/>
          <a:lstStyle>
            <a:lvl1pPr indent="0" marL="0">
              <a:buNone/>
              <a:defRPr lang="en-US" sz="1680" dirty="0">
                <a:solidFill>
                  <a:srgbClr val="000000"/>
                </a:solidFill>
                <a:latin typeface="Arial" pitchFamily="34" charset="0"/>
                <a:ea typeface="Arial" pitchFamily="34" charset="-122"/>
                <a:cs typeface="Arial" pitchFamily="34" charset="-120"/>
              </a:defRPr>
            </a:lvl1pPr>
          </a:lstStyle>
          <a:p>
            <a:pPr indent="0" marL="0">
              <a:buNone/>
            </a:pPr>
            <a:endParaRPr lang="en-US" sz="1680" dirty="0"/>
          </a:p>
        </p:txBody>
      </p:sp>
      <p:sp>
        <p:nvSpPr>
          <p:cNvPr id="5" name="Shape 1"/>
          <p:cNvSpPr/>
          <p:nvPr/>
        </p:nvSpPr>
        <p:spPr>
          <a:xfrm>
            <a:off x="381000" y="685800"/>
            <a:ext cx="3276600" cy="22860"/>
          </a:xfrm>
          <a:prstGeom prst="rect">
            <a:avLst/>
          </a:prstGeom>
          <a:solidFill>
            <a:srgbClr val="DB0011"/>
          </a:solidFill>
          <a:ln w="12700">
            <a:solidFill>
              <a:srgbClr val="DB0011">
                <a:alpha val="0"/>
              </a:srgbClr>
            </a:solidFill>
            <a:prstDash val="solid"/>
          </a:ln>
        </p:spPr>
      </p:sp>
      <p:sp>
        <p:nvSpPr>
          <p:cNvPr id="6" name="Text 2"/>
          <p:cNvSpPr/>
          <p:nvPr/>
        </p:nvSpPr>
        <p:spPr>
          <a:xfrm>
            <a:off x="381000" y="182880"/>
            <a:ext cx="8229600" cy="297180"/>
          </a:xfrm>
          <a:prstGeom prst="rect">
            <a:avLst/>
          </a:prstGeom>
          <a:noFill/>
          <a:ln/>
        </p:spPr>
        <p:txBody>
          <a:bodyPr wrap="square" lIns="0" tIns="0" rIns="0" bIns="0" rtlCol="0" anchor="ctr"/>
          <a:lstStyle/>
          <a:p>
            <a:pPr indent="0" marL="0">
              <a:buNone/>
            </a:pPr>
            <a:r>
              <a:rPr lang="en-US" sz="1800" dirty="0">
                <a:solidFill>
                  <a:srgbClr val="222222"/>
                </a:solidFill>
                <a:latin typeface="Arial" pitchFamily="34" charset="0"/>
                <a:ea typeface="Arial" pitchFamily="34" charset="-122"/>
                <a:cs typeface="Arial" pitchFamily="34" charset="-120"/>
              </a:rPr>
              <a:t>HK Technology</a:t>
            </a:r>
            <a:endParaRPr lang="en-US" sz="1800" dirty="0"/>
          </a:p>
        </p:txBody>
      </p:sp>
      <p:pic>
        <p:nvPicPr>
          <p:cNvPr id="7" name="Image 0" descr="preencoded.png">    </p:cNvPr>
          <p:cNvPicPr>
            <a:picLocks noChangeAspect="1"/>
          </p:cNvPicPr>
          <p:nvPr/>
        </p:nvPicPr>
        <p:blipFill>
          <a:blip r:embed="rId1"/>
          <a:stretch>
            <a:fillRect/>
          </a:stretch>
        </p:blipFill>
        <p:spPr>
          <a:xfrm>
            <a:off x="419100" y="6172200"/>
            <a:ext cx="1356360" cy="44196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HSBC_TWO_COLUM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81000" y="685800"/>
            <a:ext cx="11430000" cy="7620"/>
          </a:xfrm>
          <a:prstGeom prst="rect">
            <a:avLst/>
          </a:prstGeom>
          <a:solidFill>
            <a:srgbClr val="BDA8AA"/>
          </a:solidFill>
          <a:ln w="12700">
            <a:solidFill>
              <a:srgbClr val="DB0011">
                <a:alpha val="0"/>
              </a:srgbClr>
            </a:solidFill>
            <a:prstDash val="solid"/>
          </a:ln>
        </p:spPr>
      </p:sp>
      <p:sp>
        <p:nvSpPr>
          <p:cNvPr id="3" name="Text 1"/>
          <p:cNvSpPr/>
          <p:nvPr>
            <p:ph idx="101" type="title" hasCustomPrompt="1"/>
          </p:nvPr>
        </p:nvSpPr>
        <p:spPr>
          <a:xfrm>
            <a:off x="381000" y="891540"/>
            <a:ext cx="11430000" cy="487680"/>
          </a:xfrm>
          <a:prstGeom prst="rect">
            <a:avLst/>
          </a:prstGeom>
          <a:noFill/>
          <a:ln/>
        </p:spPr>
        <p:txBody>
          <a:bodyPr wrap="square" rtlCol="0"/>
          <a:lstStyle>
            <a:lvl1pPr indent="0" marL="0">
              <a:buNone/>
              <a:defRPr lang="en-US" sz="2400" b="1" dirty="0">
                <a:solidFill>
                  <a:srgbClr val="000000"/>
                </a:solidFill>
                <a:latin typeface="Arial" pitchFamily="34" charset="0"/>
                <a:ea typeface="Arial" pitchFamily="34" charset="-122"/>
                <a:cs typeface="Arial" pitchFamily="34" charset="-120"/>
              </a:defRPr>
            </a:lvl1pPr>
          </a:lstStyle>
          <a:p>
            <a:pPr indent="0" marL="0">
              <a:buNone/>
            </a:pPr>
            <a:r>
              <a:rPr lang="en-US" sz="2400" b="1" dirty="0">
                <a:solidFill>
                  <a:srgbClr val="000000"/>
                </a:solidFill>
                <a:latin typeface="Arial" pitchFamily="34" charset="0"/>
                <a:ea typeface="Arial" pitchFamily="34" charset="-122"/>
                <a:cs typeface="Arial" pitchFamily="34" charset="-120"/>
              </a:rPr>
              <a:t>Click to add title</a:t>
            </a:r>
            <a:endParaRPr lang="en-US" sz="2400" dirty="0"/>
          </a:p>
        </p:txBody>
      </p:sp>
      <p:sp>
        <p:nvSpPr>
          <p:cNvPr id="4" name="Text 1"/>
          <p:cNvSpPr/>
          <p:nvPr>
            <p:ph idx="102" type="body" hasCustomPrompt="1"/>
          </p:nvPr>
        </p:nvSpPr>
        <p:spPr>
          <a:xfrm>
            <a:off x="762000" y="2057400"/>
            <a:ext cx="5105400" cy="3886200"/>
          </a:xfrm>
          <a:prstGeom prst="rect">
            <a:avLst/>
          </a:prstGeom>
          <a:noFill/>
          <a:ln/>
        </p:spPr>
        <p:txBody>
          <a:bodyPr wrap="square" rtlCol="0"/>
          <a:lstStyle>
            <a:lvl1pPr indent="0" marL="0">
              <a:buNone/>
              <a:defRPr lang="en-US" sz="1680" dirty="0">
                <a:solidFill>
                  <a:srgbClr val="000000"/>
                </a:solidFill>
                <a:latin typeface="Arial" pitchFamily="34" charset="0"/>
                <a:ea typeface="Arial" pitchFamily="34" charset="-122"/>
                <a:cs typeface="Arial" pitchFamily="34" charset="-120"/>
              </a:defRPr>
            </a:lvl1pPr>
          </a:lstStyle>
          <a:p>
            <a:pPr indent="0" marL="0">
              <a:buNone/>
            </a:pPr>
            <a:endParaRPr lang="en-US" sz="1680" dirty="0"/>
          </a:p>
        </p:txBody>
      </p:sp>
      <p:sp>
        <p:nvSpPr>
          <p:cNvPr id="5" name="Text 1"/>
          <p:cNvSpPr/>
          <p:nvPr>
            <p:ph idx="103" type="body" hasCustomPrompt="1"/>
          </p:nvPr>
        </p:nvSpPr>
        <p:spPr>
          <a:xfrm>
            <a:off x="6324600" y="2057400"/>
            <a:ext cx="5105400" cy="3886200"/>
          </a:xfrm>
          <a:prstGeom prst="rect">
            <a:avLst/>
          </a:prstGeom>
          <a:noFill/>
          <a:ln/>
        </p:spPr>
        <p:txBody>
          <a:bodyPr wrap="square" rtlCol="0"/>
          <a:lstStyle>
            <a:lvl1pPr indent="0" marL="0">
              <a:buNone/>
              <a:defRPr lang="en-US" sz="1680" dirty="0">
                <a:solidFill>
                  <a:srgbClr val="000000"/>
                </a:solidFill>
                <a:latin typeface="Arial" pitchFamily="34" charset="0"/>
                <a:ea typeface="Arial" pitchFamily="34" charset="-122"/>
                <a:cs typeface="Arial" pitchFamily="34" charset="-120"/>
              </a:defRPr>
            </a:lvl1pPr>
          </a:lstStyle>
          <a:p>
            <a:pPr indent="0" marL="0">
              <a:buNone/>
            </a:pPr>
            <a:endParaRPr lang="en-US" sz="1680" dirty="0"/>
          </a:p>
        </p:txBody>
      </p:sp>
      <p:sp>
        <p:nvSpPr>
          <p:cNvPr id="6" name="Shape 1"/>
          <p:cNvSpPr/>
          <p:nvPr/>
        </p:nvSpPr>
        <p:spPr>
          <a:xfrm>
            <a:off x="381000" y="685800"/>
            <a:ext cx="3276600" cy="22860"/>
          </a:xfrm>
          <a:prstGeom prst="rect">
            <a:avLst/>
          </a:prstGeom>
          <a:solidFill>
            <a:srgbClr val="DB0011"/>
          </a:solidFill>
          <a:ln w="12700">
            <a:solidFill>
              <a:srgbClr val="DB0011">
                <a:alpha val="0"/>
              </a:srgbClr>
            </a:solidFill>
            <a:prstDash val="solid"/>
          </a:ln>
        </p:spPr>
      </p:sp>
      <p:sp>
        <p:nvSpPr>
          <p:cNvPr id="7" name="Text 2"/>
          <p:cNvSpPr/>
          <p:nvPr/>
        </p:nvSpPr>
        <p:spPr>
          <a:xfrm>
            <a:off x="381000" y="182880"/>
            <a:ext cx="8229600" cy="297180"/>
          </a:xfrm>
          <a:prstGeom prst="rect">
            <a:avLst/>
          </a:prstGeom>
          <a:noFill/>
          <a:ln/>
        </p:spPr>
        <p:txBody>
          <a:bodyPr wrap="square" lIns="0" tIns="0" rIns="0" bIns="0" rtlCol="0" anchor="ctr"/>
          <a:lstStyle/>
          <a:p>
            <a:pPr indent="0" marL="0">
              <a:buNone/>
            </a:pPr>
            <a:r>
              <a:rPr lang="en-US" sz="1800" dirty="0">
                <a:solidFill>
                  <a:srgbClr val="222222"/>
                </a:solidFill>
                <a:latin typeface="Arial" pitchFamily="34" charset="0"/>
                <a:ea typeface="Arial" pitchFamily="34" charset="-122"/>
                <a:cs typeface="Arial" pitchFamily="34" charset="-120"/>
              </a:rPr>
              <a:t>HK Technology</a:t>
            </a:r>
            <a:endParaRPr lang="en-US" sz="1800" dirty="0"/>
          </a:p>
        </p:txBody>
      </p:sp>
      <p:pic>
        <p:nvPicPr>
          <p:cNvPr id="8" name="Image 0" descr="preencoded.png">    </p:cNvPr>
          <p:cNvPicPr>
            <a:picLocks noChangeAspect="1"/>
          </p:cNvPicPr>
          <p:nvPr/>
        </p:nvPicPr>
        <p:blipFill>
          <a:blip r:embed="rId1"/>
          <a:stretch>
            <a:fillRect/>
          </a:stretch>
        </p:blipFill>
        <p:spPr>
          <a:xfrm>
            <a:off x="419100" y="6172200"/>
            <a:ext cx="1356360" cy="44196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HSBC_IMAGE_TEXT">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81000" y="685800"/>
            <a:ext cx="11430000" cy="7620"/>
          </a:xfrm>
          <a:prstGeom prst="rect">
            <a:avLst/>
          </a:prstGeom>
          <a:solidFill>
            <a:srgbClr val="BDA8AA"/>
          </a:solidFill>
          <a:ln w="12700">
            <a:solidFill>
              <a:srgbClr val="DB0011">
                <a:alpha val="0"/>
              </a:srgbClr>
            </a:solidFill>
            <a:prstDash val="solid"/>
          </a:ln>
        </p:spPr>
      </p:sp>
      <p:sp>
        <p:nvSpPr>
          <p:cNvPr id="3" name="Text 1"/>
          <p:cNvSpPr/>
          <p:nvPr>
            <p:ph idx="101" type="title" hasCustomPrompt="1"/>
          </p:nvPr>
        </p:nvSpPr>
        <p:spPr>
          <a:xfrm>
            <a:off x="381000" y="891540"/>
            <a:ext cx="11430000" cy="487680"/>
          </a:xfrm>
          <a:prstGeom prst="rect">
            <a:avLst/>
          </a:prstGeom>
          <a:noFill/>
          <a:ln/>
        </p:spPr>
        <p:txBody>
          <a:bodyPr wrap="square" rtlCol="0"/>
          <a:lstStyle>
            <a:lvl1pPr indent="0" marL="0">
              <a:buNone/>
              <a:defRPr lang="en-US" sz="2400" b="1" dirty="0">
                <a:solidFill>
                  <a:srgbClr val="000000"/>
                </a:solidFill>
                <a:latin typeface="Arial" pitchFamily="34" charset="0"/>
                <a:ea typeface="Arial" pitchFamily="34" charset="-122"/>
                <a:cs typeface="Arial" pitchFamily="34" charset="-120"/>
              </a:defRPr>
            </a:lvl1pPr>
          </a:lstStyle>
          <a:p>
            <a:pPr indent="0" marL="0">
              <a:buNone/>
            </a:pPr>
            <a:r>
              <a:rPr lang="en-US" sz="2400" b="1" dirty="0">
                <a:solidFill>
                  <a:srgbClr val="000000"/>
                </a:solidFill>
                <a:latin typeface="Arial" pitchFamily="34" charset="0"/>
                <a:ea typeface="Arial" pitchFamily="34" charset="-122"/>
                <a:cs typeface="Arial" pitchFamily="34" charset="-120"/>
              </a:rPr>
              <a:t>Click to add title</a:t>
            </a:r>
            <a:endParaRPr lang="en-US" sz="2400" dirty="0"/>
          </a:p>
        </p:txBody>
      </p:sp>
      <p:sp>
        <p:nvSpPr>
          <p:cNvPr id="4" name="Text 1"/>
          <p:cNvSpPr/>
          <p:nvPr>
            <p:ph idx="102" type="body" hasCustomPrompt="1"/>
          </p:nvPr>
        </p:nvSpPr>
        <p:spPr>
          <a:xfrm>
            <a:off x="762000" y="2057400"/>
            <a:ext cx="5105400" cy="3886200"/>
          </a:xfrm>
          <a:prstGeom prst="rect">
            <a:avLst/>
          </a:prstGeom>
          <a:noFill/>
          <a:ln/>
        </p:spPr>
        <p:txBody>
          <a:bodyPr wrap="square" rtlCol="0"/>
          <a:lstStyle>
            <a:lvl1pPr indent="0" marL="0">
              <a:buNone/>
              <a:defRPr lang="en-US" sz="1680" dirty="0">
                <a:solidFill>
                  <a:srgbClr val="000000"/>
                </a:solidFill>
                <a:latin typeface="Arial" pitchFamily="34" charset="0"/>
                <a:ea typeface="Arial" pitchFamily="34" charset="-122"/>
                <a:cs typeface="Arial" pitchFamily="34" charset="-120"/>
              </a:defRPr>
            </a:lvl1pPr>
          </a:lstStyle>
          <a:p>
            <a:pPr indent="0" marL="0">
              <a:buNone/>
            </a:pPr>
            <a:endParaRPr lang="en-US" sz="1680" dirty="0"/>
          </a:p>
        </p:txBody>
      </p:sp>
      <p:sp>
        <p:nvSpPr>
          <p:cNvPr id="5" name="Text 1"/>
          <p:cNvSpPr/>
          <p:nvPr>
            <p:ph idx="103" type="body" hasCustomPrompt="1"/>
          </p:nvPr>
        </p:nvSpPr>
        <p:spPr>
          <a:xfrm>
            <a:off x="6324600" y="2057400"/>
            <a:ext cx="5105400" cy="3886200"/>
          </a:xfrm>
          <a:prstGeom prst="rect">
            <a:avLst/>
          </a:prstGeom>
          <a:noFill/>
          <a:ln/>
        </p:spPr>
        <p:txBody>
          <a:bodyPr wrap="square" rtlCol="0"/>
          <a:lstStyle>
            <a:lvl1pPr indent="0" marL="0">
              <a:buNone/>
              <a:defRPr lang="en-US" sz="1680" dirty="0">
                <a:solidFill>
                  <a:srgbClr val="000000"/>
                </a:solidFill>
                <a:latin typeface="Arial" pitchFamily="34" charset="0"/>
                <a:ea typeface="Arial" pitchFamily="34" charset="-122"/>
                <a:cs typeface="Arial" pitchFamily="34" charset="-120"/>
              </a:defRPr>
            </a:lvl1pPr>
          </a:lstStyle>
          <a:p>
            <a:pPr indent="0" marL="0">
              <a:buNone/>
            </a:pPr>
            <a:endParaRPr lang="en-US" sz="1680" dirty="0"/>
          </a:p>
        </p:txBody>
      </p:sp>
      <p:sp>
        <p:nvSpPr>
          <p:cNvPr id="6" name="Shape 1"/>
          <p:cNvSpPr/>
          <p:nvPr/>
        </p:nvSpPr>
        <p:spPr>
          <a:xfrm>
            <a:off x="381000" y="685800"/>
            <a:ext cx="3276600" cy="22860"/>
          </a:xfrm>
          <a:prstGeom prst="rect">
            <a:avLst/>
          </a:prstGeom>
          <a:solidFill>
            <a:srgbClr val="DB0011"/>
          </a:solidFill>
          <a:ln w="12700">
            <a:solidFill>
              <a:srgbClr val="DB0011">
                <a:alpha val="0"/>
              </a:srgbClr>
            </a:solidFill>
            <a:prstDash val="solid"/>
          </a:ln>
        </p:spPr>
      </p:sp>
      <p:sp>
        <p:nvSpPr>
          <p:cNvPr id="7" name="Text 2"/>
          <p:cNvSpPr/>
          <p:nvPr/>
        </p:nvSpPr>
        <p:spPr>
          <a:xfrm>
            <a:off x="381000" y="182880"/>
            <a:ext cx="8229600" cy="297180"/>
          </a:xfrm>
          <a:prstGeom prst="rect">
            <a:avLst/>
          </a:prstGeom>
          <a:noFill/>
          <a:ln/>
        </p:spPr>
        <p:txBody>
          <a:bodyPr wrap="square" lIns="0" tIns="0" rIns="0" bIns="0" rtlCol="0" anchor="ctr"/>
          <a:lstStyle/>
          <a:p>
            <a:pPr indent="0" marL="0">
              <a:buNone/>
            </a:pPr>
            <a:r>
              <a:rPr lang="en-US" sz="1800" dirty="0">
                <a:solidFill>
                  <a:srgbClr val="222222"/>
                </a:solidFill>
                <a:latin typeface="Arial" pitchFamily="34" charset="0"/>
                <a:ea typeface="Arial" pitchFamily="34" charset="-122"/>
                <a:cs typeface="Arial" pitchFamily="34" charset="-120"/>
              </a:rPr>
              <a:t>HK Technology</a:t>
            </a:r>
            <a:endParaRPr lang="en-US" sz="1800" dirty="0"/>
          </a:p>
        </p:txBody>
      </p:sp>
      <p:pic>
        <p:nvPicPr>
          <p:cNvPr id="8" name="Image 0" descr="preencoded.png">    </p:cNvPr>
          <p:cNvPicPr>
            <a:picLocks noChangeAspect="1"/>
          </p:cNvPicPr>
          <p:nvPr/>
        </p:nvPicPr>
        <p:blipFill>
          <a:blip r:embed="rId1"/>
          <a:stretch>
            <a:fillRect/>
          </a:stretch>
        </p:blipFill>
        <p:spPr>
          <a:xfrm>
            <a:off x="419100" y="6172200"/>
            <a:ext cx="1356360" cy="44196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HSBC_KPI">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81000" y="685800"/>
            <a:ext cx="11430000" cy="7620"/>
          </a:xfrm>
          <a:prstGeom prst="rect">
            <a:avLst/>
          </a:prstGeom>
          <a:solidFill>
            <a:srgbClr val="BDA8AA"/>
          </a:solidFill>
          <a:ln w="12700">
            <a:solidFill>
              <a:srgbClr val="DB0011">
                <a:alpha val="0"/>
              </a:srgbClr>
            </a:solidFill>
            <a:prstDash val="solid"/>
          </a:ln>
        </p:spPr>
      </p:sp>
      <p:sp>
        <p:nvSpPr>
          <p:cNvPr id="3" name="Text 1"/>
          <p:cNvSpPr/>
          <p:nvPr>
            <p:ph idx="101" type="title" hasCustomPrompt="1"/>
          </p:nvPr>
        </p:nvSpPr>
        <p:spPr>
          <a:xfrm>
            <a:off x="381000" y="891540"/>
            <a:ext cx="11430000" cy="487680"/>
          </a:xfrm>
          <a:prstGeom prst="rect">
            <a:avLst/>
          </a:prstGeom>
          <a:noFill/>
          <a:ln/>
        </p:spPr>
        <p:txBody>
          <a:bodyPr wrap="square" rtlCol="0"/>
          <a:lstStyle>
            <a:lvl1pPr indent="0" marL="0">
              <a:buNone/>
              <a:defRPr lang="en-US" sz="2400" b="1" dirty="0">
                <a:solidFill>
                  <a:srgbClr val="000000"/>
                </a:solidFill>
                <a:latin typeface="Arial" pitchFamily="34" charset="0"/>
                <a:ea typeface="Arial" pitchFamily="34" charset="-122"/>
                <a:cs typeface="Arial" pitchFamily="34" charset="-120"/>
              </a:defRPr>
            </a:lvl1pPr>
          </a:lstStyle>
          <a:p>
            <a:pPr indent="0" marL="0">
              <a:buNone/>
            </a:pPr>
            <a:r>
              <a:rPr lang="en-US" sz="2400" b="1" dirty="0">
                <a:solidFill>
                  <a:srgbClr val="000000"/>
                </a:solidFill>
                <a:latin typeface="Arial" pitchFamily="34" charset="0"/>
                <a:ea typeface="Arial" pitchFamily="34" charset="-122"/>
                <a:cs typeface="Arial" pitchFamily="34" charset="-120"/>
              </a:rPr>
              <a:t>Click to add title</a:t>
            </a:r>
            <a:endParaRPr lang="en-US" sz="2400" dirty="0"/>
          </a:p>
        </p:txBody>
      </p:sp>
      <p:sp>
        <p:nvSpPr>
          <p:cNvPr id="4" name="Text 1"/>
          <p:cNvSpPr/>
          <p:nvPr>
            <p:ph idx="102" type="body" hasCustomPrompt="1"/>
          </p:nvPr>
        </p:nvSpPr>
        <p:spPr>
          <a:xfrm>
            <a:off x="762000" y="2286000"/>
            <a:ext cx="2438400" cy="3048000"/>
          </a:xfrm>
          <a:prstGeom prst="rect">
            <a:avLst/>
          </a:prstGeom>
          <a:noFill/>
          <a:ln/>
        </p:spPr>
        <p:txBody>
          <a:bodyPr wrap="square" rtlCol="0"/>
          <a:lstStyle>
            <a:lvl1pPr indent="0" marL="0">
              <a:buNone/>
              <a:defRPr lang="en-US" sz="1680" dirty="0">
                <a:solidFill>
                  <a:srgbClr val="000000"/>
                </a:solidFill>
                <a:latin typeface="Arial" pitchFamily="34" charset="0"/>
                <a:ea typeface="Arial" pitchFamily="34" charset="-122"/>
                <a:cs typeface="Arial" pitchFamily="34" charset="-120"/>
              </a:defRPr>
            </a:lvl1pPr>
          </a:lstStyle>
          <a:p>
            <a:pPr indent="0" marL="0">
              <a:buNone/>
            </a:pPr>
            <a:endParaRPr lang="en-US" sz="1680" dirty="0"/>
          </a:p>
        </p:txBody>
      </p:sp>
      <p:sp>
        <p:nvSpPr>
          <p:cNvPr id="5" name="Text 1"/>
          <p:cNvSpPr/>
          <p:nvPr>
            <p:ph idx="103" type="body" hasCustomPrompt="1"/>
          </p:nvPr>
        </p:nvSpPr>
        <p:spPr>
          <a:xfrm>
            <a:off x="3505200" y="2286000"/>
            <a:ext cx="2438400" cy="3048000"/>
          </a:xfrm>
          <a:prstGeom prst="rect">
            <a:avLst/>
          </a:prstGeom>
          <a:noFill/>
          <a:ln/>
        </p:spPr>
        <p:txBody>
          <a:bodyPr wrap="square" rtlCol="0"/>
          <a:lstStyle>
            <a:lvl1pPr indent="0" marL="0">
              <a:buNone/>
              <a:defRPr lang="en-US" sz="1680" dirty="0">
                <a:solidFill>
                  <a:srgbClr val="000000"/>
                </a:solidFill>
                <a:latin typeface="Arial" pitchFamily="34" charset="0"/>
                <a:ea typeface="Arial" pitchFamily="34" charset="-122"/>
                <a:cs typeface="Arial" pitchFamily="34" charset="-120"/>
              </a:defRPr>
            </a:lvl1pPr>
          </a:lstStyle>
          <a:p>
            <a:pPr indent="0" marL="0">
              <a:buNone/>
            </a:pPr>
            <a:endParaRPr lang="en-US" sz="1680" dirty="0"/>
          </a:p>
        </p:txBody>
      </p:sp>
      <p:sp>
        <p:nvSpPr>
          <p:cNvPr id="6" name="Text 1"/>
          <p:cNvSpPr/>
          <p:nvPr>
            <p:ph idx="104" type="body" hasCustomPrompt="1"/>
          </p:nvPr>
        </p:nvSpPr>
        <p:spPr>
          <a:xfrm>
            <a:off x="6248400" y="2286000"/>
            <a:ext cx="2438400" cy="3048000"/>
          </a:xfrm>
          <a:prstGeom prst="rect">
            <a:avLst/>
          </a:prstGeom>
          <a:noFill/>
          <a:ln/>
        </p:spPr>
        <p:txBody>
          <a:bodyPr wrap="square" rtlCol="0"/>
          <a:lstStyle>
            <a:lvl1pPr indent="0" marL="0">
              <a:buNone/>
              <a:defRPr lang="en-US" sz="1680" dirty="0">
                <a:solidFill>
                  <a:srgbClr val="000000"/>
                </a:solidFill>
                <a:latin typeface="Arial" pitchFamily="34" charset="0"/>
                <a:ea typeface="Arial" pitchFamily="34" charset="-122"/>
                <a:cs typeface="Arial" pitchFamily="34" charset="-120"/>
              </a:defRPr>
            </a:lvl1pPr>
          </a:lstStyle>
          <a:p>
            <a:pPr indent="0" marL="0">
              <a:buNone/>
            </a:pPr>
            <a:endParaRPr lang="en-US" sz="1680" dirty="0"/>
          </a:p>
        </p:txBody>
      </p:sp>
      <p:sp>
        <p:nvSpPr>
          <p:cNvPr id="7" name="Text 1"/>
          <p:cNvSpPr/>
          <p:nvPr>
            <p:ph idx="105" type="body" hasCustomPrompt="1"/>
          </p:nvPr>
        </p:nvSpPr>
        <p:spPr>
          <a:xfrm>
            <a:off x="8991600" y="2286000"/>
            <a:ext cx="2438400" cy="3048000"/>
          </a:xfrm>
          <a:prstGeom prst="rect">
            <a:avLst/>
          </a:prstGeom>
          <a:noFill/>
          <a:ln/>
        </p:spPr>
        <p:txBody>
          <a:bodyPr wrap="square" rtlCol="0"/>
          <a:lstStyle>
            <a:lvl1pPr indent="0" marL="0">
              <a:buNone/>
              <a:defRPr lang="en-US" sz="1680" dirty="0">
                <a:solidFill>
                  <a:srgbClr val="000000"/>
                </a:solidFill>
                <a:latin typeface="Arial" pitchFamily="34" charset="0"/>
                <a:ea typeface="Arial" pitchFamily="34" charset="-122"/>
                <a:cs typeface="Arial" pitchFamily="34" charset="-120"/>
              </a:defRPr>
            </a:lvl1pPr>
          </a:lstStyle>
          <a:p>
            <a:pPr indent="0" marL="0">
              <a:buNone/>
            </a:pPr>
            <a:endParaRPr lang="en-US" sz="1680" dirty="0"/>
          </a:p>
        </p:txBody>
      </p:sp>
      <p:sp>
        <p:nvSpPr>
          <p:cNvPr id="8" name="Shape 1"/>
          <p:cNvSpPr/>
          <p:nvPr/>
        </p:nvSpPr>
        <p:spPr>
          <a:xfrm>
            <a:off x="381000" y="685800"/>
            <a:ext cx="3276600" cy="22860"/>
          </a:xfrm>
          <a:prstGeom prst="rect">
            <a:avLst/>
          </a:prstGeom>
          <a:solidFill>
            <a:srgbClr val="DB0011"/>
          </a:solidFill>
          <a:ln w="12700">
            <a:solidFill>
              <a:srgbClr val="DB0011">
                <a:alpha val="0"/>
              </a:srgbClr>
            </a:solidFill>
            <a:prstDash val="solid"/>
          </a:ln>
        </p:spPr>
      </p:sp>
      <p:sp>
        <p:nvSpPr>
          <p:cNvPr id="9" name="Text 2"/>
          <p:cNvSpPr/>
          <p:nvPr/>
        </p:nvSpPr>
        <p:spPr>
          <a:xfrm>
            <a:off x="381000" y="182880"/>
            <a:ext cx="8229600" cy="297180"/>
          </a:xfrm>
          <a:prstGeom prst="rect">
            <a:avLst/>
          </a:prstGeom>
          <a:noFill/>
          <a:ln/>
        </p:spPr>
        <p:txBody>
          <a:bodyPr wrap="square" lIns="0" tIns="0" rIns="0" bIns="0" rtlCol="0" anchor="ctr"/>
          <a:lstStyle/>
          <a:p>
            <a:pPr indent="0" marL="0">
              <a:buNone/>
            </a:pPr>
            <a:r>
              <a:rPr lang="en-US" sz="1800" dirty="0">
                <a:solidFill>
                  <a:srgbClr val="222222"/>
                </a:solidFill>
                <a:latin typeface="Arial" pitchFamily="34" charset="0"/>
                <a:ea typeface="Arial" pitchFamily="34" charset="-122"/>
                <a:cs typeface="Arial" pitchFamily="34" charset="-120"/>
              </a:rPr>
              <a:t>HK Technology</a:t>
            </a:r>
            <a:endParaRPr lang="en-US" sz="1800" dirty="0"/>
          </a:p>
        </p:txBody>
      </p:sp>
      <p:pic>
        <p:nvPicPr>
          <p:cNvPr id="10" name="Image 0" descr="preencoded.png">    </p:cNvPr>
          <p:cNvPicPr>
            <a:picLocks noChangeAspect="1"/>
          </p:cNvPicPr>
          <p:nvPr/>
        </p:nvPicPr>
        <p:blipFill>
          <a:blip r:embed="rId1"/>
          <a:stretch>
            <a:fillRect/>
          </a:stretch>
        </p:blipFill>
        <p:spPr>
          <a:xfrm>
            <a:off x="419100" y="6172200"/>
            <a:ext cx="1356360" cy="44196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HSBC_COMPARI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81000" y="685800"/>
            <a:ext cx="11430000" cy="7620"/>
          </a:xfrm>
          <a:prstGeom prst="rect">
            <a:avLst/>
          </a:prstGeom>
          <a:solidFill>
            <a:srgbClr val="BDA8AA"/>
          </a:solidFill>
          <a:ln w="12700">
            <a:solidFill>
              <a:srgbClr val="DB0011">
                <a:alpha val="0"/>
              </a:srgbClr>
            </a:solidFill>
            <a:prstDash val="solid"/>
          </a:ln>
        </p:spPr>
      </p:sp>
      <p:sp>
        <p:nvSpPr>
          <p:cNvPr id="3" name="Text 1"/>
          <p:cNvSpPr/>
          <p:nvPr>
            <p:ph idx="101" type="title" hasCustomPrompt="1"/>
          </p:nvPr>
        </p:nvSpPr>
        <p:spPr>
          <a:xfrm>
            <a:off x="381000" y="891540"/>
            <a:ext cx="11430000" cy="487680"/>
          </a:xfrm>
          <a:prstGeom prst="rect">
            <a:avLst/>
          </a:prstGeom>
          <a:noFill/>
          <a:ln/>
        </p:spPr>
        <p:txBody>
          <a:bodyPr wrap="square" rtlCol="0"/>
          <a:lstStyle>
            <a:lvl1pPr indent="0" marL="0">
              <a:buNone/>
              <a:defRPr lang="en-US" sz="2400" b="1" dirty="0">
                <a:solidFill>
                  <a:srgbClr val="000000"/>
                </a:solidFill>
                <a:latin typeface="Arial" pitchFamily="34" charset="0"/>
                <a:ea typeface="Arial" pitchFamily="34" charset="-122"/>
                <a:cs typeface="Arial" pitchFamily="34" charset="-120"/>
              </a:defRPr>
            </a:lvl1pPr>
          </a:lstStyle>
          <a:p>
            <a:pPr indent="0" marL="0">
              <a:buNone/>
            </a:pPr>
            <a:r>
              <a:rPr lang="en-US" sz="2400" b="1" dirty="0">
                <a:solidFill>
                  <a:srgbClr val="000000"/>
                </a:solidFill>
                <a:latin typeface="Arial" pitchFamily="34" charset="0"/>
                <a:ea typeface="Arial" pitchFamily="34" charset="-122"/>
                <a:cs typeface="Arial" pitchFamily="34" charset="-120"/>
              </a:rPr>
              <a:t>Click to add title</a:t>
            </a:r>
            <a:endParaRPr lang="en-US" sz="2400" dirty="0"/>
          </a:p>
        </p:txBody>
      </p:sp>
      <p:sp>
        <p:nvSpPr>
          <p:cNvPr id="4" name="Text 1"/>
          <p:cNvSpPr/>
          <p:nvPr>
            <p:ph idx="102" type="body" hasCustomPrompt="1"/>
          </p:nvPr>
        </p:nvSpPr>
        <p:spPr>
          <a:xfrm>
            <a:off x="762000" y="2057400"/>
            <a:ext cx="5105400" cy="3886200"/>
          </a:xfrm>
          <a:prstGeom prst="rect">
            <a:avLst/>
          </a:prstGeom>
          <a:noFill/>
          <a:ln/>
        </p:spPr>
        <p:txBody>
          <a:bodyPr wrap="square" rtlCol="0"/>
          <a:lstStyle>
            <a:lvl1pPr indent="0" marL="0">
              <a:buNone/>
              <a:defRPr lang="en-US" sz="1680" dirty="0">
                <a:solidFill>
                  <a:srgbClr val="000000"/>
                </a:solidFill>
                <a:latin typeface="Arial" pitchFamily="34" charset="0"/>
                <a:ea typeface="Arial" pitchFamily="34" charset="-122"/>
                <a:cs typeface="Arial" pitchFamily="34" charset="-120"/>
              </a:defRPr>
            </a:lvl1pPr>
          </a:lstStyle>
          <a:p>
            <a:pPr indent="0" marL="0">
              <a:buNone/>
            </a:pPr>
            <a:endParaRPr lang="en-US" sz="1680" dirty="0"/>
          </a:p>
        </p:txBody>
      </p:sp>
      <p:sp>
        <p:nvSpPr>
          <p:cNvPr id="5" name="Text 1"/>
          <p:cNvSpPr/>
          <p:nvPr>
            <p:ph idx="103" type="body" hasCustomPrompt="1"/>
          </p:nvPr>
        </p:nvSpPr>
        <p:spPr>
          <a:xfrm>
            <a:off x="6324600" y="2057400"/>
            <a:ext cx="5105400" cy="3886200"/>
          </a:xfrm>
          <a:prstGeom prst="rect">
            <a:avLst/>
          </a:prstGeom>
          <a:noFill/>
          <a:ln/>
        </p:spPr>
        <p:txBody>
          <a:bodyPr wrap="square" rtlCol="0"/>
          <a:lstStyle>
            <a:lvl1pPr indent="0" marL="0">
              <a:buNone/>
              <a:defRPr lang="en-US" sz="1680" dirty="0">
                <a:solidFill>
                  <a:srgbClr val="000000"/>
                </a:solidFill>
                <a:latin typeface="Arial" pitchFamily="34" charset="0"/>
                <a:ea typeface="Arial" pitchFamily="34" charset="-122"/>
                <a:cs typeface="Arial" pitchFamily="34" charset="-120"/>
              </a:defRPr>
            </a:lvl1pPr>
          </a:lstStyle>
          <a:p>
            <a:pPr indent="0" marL="0">
              <a:buNone/>
            </a:pPr>
            <a:endParaRPr lang="en-US" sz="1680" dirty="0"/>
          </a:p>
        </p:txBody>
      </p:sp>
      <p:sp>
        <p:nvSpPr>
          <p:cNvPr id="6" name="Shape 1"/>
          <p:cNvSpPr/>
          <p:nvPr/>
        </p:nvSpPr>
        <p:spPr>
          <a:xfrm>
            <a:off x="381000" y="685800"/>
            <a:ext cx="3276600" cy="22860"/>
          </a:xfrm>
          <a:prstGeom prst="rect">
            <a:avLst/>
          </a:prstGeom>
          <a:solidFill>
            <a:srgbClr val="DB0011"/>
          </a:solidFill>
          <a:ln w="12700">
            <a:solidFill>
              <a:srgbClr val="DB0011">
                <a:alpha val="0"/>
              </a:srgbClr>
            </a:solidFill>
            <a:prstDash val="solid"/>
          </a:ln>
        </p:spPr>
      </p:sp>
      <p:sp>
        <p:nvSpPr>
          <p:cNvPr id="7" name="Text 2"/>
          <p:cNvSpPr/>
          <p:nvPr/>
        </p:nvSpPr>
        <p:spPr>
          <a:xfrm>
            <a:off x="381000" y="182880"/>
            <a:ext cx="8229600" cy="297180"/>
          </a:xfrm>
          <a:prstGeom prst="rect">
            <a:avLst/>
          </a:prstGeom>
          <a:noFill/>
          <a:ln/>
        </p:spPr>
        <p:txBody>
          <a:bodyPr wrap="square" lIns="0" tIns="0" rIns="0" bIns="0" rtlCol="0" anchor="ctr"/>
          <a:lstStyle/>
          <a:p>
            <a:pPr indent="0" marL="0">
              <a:buNone/>
            </a:pPr>
            <a:r>
              <a:rPr lang="en-US" sz="1800" dirty="0">
                <a:solidFill>
                  <a:srgbClr val="222222"/>
                </a:solidFill>
                <a:latin typeface="Arial" pitchFamily="34" charset="0"/>
                <a:ea typeface="Arial" pitchFamily="34" charset="-122"/>
                <a:cs typeface="Arial" pitchFamily="34" charset="-120"/>
              </a:rPr>
              <a:t>HK Technology</a:t>
            </a:r>
            <a:endParaRPr lang="en-US" sz="1800" dirty="0"/>
          </a:p>
        </p:txBody>
      </p:sp>
      <p:pic>
        <p:nvPicPr>
          <p:cNvPr id="8" name="Image 0" descr="preencoded.png">    </p:cNvPr>
          <p:cNvPicPr>
            <a:picLocks noChangeAspect="1"/>
          </p:cNvPicPr>
          <p:nvPr/>
        </p:nvPicPr>
        <p:blipFill>
          <a:blip r:embed="rId1"/>
          <a:stretch>
            <a:fillRect/>
          </a:stretch>
        </p:blipFill>
        <p:spPr>
          <a:xfrm>
            <a:off x="419100" y="6172200"/>
            <a:ext cx="1356360" cy="44196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HSBC_TIMELIN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81000" y="685800"/>
            <a:ext cx="11430000" cy="7620"/>
          </a:xfrm>
          <a:prstGeom prst="rect">
            <a:avLst/>
          </a:prstGeom>
          <a:solidFill>
            <a:srgbClr val="BDA8AA"/>
          </a:solidFill>
          <a:ln w="12700">
            <a:solidFill>
              <a:srgbClr val="DB0011">
                <a:alpha val="0"/>
              </a:srgbClr>
            </a:solidFill>
            <a:prstDash val="solid"/>
          </a:ln>
        </p:spPr>
      </p:sp>
      <p:sp>
        <p:nvSpPr>
          <p:cNvPr id="3" name="Text 1"/>
          <p:cNvSpPr/>
          <p:nvPr>
            <p:ph idx="101" type="title" hasCustomPrompt="1"/>
          </p:nvPr>
        </p:nvSpPr>
        <p:spPr>
          <a:xfrm>
            <a:off x="381000" y="891540"/>
            <a:ext cx="11430000" cy="487680"/>
          </a:xfrm>
          <a:prstGeom prst="rect">
            <a:avLst/>
          </a:prstGeom>
          <a:noFill/>
          <a:ln/>
        </p:spPr>
        <p:txBody>
          <a:bodyPr wrap="square" rtlCol="0"/>
          <a:lstStyle>
            <a:lvl1pPr indent="0" marL="0">
              <a:buNone/>
              <a:defRPr lang="en-US" sz="2400" b="1" dirty="0">
                <a:solidFill>
                  <a:srgbClr val="000000"/>
                </a:solidFill>
                <a:latin typeface="Arial" pitchFamily="34" charset="0"/>
                <a:ea typeface="Arial" pitchFamily="34" charset="-122"/>
                <a:cs typeface="Arial" pitchFamily="34" charset="-120"/>
              </a:defRPr>
            </a:lvl1pPr>
          </a:lstStyle>
          <a:p>
            <a:pPr indent="0" marL="0">
              <a:buNone/>
            </a:pPr>
            <a:r>
              <a:rPr lang="en-US" sz="2400" b="1" dirty="0">
                <a:solidFill>
                  <a:srgbClr val="000000"/>
                </a:solidFill>
                <a:latin typeface="Arial" pitchFamily="34" charset="0"/>
                <a:ea typeface="Arial" pitchFamily="34" charset="-122"/>
                <a:cs typeface="Arial" pitchFamily="34" charset="-120"/>
              </a:rPr>
              <a:t>Click to add title</a:t>
            </a:r>
            <a:endParaRPr lang="en-US" sz="2400" dirty="0"/>
          </a:p>
        </p:txBody>
      </p:sp>
      <p:sp>
        <p:nvSpPr>
          <p:cNvPr id="4" name="Text 1"/>
          <p:cNvSpPr/>
          <p:nvPr>
            <p:ph idx="102" type="body" hasCustomPrompt="1"/>
          </p:nvPr>
        </p:nvSpPr>
        <p:spPr>
          <a:xfrm>
            <a:off x="762000" y="2286000"/>
            <a:ext cx="2438400" cy="3048000"/>
          </a:xfrm>
          <a:prstGeom prst="rect">
            <a:avLst/>
          </a:prstGeom>
          <a:noFill/>
          <a:ln/>
        </p:spPr>
        <p:txBody>
          <a:bodyPr wrap="square" rtlCol="0"/>
          <a:lstStyle>
            <a:lvl1pPr indent="0" marL="0">
              <a:buNone/>
              <a:defRPr lang="en-US" sz="1680" dirty="0">
                <a:solidFill>
                  <a:srgbClr val="000000"/>
                </a:solidFill>
                <a:latin typeface="Arial" pitchFamily="34" charset="0"/>
                <a:ea typeface="Arial" pitchFamily="34" charset="-122"/>
                <a:cs typeface="Arial" pitchFamily="34" charset="-120"/>
              </a:defRPr>
            </a:lvl1pPr>
          </a:lstStyle>
          <a:p>
            <a:pPr indent="0" marL="0">
              <a:buNone/>
            </a:pPr>
            <a:endParaRPr lang="en-US" sz="1680" dirty="0"/>
          </a:p>
        </p:txBody>
      </p:sp>
      <p:sp>
        <p:nvSpPr>
          <p:cNvPr id="5" name="Text 1"/>
          <p:cNvSpPr/>
          <p:nvPr>
            <p:ph idx="103" type="body" hasCustomPrompt="1"/>
          </p:nvPr>
        </p:nvSpPr>
        <p:spPr>
          <a:xfrm>
            <a:off x="3505200" y="2286000"/>
            <a:ext cx="2438400" cy="3048000"/>
          </a:xfrm>
          <a:prstGeom prst="rect">
            <a:avLst/>
          </a:prstGeom>
          <a:noFill/>
          <a:ln/>
        </p:spPr>
        <p:txBody>
          <a:bodyPr wrap="square" rtlCol="0"/>
          <a:lstStyle>
            <a:lvl1pPr indent="0" marL="0">
              <a:buNone/>
              <a:defRPr lang="en-US" sz="1680" dirty="0">
                <a:solidFill>
                  <a:srgbClr val="000000"/>
                </a:solidFill>
                <a:latin typeface="Arial" pitchFamily="34" charset="0"/>
                <a:ea typeface="Arial" pitchFamily="34" charset="-122"/>
                <a:cs typeface="Arial" pitchFamily="34" charset="-120"/>
              </a:defRPr>
            </a:lvl1pPr>
          </a:lstStyle>
          <a:p>
            <a:pPr indent="0" marL="0">
              <a:buNone/>
            </a:pPr>
            <a:endParaRPr lang="en-US" sz="1680" dirty="0"/>
          </a:p>
        </p:txBody>
      </p:sp>
      <p:sp>
        <p:nvSpPr>
          <p:cNvPr id="6" name="Text 1"/>
          <p:cNvSpPr/>
          <p:nvPr>
            <p:ph idx="104" type="body" hasCustomPrompt="1"/>
          </p:nvPr>
        </p:nvSpPr>
        <p:spPr>
          <a:xfrm>
            <a:off x="6248400" y="2286000"/>
            <a:ext cx="2438400" cy="3048000"/>
          </a:xfrm>
          <a:prstGeom prst="rect">
            <a:avLst/>
          </a:prstGeom>
          <a:noFill/>
          <a:ln/>
        </p:spPr>
        <p:txBody>
          <a:bodyPr wrap="square" rtlCol="0"/>
          <a:lstStyle>
            <a:lvl1pPr indent="0" marL="0">
              <a:buNone/>
              <a:defRPr lang="en-US" sz="1680" dirty="0">
                <a:solidFill>
                  <a:srgbClr val="000000"/>
                </a:solidFill>
                <a:latin typeface="Arial" pitchFamily="34" charset="0"/>
                <a:ea typeface="Arial" pitchFamily="34" charset="-122"/>
                <a:cs typeface="Arial" pitchFamily="34" charset="-120"/>
              </a:defRPr>
            </a:lvl1pPr>
          </a:lstStyle>
          <a:p>
            <a:pPr indent="0" marL="0">
              <a:buNone/>
            </a:pPr>
            <a:endParaRPr lang="en-US" sz="1680" dirty="0"/>
          </a:p>
        </p:txBody>
      </p:sp>
      <p:sp>
        <p:nvSpPr>
          <p:cNvPr id="7" name="Text 1"/>
          <p:cNvSpPr/>
          <p:nvPr>
            <p:ph idx="105" type="body" hasCustomPrompt="1"/>
          </p:nvPr>
        </p:nvSpPr>
        <p:spPr>
          <a:xfrm>
            <a:off x="8991600" y="2286000"/>
            <a:ext cx="2438400" cy="3048000"/>
          </a:xfrm>
          <a:prstGeom prst="rect">
            <a:avLst/>
          </a:prstGeom>
          <a:noFill/>
          <a:ln/>
        </p:spPr>
        <p:txBody>
          <a:bodyPr wrap="square" rtlCol="0"/>
          <a:lstStyle>
            <a:lvl1pPr indent="0" marL="0">
              <a:buNone/>
              <a:defRPr lang="en-US" sz="1680" dirty="0">
                <a:solidFill>
                  <a:srgbClr val="000000"/>
                </a:solidFill>
                <a:latin typeface="Arial" pitchFamily="34" charset="0"/>
                <a:ea typeface="Arial" pitchFamily="34" charset="-122"/>
                <a:cs typeface="Arial" pitchFamily="34" charset="-120"/>
              </a:defRPr>
            </a:lvl1pPr>
          </a:lstStyle>
          <a:p>
            <a:pPr indent="0" marL="0">
              <a:buNone/>
            </a:pPr>
            <a:endParaRPr lang="en-US" sz="1680" dirty="0"/>
          </a:p>
        </p:txBody>
      </p:sp>
      <p:sp>
        <p:nvSpPr>
          <p:cNvPr id="8" name="Shape 1"/>
          <p:cNvSpPr/>
          <p:nvPr/>
        </p:nvSpPr>
        <p:spPr>
          <a:xfrm>
            <a:off x="381000" y="685800"/>
            <a:ext cx="3276600" cy="22860"/>
          </a:xfrm>
          <a:prstGeom prst="rect">
            <a:avLst/>
          </a:prstGeom>
          <a:solidFill>
            <a:srgbClr val="DB0011"/>
          </a:solidFill>
          <a:ln w="12700">
            <a:solidFill>
              <a:srgbClr val="DB0011">
                <a:alpha val="0"/>
              </a:srgbClr>
            </a:solidFill>
            <a:prstDash val="solid"/>
          </a:ln>
        </p:spPr>
      </p:sp>
      <p:sp>
        <p:nvSpPr>
          <p:cNvPr id="9" name="Text 2"/>
          <p:cNvSpPr/>
          <p:nvPr/>
        </p:nvSpPr>
        <p:spPr>
          <a:xfrm>
            <a:off x="381000" y="182880"/>
            <a:ext cx="8229600" cy="297180"/>
          </a:xfrm>
          <a:prstGeom prst="rect">
            <a:avLst/>
          </a:prstGeom>
          <a:noFill/>
          <a:ln/>
        </p:spPr>
        <p:txBody>
          <a:bodyPr wrap="square" lIns="0" tIns="0" rIns="0" bIns="0" rtlCol="0" anchor="ctr"/>
          <a:lstStyle/>
          <a:p>
            <a:pPr indent="0" marL="0">
              <a:buNone/>
            </a:pPr>
            <a:r>
              <a:rPr lang="en-US" sz="1800" dirty="0">
                <a:solidFill>
                  <a:srgbClr val="222222"/>
                </a:solidFill>
                <a:latin typeface="Arial" pitchFamily="34" charset="0"/>
                <a:ea typeface="Arial" pitchFamily="34" charset="-122"/>
                <a:cs typeface="Arial" pitchFamily="34" charset="-120"/>
              </a:rPr>
              <a:t>HK Technology</a:t>
            </a:r>
            <a:endParaRPr lang="en-US" sz="1800" dirty="0"/>
          </a:p>
        </p:txBody>
      </p:sp>
      <p:pic>
        <p:nvPicPr>
          <p:cNvPr id="10" name="Image 0" descr="preencoded.png">    </p:cNvPr>
          <p:cNvPicPr>
            <a:picLocks noChangeAspect="1"/>
          </p:cNvPicPr>
          <p:nvPr/>
        </p:nvPicPr>
        <p:blipFill>
          <a:blip r:embed="rId1"/>
          <a:stretch>
            <a:fillRect/>
          </a:stretch>
        </p:blipFill>
        <p:spPr>
          <a:xfrm>
            <a:off x="419100" y="6172200"/>
            <a:ext cx="1356360" cy="44196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HSBC_PROCESS">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81000" y="685800"/>
            <a:ext cx="11430000" cy="7620"/>
          </a:xfrm>
          <a:prstGeom prst="rect">
            <a:avLst/>
          </a:prstGeom>
          <a:solidFill>
            <a:srgbClr val="BDA8AA"/>
          </a:solidFill>
          <a:ln w="12700">
            <a:solidFill>
              <a:srgbClr val="DB0011">
                <a:alpha val="0"/>
              </a:srgbClr>
            </a:solidFill>
            <a:prstDash val="solid"/>
          </a:ln>
        </p:spPr>
      </p:sp>
      <p:sp>
        <p:nvSpPr>
          <p:cNvPr id="3" name="Text 1"/>
          <p:cNvSpPr/>
          <p:nvPr>
            <p:ph idx="101" type="title" hasCustomPrompt="1"/>
          </p:nvPr>
        </p:nvSpPr>
        <p:spPr>
          <a:xfrm>
            <a:off x="381000" y="891540"/>
            <a:ext cx="11430000" cy="487680"/>
          </a:xfrm>
          <a:prstGeom prst="rect">
            <a:avLst/>
          </a:prstGeom>
          <a:noFill/>
          <a:ln/>
        </p:spPr>
        <p:txBody>
          <a:bodyPr wrap="square" rtlCol="0"/>
          <a:lstStyle>
            <a:lvl1pPr indent="0" marL="0">
              <a:buNone/>
              <a:defRPr lang="en-US" sz="2400" b="1" dirty="0">
                <a:solidFill>
                  <a:srgbClr val="000000"/>
                </a:solidFill>
                <a:latin typeface="Arial" pitchFamily="34" charset="0"/>
                <a:ea typeface="Arial" pitchFamily="34" charset="-122"/>
                <a:cs typeface="Arial" pitchFamily="34" charset="-120"/>
              </a:defRPr>
            </a:lvl1pPr>
          </a:lstStyle>
          <a:p>
            <a:pPr indent="0" marL="0">
              <a:buNone/>
            </a:pPr>
            <a:r>
              <a:rPr lang="en-US" sz="2400" b="1" dirty="0">
                <a:solidFill>
                  <a:srgbClr val="000000"/>
                </a:solidFill>
                <a:latin typeface="Arial" pitchFamily="34" charset="0"/>
                <a:ea typeface="Arial" pitchFamily="34" charset="-122"/>
                <a:cs typeface="Arial" pitchFamily="34" charset="-120"/>
              </a:rPr>
              <a:t>Click to add title</a:t>
            </a:r>
            <a:endParaRPr lang="en-US" sz="2400" dirty="0"/>
          </a:p>
        </p:txBody>
      </p:sp>
      <p:sp>
        <p:nvSpPr>
          <p:cNvPr id="4" name="Text 1"/>
          <p:cNvSpPr/>
          <p:nvPr>
            <p:ph idx="102" type="body" hasCustomPrompt="1"/>
          </p:nvPr>
        </p:nvSpPr>
        <p:spPr>
          <a:xfrm>
            <a:off x="762000" y="2286000"/>
            <a:ext cx="2438400" cy="3048000"/>
          </a:xfrm>
          <a:prstGeom prst="rect">
            <a:avLst/>
          </a:prstGeom>
          <a:noFill/>
          <a:ln/>
        </p:spPr>
        <p:txBody>
          <a:bodyPr wrap="square" rtlCol="0"/>
          <a:lstStyle>
            <a:lvl1pPr indent="0" marL="0">
              <a:buNone/>
              <a:defRPr lang="en-US" sz="1680" dirty="0">
                <a:solidFill>
                  <a:srgbClr val="000000"/>
                </a:solidFill>
                <a:latin typeface="Arial" pitchFamily="34" charset="0"/>
                <a:ea typeface="Arial" pitchFamily="34" charset="-122"/>
                <a:cs typeface="Arial" pitchFamily="34" charset="-120"/>
              </a:defRPr>
            </a:lvl1pPr>
          </a:lstStyle>
          <a:p>
            <a:pPr indent="0" marL="0">
              <a:buNone/>
            </a:pPr>
            <a:endParaRPr lang="en-US" sz="1680" dirty="0"/>
          </a:p>
        </p:txBody>
      </p:sp>
      <p:sp>
        <p:nvSpPr>
          <p:cNvPr id="5" name="Text 1"/>
          <p:cNvSpPr/>
          <p:nvPr>
            <p:ph idx="103" type="body" hasCustomPrompt="1"/>
          </p:nvPr>
        </p:nvSpPr>
        <p:spPr>
          <a:xfrm>
            <a:off x="3505200" y="2286000"/>
            <a:ext cx="2438400" cy="3048000"/>
          </a:xfrm>
          <a:prstGeom prst="rect">
            <a:avLst/>
          </a:prstGeom>
          <a:noFill/>
          <a:ln/>
        </p:spPr>
        <p:txBody>
          <a:bodyPr wrap="square" rtlCol="0"/>
          <a:lstStyle>
            <a:lvl1pPr indent="0" marL="0">
              <a:buNone/>
              <a:defRPr lang="en-US" sz="1680" dirty="0">
                <a:solidFill>
                  <a:srgbClr val="000000"/>
                </a:solidFill>
                <a:latin typeface="Arial" pitchFamily="34" charset="0"/>
                <a:ea typeface="Arial" pitchFamily="34" charset="-122"/>
                <a:cs typeface="Arial" pitchFamily="34" charset="-120"/>
              </a:defRPr>
            </a:lvl1pPr>
          </a:lstStyle>
          <a:p>
            <a:pPr indent="0" marL="0">
              <a:buNone/>
            </a:pPr>
            <a:endParaRPr lang="en-US" sz="1680" dirty="0"/>
          </a:p>
        </p:txBody>
      </p:sp>
      <p:sp>
        <p:nvSpPr>
          <p:cNvPr id="6" name="Text 1"/>
          <p:cNvSpPr/>
          <p:nvPr>
            <p:ph idx="104" type="body" hasCustomPrompt="1"/>
          </p:nvPr>
        </p:nvSpPr>
        <p:spPr>
          <a:xfrm>
            <a:off x="6248400" y="2286000"/>
            <a:ext cx="2438400" cy="3048000"/>
          </a:xfrm>
          <a:prstGeom prst="rect">
            <a:avLst/>
          </a:prstGeom>
          <a:noFill/>
          <a:ln/>
        </p:spPr>
        <p:txBody>
          <a:bodyPr wrap="square" rtlCol="0"/>
          <a:lstStyle>
            <a:lvl1pPr indent="0" marL="0">
              <a:buNone/>
              <a:defRPr lang="en-US" sz="1680" dirty="0">
                <a:solidFill>
                  <a:srgbClr val="000000"/>
                </a:solidFill>
                <a:latin typeface="Arial" pitchFamily="34" charset="0"/>
                <a:ea typeface="Arial" pitchFamily="34" charset="-122"/>
                <a:cs typeface="Arial" pitchFamily="34" charset="-120"/>
              </a:defRPr>
            </a:lvl1pPr>
          </a:lstStyle>
          <a:p>
            <a:pPr indent="0" marL="0">
              <a:buNone/>
            </a:pPr>
            <a:endParaRPr lang="en-US" sz="1680" dirty="0"/>
          </a:p>
        </p:txBody>
      </p:sp>
      <p:sp>
        <p:nvSpPr>
          <p:cNvPr id="7" name="Text 1"/>
          <p:cNvSpPr/>
          <p:nvPr>
            <p:ph idx="105" type="body" hasCustomPrompt="1"/>
          </p:nvPr>
        </p:nvSpPr>
        <p:spPr>
          <a:xfrm>
            <a:off x="8991600" y="2286000"/>
            <a:ext cx="2438400" cy="3048000"/>
          </a:xfrm>
          <a:prstGeom prst="rect">
            <a:avLst/>
          </a:prstGeom>
          <a:noFill/>
          <a:ln/>
        </p:spPr>
        <p:txBody>
          <a:bodyPr wrap="square" rtlCol="0"/>
          <a:lstStyle>
            <a:lvl1pPr indent="0" marL="0">
              <a:buNone/>
              <a:defRPr lang="en-US" sz="1680" dirty="0">
                <a:solidFill>
                  <a:srgbClr val="000000"/>
                </a:solidFill>
                <a:latin typeface="Arial" pitchFamily="34" charset="0"/>
                <a:ea typeface="Arial" pitchFamily="34" charset="-122"/>
                <a:cs typeface="Arial" pitchFamily="34" charset="-120"/>
              </a:defRPr>
            </a:lvl1pPr>
          </a:lstStyle>
          <a:p>
            <a:pPr indent="0" marL="0">
              <a:buNone/>
            </a:pPr>
            <a:endParaRPr lang="en-US" sz="1680" dirty="0"/>
          </a:p>
        </p:txBody>
      </p:sp>
      <p:sp>
        <p:nvSpPr>
          <p:cNvPr id="8" name="Shape 1"/>
          <p:cNvSpPr/>
          <p:nvPr/>
        </p:nvSpPr>
        <p:spPr>
          <a:xfrm>
            <a:off x="381000" y="685800"/>
            <a:ext cx="3276600" cy="22860"/>
          </a:xfrm>
          <a:prstGeom prst="rect">
            <a:avLst/>
          </a:prstGeom>
          <a:solidFill>
            <a:srgbClr val="DB0011"/>
          </a:solidFill>
          <a:ln w="12700">
            <a:solidFill>
              <a:srgbClr val="DB0011">
                <a:alpha val="0"/>
              </a:srgbClr>
            </a:solidFill>
            <a:prstDash val="solid"/>
          </a:ln>
        </p:spPr>
      </p:sp>
      <p:sp>
        <p:nvSpPr>
          <p:cNvPr id="9" name="Text 2"/>
          <p:cNvSpPr/>
          <p:nvPr/>
        </p:nvSpPr>
        <p:spPr>
          <a:xfrm>
            <a:off x="381000" y="182880"/>
            <a:ext cx="8229600" cy="297180"/>
          </a:xfrm>
          <a:prstGeom prst="rect">
            <a:avLst/>
          </a:prstGeom>
          <a:noFill/>
          <a:ln/>
        </p:spPr>
        <p:txBody>
          <a:bodyPr wrap="square" lIns="0" tIns="0" rIns="0" bIns="0" rtlCol="0" anchor="ctr"/>
          <a:lstStyle/>
          <a:p>
            <a:pPr indent="0" marL="0">
              <a:buNone/>
            </a:pPr>
            <a:r>
              <a:rPr lang="en-US" sz="1800" dirty="0">
                <a:solidFill>
                  <a:srgbClr val="222222"/>
                </a:solidFill>
                <a:latin typeface="Arial" pitchFamily="34" charset="0"/>
                <a:ea typeface="Arial" pitchFamily="34" charset="-122"/>
                <a:cs typeface="Arial" pitchFamily="34" charset="-120"/>
              </a:rPr>
              <a:t>HK Technology</a:t>
            </a:r>
            <a:endParaRPr lang="en-US" sz="1800" dirty="0"/>
          </a:p>
        </p:txBody>
      </p:sp>
      <p:pic>
        <p:nvPicPr>
          <p:cNvPr id="10" name="Image 0" descr="preencoded.png">    </p:cNvPr>
          <p:cNvPicPr>
            <a:picLocks noChangeAspect="1"/>
          </p:cNvPicPr>
          <p:nvPr/>
        </p:nvPicPr>
        <p:blipFill>
          <a:blip r:embed="rId1"/>
          <a:stretch>
            <a:fillRect/>
          </a:stretch>
        </p:blipFill>
        <p:spPr>
          <a:xfrm>
            <a:off x="419100" y="6172200"/>
            <a:ext cx="1356360" cy="44196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HSBC_DATA">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81000" y="685800"/>
            <a:ext cx="11430000" cy="7620"/>
          </a:xfrm>
          <a:prstGeom prst="rect">
            <a:avLst/>
          </a:prstGeom>
          <a:solidFill>
            <a:srgbClr val="BDA8AA"/>
          </a:solidFill>
          <a:ln w="12700">
            <a:solidFill>
              <a:srgbClr val="DB0011">
                <a:alpha val="0"/>
              </a:srgbClr>
            </a:solidFill>
            <a:prstDash val="solid"/>
          </a:ln>
        </p:spPr>
      </p:sp>
      <p:sp>
        <p:nvSpPr>
          <p:cNvPr id="3" name="Text 1"/>
          <p:cNvSpPr/>
          <p:nvPr>
            <p:ph idx="101" type="title" hasCustomPrompt="1"/>
          </p:nvPr>
        </p:nvSpPr>
        <p:spPr>
          <a:xfrm>
            <a:off x="381000" y="891540"/>
            <a:ext cx="11430000" cy="487680"/>
          </a:xfrm>
          <a:prstGeom prst="rect">
            <a:avLst/>
          </a:prstGeom>
          <a:noFill/>
          <a:ln/>
        </p:spPr>
        <p:txBody>
          <a:bodyPr wrap="square" rtlCol="0"/>
          <a:lstStyle>
            <a:lvl1pPr indent="0" marL="0">
              <a:buNone/>
              <a:defRPr lang="en-US" sz="2400" b="1" dirty="0">
                <a:solidFill>
                  <a:srgbClr val="000000"/>
                </a:solidFill>
                <a:latin typeface="Arial" pitchFamily="34" charset="0"/>
                <a:ea typeface="Arial" pitchFamily="34" charset="-122"/>
                <a:cs typeface="Arial" pitchFamily="34" charset="-120"/>
              </a:defRPr>
            </a:lvl1pPr>
          </a:lstStyle>
          <a:p>
            <a:pPr indent="0" marL="0">
              <a:buNone/>
            </a:pPr>
            <a:r>
              <a:rPr lang="en-US" sz="2400" b="1" dirty="0">
                <a:solidFill>
                  <a:srgbClr val="000000"/>
                </a:solidFill>
                <a:latin typeface="Arial" pitchFamily="34" charset="0"/>
                <a:ea typeface="Arial" pitchFamily="34" charset="-122"/>
                <a:cs typeface="Arial" pitchFamily="34" charset="-120"/>
              </a:rPr>
              <a:t>Click to add title</a:t>
            </a:r>
            <a:endParaRPr lang="en-US" sz="2400" dirty="0"/>
          </a:p>
        </p:txBody>
      </p:sp>
      <p:sp>
        <p:nvSpPr>
          <p:cNvPr id="4" name="Text 1"/>
          <p:cNvSpPr/>
          <p:nvPr>
            <p:ph idx="102" type="body" hasCustomPrompt="1"/>
          </p:nvPr>
        </p:nvSpPr>
        <p:spPr>
          <a:xfrm>
            <a:off x="762000" y="2057400"/>
            <a:ext cx="10668000" cy="3886200"/>
          </a:xfrm>
          <a:prstGeom prst="rect">
            <a:avLst/>
          </a:prstGeom>
          <a:noFill/>
          <a:ln/>
        </p:spPr>
        <p:txBody>
          <a:bodyPr wrap="square" rtlCol="0"/>
          <a:lstStyle>
            <a:lvl1pPr indent="0" marL="0">
              <a:buNone/>
              <a:defRPr lang="en-US" sz="1680" dirty="0">
                <a:solidFill>
                  <a:srgbClr val="000000"/>
                </a:solidFill>
                <a:latin typeface="Arial" pitchFamily="34" charset="0"/>
                <a:ea typeface="Arial" pitchFamily="34" charset="-122"/>
                <a:cs typeface="Arial" pitchFamily="34" charset="-120"/>
              </a:defRPr>
            </a:lvl1pPr>
          </a:lstStyle>
          <a:p>
            <a:pPr indent="0" marL="0">
              <a:buNone/>
            </a:pPr>
            <a:endParaRPr lang="en-US" sz="1680" dirty="0"/>
          </a:p>
        </p:txBody>
      </p:sp>
      <p:sp>
        <p:nvSpPr>
          <p:cNvPr id="5" name="Shape 1"/>
          <p:cNvSpPr/>
          <p:nvPr/>
        </p:nvSpPr>
        <p:spPr>
          <a:xfrm>
            <a:off x="381000" y="685800"/>
            <a:ext cx="3276600" cy="22860"/>
          </a:xfrm>
          <a:prstGeom prst="rect">
            <a:avLst/>
          </a:prstGeom>
          <a:solidFill>
            <a:srgbClr val="DB0011"/>
          </a:solidFill>
          <a:ln w="12700">
            <a:solidFill>
              <a:srgbClr val="DB0011">
                <a:alpha val="0"/>
              </a:srgbClr>
            </a:solidFill>
            <a:prstDash val="solid"/>
          </a:ln>
        </p:spPr>
      </p:sp>
      <p:sp>
        <p:nvSpPr>
          <p:cNvPr id="6" name="Text 2"/>
          <p:cNvSpPr/>
          <p:nvPr/>
        </p:nvSpPr>
        <p:spPr>
          <a:xfrm>
            <a:off x="381000" y="182880"/>
            <a:ext cx="8229600" cy="297180"/>
          </a:xfrm>
          <a:prstGeom prst="rect">
            <a:avLst/>
          </a:prstGeom>
          <a:noFill/>
          <a:ln/>
        </p:spPr>
        <p:txBody>
          <a:bodyPr wrap="square" lIns="0" tIns="0" rIns="0" bIns="0" rtlCol="0" anchor="ctr"/>
          <a:lstStyle/>
          <a:p>
            <a:pPr indent="0" marL="0">
              <a:buNone/>
            </a:pPr>
            <a:r>
              <a:rPr lang="en-US" sz="1800" dirty="0">
                <a:solidFill>
                  <a:srgbClr val="222222"/>
                </a:solidFill>
                <a:latin typeface="Arial" pitchFamily="34" charset="0"/>
                <a:ea typeface="Arial" pitchFamily="34" charset="-122"/>
                <a:cs typeface="Arial" pitchFamily="34" charset="-120"/>
              </a:rPr>
              <a:t>HK Technology</a:t>
            </a:r>
            <a:endParaRPr lang="en-US" sz="1800" dirty="0"/>
          </a:p>
        </p:txBody>
      </p:sp>
      <p:pic>
        <p:nvPicPr>
          <p:cNvPr id="7" name="Image 0" descr="preencoded.png">    </p:cNvPr>
          <p:cNvPicPr>
            <a:picLocks noChangeAspect="1"/>
          </p:cNvPicPr>
          <p:nvPr/>
        </p:nvPicPr>
        <p:blipFill>
          <a:blip r:embed="rId1"/>
          <a:stretch>
            <a:fillRect/>
          </a:stretch>
        </p:blipFill>
        <p:spPr>
          <a:xfrm>
            <a:off x="419100" y="6172200"/>
            <a:ext cx="1356360" cy="441960"/>
          </a:xfrm>
          <a:prstGeom prst="rect">
            <a:avLst/>
          </a:prstGeom>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HSBC_CLOSING">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81000" y="685800"/>
            <a:ext cx="11430000" cy="7620"/>
          </a:xfrm>
          <a:prstGeom prst="rect">
            <a:avLst/>
          </a:prstGeom>
          <a:solidFill>
            <a:srgbClr val="BDA8AA"/>
          </a:solidFill>
          <a:ln w="12700">
            <a:solidFill>
              <a:srgbClr val="DB0011">
                <a:alpha val="0"/>
              </a:srgbClr>
            </a:solidFill>
            <a:prstDash val="solid"/>
          </a:ln>
        </p:spPr>
      </p:sp>
      <p:sp>
        <p:nvSpPr>
          <p:cNvPr id="3" name="Text 1"/>
          <p:cNvSpPr/>
          <p:nvPr>
            <p:ph idx="101" type="title" hasCustomPrompt="1"/>
          </p:nvPr>
        </p:nvSpPr>
        <p:spPr>
          <a:xfrm>
            <a:off x="381000" y="891540"/>
            <a:ext cx="11430000" cy="487680"/>
          </a:xfrm>
          <a:prstGeom prst="rect">
            <a:avLst/>
          </a:prstGeom>
          <a:noFill/>
          <a:ln/>
        </p:spPr>
        <p:txBody>
          <a:bodyPr wrap="square" rtlCol="0"/>
          <a:lstStyle>
            <a:lvl1pPr indent="0" marL="0">
              <a:buNone/>
              <a:defRPr lang="en-US" sz="2400" b="1" dirty="0">
                <a:solidFill>
                  <a:srgbClr val="000000"/>
                </a:solidFill>
                <a:latin typeface="Arial" pitchFamily="34" charset="0"/>
                <a:ea typeface="Arial" pitchFamily="34" charset="-122"/>
                <a:cs typeface="Arial" pitchFamily="34" charset="-120"/>
              </a:defRPr>
            </a:lvl1pPr>
          </a:lstStyle>
          <a:p>
            <a:pPr indent="0" marL="0">
              <a:buNone/>
            </a:pPr>
            <a:r>
              <a:rPr lang="en-US" sz="2400" b="1" dirty="0">
                <a:solidFill>
                  <a:srgbClr val="000000"/>
                </a:solidFill>
                <a:latin typeface="Arial" pitchFamily="34" charset="0"/>
                <a:ea typeface="Arial" pitchFamily="34" charset="-122"/>
                <a:cs typeface="Arial" pitchFamily="34" charset="-120"/>
              </a:rPr>
              <a:t>Click to add title</a:t>
            </a:r>
            <a:endParaRPr lang="en-US" sz="2400" dirty="0"/>
          </a:p>
        </p:txBody>
      </p:sp>
      <p:sp>
        <p:nvSpPr>
          <p:cNvPr id="4" name="Text 1"/>
          <p:cNvSpPr/>
          <p:nvPr>
            <p:ph idx="102" type="body" hasCustomPrompt="1"/>
          </p:nvPr>
        </p:nvSpPr>
        <p:spPr>
          <a:xfrm>
            <a:off x="762000" y="2743200"/>
            <a:ext cx="10668000" cy="2590800"/>
          </a:xfrm>
          <a:prstGeom prst="rect">
            <a:avLst/>
          </a:prstGeom>
          <a:noFill/>
          <a:ln/>
        </p:spPr>
        <p:txBody>
          <a:bodyPr wrap="square" rtlCol="0"/>
          <a:lstStyle>
            <a:lvl1pPr indent="0" marL="0">
              <a:buNone/>
              <a:defRPr lang="en-US" sz="1680" dirty="0">
                <a:solidFill>
                  <a:srgbClr val="000000"/>
                </a:solidFill>
                <a:latin typeface="Arial" pitchFamily="34" charset="0"/>
                <a:ea typeface="Arial" pitchFamily="34" charset="-122"/>
                <a:cs typeface="Arial" pitchFamily="34" charset="-120"/>
              </a:defRPr>
            </a:lvl1pPr>
          </a:lstStyle>
          <a:p>
            <a:pPr indent="0" marL="0">
              <a:buNone/>
            </a:pPr>
            <a:endParaRPr lang="en-US" sz="1680" dirty="0"/>
          </a:p>
        </p:txBody>
      </p:sp>
      <p:sp>
        <p:nvSpPr>
          <p:cNvPr id="5" name="Shape 1"/>
          <p:cNvSpPr/>
          <p:nvPr/>
        </p:nvSpPr>
        <p:spPr>
          <a:xfrm>
            <a:off x="381000" y="685800"/>
            <a:ext cx="3276600" cy="22860"/>
          </a:xfrm>
          <a:prstGeom prst="rect">
            <a:avLst/>
          </a:prstGeom>
          <a:solidFill>
            <a:srgbClr val="DB0011"/>
          </a:solidFill>
          <a:ln w="12700">
            <a:solidFill>
              <a:srgbClr val="DB0011">
                <a:alpha val="0"/>
              </a:srgbClr>
            </a:solidFill>
            <a:prstDash val="solid"/>
          </a:ln>
        </p:spPr>
      </p:sp>
      <p:sp>
        <p:nvSpPr>
          <p:cNvPr id="6" name="Text 2"/>
          <p:cNvSpPr/>
          <p:nvPr/>
        </p:nvSpPr>
        <p:spPr>
          <a:xfrm>
            <a:off x="381000" y="182880"/>
            <a:ext cx="8229600" cy="297180"/>
          </a:xfrm>
          <a:prstGeom prst="rect">
            <a:avLst/>
          </a:prstGeom>
          <a:noFill/>
          <a:ln/>
        </p:spPr>
        <p:txBody>
          <a:bodyPr wrap="square" lIns="0" tIns="0" rIns="0" bIns="0" rtlCol="0" anchor="ctr"/>
          <a:lstStyle/>
          <a:p>
            <a:pPr indent="0" marL="0">
              <a:buNone/>
            </a:pPr>
            <a:r>
              <a:rPr lang="en-US" sz="1800" dirty="0">
                <a:solidFill>
                  <a:srgbClr val="222222"/>
                </a:solidFill>
                <a:latin typeface="Arial" pitchFamily="34" charset="0"/>
                <a:ea typeface="Arial" pitchFamily="34" charset="-122"/>
                <a:cs typeface="Arial" pitchFamily="34" charset="-120"/>
              </a:rPr>
              <a:t>HK Technology</a:t>
            </a:r>
            <a:endParaRPr lang="en-US" sz="1800" dirty="0"/>
          </a:p>
        </p:txBody>
      </p:sp>
      <p:pic>
        <p:nvPicPr>
          <p:cNvPr id="7" name="Image 0" descr="preencoded.png">    </p:cNvPr>
          <p:cNvPicPr>
            <a:picLocks noChangeAspect="1"/>
          </p:cNvPicPr>
          <p:nvPr/>
        </p:nvPicPr>
        <p:blipFill>
          <a:blip r:embed="rId1"/>
          <a:stretch>
            <a:fillRect/>
          </a:stretch>
        </p:blipFill>
        <p:spPr>
          <a:xfrm>
            <a:off x="419100" y="6172200"/>
            <a:ext cx="1356360" cy="441960"/>
          </a:xfrm>
          <a:prstGeom prst="rect">
            <a:avLst/>
          </a:prstGeom>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HSBC_FREEFORM">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81000" y="685800"/>
            <a:ext cx="11430000" cy="7620"/>
          </a:xfrm>
          <a:prstGeom prst="rect">
            <a:avLst/>
          </a:prstGeom>
          <a:solidFill>
            <a:srgbClr val="BDA8AA"/>
          </a:solidFill>
          <a:ln w="12700">
            <a:solidFill>
              <a:srgbClr val="DB0011">
                <a:alpha val="0"/>
              </a:srgbClr>
            </a:solidFill>
            <a:prstDash val="solid"/>
          </a:ln>
        </p:spPr>
      </p:sp>
      <p:sp>
        <p:nvSpPr>
          <p:cNvPr id="3" name="Text 1"/>
          <p:cNvSpPr/>
          <p:nvPr>
            <p:ph idx="101" type="title" hasCustomPrompt="1"/>
          </p:nvPr>
        </p:nvSpPr>
        <p:spPr>
          <a:xfrm>
            <a:off x="381000" y="891540"/>
            <a:ext cx="11430000" cy="487680"/>
          </a:xfrm>
          <a:prstGeom prst="rect">
            <a:avLst/>
          </a:prstGeom>
          <a:noFill/>
          <a:ln/>
        </p:spPr>
        <p:txBody>
          <a:bodyPr wrap="square" rtlCol="0"/>
          <a:lstStyle>
            <a:lvl1pPr indent="0" marL="0">
              <a:buNone/>
              <a:defRPr lang="en-US" sz="2400" b="1" dirty="0">
                <a:solidFill>
                  <a:srgbClr val="000000"/>
                </a:solidFill>
                <a:latin typeface="Arial" pitchFamily="34" charset="0"/>
                <a:ea typeface="Arial" pitchFamily="34" charset="-122"/>
                <a:cs typeface="Arial" pitchFamily="34" charset="-120"/>
              </a:defRPr>
            </a:lvl1pPr>
          </a:lstStyle>
          <a:p>
            <a:pPr indent="0" marL="0">
              <a:buNone/>
            </a:pPr>
            <a:r>
              <a:rPr lang="en-US" sz="2400" b="1" dirty="0">
                <a:solidFill>
                  <a:srgbClr val="000000"/>
                </a:solidFill>
                <a:latin typeface="Arial" pitchFamily="34" charset="0"/>
                <a:ea typeface="Arial" pitchFamily="34" charset="-122"/>
                <a:cs typeface="Arial" pitchFamily="34" charset="-120"/>
              </a:rPr>
              <a:t>Click to add title</a:t>
            </a:r>
            <a:endParaRPr lang="en-US" sz="2400" dirty="0"/>
          </a:p>
        </p:txBody>
      </p:sp>
      <p:sp>
        <p:nvSpPr>
          <p:cNvPr id="4" name="Shape 1"/>
          <p:cNvSpPr/>
          <p:nvPr/>
        </p:nvSpPr>
        <p:spPr>
          <a:xfrm>
            <a:off x="381000" y="685800"/>
            <a:ext cx="3276600" cy="22860"/>
          </a:xfrm>
          <a:prstGeom prst="rect">
            <a:avLst/>
          </a:prstGeom>
          <a:solidFill>
            <a:srgbClr val="DB0011"/>
          </a:solidFill>
          <a:ln w="12700">
            <a:solidFill>
              <a:srgbClr val="DB0011">
                <a:alpha val="0"/>
              </a:srgbClr>
            </a:solidFill>
            <a:prstDash val="solid"/>
          </a:ln>
        </p:spPr>
      </p:sp>
      <p:sp>
        <p:nvSpPr>
          <p:cNvPr id="5" name="Text 2"/>
          <p:cNvSpPr/>
          <p:nvPr/>
        </p:nvSpPr>
        <p:spPr>
          <a:xfrm>
            <a:off x="381000" y="182880"/>
            <a:ext cx="8229600" cy="297180"/>
          </a:xfrm>
          <a:prstGeom prst="rect">
            <a:avLst/>
          </a:prstGeom>
          <a:noFill/>
          <a:ln/>
        </p:spPr>
        <p:txBody>
          <a:bodyPr wrap="square" lIns="0" tIns="0" rIns="0" bIns="0" rtlCol="0" anchor="ctr"/>
          <a:lstStyle/>
          <a:p>
            <a:pPr indent="0" marL="0">
              <a:buNone/>
            </a:pPr>
            <a:r>
              <a:rPr lang="en-US" sz="1800" dirty="0">
                <a:solidFill>
                  <a:srgbClr val="222222"/>
                </a:solidFill>
                <a:latin typeface="Arial" pitchFamily="34" charset="0"/>
                <a:ea typeface="Arial" pitchFamily="34" charset="-122"/>
                <a:cs typeface="Arial" pitchFamily="34" charset="-120"/>
              </a:rPr>
              <a:t>HK Technology</a:t>
            </a:r>
            <a:endParaRPr lang="en-US" sz="1800" dirty="0"/>
          </a:p>
        </p:txBody>
      </p:sp>
      <p:pic>
        <p:nvPicPr>
          <p:cNvPr id="6" name="Image 0" descr="preencoded.png">    </p:cNvPr>
          <p:cNvPicPr>
            <a:picLocks noChangeAspect="1"/>
          </p:cNvPicPr>
          <p:nvPr/>
        </p:nvPicPr>
        <p:blipFill>
          <a:blip r:embed="rId1"/>
          <a:stretch>
            <a:fillRect/>
          </a:stretch>
        </p:blipFill>
        <p:spPr>
          <a:xfrm>
            <a:off x="419100" y="6172200"/>
            <a:ext cx="1356360" cy="441960"/>
          </a:xfrm>
          <a:prstGeom prst="rect">
            <a:avLst/>
          </a:prstGeom>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HSBC_IMPORTED">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HSBC_CONTENT">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381000" y="685800"/>
            <a:ext cx="11430000" cy="7620"/>
          </a:xfrm>
          <a:prstGeom prst="rect">
            <a:avLst/>
          </a:prstGeom>
          <a:solidFill>
            <a:srgbClr val="BDA8AA"/>
          </a:solidFill>
          <a:ln w="12700">
            <a:solidFill>
              <a:srgbClr val="DB0011">
                <a:alpha val="0"/>
              </a:srgbClr>
            </a:solidFill>
            <a:prstDash val="solid"/>
          </a:ln>
        </p:spPr>
      </p:sp>
      <p:sp>
        <p:nvSpPr>
          <p:cNvPr id="3" name="Text 1"/>
          <p:cNvSpPr/>
          <p:nvPr>
            <p:ph idx="101" type="title" hasCustomPrompt="1"/>
          </p:nvPr>
        </p:nvSpPr>
        <p:spPr>
          <a:xfrm>
            <a:off x="381000" y="891540"/>
            <a:ext cx="11430000" cy="487680"/>
          </a:xfrm>
          <a:prstGeom prst="rect">
            <a:avLst/>
          </a:prstGeom>
          <a:noFill/>
          <a:ln/>
        </p:spPr>
        <p:txBody>
          <a:bodyPr wrap="square" rtlCol="0"/>
          <a:lstStyle>
            <a:lvl1pPr indent="0" marL="0">
              <a:buNone/>
              <a:defRPr lang="en-US" sz="2400" b="1" dirty="0">
                <a:solidFill>
                  <a:srgbClr val="000000"/>
                </a:solidFill>
                <a:latin typeface="Arial" pitchFamily="34" charset="0"/>
                <a:ea typeface="Arial" pitchFamily="34" charset="-122"/>
                <a:cs typeface="Arial" pitchFamily="34" charset="-120"/>
              </a:defRPr>
            </a:lvl1pPr>
          </a:lstStyle>
          <a:p>
            <a:pPr indent="0" marL="0">
              <a:buNone/>
            </a:pPr>
            <a:r>
              <a:rPr lang="en-US" sz="2400" b="1" dirty="0">
                <a:solidFill>
                  <a:srgbClr val="000000"/>
                </a:solidFill>
                <a:latin typeface="Arial" pitchFamily="34" charset="0"/>
                <a:ea typeface="Arial" pitchFamily="34" charset="-122"/>
                <a:cs typeface="Arial" pitchFamily="34" charset="-120"/>
              </a:rPr>
              <a:t>Click to add title</a:t>
            </a:r>
            <a:endParaRPr lang="en-US" sz="2400" dirty="0"/>
          </a:p>
        </p:txBody>
      </p:sp>
      <p:sp>
        <p:nvSpPr>
          <p:cNvPr id="4" name="Text 1"/>
          <p:cNvSpPr/>
          <p:nvPr>
            <p:ph idx="102" type="body" hasCustomPrompt="1"/>
          </p:nvPr>
        </p:nvSpPr>
        <p:spPr>
          <a:xfrm>
            <a:off x="762000" y="2057400"/>
            <a:ext cx="10668000" cy="3886200"/>
          </a:xfrm>
          <a:prstGeom prst="rect">
            <a:avLst/>
          </a:prstGeom>
          <a:noFill/>
          <a:ln/>
        </p:spPr>
        <p:txBody>
          <a:bodyPr wrap="square" rtlCol="0"/>
          <a:lstStyle>
            <a:lvl1pPr indent="0" marL="0">
              <a:buNone/>
              <a:defRPr lang="en-US" sz="1680" dirty="0">
                <a:solidFill>
                  <a:srgbClr val="000000"/>
                </a:solidFill>
                <a:latin typeface="Arial" pitchFamily="34" charset="0"/>
                <a:ea typeface="Arial" pitchFamily="34" charset="-122"/>
                <a:cs typeface="Arial" pitchFamily="34" charset="-120"/>
              </a:defRPr>
            </a:lvl1pPr>
          </a:lstStyle>
          <a:p>
            <a:pPr indent="0" marL="0">
              <a:buNone/>
            </a:pPr>
            <a:endParaRPr lang="en-US" sz="1680" dirty="0"/>
          </a:p>
        </p:txBody>
      </p:sp>
      <p:sp>
        <p:nvSpPr>
          <p:cNvPr id="5" name="Shape 1"/>
          <p:cNvSpPr/>
          <p:nvPr/>
        </p:nvSpPr>
        <p:spPr>
          <a:xfrm>
            <a:off x="381000" y="685800"/>
            <a:ext cx="3276600" cy="22860"/>
          </a:xfrm>
          <a:prstGeom prst="rect">
            <a:avLst/>
          </a:prstGeom>
          <a:solidFill>
            <a:srgbClr val="DB0011"/>
          </a:solidFill>
          <a:ln w="12700">
            <a:solidFill>
              <a:srgbClr val="DB0011">
                <a:alpha val="0"/>
              </a:srgbClr>
            </a:solidFill>
            <a:prstDash val="solid"/>
          </a:ln>
        </p:spPr>
      </p:sp>
      <p:sp>
        <p:nvSpPr>
          <p:cNvPr id="6" name="Text 2"/>
          <p:cNvSpPr/>
          <p:nvPr/>
        </p:nvSpPr>
        <p:spPr>
          <a:xfrm>
            <a:off x="381000" y="182880"/>
            <a:ext cx="8229600" cy="297180"/>
          </a:xfrm>
          <a:prstGeom prst="rect">
            <a:avLst/>
          </a:prstGeom>
          <a:noFill/>
          <a:ln/>
        </p:spPr>
        <p:txBody>
          <a:bodyPr wrap="square" lIns="0" tIns="0" rIns="0" bIns="0" rtlCol="0" anchor="ctr"/>
          <a:lstStyle/>
          <a:p>
            <a:pPr indent="0" marL="0">
              <a:buNone/>
            </a:pPr>
            <a:r>
              <a:rPr lang="en-US" sz="1800" dirty="0">
                <a:solidFill>
                  <a:srgbClr val="222222"/>
                </a:solidFill>
                <a:latin typeface="Arial" pitchFamily="34" charset="0"/>
                <a:ea typeface="Arial" pitchFamily="34" charset="-122"/>
                <a:cs typeface="Arial" pitchFamily="34" charset="-120"/>
              </a:rPr>
              <a:t>HK Technology</a:t>
            </a:r>
            <a:endParaRPr lang="en-US" sz="1800" dirty="0"/>
          </a:p>
        </p:txBody>
      </p:sp>
      <p:pic>
        <p:nvPicPr>
          <p:cNvPr id="7" name="Image 0" descr="preencoded.png">    </p:cNvPr>
          <p:cNvPicPr>
            <a:picLocks noChangeAspect="1"/>
          </p:cNvPicPr>
          <p:nvPr/>
        </p:nvPicPr>
        <p:blipFill>
          <a:blip r:embed="rId1"/>
          <a:stretch>
            <a:fillRect/>
          </a:stretch>
        </p:blipFill>
        <p:spPr>
          <a:xfrm>
            <a:off x="419100" y="6172200"/>
            <a:ext cx="1356360" cy="44196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 Target="slide54.xml"/><Relationship Id="rId2" Type="http://schemas.openxmlformats.org/officeDocument/2006/relationships/slide" Target="slide57.xml"/><Relationship Id="rId3" Type="http://schemas.openxmlformats.org/officeDocument/2006/relationships/slide" Target="slide61.xml"/><Relationship Id="rId4" Type="http://schemas.openxmlformats.org/officeDocument/2006/relationships/slide" Target="slide70.xml"/><Relationship Id="rId5" Type="http://schemas.openxmlformats.org/officeDocument/2006/relationships/slideLayout" Target="../slideLayouts/slideLayout15.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 Target="slide51.xml"/><Relationship Id="rId2" Type="http://schemas.openxmlformats.org/officeDocument/2006/relationships/slide" Target="slide55.xml"/><Relationship Id="rId3" Type="http://schemas.openxmlformats.org/officeDocument/2006/relationships/slide" Target="slide57.xml"/><Relationship Id="rId4" Type="http://schemas.openxmlformats.org/officeDocument/2006/relationships/slide" Target="slide60.xml"/><Relationship Id="rId5" Type="http://schemas.openxmlformats.org/officeDocument/2006/relationships/slide" Target="slide65.xml"/><Relationship Id="rId6" Type="http://schemas.openxmlformats.org/officeDocument/2006/relationships/slideLayout" Target="../slideLayouts/slideLayout15.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 Target="slide62.xml"/><Relationship Id="rId2" Type="http://schemas.openxmlformats.org/officeDocument/2006/relationships/slide" Target="slide73.xml"/><Relationship Id="rId3" Type="http://schemas.openxmlformats.org/officeDocument/2006/relationships/slide" Target="slide71.xml"/><Relationship Id="rId4" Type="http://schemas.openxmlformats.org/officeDocument/2006/relationships/slide" Target="slide74.xml"/><Relationship Id="rId5" Type="http://schemas.openxmlformats.org/officeDocument/2006/relationships/slideLayout" Target="../slideLayouts/slideLayout15.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 Target="slide49.xml"/><Relationship Id="rId2" Type="http://schemas.openxmlformats.org/officeDocument/2006/relationships/slideLayout" Target="../slideLayouts/slideLayout15.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 Target="slide51.xml"/><Relationship Id="rId2" Type="http://schemas.openxmlformats.org/officeDocument/2006/relationships/slide" Target="slide55.xml"/><Relationship Id="rId3" Type="http://schemas.openxmlformats.org/officeDocument/2006/relationships/slide" Target="slide49.xml"/><Relationship Id="rId4" Type="http://schemas.openxmlformats.org/officeDocument/2006/relationships/slideLayout" Target="../slideLayouts/slideLayout15.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2" Type="http://schemas.openxmlformats.org/officeDocument/2006/relationships/slide" Target="slide51.xml"/><Relationship Id="rId3" Type="http://schemas.openxmlformats.org/officeDocument/2006/relationships/slide" Target="slide56.xml"/><Relationship Id="rId4" Type="http://schemas.openxmlformats.org/officeDocument/2006/relationships/slide" Target="slide70.xml"/><Relationship Id="rId1" Type="http://schemas.openxmlformats.org/officeDocument/2006/relationships/image" Target="../media/image-7-1.jpeg"/><Relationship Id="rId5" Type="http://schemas.openxmlformats.org/officeDocument/2006/relationships/slideLayout" Target="../slideLayouts/slideLayout15.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 Target="slide54.xml"/><Relationship Id="rId2" Type="http://schemas.openxmlformats.org/officeDocument/2006/relationships/slideLayout" Target="../slideLayouts/slideLayout15.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2" Type="http://schemas.openxmlformats.org/officeDocument/2006/relationships/slide" Target="slide49.xml"/><Relationship Id="rId3" Type="http://schemas.openxmlformats.org/officeDocument/2006/relationships/slide" Target="slide54.xml"/><Relationship Id="rId4" Type="http://schemas.openxmlformats.org/officeDocument/2006/relationships/slide" Target="slide55.xml"/><Relationship Id="rId5" Type="http://schemas.openxmlformats.org/officeDocument/2006/relationships/slide" Target="slide49.xml"/><Relationship Id="rId1" Type="http://schemas.openxmlformats.org/officeDocument/2006/relationships/image" Target="../media/image-11-1.png"/><Relationship Id="rId6" Type="http://schemas.openxmlformats.org/officeDocument/2006/relationships/slideLayout" Target="../slideLayouts/slideLayout15.xml"/><Relationship Id="rId7"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 Target="slide54.xml"/><Relationship Id="rId2" Type="http://schemas.openxmlformats.org/officeDocument/2006/relationships/slide" Target="slide55.xml"/><Relationship Id="rId3" Type="http://schemas.openxmlformats.org/officeDocument/2006/relationships/slide" Target="slide49.xml"/><Relationship Id="rId4" Type="http://schemas.openxmlformats.org/officeDocument/2006/relationships/slideLayout" Target="../slideLayouts/slideLayout15.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 Target="slide61.xml"/><Relationship Id="rId2" Type="http://schemas.openxmlformats.org/officeDocument/2006/relationships/slide" Target="slide56.xml"/><Relationship Id="rId3" Type="http://schemas.openxmlformats.org/officeDocument/2006/relationships/slide" Target="slide61.xml"/><Relationship Id="rId4" Type="http://schemas.openxmlformats.org/officeDocument/2006/relationships/slide" Target="slide63.xml"/><Relationship Id="rId5" Type="http://schemas.openxmlformats.org/officeDocument/2006/relationships/slideLayout" Target="../slideLayouts/slideLayout15.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2" Type="http://schemas.openxmlformats.org/officeDocument/2006/relationships/slide" Target="slide56.xml"/><Relationship Id="rId3" Type="http://schemas.openxmlformats.org/officeDocument/2006/relationships/slide" Target="slide73.xml"/><Relationship Id="rId1" Type="http://schemas.openxmlformats.org/officeDocument/2006/relationships/image" Target="../media/image-14-1.jpeg"/><Relationship Id="rId4" Type="http://schemas.openxmlformats.org/officeDocument/2006/relationships/slideLayout" Target="../slideLayouts/slideLayout15.xml"/><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2" Type="http://schemas.openxmlformats.org/officeDocument/2006/relationships/slide" Target="slide57.xml"/><Relationship Id="rId3" Type="http://schemas.openxmlformats.org/officeDocument/2006/relationships/slide" Target="slide58.xml"/><Relationship Id="rId4" Type="http://schemas.openxmlformats.org/officeDocument/2006/relationships/slide" Target="slide61.xml"/><Relationship Id="rId1" Type="http://schemas.openxmlformats.org/officeDocument/2006/relationships/image" Target="../media/image-15-1.png"/><Relationship Id="rId5" Type="http://schemas.openxmlformats.org/officeDocument/2006/relationships/slideLayout" Target="../slideLayouts/slideLayout15.xml"/><Relationship Id="rId6"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 Target="slide73.xml"/><Relationship Id="rId2" Type="http://schemas.openxmlformats.org/officeDocument/2006/relationships/slideLayout" Target="../slideLayouts/slideLayout15.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 Target="slide57.xml"/><Relationship Id="rId2" Type="http://schemas.openxmlformats.org/officeDocument/2006/relationships/slide" Target="slide51.xml"/><Relationship Id="rId3" Type="http://schemas.openxmlformats.org/officeDocument/2006/relationships/slide" Target="slide58.xml"/><Relationship Id="rId4" Type="http://schemas.openxmlformats.org/officeDocument/2006/relationships/slideLayout" Target="../slideLayouts/slideLayout15.xml"/><Relationship Id="rId5"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2" Type="http://schemas.openxmlformats.org/officeDocument/2006/relationships/slide" Target="slide57.xml"/><Relationship Id="rId3" Type="http://schemas.openxmlformats.org/officeDocument/2006/relationships/slide" Target="slide58.xml"/><Relationship Id="rId1" Type="http://schemas.openxmlformats.org/officeDocument/2006/relationships/image" Target="../media/image-18-1.png"/><Relationship Id="rId4" Type="http://schemas.openxmlformats.org/officeDocument/2006/relationships/slideLayout" Target="../slideLayouts/slideLayout15.xml"/><Relationship Id="rId5"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2" Type="http://schemas.openxmlformats.org/officeDocument/2006/relationships/slide" Target="slide57.xml"/><Relationship Id="rId3" Type="http://schemas.openxmlformats.org/officeDocument/2006/relationships/slide" Target="slide59.xml"/><Relationship Id="rId4" Type="http://schemas.openxmlformats.org/officeDocument/2006/relationships/slide" Target="slide60.xml"/><Relationship Id="rId1" Type="http://schemas.openxmlformats.org/officeDocument/2006/relationships/image" Target="../media/image-19-1.jpeg"/><Relationship Id="rId5" Type="http://schemas.openxmlformats.org/officeDocument/2006/relationships/slideLayout" Target="../slideLayouts/slideLayout15.xml"/><Relationship Id="rId6"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 Target="slide59.xml"/><Relationship Id="rId2" Type="http://schemas.openxmlformats.org/officeDocument/2006/relationships/slideLayout" Target="../slideLayouts/slideLayout15.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 Target="slide65.xml"/><Relationship Id="rId2" Type="http://schemas.openxmlformats.org/officeDocument/2006/relationships/slide" Target="slide66.xml"/><Relationship Id="rId3" Type="http://schemas.openxmlformats.org/officeDocument/2006/relationships/slide" Target="slide59.xml"/><Relationship Id="rId4" Type="http://schemas.openxmlformats.org/officeDocument/2006/relationships/slide" Target="slide60.xml"/><Relationship Id="rId5" Type="http://schemas.openxmlformats.org/officeDocument/2006/relationships/slideLayout" Target="../slideLayouts/slideLayout15.xml"/><Relationship Id="rId6"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 Target="slide67.xml"/><Relationship Id="rId2" Type="http://schemas.openxmlformats.org/officeDocument/2006/relationships/slideLayout" Target="../slideLayouts/slideLayout15.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 Target="slide65.xml"/><Relationship Id="rId2" Type="http://schemas.openxmlformats.org/officeDocument/2006/relationships/slide" Target="slide67.xml"/><Relationship Id="rId3" Type="http://schemas.openxmlformats.org/officeDocument/2006/relationships/slideLayout" Target="../slideLayouts/slideLayout8.xml"/><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 Target="slide70.xml"/><Relationship Id="rId2" Type="http://schemas.openxmlformats.org/officeDocument/2006/relationships/slide" Target="slide71.xml"/><Relationship Id="rId3" Type="http://schemas.openxmlformats.org/officeDocument/2006/relationships/slide" Target="slide72.xml"/><Relationship Id="rId4" Type="http://schemas.openxmlformats.org/officeDocument/2006/relationships/slideLayout" Target="../slideLayouts/slideLayout15.xml"/><Relationship Id="rId5"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 Target="slide70.xml"/><Relationship Id="rId2" Type="http://schemas.openxmlformats.org/officeDocument/2006/relationships/slide" Target="slide57.xml"/><Relationship Id="rId3" Type="http://schemas.openxmlformats.org/officeDocument/2006/relationships/slide" Target="slide59.xml"/><Relationship Id="rId4" Type="http://schemas.openxmlformats.org/officeDocument/2006/relationships/slideLayout" Target="../slideLayouts/slideLayout8.xml"/><Relationship Id="rId5"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 Target="slide53.xml"/><Relationship Id="rId2" Type="http://schemas.openxmlformats.org/officeDocument/2006/relationships/slide" Target="slide63.xml"/><Relationship Id="rId3" Type="http://schemas.openxmlformats.org/officeDocument/2006/relationships/slide" Target="slide64.xml"/><Relationship Id="rId4" Type="http://schemas.openxmlformats.org/officeDocument/2006/relationships/slide" Target="slide64.xml"/><Relationship Id="rId5" Type="http://schemas.openxmlformats.org/officeDocument/2006/relationships/slideLayout" Target="../slideLayouts/slideLayout15.xml"/><Relationship Id="rId6"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 Target="slide62.xml"/><Relationship Id="rId2" Type="http://schemas.openxmlformats.org/officeDocument/2006/relationships/slide" Target="slide60.xml"/><Relationship Id="rId3" Type="http://schemas.openxmlformats.org/officeDocument/2006/relationships/slideLayout" Target="../slideLayouts/slideLayout15.xml"/><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 Target="slide69.xml"/><Relationship Id="rId2" Type="http://schemas.openxmlformats.org/officeDocument/2006/relationships/slide" Target="slide71.xml"/><Relationship Id="rId3" Type="http://schemas.openxmlformats.org/officeDocument/2006/relationships/slide" Target="slide74.xml"/><Relationship Id="rId4" Type="http://schemas.openxmlformats.org/officeDocument/2006/relationships/slideLayout" Target="../slideLayouts/slideLayout15.xml"/><Relationship Id="rId5"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 Target="slide72.xml"/><Relationship Id="rId2" Type="http://schemas.openxmlformats.org/officeDocument/2006/relationships/slide" Target="slide74.xml"/><Relationship Id="rId3" Type="http://schemas.openxmlformats.org/officeDocument/2006/relationships/slideLayout" Target="../slideLayouts/slideLayout15.xml"/><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 Target="slide74.xml"/><Relationship Id="rId2" Type="http://schemas.openxmlformats.org/officeDocument/2006/relationships/slideLayout" Target="../slideLayouts/slideLayout15.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 Target="slide49.xml"/><Relationship Id="rId2" Type="http://schemas.openxmlformats.org/officeDocument/2006/relationships/slide" Target="slide49.xml"/><Relationship Id="rId3" Type="http://schemas.openxmlformats.org/officeDocument/2006/relationships/slide" Target="slide49.xml"/><Relationship Id="rId4" Type="http://schemas.openxmlformats.org/officeDocument/2006/relationships/slideLayout" Target="../slideLayouts/slideLayout15.xml"/><Relationship Id="rId5"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 Target="slide49.xml"/><Relationship Id="rId2" Type="http://schemas.openxmlformats.org/officeDocument/2006/relationships/slide" Target="slide49.xml"/><Relationship Id="rId3" Type="http://schemas.openxmlformats.org/officeDocument/2006/relationships/slideLayout" Target="../slideLayouts/slideLayout15.xml"/><Relationship Id="rId4"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 Target="slide49.xml"/><Relationship Id="rId2" Type="http://schemas.openxmlformats.org/officeDocument/2006/relationships/slide" Target="slide49.xml"/><Relationship Id="rId3" Type="http://schemas.openxmlformats.org/officeDocument/2006/relationships/slideLayout" Target="../slideLayouts/slideLayout15.xml"/><Relationship Id="rId4"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 Target="slide49.xml"/><Relationship Id="rId2" Type="http://schemas.openxmlformats.org/officeDocument/2006/relationships/slideLayout" Target="../slideLayouts/slideLayout15.xml"/><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 Target="slide49.xml"/><Relationship Id="rId2" Type="http://schemas.openxmlformats.org/officeDocument/2006/relationships/slideLayout" Target="../slideLayouts/slideLayout15.xml"/><Relationship Id="rId3"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 Target="slide49.xml"/><Relationship Id="rId2" Type="http://schemas.openxmlformats.org/officeDocument/2006/relationships/slideLayout" Target="../slideLayouts/slideLayout15.xml"/><Relationship Id="rId3"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 Target="slide54.xml"/><Relationship Id="rId2" Type="http://schemas.openxmlformats.org/officeDocument/2006/relationships/slide" Target="slide57.xml"/><Relationship Id="rId3" Type="http://schemas.openxmlformats.org/officeDocument/2006/relationships/slide" Target="slide64.xml"/><Relationship Id="rId4" Type="http://schemas.openxmlformats.org/officeDocument/2006/relationships/slide" Target="slide70.xml"/><Relationship Id="rId5" Type="http://schemas.openxmlformats.org/officeDocument/2006/relationships/slide" Target="slide71.xml"/><Relationship Id="rId6" Type="http://schemas.openxmlformats.org/officeDocument/2006/relationships/slideLayout" Target="../slideLayouts/slideLayout15.xml"/><Relationship Id="rId7"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 Target="slide49.xml"/><Relationship Id="rId2" Type="http://schemas.openxmlformats.org/officeDocument/2006/relationships/slideLayout" Target="../slideLayouts/slideLayout15.xml"/><Relationship Id="rId3" Type="http://schemas.openxmlformats.org/officeDocument/2006/relationships/notesSlide" Target="../notesSlides/notesSlide7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ph idx="101" type="title" hasCustomPrompt="1"/>
          </p:nvPr>
        </p:nvSpPr>
        <p:spPr>
          <a:xfrm>
            <a:off x="304800" y="182880"/>
            <a:ext cx="11430000" cy="762000"/>
          </a:xfrm>
          <a:prstGeom prst="rect">
            <a:avLst/>
          </a:prstGeom>
          <a:noFill/>
          <a:ln/>
        </p:spPr>
        <p:txBody>
          <a:bodyPr wrap="square" lIns="0" tIns="0" rIns="0" bIns="0" rtlCol="0" anchor="t"/>
          <a:lstStyle/>
          <a:p>
            <a:pPr algn="l" indent="0" marL="0">
              <a:buNone/>
            </a:pPr>
            <a:r>
              <a:rPr lang="en-GB" altLang="en-US" sz="4560" b="1" spc="-84" kern="0" dirty="0">
                <a:solidFill>
                  <a:srgbClr val="000000"/>
                </a:solidFill>
                <a:latin typeface="Arial" pitchFamily="34" charset="0"/>
                <a:ea typeface="Arial" pitchFamily="34" charset="-122"/>
                <a:cs typeface="Arial" pitchFamily="34" charset="-120"/>
              </a:rPr>
              <a:t>Qwen Office × DingTalk: A Shanqin Case Study</a:t>
            </a:r>
            <a:endParaRPr lang="en-GB" sz="4560" dirty="0"/>
          </a:p>
        </p:txBody>
      </p:sp>
      <p:sp>
        <p:nvSpPr>
          <p:cNvPr id="3" name="cover-meta"/>
          <p:cNvSpPr/>
          <p:nvPr/>
        </p:nvSpPr>
        <p:spPr>
          <a:xfrm>
            <a:off x="609600" y="2438400"/>
            <a:ext cx="10287000" cy="1447800"/>
          </a:xfrm>
          <a:prstGeom prst="rect">
            <a:avLst/>
          </a:prstGeom>
          <a:noFill/>
          <a:ln/>
        </p:spPr>
        <p:txBody>
          <a:bodyPr wrap="square" lIns="0" tIns="0" rIns="0" bIns="0" rtlCol="0" anchor="t"/>
          <a:lstStyle/>
          <a:p>
            <a:pPr algn="l" indent="0" marL="0">
              <a:lnSpc>
                <a:spcPct val="128000"/>
              </a:lnSpc>
              <a:buNone/>
            </a:pPr>
            <a:r>
              <a:rPr lang="en-GB" altLang="en-US" sz="1800" dirty="0">
                <a:solidFill>
                  <a:srgbClr val="222222"/>
                </a:solidFill>
                <a:latin typeface="Arial" pitchFamily="34" charset="0"/>
                <a:ea typeface="Arial" pitchFamily="34" charset="-122"/>
                <a:cs typeface="Arial" pitchFamily="34" charset="-120"/>
              </a:rPr>
              <a:t>Report date: 14 October 2026</a:t>
            </a:r>
            <a:endParaRPr lang="en-GB" sz="1800" dirty="0"/>
          </a:p>
          <a:p>
            <a:pPr algn="l" indent="0" marL="0">
              <a:lnSpc>
                <a:spcPct val="128000"/>
              </a:lnSpc>
              <a:buNone/>
            </a:pPr>
            <a:r>
              <a:rPr lang="en-GB" altLang="en-US" sz="1800" dirty="0">
                <a:solidFill>
                  <a:srgbClr val="222222"/>
                </a:solidFill>
                <a:latin typeface="Arial" pitchFamily="34" charset="0"/>
                <a:ea typeface="Arial" pitchFamily="34" charset="-122"/>
                <a:cs typeface="Arial" pitchFamily="34" charset="-120"/>
              </a:rPr>
              <a:t>Purpose: internal management discussion and decisions on further validation</a:t>
            </a:r>
            <a:endParaRPr lang="en-GB" sz="1800" dirty="0"/>
          </a:p>
          <a:p>
            <a:pPr algn="l" indent="0" marL="0">
              <a:lnSpc>
                <a:spcPct val="128000"/>
              </a:lnSpc>
              <a:buNone/>
            </a:pPr>
            <a:r>
              <a:rPr lang="en-GB" altLang="en-US" sz="1800" dirty="0">
                <a:solidFill>
                  <a:srgbClr val="222222"/>
                </a:solidFill>
                <a:latin typeface="Arial" pitchFamily="34" charset="0"/>
                <a:ea typeface="Arial" pitchFamily="34" charset="-122"/>
                <a:cs typeface="Arial" pitchFamily="34" charset="-120"/>
              </a:rPr>
              <a:t>Practitioner: Leo Zhang; practice date: 10 October 2026</a:t>
            </a:r>
            <a:endParaRPr lang="en-GB" sz="1800" dirty="0"/>
          </a:p>
        </p:txBody>
      </p:sp>
      <p:sp>
        <p:nvSpPr>
          <p:cNvPr id="5" name="Text 0"/>
          <p:cNvSpPr/>
          <p:nvPr>
            <p:ph idx="102" type="body" hasCustomPrompt="1"/>
          </p:nvPr>
        </p:nvSpPr>
        <p:spPr>
          <a:xfrm>
            <a:off x="762000" y="2743200"/>
            <a:ext cx="10668000" cy="2590800"/>
          </a:xfrm>
          <a:prstGeom prst="rect">
            <a:avLst/>
          </a:prstGeom>
          <a:noFill/>
          <a:ln/>
        </p:spPr>
        <p:txBody>
          <a:bodyPr wrap="square" lIns="0" tIns="0" rIns="0" bIns="0" rtlCol="0" anchor="t"/>
          <a:lstStyle/>
          <a:p>
            <a:pPr indent="0" marL="0">
              <a:buNone/>
            </a:pPr>
            <a:endParaRPr lang="en-US" sz="168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1"/>
          <p:cNvSpPr/>
          <p:nvPr>
            <p:ph idx="101" type="title" hasCustomPrompt="1"/>
          </p:nvPr>
        </p:nvSpPr>
        <p:spPr>
          <a:xfrm>
            <a:off x="381000" y="891540"/>
            <a:ext cx="11430000" cy="487680"/>
          </a:xfrm>
          <a:prstGeom prst="rect">
            <a:avLst/>
          </a:prstGeom>
          <a:noFill/>
          <a:ln/>
        </p:spPr>
        <p:txBody>
          <a:bodyPr wrap="square" lIns="0" tIns="0" rIns="0" bIns="0" rtlCol="0" anchor="t"/>
          <a:lstStyle/>
          <a:p>
            <a:pPr algn="l" indent="0" marL="0">
              <a:buNone/>
            </a:pPr>
            <a:r>
              <a:rPr lang="en-GB" altLang="en-US" sz="2400" b="1" spc="-84" kern="0" dirty="0">
                <a:solidFill>
                  <a:srgbClr val="000000"/>
                </a:solidFill>
                <a:latin typeface="Arial" pitchFamily="34" charset="0"/>
                <a:ea typeface="Arial" pitchFamily="34" charset="-122"/>
                <a:cs typeface="Arial" pitchFamily="34" charset="-120"/>
              </a:rPr>
              <a:t>I. Executive summary</a:t>
            </a:r>
            <a:endParaRPr lang="en-GB" sz="2400" dirty="0"/>
          </a:p>
        </p:txBody>
      </p:sp>
      <p:sp>
        <p:nvSpPr>
          <p:cNvPr id="3" name="body-01-1-item-0"/>
          <p:cNvSpPr/>
          <p:nvPr/>
        </p:nvSpPr>
        <p:spPr>
          <a:xfrm>
            <a:off x="609600" y="1600200"/>
            <a:ext cx="10972800" cy="2346960"/>
          </a:xfrm>
          <a:prstGeom prst="rect">
            <a:avLst/>
          </a:prstGeom>
          <a:noFill/>
          <a:ln/>
        </p:spPr>
        <p:txBody>
          <a:bodyPr wrap="square" lIns="0" tIns="0" rIns="0" bIns="0" rtlCol="0" anchor="t"/>
          <a:lstStyle/>
          <a:p>
            <a:pPr algn="l" indent="0" marL="0">
              <a:lnSpc>
                <a:spcPct val="128000"/>
              </a:lnSpc>
              <a:buNone/>
            </a:pPr>
            <a:r>
              <a:rPr lang="en-GB" altLang="en-US" sz="1920" b="1" dirty="0">
                <a:solidFill>
                  <a:srgbClr val="222222"/>
                </a:solidFill>
                <a:latin typeface="Arial" pitchFamily="34" charset="0"/>
                <a:ea typeface="Arial" pitchFamily="34" charset="-122"/>
                <a:cs typeface="Arial" pitchFamily="34" charset="-120"/>
              </a:rPr>
              <a:t>Run a limited, measurable follow-up evaluation. This practice does not yet justify deployment or wider use.</a:t>
            </a:r>
            <a:pPr algn="l" indent="0" marL="0">
              <a:lnSpc>
                <a:spcPct val="128000"/>
              </a:lnSpc>
              <a:buNone/>
            </a:pPr>
            <a:r>
              <a:rPr lang="en-GB" altLang="en-US" sz="1920" dirty="0">
                <a:solidFill>
                  <a:srgbClr val="222222"/>
                </a:solidFill>
                <a:latin typeface="Arial" pitchFamily="34" charset="0"/>
                <a:ea typeface="Arial" pitchFamily="34" charset="-122"/>
                <a:cs typeface="Arial" pitchFamily="34" charset="-120"/>
              </a:rPr>
              <a:t> With simulated data and preset workflows, Qwen Office called business-system and DingTalk tools to connect document reading, field extraction, tracking registration and briefing distribution. The most useful value to test is reduced repeated preparation and copying as information moves from documents into work records and collaboration channels. [</a:t>
            </a:r>
            <a:pPr algn="l" indent="0" marL="0">
              <a:lnSpc>
                <a:spcPct val="128000"/>
              </a:lnSpc>
              <a:buNone/>
            </a:pPr>
            <a:r>
              <a:rPr lang="en-GB" altLang="en-US" sz="1920" u="sng" dirty="0">
                <a:solidFill>
                  <a:srgbClr val="B80010"/>
                </a:solidFill>
                <a:latin typeface="Arial" pitchFamily="34" charset="0"/>
                <a:ea typeface="Arial" pitchFamily="34" charset="-122"/>
                <a:cs typeface="Arial" pitchFamily="34" charset="-120"/>
                <a:hlinkClick r:id="rId1" action="ppaction://hlinksldjump" tooltip="">
                  <a:extLst>
                    <a:ext uri="{A12FA001-AC4F-418D-AE19-62706E023703}">
                      <ahyp:hlinkClr xmlns:ahyp="http://schemas.microsoft.com/office/drawing/2018/hyperlinkcolor" val="tx"/>
                    </a:ext>
                  </a:extLst>
                </a:hlinkClick>
              </a:rPr>
              <a:t>E04</a:t>
            </a:r>
            <a:pPr algn="l" indent="0" marL="0">
              <a:lnSpc>
                <a:spcPct val="128000"/>
              </a:lnSpc>
              <a:buNone/>
            </a:pPr>
            <a:r>
              <a:rPr lang="en-GB" altLang="en-US" sz="1920" dirty="0">
                <a:solidFill>
                  <a:srgbClr val="222222"/>
                </a:solidFill>
                <a:latin typeface="Arial" pitchFamily="34" charset="0"/>
                <a:ea typeface="Arial" pitchFamily="34" charset="-122"/>
                <a:cs typeface="Arial" pitchFamily="34" charset="-120"/>
              </a:rPr>
              <a:t>, </a:t>
            </a:r>
            <a:pPr algn="l" indent="0" marL="0">
              <a:lnSpc>
                <a:spcPct val="128000"/>
              </a:lnSpc>
              <a:buNone/>
            </a:pPr>
            <a:r>
              <a:rPr lang="en-GB" altLang="en-US" sz="1920" u="sng" dirty="0">
                <a:solidFill>
                  <a:srgbClr val="B80010"/>
                </a:solidFill>
                <a:latin typeface="Arial" pitchFamily="34" charset="0"/>
                <a:ea typeface="Arial" pitchFamily="34" charset="-122"/>
                <a:cs typeface="Arial" pitchFamily="34" charset="-120"/>
                <a:hlinkClick r:id="rId2" action="ppaction://hlinksldjump" tooltip="">
                  <a:extLst>
                    <a:ext uri="{A12FA001-AC4F-418D-AE19-62706E023703}">
                      <ahyp:hlinkClr xmlns:ahyp="http://schemas.microsoft.com/office/drawing/2018/hyperlinkcolor" val="tx"/>
                    </a:ext>
                  </a:extLst>
                </a:hlinkClick>
              </a:rPr>
              <a:t>E07</a:t>
            </a:r>
            <a:pPr algn="l" indent="0" marL="0">
              <a:lnSpc>
                <a:spcPct val="128000"/>
              </a:lnSpc>
              <a:buNone/>
            </a:pPr>
            <a:r>
              <a:rPr lang="en-GB" altLang="en-US" sz="1920" dirty="0">
                <a:solidFill>
                  <a:srgbClr val="222222"/>
                </a:solidFill>
                <a:latin typeface="Arial" pitchFamily="34" charset="0"/>
                <a:ea typeface="Arial" pitchFamily="34" charset="-122"/>
                <a:cs typeface="Arial" pitchFamily="34" charset="-120"/>
              </a:rPr>
              <a:t>, </a:t>
            </a:r>
            <a:pPr algn="l" indent="0" marL="0">
              <a:lnSpc>
                <a:spcPct val="128000"/>
              </a:lnSpc>
              <a:buNone/>
            </a:pPr>
            <a:r>
              <a:rPr lang="en-GB" altLang="en-US" sz="1920" u="sng" dirty="0">
                <a:solidFill>
                  <a:srgbClr val="B80010"/>
                </a:solidFill>
                <a:latin typeface="Arial" pitchFamily="34" charset="0"/>
                <a:ea typeface="Arial" pitchFamily="34" charset="-122"/>
                <a:cs typeface="Arial" pitchFamily="34" charset="-120"/>
                <a:hlinkClick r:id="rId3" action="ppaction://hlinksldjump" tooltip="">
                  <a:extLst>
                    <a:ext uri="{A12FA001-AC4F-418D-AE19-62706E023703}">
                      <ahyp:hlinkClr xmlns:ahyp="http://schemas.microsoft.com/office/drawing/2018/hyperlinkcolor" val="tx"/>
                    </a:ext>
                  </a:extLst>
                </a:hlinkClick>
              </a:rPr>
              <a:t>E11</a:t>
            </a:r>
            <a:pPr algn="l" indent="0" marL="0">
              <a:lnSpc>
                <a:spcPct val="128000"/>
              </a:lnSpc>
              <a:buNone/>
            </a:pPr>
            <a:r>
              <a:rPr lang="en-GB" altLang="en-US" sz="1920" dirty="0">
                <a:solidFill>
                  <a:srgbClr val="222222"/>
                </a:solidFill>
                <a:latin typeface="Arial" pitchFamily="34" charset="0"/>
                <a:ea typeface="Arial" pitchFamily="34" charset="-122"/>
                <a:cs typeface="Arial" pitchFamily="34" charset="-120"/>
              </a:rPr>
              <a:t>, </a:t>
            </a:r>
            <a:pPr algn="l" indent="0" marL="0">
              <a:lnSpc>
                <a:spcPct val="128000"/>
              </a:lnSpc>
              <a:buNone/>
            </a:pPr>
            <a:r>
              <a:rPr lang="en-GB" altLang="en-US" sz="1920" u="sng" dirty="0">
                <a:solidFill>
                  <a:srgbClr val="B80010"/>
                </a:solidFill>
                <a:latin typeface="Arial" pitchFamily="34" charset="0"/>
                <a:ea typeface="Arial" pitchFamily="34" charset="-122"/>
                <a:cs typeface="Arial" pitchFamily="34" charset="-120"/>
                <a:hlinkClick r:id="rId4" action="ppaction://hlinksldjump" tooltip="">
                  <a:extLst>
                    <a:ext uri="{A12FA001-AC4F-418D-AE19-62706E023703}">
                      <ahyp:hlinkClr xmlns:ahyp="http://schemas.microsoft.com/office/drawing/2018/hyperlinkcolor" val="tx"/>
                    </a:ext>
                  </a:extLst>
                </a:hlinkClick>
              </a:rPr>
              <a:t>E20</a:t>
            </a:r>
            <a:pPr algn="l" indent="0" marL="0">
              <a:lnSpc>
                <a:spcPct val="128000"/>
              </a:lnSpc>
              <a:buNone/>
            </a:pPr>
            <a:r>
              <a:rPr lang="en-GB" altLang="en-US" sz="1920" dirty="0">
                <a:solidFill>
                  <a:srgbClr val="222222"/>
                </a:solidFill>
                <a:latin typeface="Arial" pitchFamily="34" charset="0"/>
                <a:ea typeface="Arial" pitchFamily="34" charset="-122"/>
                <a:cs typeface="Arial" pitchFamily="34" charset="-120"/>
              </a:rPr>
              <a:t>]</a:t>
            </a:r>
            <a:endParaRPr lang="en-GB" sz="1920" dirty="0"/>
          </a:p>
        </p:txBody>
      </p:sp>
      <p:sp>
        <p:nvSpPr>
          <p:cNvPr id="5" name="Text 1"/>
          <p:cNvSpPr/>
          <p:nvPr>
            <p:ph idx="102" type="body" hasCustomPrompt="1"/>
          </p:nvPr>
        </p:nvSpPr>
        <p:spPr>
          <a:xfrm>
            <a:off x="762000" y="2057400"/>
            <a:ext cx="10668000" cy="3886200"/>
          </a:xfrm>
          <a:prstGeom prst="rect">
            <a:avLst/>
          </a:prstGeom>
          <a:noFill/>
          <a:ln/>
        </p:spPr>
        <p:txBody>
          <a:bodyPr wrap="square" lIns="0" tIns="0" rIns="0" bIns="0" rtlCol="0" anchor="t"/>
          <a:lstStyle/>
          <a:p>
            <a:pPr indent="0" marL="0">
              <a:buNone/>
            </a:pPr>
            <a:endParaRPr lang="en-US" sz="168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1"/>
          <p:cNvSpPr/>
          <p:nvPr>
            <p:ph idx="101" type="title" hasCustomPrompt="1"/>
          </p:nvPr>
        </p:nvSpPr>
        <p:spPr>
          <a:xfrm>
            <a:off x="381000" y="891540"/>
            <a:ext cx="11430000" cy="487680"/>
          </a:xfrm>
          <a:prstGeom prst="rect">
            <a:avLst/>
          </a:prstGeom>
          <a:noFill/>
          <a:ln/>
        </p:spPr>
        <p:txBody>
          <a:bodyPr wrap="square" lIns="0" tIns="0" rIns="0" bIns="0" rtlCol="0" anchor="t"/>
          <a:lstStyle/>
          <a:p>
            <a:pPr algn="l" indent="0" marL="0">
              <a:buNone/>
            </a:pPr>
            <a:r>
              <a:rPr lang="en-GB" altLang="en-US" sz="2400" b="1" spc="-84" kern="0" dirty="0">
                <a:solidFill>
                  <a:srgbClr val="000000"/>
                </a:solidFill>
                <a:latin typeface="Arial" pitchFamily="34" charset="0"/>
                <a:ea typeface="Arial" pitchFamily="34" charset="-122"/>
                <a:cs typeface="Arial" pitchFamily="34" charset="-120"/>
              </a:rPr>
              <a:t>I. Executive summary (continued)</a:t>
            </a:r>
            <a:endParaRPr lang="en-GB" sz="2400" dirty="0"/>
          </a:p>
        </p:txBody>
      </p:sp>
      <p:sp>
        <p:nvSpPr>
          <p:cNvPr id="3" name="body-01-2-item-0"/>
          <p:cNvSpPr/>
          <p:nvPr/>
        </p:nvSpPr>
        <p:spPr>
          <a:xfrm>
            <a:off x="609600" y="1600200"/>
            <a:ext cx="10972800" cy="3314700"/>
          </a:xfrm>
          <a:prstGeom prst="rect">
            <a:avLst/>
          </a:prstGeom>
          <a:noFill/>
          <a:ln/>
        </p:spPr>
        <p:txBody>
          <a:bodyPr wrap="square" lIns="0" tIns="0" rIns="0" bIns="0" rtlCol="0" anchor="t"/>
          <a:lstStyle/>
          <a:p>
            <a:pPr algn="l" indent="0" marL="0">
              <a:lnSpc>
                <a:spcPct val="128000"/>
              </a:lnSpc>
              <a:buNone/>
            </a:pPr>
            <a:r>
              <a:rPr lang="en-GB" altLang="en-US" sz="1920" dirty="0">
                <a:solidFill>
                  <a:srgbClr val="222222"/>
                </a:solidFill>
                <a:latin typeface="Arial" pitchFamily="34" charset="0"/>
                <a:ea typeface="Arial" pitchFamily="34" charset="-122"/>
                <a:cs typeface="Arial" pitchFamily="34" charset="-120"/>
              </a:rPr>
              <a:t>The evidence also sets clear limits. This was a one-person demonstration. I observed the AI complete contract entry in Qwen Office without clicking the supplementary agreement myself; the specific write call has not been located in the reviewed records. A tracking item was created and read back, but a later inspection returned an empty list. The assistant attributed this to a missed day-seven boundary; the raw records establish neither that cause nor a successful fix. Of four scheduled inspections, two have completion records and two execution errors. This supports the feasibility of selected steps, but does not validate a complete management workflow or sustained reliability. [</a:t>
            </a:r>
            <a:pPr algn="l" indent="0" marL="0">
              <a:lnSpc>
                <a:spcPct val="128000"/>
              </a:lnSpc>
              <a:buNone/>
            </a:pPr>
            <a:r>
              <a:rPr lang="en-GB" altLang="en-US" sz="1920" u="sng" dirty="0">
                <a:solidFill>
                  <a:srgbClr val="B80010"/>
                </a:solidFill>
                <a:latin typeface="Arial" pitchFamily="34" charset="0"/>
                <a:ea typeface="Arial" pitchFamily="34" charset="-122"/>
                <a:cs typeface="Arial" pitchFamily="34" charset="-120"/>
                <a:hlinkClick r:id="rId1" action="ppaction://hlinksldjump" tooltip="">
                  <a:extLst>
                    <a:ext uri="{A12FA001-AC4F-418D-AE19-62706E023703}">
                      <ahyp:hlinkClr xmlns:ahyp="http://schemas.microsoft.com/office/drawing/2018/hyperlinkcolor" val="tx"/>
                    </a:ext>
                  </a:extLst>
                </a:hlinkClick>
              </a:rPr>
              <a:t>E01</a:t>
            </a:r>
            <a:pPr algn="l" indent="0" marL="0">
              <a:lnSpc>
                <a:spcPct val="128000"/>
              </a:lnSpc>
              <a:buNone/>
            </a:pPr>
            <a:r>
              <a:rPr lang="en-GB" altLang="en-US" sz="1920" dirty="0">
                <a:solidFill>
                  <a:srgbClr val="222222"/>
                </a:solidFill>
                <a:latin typeface="Arial" pitchFamily="34" charset="0"/>
                <a:ea typeface="Arial" pitchFamily="34" charset="-122"/>
                <a:cs typeface="Arial" pitchFamily="34" charset="-120"/>
              </a:rPr>
              <a:t>, </a:t>
            </a:r>
            <a:pPr algn="l" indent="0" marL="0">
              <a:lnSpc>
                <a:spcPct val="128000"/>
              </a:lnSpc>
              <a:buNone/>
            </a:pPr>
            <a:r>
              <a:rPr lang="en-GB" altLang="en-US" sz="1920" u="sng" dirty="0">
                <a:solidFill>
                  <a:srgbClr val="B80010"/>
                </a:solidFill>
                <a:latin typeface="Arial" pitchFamily="34" charset="0"/>
                <a:ea typeface="Arial" pitchFamily="34" charset="-122"/>
                <a:cs typeface="Arial" pitchFamily="34" charset="-120"/>
                <a:hlinkClick r:id="rId2" action="ppaction://hlinksldjump" tooltip="">
                  <a:extLst>
                    <a:ext uri="{A12FA001-AC4F-418D-AE19-62706E023703}">
                      <ahyp:hlinkClr xmlns:ahyp="http://schemas.microsoft.com/office/drawing/2018/hyperlinkcolor" val="tx"/>
                    </a:ext>
                  </a:extLst>
                </a:hlinkClick>
              </a:rPr>
              <a:t>E05</a:t>
            </a:r>
            <a:pPr algn="l" indent="0" marL="0">
              <a:lnSpc>
                <a:spcPct val="128000"/>
              </a:lnSpc>
              <a:buNone/>
            </a:pPr>
            <a:r>
              <a:rPr lang="en-GB" altLang="en-US" sz="1920" dirty="0">
                <a:solidFill>
                  <a:srgbClr val="222222"/>
                </a:solidFill>
                <a:latin typeface="Arial" pitchFamily="34" charset="0"/>
                <a:ea typeface="Arial" pitchFamily="34" charset="-122"/>
                <a:cs typeface="Arial" pitchFamily="34" charset="-120"/>
              </a:rPr>
              <a:t>, </a:t>
            </a:r>
            <a:pPr algn="l" indent="0" marL="0">
              <a:lnSpc>
                <a:spcPct val="128000"/>
              </a:lnSpc>
              <a:buNone/>
            </a:pPr>
            <a:r>
              <a:rPr lang="en-GB" altLang="en-US" sz="1920" u="sng" dirty="0">
                <a:solidFill>
                  <a:srgbClr val="B80010"/>
                </a:solidFill>
                <a:latin typeface="Arial" pitchFamily="34" charset="0"/>
                <a:ea typeface="Arial" pitchFamily="34" charset="-122"/>
                <a:cs typeface="Arial" pitchFamily="34" charset="-120"/>
                <a:hlinkClick r:id="rId3" action="ppaction://hlinksldjump" tooltip="">
                  <a:extLst>
                    <a:ext uri="{A12FA001-AC4F-418D-AE19-62706E023703}">
                      <ahyp:hlinkClr xmlns:ahyp="http://schemas.microsoft.com/office/drawing/2018/hyperlinkcolor" val="tx"/>
                    </a:ext>
                  </a:extLst>
                </a:hlinkClick>
              </a:rPr>
              <a:t>E07</a:t>
            </a:r>
            <a:pPr algn="l" indent="0" marL="0">
              <a:lnSpc>
                <a:spcPct val="128000"/>
              </a:lnSpc>
              <a:buNone/>
            </a:pPr>
            <a:r>
              <a:rPr lang="en-GB" altLang="en-US" sz="1920" dirty="0">
                <a:solidFill>
                  <a:srgbClr val="222222"/>
                </a:solidFill>
                <a:latin typeface="Arial" pitchFamily="34" charset="0"/>
                <a:ea typeface="Arial" pitchFamily="34" charset="-122"/>
                <a:cs typeface="Arial" pitchFamily="34" charset="-120"/>
              </a:rPr>
              <a:t>–</a:t>
            </a:r>
            <a:pPr algn="l" indent="0" marL="0">
              <a:lnSpc>
                <a:spcPct val="128000"/>
              </a:lnSpc>
              <a:buNone/>
            </a:pPr>
            <a:r>
              <a:rPr lang="en-GB" altLang="en-US" sz="1920" u="sng" dirty="0">
                <a:solidFill>
                  <a:srgbClr val="B80010"/>
                </a:solidFill>
                <a:latin typeface="Arial" pitchFamily="34" charset="0"/>
                <a:ea typeface="Arial" pitchFamily="34" charset="-122"/>
                <a:cs typeface="Arial" pitchFamily="34" charset="-120"/>
                <a:hlinkClick r:id="rId4" action="ppaction://hlinksldjump" tooltip="">
                  <a:extLst>
                    <a:ext uri="{A12FA001-AC4F-418D-AE19-62706E023703}">
                      <ahyp:hlinkClr xmlns:ahyp="http://schemas.microsoft.com/office/drawing/2018/hyperlinkcolor" val="tx"/>
                    </a:ext>
                  </a:extLst>
                </a:hlinkClick>
              </a:rPr>
              <a:t>E10</a:t>
            </a:r>
            <a:pPr algn="l" indent="0" marL="0">
              <a:lnSpc>
                <a:spcPct val="128000"/>
              </a:lnSpc>
              <a:buNone/>
            </a:pPr>
            <a:r>
              <a:rPr lang="en-GB" altLang="en-US" sz="1920" dirty="0">
                <a:solidFill>
                  <a:srgbClr val="222222"/>
                </a:solidFill>
                <a:latin typeface="Arial" pitchFamily="34" charset="0"/>
                <a:ea typeface="Arial" pitchFamily="34" charset="-122"/>
                <a:cs typeface="Arial" pitchFamily="34" charset="-120"/>
              </a:rPr>
              <a:t>, </a:t>
            </a:r>
            <a:pPr algn="l" indent="0" marL="0">
              <a:lnSpc>
                <a:spcPct val="128000"/>
              </a:lnSpc>
              <a:buNone/>
            </a:pPr>
            <a:r>
              <a:rPr lang="en-GB" altLang="en-US" sz="1920" u="sng" dirty="0">
                <a:solidFill>
                  <a:srgbClr val="B80010"/>
                </a:solidFill>
                <a:latin typeface="Arial" pitchFamily="34" charset="0"/>
                <a:ea typeface="Arial" pitchFamily="34" charset="-122"/>
                <a:cs typeface="Arial" pitchFamily="34" charset="-120"/>
                <a:hlinkClick r:id="rId5" action="ppaction://hlinksldjump" tooltip="">
                  <a:extLst>
                    <a:ext uri="{A12FA001-AC4F-418D-AE19-62706E023703}">
                      <ahyp:hlinkClr xmlns:ahyp="http://schemas.microsoft.com/office/drawing/2018/hyperlinkcolor" val="tx"/>
                    </a:ext>
                  </a:extLst>
                </a:hlinkClick>
              </a:rPr>
              <a:t>E15</a:t>
            </a:r>
            <a:pPr algn="l" indent="0" marL="0">
              <a:lnSpc>
                <a:spcPct val="128000"/>
              </a:lnSpc>
              <a:buNone/>
            </a:pPr>
            <a:r>
              <a:rPr lang="en-GB" altLang="en-US" sz="1920" dirty="0">
                <a:solidFill>
                  <a:srgbClr val="222222"/>
                </a:solidFill>
                <a:latin typeface="Arial" pitchFamily="34" charset="0"/>
                <a:ea typeface="Arial" pitchFamily="34" charset="-122"/>
                <a:cs typeface="Arial" pitchFamily="34" charset="-120"/>
              </a:rPr>
              <a:t>]</a:t>
            </a:r>
            <a:endParaRPr lang="en-GB" sz="1920" dirty="0"/>
          </a:p>
        </p:txBody>
      </p:sp>
      <p:sp>
        <p:nvSpPr>
          <p:cNvPr id="5" name="Text 1"/>
          <p:cNvSpPr/>
          <p:nvPr>
            <p:ph idx="102" type="body" hasCustomPrompt="1"/>
          </p:nvPr>
        </p:nvSpPr>
        <p:spPr>
          <a:xfrm>
            <a:off x="762000" y="2057400"/>
            <a:ext cx="10668000" cy="3886200"/>
          </a:xfrm>
          <a:prstGeom prst="rect">
            <a:avLst/>
          </a:prstGeom>
          <a:noFill/>
          <a:ln/>
        </p:spPr>
        <p:txBody>
          <a:bodyPr wrap="square" lIns="0" tIns="0" rIns="0" bIns="0" rtlCol="0" anchor="t"/>
          <a:lstStyle/>
          <a:p>
            <a:pPr indent="0" marL="0">
              <a:buNone/>
            </a:pPr>
            <a:endParaRPr lang="en-US" sz="168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1"/>
          <p:cNvSpPr/>
          <p:nvPr>
            <p:ph idx="101" type="title" hasCustomPrompt="1"/>
          </p:nvPr>
        </p:nvSpPr>
        <p:spPr>
          <a:xfrm>
            <a:off x="381000" y="891540"/>
            <a:ext cx="11430000" cy="487680"/>
          </a:xfrm>
          <a:prstGeom prst="rect">
            <a:avLst/>
          </a:prstGeom>
          <a:noFill/>
          <a:ln/>
        </p:spPr>
        <p:txBody>
          <a:bodyPr wrap="square" lIns="0" tIns="0" rIns="0" bIns="0" rtlCol="0" anchor="t"/>
          <a:lstStyle/>
          <a:p>
            <a:pPr algn="l" indent="0" marL="0">
              <a:buNone/>
            </a:pPr>
            <a:r>
              <a:rPr lang="en-GB" altLang="en-US" sz="2400" b="1" spc="-84" kern="0" dirty="0">
                <a:solidFill>
                  <a:srgbClr val="000000"/>
                </a:solidFill>
                <a:latin typeface="Arial" pitchFamily="34" charset="0"/>
                <a:ea typeface="Arial" pitchFamily="34" charset="-122"/>
                <a:cs typeface="Arial" pitchFamily="34" charset="-120"/>
              </a:rPr>
              <a:t>I. Executive summary (continued)</a:t>
            </a:r>
            <a:endParaRPr lang="en-GB" sz="2400" dirty="0"/>
          </a:p>
        </p:txBody>
      </p:sp>
      <p:sp>
        <p:nvSpPr>
          <p:cNvPr id="3" name="body-01-3-item-0"/>
          <p:cNvSpPr/>
          <p:nvPr/>
        </p:nvSpPr>
        <p:spPr>
          <a:xfrm>
            <a:off x="609600" y="1600200"/>
            <a:ext cx="10972800" cy="1706880"/>
          </a:xfrm>
          <a:prstGeom prst="rect">
            <a:avLst/>
          </a:prstGeom>
          <a:noFill/>
          <a:ln/>
        </p:spPr>
        <p:txBody>
          <a:bodyPr wrap="square" lIns="0" tIns="0" rIns="0" bIns="0" rtlCol="0" anchor="t"/>
          <a:lstStyle/>
          <a:p>
            <a:pPr algn="l" indent="0" marL="0">
              <a:lnSpc>
                <a:spcPct val="128000"/>
              </a:lnSpc>
              <a:buNone/>
            </a:pPr>
            <a:r>
              <a:rPr lang="en-GB" altLang="en-US" sz="1920" b="1" dirty="0">
                <a:solidFill>
                  <a:srgbClr val="222222"/>
                </a:solidFill>
                <a:latin typeface="Arial" pitchFamily="34" charset="0"/>
                <a:ea typeface="Arial" pitchFamily="34" charset="-122"/>
                <a:cs typeface="Arial" pitchFamily="34" charset="-120"/>
              </a:rPr>
              <a:t>Numerical accuracy and sound management judgement need separate acceptance checks.</a:t>
            </a:r>
            <a:pPr algn="l" indent="0" marL="0">
              <a:lnSpc>
                <a:spcPct val="128000"/>
              </a:lnSpc>
              <a:buNone/>
            </a:pPr>
            <a:r>
              <a:rPr lang="en-GB" altLang="en-US" sz="1920" dirty="0">
                <a:solidFill>
                  <a:srgbClr val="222222"/>
                </a:solidFill>
                <a:latin typeface="Arial" pitchFamily="34" charset="0"/>
                <a:ea typeface="Arial" pitchFamily="34" charset="-122"/>
                <a:cs typeface="Arial" pitchFamily="34" charset="-120"/>
              </a:rPr>
              <a:t> The customer analysis cited ledger figures while also asserting, without independent support, that renewal formalities had not been completed. For project reporting, reviewers must check both the numbers and whether the conclusions go beyond the source material. [</a:t>
            </a:r>
            <a:pPr algn="l" indent="0" marL="0">
              <a:lnSpc>
                <a:spcPct val="128000"/>
              </a:lnSpc>
              <a:buNone/>
            </a:pPr>
            <a:r>
              <a:rPr lang="en-GB" altLang="en-US" sz="1920" u="sng" dirty="0">
                <a:solidFill>
                  <a:srgbClr val="B80010"/>
                </a:solidFill>
                <a:latin typeface="Arial" pitchFamily="34" charset="0"/>
                <a:ea typeface="Arial" pitchFamily="34" charset="-122"/>
                <a:cs typeface="Arial" pitchFamily="34" charset="-120"/>
                <a:hlinkClick r:id="rId1" action="ppaction://hlinksldjump" tooltip="">
                  <a:extLst>
                    <a:ext uri="{A12FA001-AC4F-418D-AE19-62706E023703}">
                      <ahyp:hlinkClr xmlns:ahyp="http://schemas.microsoft.com/office/drawing/2018/hyperlinkcolor" val="tx"/>
                    </a:ext>
                  </a:extLst>
                </a:hlinkClick>
              </a:rPr>
              <a:t>E12</a:t>
            </a:r>
            <a:pPr algn="l" indent="0" marL="0">
              <a:lnSpc>
                <a:spcPct val="128000"/>
              </a:lnSpc>
              <a:buNone/>
            </a:pPr>
            <a:r>
              <a:rPr lang="en-GB" altLang="en-US" sz="1920" dirty="0">
                <a:solidFill>
                  <a:srgbClr val="222222"/>
                </a:solidFill>
                <a:latin typeface="Arial" pitchFamily="34" charset="0"/>
                <a:ea typeface="Arial" pitchFamily="34" charset="-122"/>
                <a:cs typeface="Arial" pitchFamily="34" charset="-120"/>
              </a:rPr>
              <a:t>, </a:t>
            </a:r>
            <a:pPr algn="l" indent="0" marL="0">
              <a:lnSpc>
                <a:spcPct val="128000"/>
              </a:lnSpc>
              <a:buNone/>
            </a:pPr>
            <a:r>
              <a:rPr lang="en-GB" altLang="en-US" sz="1920" u="sng" dirty="0">
                <a:solidFill>
                  <a:srgbClr val="B80010"/>
                </a:solidFill>
                <a:latin typeface="Arial" pitchFamily="34" charset="0"/>
                <a:ea typeface="Arial" pitchFamily="34" charset="-122"/>
                <a:cs typeface="Arial" pitchFamily="34" charset="-120"/>
                <a:hlinkClick r:id="rId2" action="ppaction://hlinksldjump" tooltip="">
                  <a:extLst>
                    <a:ext uri="{A12FA001-AC4F-418D-AE19-62706E023703}">
                      <ahyp:hlinkClr xmlns:ahyp="http://schemas.microsoft.com/office/drawing/2018/hyperlinkcolor" val="tx"/>
                    </a:ext>
                  </a:extLst>
                </a:hlinkClick>
              </a:rPr>
              <a:t>E23</a:t>
            </a:r>
            <a:pPr algn="l" indent="0" marL="0">
              <a:lnSpc>
                <a:spcPct val="128000"/>
              </a:lnSpc>
              <a:buNone/>
            </a:pPr>
            <a:r>
              <a:rPr lang="en-GB" altLang="en-US" sz="1920" dirty="0">
                <a:solidFill>
                  <a:srgbClr val="222222"/>
                </a:solidFill>
                <a:latin typeface="Arial" pitchFamily="34" charset="0"/>
                <a:ea typeface="Arial" pitchFamily="34" charset="-122"/>
                <a:cs typeface="Arial" pitchFamily="34" charset="-120"/>
              </a:rPr>
              <a:t>]</a:t>
            </a:r>
            <a:endParaRPr lang="en-GB" sz="1920" dirty="0"/>
          </a:p>
        </p:txBody>
      </p:sp>
      <p:sp>
        <p:nvSpPr>
          <p:cNvPr id="4" name="body-01-3-item-1"/>
          <p:cNvSpPr/>
          <p:nvPr/>
        </p:nvSpPr>
        <p:spPr>
          <a:xfrm>
            <a:off x="609600" y="3459480"/>
            <a:ext cx="10972800" cy="2026920"/>
          </a:xfrm>
          <a:prstGeom prst="rect">
            <a:avLst/>
          </a:prstGeom>
          <a:noFill/>
          <a:ln/>
        </p:spPr>
        <p:txBody>
          <a:bodyPr wrap="square" lIns="0" tIns="0" rIns="0" bIns="0" rtlCol="0" anchor="t"/>
          <a:lstStyle/>
          <a:p>
            <a:pPr algn="l" indent="0" marL="0">
              <a:lnSpc>
                <a:spcPct val="128000"/>
              </a:lnSpc>
              <a:buNone/>
            </a:pPr>
            <a:r>
              <a:rPr lang="en-GB" altLang="en-US" sz="1920" dirty="0">
                <a:solidFill>
                  <a:srgbClr val="222222"/>
                </a:solidFill>
                <a:latin typeface="Arial" pitchFamily="34" charset="0"/>
                <a:ea typeface="Arial" pitchFamily="34" charset="-122"/>
                <a:cs typeface="Arial" pitchFamily="34" charset="-120"/>
              </a:rPr>
              <a:t>Prioritise document field extraction and draft project-status and decision briefings, compared with manual work using the same standard. If quality is acceptable, test handoffs between two people. Any expansion should depend on net improvement after review, rework and maintenance, together with permitted tools, data and access. The materials contain no measured efficiency gains, cost-benefit results or department-wide rollout outcomes. [</a:t>
            </a:r>
            <a:pPr algn="l" indent="0" marL="0">
              <a:lnSpc>
                <a:spcPct val="128000"/>
              </a:lnSpc>
              <a:buNone/>
            </a:pPr>
            <a:r>
              <a:rPr lang="en-GB" altLang="en-US" sz="1920" u="sng" dirty="0">
                <a:solidFill>
                  <a:srgbClr val="B80010"/>
                </a:solidFill>
                <a:latin typeface="Arial" pitchFamily="34" charset="0"/>
                <a:ea typeface="Arial" pitchFamily="34" charset="-122"/>
                <a:cs typeface="Arial" pitchFamily="34" charset="-120"/>
                <a:hlinkClick r:id="rId3" action="ppaction://hlinksldjump" tooltip="">
                  <a:extLst>
                    <a:ext uri="{A12FA001-AC4F-418D-AE19-62706E023703}">
                      <ahyp:hlinkClr xmlns:ahyp="http://schemas.microsoft.com/office/drawing/2018/hyperlinkcolor" val="tx"/>
                    </a:ext>
                  </a:extLst>
                </a:hlinkClick>
              </a:rPr>
              <a:t>E21</a:t>
            </a:r>
            <a:pPr algn="l" indent="0" marL="0">
              <a:lnSpc>
                <a:spcPct val="128000"/>
              </a:lnSpc>
              <a:buNone/>
            </a:pPr>
            <a:r>
              <a:rPr lang="en-GB" altLang="en-US" sz="1920" dirty="0">
                <a:solidFill>
                  <a:srgbClr val="222222"/>
                </a:solidFill>
                <a:latin typeface="Arial" pitchFamily="34" charset="0"/>
                <a:ea typeface="Arial" pitchFamily="34" charset="-122"/>
                <a:cs typeface="Arial" pitchFamily="34" charset="-120"/>
              </a:rPr>
              <a:t>–</a:t>
            </a:r>
            <a:pPr algn="l" indent="0" marL="0">
              <a:lnSpc>
                <a:spcPct val="128000"/>
              </a:lnSpc>
              <a:buNone/>
            </a:pPr>
            <a:r>
              <a:rPr lang="en-GB" altLang="en-US" sz="1920" u="sng" dirty="0">
                <a:solidFill>
                  <a:srgbClr val="B80010"/>
                </a:solidFill>
                <a:latin typeface="Arial" pitchFamily="34" charset="0"/>
                <a:ea typeface="Arial" pitchFamily="34" charset="-122"/>
                <a:cs typeface="Arial" pitchFamily="34" charset="-120"/>
                <a:hlinkClick r:id="rId4" action="ppaction://hlinksldjump" tooltip="">
                  <a:extLst>
                    <a:ext uri="{A12FA001-AC4F-418D-AE19-62706E023703}">
                      <ahyp:hlinkClr xmlns:ahyp="http://schemas.microsoft.com/office/drawing/2018/hyperlinkcolor" val="tx"/>
                    </a:ext>
                  </a:extLst>
                </a:hlinkClick>
              </a:rPr>
              <a:t>E24</a:t>
            </a:r>
            <a:pPr algn="l" indent="0" marL="0">
              <a:lnSpc>
                <a:spcPct val="128000"/>
              </a:lnSpc>
              <a:buNone/>
            </a:pPr>
            <a:r>
              <a:rPr lang="en-GB" altLang="en-US" sz="1920" dirty="0">
                <a:solidFill>
                  <a:srgbClr val="222222"/>
                </a:solidFill>
                <a:latin typeface="Arial" pitchFamily="34" charset="0"/>
                <a:ea typeface="Arial" pitchFamily="34" charset="-122"/>
                <a:cs typeface="Arial" pitchFamily="34" charset="-120"/>
              </a:rPr>
              <a:t>]</a:t>
            </a:r>
            <a:endParaRPr lang="en-GB" sz="1920" dirty="0"/>
          </a:p>
        </p:txBody>
      </p:sp>
      <p:sp>
        <p:nvSpPr>
          <p:cNvPr id="6" name="Text 1"/>
          <p:cNvSpPr/>
          <p:nvPr>
            <p:ph idx="102" type="body" hasCustomPrompt="1"/>
          </p:nvPr>
        </p:nvSpPr>
        <p:spPr>
          <a:xfrm>
            <a:off x="762000" y="2057400"/>
            <a:ext cx="10668000" cy="3886200"/>
          </a:xfrm>
          <a:prstGeom prst="rect">
            <a:avLst/>
          </a:prstGeom>
          <a:noFill/>
          <a:ln/>
        </p:spPr>
        <p:txBody>
          <a:bodyPr wrap="square" lIns="0" tIns="0" rIns="0" bIns="0" rtlCol="0" anchor="t"/>
          <a:lstStyle/>
          <a:p>
            <a:pPr indent="0" marL="0">
              <a:buNone/>
            </a:pPr>
            <a:endParaRPr lang="en-US" sz="168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1"/>
          <p:cNvSpPr/>
          <p:nvPr>
            <p:ph idx="101" type="title" hasCustomPrompt="1"/>
          </p:nvPr>
        </p:nvSpPr>
        <p:spPr>
          <a:xfrm>
            <a:off x="381000" y="891540"/>
            <a:ext cx="11430000" cy="487680"/>
          </a:xfrm>
          <a:prstGeom prst="rect">
            <a:avLst/>
          </a:prstGeom>
          <a:noFill/>
          <a:ln/>
        </p:spPr>
        <p:txBody>
          <a:bodyPr wrap="square" lIns="0" tIns="0" rIns="0" bIns="0" rtlCol="0" anchor="t"/>
          <a:lstStyle/>
          <a:p>
            <a:pPr algn="l" indent="0" marL="0">
              <a:buNone/>
            </a:pPr>
            <a:r>
              <a:rPr lang="en-GB" altLang="en-US" sz="2400" b="1" spc="-84" kern="0" dirty="0">
                <a:solidFill>
                  <a:srgbClr val="000000"/>
                </a:solidFill>
                <a:latin typeface="Arial" pitchFamily="34" charset="0"/>
                <a:ea typeface="Arial" pitchFamily="34" charset="-122"/>
                <a:cs typeface="Arial" pitchFamily="34" charset="-120"/>
              </a:rPr>
              <a:t>II. Background and scope</a:t>
            </a:r>
            <a:endParaRPr lang="en-GB" sz="2400" dirty="0"/>
          </a:p>
        </p:txBody>
      </p:sp>
      <p:sp>
        <p:nvSpPr>
          <p:cNvPr id="3" name="body-02-1-item-0"/>
          <p:cNvSpPr/>
          <p:nvPr/>
        </p:nvSpPr>
        <p:spPr>
          <a:xfrm>
            <a:off x="609600" y="1600200"/>
            <a:ext cx="10972800" cy="2026920"/>
          </a:xfrm>
          <a:prstGeom prst="rect">
            <a:avLst/>
          </a:prstGeom>
          <a:noFill/>
          <a:ln/>
        </p:spPr>
        <p:txBody>
          <a:bodyPr wrap="square" lIns="0" tIns="0" rIns="0" bIns="0" rtlCol="0" anchor="t"/>
          <a:lstStyle/>
          <a:p>
            <a:pPr algn="l" indent="0" marL="0">
              <a:lnSpc>
                <a:spcPct val="128000"/>
              </a:lnSpc>
              <a:buNone/>
            </a:pPr>
            <a:r>
              <a:rPr lang="en-GB" altLang="en-US" sz="1920" dirty="0">
                <a:solidFill>
                  <a:srgbClr val="222222"/>
                </a:solidFill>
                <a:latin typeface="Arial" pitchFamily="34" charset="0"/>
                <a:ea typeface="Arial" pitchFamily="34" charset="-122"/>
                <a:cs typeface="Arial" pitchFamily="34" charset="-120"/>
              </a:rPr>
              <a:t>On 10 October 2026, I attended a Qwen Office event on behalf of the company and followed the event materials to try office collaboration scenarios based on the Shanqin project. I later demonstrated some results to my manager and was asked to prepare this report. It examines changes to office workflows and the value of further validation, not overall product competitiveness, software development or Agentic SDLC practice. [</a:t>
            </a:r>
            <a:pPr algn="l" indent="0" marL="0">
              <a:lnSpc>
                <a:spcPct val="128000"/>
              </a:lnSpc>
              <a:buNone/>
            </a:pPr>
            <a:r>
              <a:rPr lang="en-GB" altLang="en-US" sz="1920" u="sng" dirty="0">
                <a:solidFill>
                  <a:srgbClr val="B80010"/>
                </a:solidFill>
                <a:latin typeface="Arial" pitchFamily="34" charset="0"/>
                <a:ea typeface="Arial" pitchFamily="34" charset="-122"/>
                <a:cs typeface="Arial" pitchFamily="34" charset="-120"/>
                <a:hlinkClick r:id="rId1" action="ppaction://hlinksldjump" tooltip="">
                  <a:extLst>
                    <a:ext uri="{A12FA001-AC4F-418D-AE19-62706E023703}">
                      <ahyp:hlinkClr xmlns:ahyp="http://schemas.microsoft.com/office/drawing/2018/hyperlinkcolor" val="tx"/>
                    </a:ext>
                  </a:extLst>
                </a:hlinkClick>
              </a:rPr>
              <a:t>U1</a:t>
            </a:r>
            <a:pPr algn="l" indent="0" marL="0">
              <a:lnSpc>
                <a:spcPct val="128000"/>
              </a:lnSpc>
              <a:buNone/>
            </a:pPr>
            <a:r>
              <a:rPr lang="en-GB" altLang="en-US" sz="1920" dirty="0">
                <a:solidFill>
                  <a:srgbClr val="222222"/>
                </a:solidFill>
                <a:latin typeface="Arial" pitchFamily="34" charset="0"/>
                <a:ea typeface="Arial" pitchFamily="34" charset="-122"/>
                <a:cs typeface="Arial" pitchFamily="34" charset="-120"/>
              </a:rPr>
              <a:t>]</a:t>
            </a:r>
            <a:endParaRPr lang="en-GB" sz="1920" dirty="0"/>
          </a:p>
        </p:txBody>
      </p:sp>
      <p:sp>
        <p:nvSpPr>
          <p:cNvPr id="5" name="Text 1"/>
          <p:cNvSpPr/>
          <p:nvPr>
            <p:ph idx="102" type="body" hasCustomPrompt="1"/>
          </p:nvPr>
        </p:nvSpPr>
        <p:spPr>
          <a:xfrm>
            <a:off x="762000" y="2057400"/>
            <a:ext cx="10668000" cy="3886200"/>
          </a:xfrm>
          <a:prstGeom prst="rect">
            <a:avLst/>
          </a:prstGeom>
          <a:noFill/>
          <a:ln/>
        </p:spPr>
        <p:txBody>
          <a:bodyPr wrap="square" lIns="0" tIns="0" rIns="0" bIns="0" rtlCol="0" anchor="t"/>
          <a:lstStyle/>
          <a:p>
            <a:pPr indent="0" marL="0">
              <a:buNone/>
            </a:pPr>
            <a:endParaRPr lang="en-US" sz="168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1"/>
          <p:cNvSpPr/>
          <p:nvPr>
            <p:ph idx="101" type="title" hasCustomPrompt="1"/>
          </p:nvPr>
        </p:nvSpPr>
        <p:spPr>
          <a:xfrm>
            <a:off x="381000" y="891540"/>
            <a:ext cx="11430000" cy="487680"/>
          </a:xfrm>
          <a:prstGeom prst="rect">
            <a:avLst/>
          </a:prstGeom>
          <a:noFill/>
          <a:ln/>
        </p:spPr>
        <p:txBody>
          <a:bodyPr wrap="square" lIns="0" tIns="0" rIns="0" bIns="0" rtlCol="0" anchor="t"/>
          <a:lstStyle/>
          <a:p>
            <a:pPr algn="l" indent="0" marL="0">
              <a:buNone/>
            </a:pPr>
            <a:r>
              <a:rPr lang="en-GB" altLang="en-US" sz="2400" b="1" spc="-84" kern="0" dirty="0">
                <a:solidFill>
                  <a:srgbClr val="000000"/>
                </a:solidFill>
                <a:latin typeface="Arial" pitchFamily="34" charset="0"/>
                <a:ea typeface="Arial" pitchFamily="34" charset="-122"/>
                <a:cs typeface="Arial" pitchFamily="34" charset="-120"/>
              </a:rPr>
              <a:t>II. Background and scope (continued)</a:t>
            </a:r>
            <a:endParaRPr lang="en-GB" sz="2400" dirty="0"/>
          </a:p>
        </p:txBody>
      </p:sp>
      <p:sp>
        <p:nvSpPr>
          <p:cNvPr id="3" name="body-02-2-item-0"/>
          <p:cNvSpPr/>
          <p:nvPr/>
        </p:nvSpPr>
        <p:spPr>
          <a:xfrm>
            <a:off x="609600" y="1600200"/>
            <a:ext cx="10972800" cy="2346960"/>
          </a:xfrm>
          <a:prstGeom prst="rect">
            <a:avLst/>
          </a:prstGeom>
          <a:noFill/>
          <a:ln/>
        </p:spPr>
        <p:txBody>
          <a:bodyPr wrap="square" lIns="0" tIns="0" rIns="0" bIns="0" rtlCol="0" anchor="t"/>
          <a:lstStyle/>
          <a:p>
            <a:pPr algn="l" indent="0" marL="0">
              <a:lnSpc>
                <a:spcPct val="128000"/>
              </a:lnSpc>
              <a:buNone/>
            </a:pPr>
            <a:r>
              <a:rPr lang="en-GB" altLang="en-US" sz="1920" dirty="0">
                <a:solidFill>
                  <a:srgbClr val="222222"/>
                </a:solidFill>
                <a:latin typeface="Arial" pitchFamily="34" charset="0"/>
                <a:ea typeface="Arial" pitchFamily="34" charset="-122"/>
                <a:cs typeface="Arial" pitchFamily="34" charset="-120"/>
              </a:rPr>
              <a:t>The practice used a demo tenant, preset contracts and project data. The packages comprised environment preparation and six business skills: contract entry, risk review, risk tracking, business briefings, customer decision support and scheduled inspections. One person exercised these workflows; coverage does not mean every step passed acceptance. The AI entered the contract while I watched in Qwen Office. The collaboration group was not used for real multi-person task handling. [</a:t>
            </a:r>
            <a:pPr algn="l" indent="0" marL="0">
              <a:lnSpc>
                <a:spcPct val="128000"/>
              </a:lnSpc>
              <a:buNone/>
            </a:pPr>
            <a:r>
              <a:rPr lang="en-GB" altLang="en-US" sz="1920" u="sng" dirty="0">
                <a:solidFill>
                  <a:srgbClr val="B80010"/>
                </a:solidFill>
                <a:latin typeface="Arial" pitchFamily="34" charset="0"/>
                <a:ea typeface="Arial" pitchFamily="34" charset="-122"/>
                <a:cs typeface="Arial" pitchFamily="34" charset="-120"/>
                <a:hlinkClick r:id="rId1" action="ppaction://hlinksldjump" tooltip="">
                  <a:extLst>
                    <a:ext uri="{A12FA001-AC4F-418D-AE19-62706E023703}">
                      <ahyp:hlinkClr xmlns:ahyp="http://schemas.microsoft.com/office/drawing/2018/hyperlinkcolor" val="tx"/>
                    </a:ext>
                  </a:extLst>
                </a:hlinkClick>
              </a:rPr>
              <a:t>E01</a:t>
            </a:r>
            <a:pPr algn="l" indent="0" marL="0">
              <a:lnSpc>
                <a:spcPct val="128000"/>
              </a:lnSpc>
              <a:buNone/>
            </a:pPr>
            <a:r>
              <a:rPr lang="en-GB" altLang="en-US" sz="1920" dirty="0">
                <a:solidFill>
                  <a:srgbClr val="222222"/>
                </a:solidFill>
                <a:latin typeface="Arial" pitchFamily="34" charset="0"/>
                <a:ea typeface="Arial" pitchFamily="34" charset="-122"/>
                <a:cs typeface="Arial" pitchFamily="34" charset="-120"/>
              </a:rPr>
              <a:t>–</a:t>
            </a:r>
            <a:pPr algn="l" indent="0" marL="0">
              <a:lnSpc>
                <a:spcPct val="128000"/>
              </a:lnSpc>
              <a:buNone/>
            </a:pPr>
            <a:r>
              <a:rPr lang="en-GB" altLang="en-US" sz="1920" u="sng" dirty="0">
                <a:solidFill>
                  <a:srgbClr val="B80010"/>
                </a:solidFill>
                <a:latin typeface="Arial" pitchFamily="34" charset="0"/>
                <a:ea typeface="Arial" pitchFamily="34" charset="-122"/>
                <a:cs typeface="Arial" pitchFamily="34" charset="-120"/>
                <a:hlinkClick r:id="rId2" action="ppaction://hlinksldjump" tooltip="">
                  <a:extLst>
                    <a:ext uri="{A12FA001-AC4F-418D-AE19-62706E023703}">
                      <ahyp:hlinkClr xmlns:ahyp="http://schemas.microsoft.com/office/drawing/2018/hyperlinkcolor" val="tx"/>
                    </a:ext>
                  </a:extLst>
                </a:hlinkClick>
              </a:rPr>
              <a:t>E05</a:t>
            </a:r>
            <a:pPr algn="l" indent="0" marL="0">
              <a:lnSpc>
                <a:spcPct val="128000"/>
              </a:lnSpc>
              <a:buNone/>
            </a:pPr>
            <a:r>
              <a:rPr lang="en-GB" altLang="en-US" sz="1920" dirty="0">
                <a:solidFill>
                  <a:srgbClr val="222222"/>
                </a:solidFill>
                <a:latin typeface="Arial" pitchFamily="34" charset="0"/>
                <a:ea typeface="Arial" pitchFamily="34" charset="-122"/>
                <a:cs typeface="Arial" pitchFamily="34" charset="-120"/>
              </a:rPr>
              <a:t>; </a:t>
            </a:r>
            <a:pPr algn="l" indent="0" marL="0">
              <a:lnSpc>
                <a:spcPct val="128000"/>
              </a:lnSpc>
              <a:buNone/>
            </a:pPr>
            <a:r>
              <a:rPr lang="en-GB" altLang="en-US" sz="1920" u="sng" dirty="0">
                <a:solidFill>
                  <a:srgbClr val="B80010"/>
                </a:solidFill>
                <a:latin typeface="Arial" pitchFamily="34" charset="0"/>
                <a:ea typeface="Arial" pitchFamily="34" charset="-122"/>
                <a:cs typeface="Arial" pitchFamily="34" charset="-120"/>
                <a:hlinkClick r:id="rId3" action="ppaction://hlinksldjump" tooltip="">
                  <a:extLst>
                    <a:ext uri="{A12FA001-AC4F-418D-AE19-62706E023703}">
                      <ahyp:hlinkClr xmlns:ahyp="http://schemas.microsoft.com/office/drawing/2018/hyperlinkcolor" val="tx"/>
                    </a:ext>
                  </a:extLst>
                </a:hlinkClick>
              </a:rPr>
              <a:t>U3</a:t>
            </a:r>
            <a:pPr algn="l" indent="0" marL="0">
              <a:lnSpc>
                <a:spcPct val="128000"/>
              </a:lnSpc>
              <a:buNone/>
            </a:pPr>
            <a:r>
              <a:rPr lang="en-GB" altLang="en-US" sz="1920" dirty="0">
                <a:solidFill>
                  <a:srgbClr val="222222"/>
                </a:solidFill>
                <a:latin typeface="Arial" pitchFamily="34" charset="0"/>
                <a:ea typeface="Arial" pitchFamily="34" charset="-122"/>
                <a:cs typeface="Arial" pitchFamily="34" charset="-120"/>
              </a:rPr>
              <a:t>]</a:t>
            </a:r>
            <a:endParaRPr lang="en-GB" sz="1920" dirty="0"/>
          </a:p>
        </p:txBody>
      </p:sp>
      <p:sp>
        <p:nvSpPr>
          <p:cNvPr id="5" name="Text 1"/>
          <p:cNvSpPr/>
          <p:nvPr>
            <p:ph idx="102" type="body" hasCustomPrompt="1"/>
          </p:nvPr>
        </p:nvSpPr>
        <p:spPr>
          <a:xfrm>
            <a:off x="762000" y="2057400"/>
            <a:ext cx="10668000" cy="3886200"/>
          </a:xfrm>
          <a:prstGeom prst="rect">
            <a:avLst/>
          </a:prstGeom>
          <a:noFill/>
          <a:ln/>
        </p:spPr>
        <p:txBody>
          <a:bodyPr wrap="square" lIns="0" tIns="0" rIns="0" bIns="0" rtlCol="0" anchor="t"/>
          <a:lstStyle/>
          <a:p>
            <a:pPr indent="0" marL="0">
              <a:buNone/>
            </a:pPr>
            <a:endParaRPr lang="en-US" sz="168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1"/>
          <p:cNvSpPr/>
          <p:nvPr>
            <p:ph idx="101" type="title" hasCustomPrompt="1"/>
          </p:nvPr>
        </p:nvSpPr>
        <p:spPr>
          <a:xfrm>
            <a:off x="381000" y="891540"/>
            <a:ext cx="11430000" cy="487680"/>
          </a:xfrm>
          <a:prstGeom prst="rect">
            <a:avLst/>
          </a:prstGeom>
          <a:noFill/>
          <a:ln/>
        </p:spPr>
        <p:txBody>
          <a:bodyPr wrap="square" lIns="0" tIns="0" rIns="0" bIns="0" rtlCol="0" anchor="t"/>
          <a:lstStyle/>
          <a:p>
            <a:pPr algn="l" indent="0" marL="0">
              <a:buNone/>
            </a:pPr>
            <a:r>
              <a:rPr lang="en-GB" altLang="en-US" sz="2400" b="1" spc="-84" kern="0" dirty="0">
                <a:solidFill>
                  <a:srgbClr val="000000"/>
                </a:solidFill>
                <a:latin typeface="Arial" pitchFamily="34" charset="0"/>
                <a:ea typeface="Arial" pitchFamily="34" charset="-122"/>
                <a:cs typeface="Arial" pitchFamily="34" charset="-120"/>
              </a:rPr>
              <a:t>Demo environment: business dashboard</a:t>
            </a:r>
            <a:endParaRPr lang="en-GB" sz="2400" dirty="0"/>
          </a:p>
        </p:txBody>
      </p:sp>
      <p:pic>
        <p:nvPicPr>
          <p:cNvPr id="3" name="operation-photo-ui-06-image" descr="Figure 1. Shanqin Project Manager dashboard. Values show the demo tenant on 15 October, not business benefits or historical run statistics. The 'due within 30 days' card shows 4 while the contracts below are all marked overdue. Its counting definition is unverified; do not interpret it as four contracts expiring in the next 30 days.">    </p:cNvPr>
          <p:cNvPicPr>
            <a:picLocks noChangeAspect="1"/>
          </p:cNvPicPr>
          <p:nvPr/>
        </p:nvPicPr>
        <p:blipFill>
          <a:blip r:embed="rId1"/>
          <a:stretch>
            <a:fillRect/>
          </a:stretch>
        </p:blipFill>
        <p:spPr>
          <a:xfrm>
            <a:off x="609600" y="1600200"/>
            <a:ext cx="5968554" cy="4267200"/>
          </a:xfrm>
          <a:prstGeom prst="rect">
            <a:avLst/>
          </a:prstGeom>
        </p:spPr>
      </p:pic>
      <p:sp>
        <p:nvSpPr>
          <p:cNvPr id="4" name="operation-photo-ui-06-caption"/>
          <p:cNvSpPr/>
          <p:nvPr/>
        </p:nvSpPr>
        <p:spPr>
          <a:xfrm>
            <a:off x="7467600" y="1600200"/>
            <a:ext cx="4114800" cy="4267200"/>
          </a:xfrm>
          <a:prstGeom prst="rect">
            <a:avLst/>
          </a:prstGeom>
          <a:noFill/>
          <a:ln/>
        </p:spPr>
        <p:txBody>
          <a:bodyPr wrap="square" lIns="0" tIns="0" rIns="0" bIns="0" rtlCol="0" anchor="t"/>
          <a:lstStyle/>
          <a:p>
            <a:pPr algn="l" indent="0" marL="0">
              <a:lnSpc>
                <a:spcPct val="128000"/>
              </a:lnSpc>
              <a:buNone/>
            </a:pPr>
            <a:r>
              <a:rPr lang="en-GB" altLang="en-US" sz="1380" b="1" dirty="0">
                <a:solidFill>
                  <a:srgbClr val="222222"/>
                </a:solidFill>
                <a:latin typeface="Arial" pitchFamily="34" charset="0"/>
                <a:ea typeface="Arial" pitchFamily="34" charset="-122"/>
                <a:cs typeface="Arial" pitchFamily="34" charset="-120"/>
              </a:rPr>
              <a:t>Figure 1. Shanqin Project Manager dashboard</a:t>
            </a:r>
            <a:endParaRPr lang="en-GB" sz="1380" dirty="0"/>
          </a:p>
          <a:p>
            <a:pPr algn="l" indent="0" marL="0">
              <a:lnSpc>
                <a:spcPct val="128000"/>
              </a:lnSpc>
              <a:buNone/>
            </a:pPr>
            <a:r>
              <a:rPr lang="en-GB" altLang="en-US" sz="1380" dirty="0">
                <a:solidFill>
                  <a:srgbClr val="222222"/>
                </a:solidFill>
                <a:latin typeface="Arial" pitchFamily="34" charset="0"/>
                <a:ea typeface="Arial" pitchFamily="34" charset="-122"/>
                <a:cs typeface="Arial" pitchFamily="34" charset="-120"/>
              </a:rPr>
              <a:t>Business demo system /demo30/; read-only capture on 15 October 2026.</a:t>
            </a:r>
            <a:endParaRPr lang="en-GB" sz="1380" dirty="0"/>
          </a:p>
          <a:p>
            <a:pPr algn="l" indent="0" marL="0">
              <a:lnSpc>
                <a:spcPct val="128000"/>
              </a:lnSpc>
              <a:buNone/>
            </a:pPr>
            <a:r>
              <a:rPr lang="en-GB" altLang="en-US" sz="1380" dirty="0">
                <a:solidFill>
                  <a:srgbClr val="222222"/>
                </a:solidFill>
                <a:latin typeface="Arial" pitchFamily="34" charset="0"/>
                <a:ea typeface="Arial" pitchFamily="34" charset="-122"/>
                <a:cs typeface="Arial" pitchFamily="34" charset="-120"/>
              </a:rPr>
              <a:t>The screen shows 4 contracts totalling RMB 11.75 million, 2 at-risk projects, 0 risk-tracking items, and contract and project details.</a:t>
            </a:r>
            <a:endParaRPr lang="en-GB" sz="1380" dirty="0"/>
          </a:p>
          <a:p>
            <a:pPr algn="l" indent="0" marL="0">
              <a:lnSpc>
                <a:spcPct val="128000"/>
              </a:lnSpc>
              <a:buNone/>
            </a:pPr>
            <a:r>
              <a:rPr lang="en-GB" altLang="en-US" sz="1380" dirty="0">
                <a:solidFill>
                  <a:srgbClr val="222222"/>
                </a:solidFill>
                <a:latin typeface="Arial" pitchFamily="34" charset="0"/>
                <a:ea typeface="Arial" pitchFamily="34" charset="-122"/>
                <a:cs typeface="Arial" pitchFamily="34" charset="-120"/>
              </a:rPr>
              <a:t>Values show the demo tenant on 15 October, not business benefits or historical run statistics. The 'due within 30 days' card shows 4 while the contracts below are marked overdue. Its counting definition is unverified; do not interpret it as four future expiries. References: </a:t>
            </a:r>
            <a:pPr algn="l" indent="0" marL="0">
              <a:lnSpc>
                <a:spcPct val="128000"/>
              </a:lnSpc>
              <a:buNone/>
            </a:pPr>
            <a:r>
              <a:rPr lang="en-GB" altLang="en-US" sz="1380" u="sng" dirty="0">
                <a:solidFill>
                  <a:srgbClr val="B80010"/>
                </a:solidFill>
                <a:latin typeface="Arial" pitchFamily="34" charset="0"/>
                <a:ea typeface="Arial" pitchFamily="34" charset="-122"/>
                <a:cs typeface="Arial" pitchFamily="34" charset="-120"/>
                <a:hlinkClick r:id="rId2" action="ppaction://hlinksldjump" tooltip="">
                  <a:extLst>
                    <a:ext uri="{A12FA001-AC4F-418D-AE19-62706E023703}">
                      <ahyp:hlinkClr xmlns:ahyp="http://schemas.microsoft.com/office/drawing/2018/hyperlinkcolor" val="tx"/>
                    </a:ext>
                  </a:extLst>
                </a:hlinkClick>
              </a:rPr>
              <a:t>E01</a:t>
            </a:r>
            <a:pPr algn="l" indent="0" marL="0">
              <a:lnSpc>
                <a:spcPct val="128000"/>
              </a:lnSpc>
              <a:buNone/>
            </a:pPr>
            <a:r>
              <a:rPr lang="en-GB" altLang="en-US" sz="1380" dirty="0">
                <a:solidFill>
                  <a:srgbClr val="222222"/>
                </a:solidFill>
                <a:latin typeface="Arial" pitchFamily="34" charset="0"/>
                <a:ea typeface="Arial" pitchFamily="34" charset="-122"/>
                <a:cs typeface="Arial" pitchFamily="34" charset="-120"/>
              </a:rPr>
              <a:t>, </a:t>
            </a:r>
            <a:pPr algn="l" indent="0" marL="0">
              <a:lnSpc>
                <a:spcPct val="128000"/>
              </a:lnSpc>
              <a:buNone/>
            </a:pPr>
            <a:r>
              <a:rPr lang="en-GB" altLang="en-US" sz="1380" u="sng" dirty="0">
                <a:solidFill>
                  <a:srgbClr val="B80010"/>
                </a:solidFill>
                <a:latin typeface="Arial" pitchFamily="34" charset="0"/>
                <a:ea typeface="Arial" pitchFamily="34" charset="-122"/>
                <a:cs typeface="Arial" pitchFamily="34" charset="-120"/>
                <a:hlinkClick r:id="rId3" action="ppaction://hlinksldjump" tooltip="">
                  <a:extLst>
                    <a:ext uri="{A12FA001-AC4F-418D-AE19-62706E023703}">
                      <ahyp:hlinkClr xmlns:ahyp="http://schemas.microsoft.com/office/drawing/2018/hyperlinkcolor" val="tx"/>
                    </a:ext>
                  </a:extLst>
                </a:hlinkClick>
              </a:rPr>
              <a:t>E06</a:t>
            </a:r>
            <a:pPr algn="l" indent="0" marL="0">
              <a:lnSpc>
                <a:spcPct val="128000"/>
              </a:lnSpc>
              <a:buNone/>
            </a:pPr>
            <a:r>
              <a:rPr lang="en-GB" altLang="en-US" sz="1380" dirty="0">
                <a:solidFill>
                  <a:srgbClr val="222222"/>
                </a:solidFill>
                <a:latin typeface="Arial" pitchFamily="34" charset="0"/>
                <a:ea typeface="Arial" pitchFamily="34" charset="-122"/>
                <a:cs typeface="Arial" pitchFamily="34" charset="-120"/>
              </a:rPr>
              <a:t>, </a:t>
            </a:r>
            <a:pPr algn="l" indent="0" marL="0">
              <a:lnSpc>
                <a:spcPct val="128000"/>
              </a:lnSpc>
              <a:buNone/>
            </a:pPr>
            <a:r>
              <a:rPr lang="en-GB" altLang="en-US" sz="1380" u="sng" dirty="0">
                <a:solidFill>
                  <a:srgbClr val="B80010"/>
                </a:solidFill>
                <a:latin typeface="Arial" pitchFamily="34" charset="0"/>
                <a:ea typeface="Arial" pitchFamily="34" charset="-122"/>
                <a:cs typeface="Arial" pitchFamily="34" charset="-120"/>
                <a:hlinkClick r:id="rId4" action="ppaction://hlinksldjump" tooltip="">
                  <a:extLst>
                    <a:ext uri="{A12FA001-AC4F-418D-AE19-62706E023703}">
                      <ahyp:hlinkClr xmlns:ahyp="http://schemas.microsoft.com/office/drawing/2018/hyperlinkcolor" val="tx"/>
                    </a:ext>
                  </a:extLst>
                </a:hlinkClick>
              </a:rPr>
              <a:t>E20</a:t>
            </a:r>
            <a:pPr algn="l" indent="0" marL="0">
              <a:lnSpc>
                <a:spcPct val="128000"/>
              </a:lnSpc>
              <a:buNone/>
            </a:pPr>
            <a:r>
              <a:rPr lang="en-GB" altLang="en-US" sz="1380" dirty="0">
                <a:solidFill>
                  <a:srgbClr val="222222"/>
                </a:solidFill>
                <a:latin typeface="Arial" pitchFamily="34" charset="0"/>
                <a:ea typeface="Arial" pitchFamily="34" charset="-122"/>
                <a:cs typeface="Arial" pitchFamily="34" charset="-120"/>
              </a:rPr>
              <a:t>.</a:t>
            </a:r>
            <a:endParaRPr lang="en-GB" sz="1380" dirty="0"/>
          </a:p>
        </p:txBody>
      </p:sp>
      <p:sp>
        <p:nvSpPr>
          <p:cNvPr id="6" name="Text 1"/>
          <p:cNvSpPr/>
          <p:nvPr>
            <p:ph idx="102" type="body" hasCustomPrompt="1"/>
          </p:nvPr>
        </p:nvSpPr>
        <p:spPr>
          <a:xfrm>
            <a:off x="762000" y="2057400"/>
            <a:ext cx="10668000" cy="3886200"/>
          </a:xfrm>
          <a:prstGeom prst="rect">
            <a:avLst/>
          </a:prstGeom>
          <a:noFill/>
          <a:ln/>
        </p:spPr>
        <p:txBody>
          <a:bodyPr wrap="square" lIns="0" tIns="0" rIns="0" bIns="0" rtlCol="0" anchor="t"/>
          <a:lstStyle/>
          <a:p>
            <a:pPr indent="0" marL="0">
              <a:buNone/>
            </a:pPr>
            <a:endParaRPr lang="en-US" sz="168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1"/>
          <p:cNvSpPr/>
          <p:nvPr>
            <p:ph idx="101" type="title" hasCustomPrompt="1"/>
          </p:nvPr>
        </p:nvSpPr>
        <p:spPr>
          <a:xfrm>
            <a:off x="381000" y="891540"/>
            <a:ext cx="11430000" cy="487680"/>
          </a:xfrm>
          <a:prstGeom prst="rect">
            <a:avLst/>
          </a:prstGeom>
          <a:noFill/>
          <a:ln/>
        </p:spPr>
        <p:txBody>
          <a:bodyPr wrap="square" lIns="0" tIns="0" rIns="0" bIns="0" rtlCol="0" anchor="t"/>
          <a:lstStyle/>
          <a:p>
            <a:pPr algn="l" indent="0" marL="0">
              <a:buNone/>
            </a:pPr>
            <a:r>
              <a:rPr lang="en-GB" altLang="en-US" sz="2400" b="1" spc="-84" kern="0" dirty="0">
                <a:solidFill>
                  <a:srgbClr val="000000"/>
                </a:solidFill>
                <a:latin typeface="Arial" pitchFamily="34" charset="0"/>
                <a:ea typeface="Arial" pitchFamily="34" charset="-122"/>
                <a:cs typeface="Arial" pitchFamily="34" charset="-120"/>
              </a:rPr>
              <a:t>II. Background and scope (continued)</a:t>
            </a:r>
            <a:endParaRPr lang="en-GB" sz="2400" dirty="0"/>
          </a:p>
        </p:txBody>
      </p:sp>
      <p:sp>
        <p:nvSpPr>
          <p:cNvPr id="3" name="body-02-3-item-0"/>
          <p:cNvSpPr/>
          <p:nvPr/>
        </p:nvSpPr>
        <p:spPr>
          <a:xfrm>
            <a:off x="609600" y="1600200"/>
            <a:ext cx="10972800" cy="2667000"/>
          </a:xfrm>
          <a:prstGeom prst="rect">
            <a:avLst/>
          </a:prstGeom>
          <a:noFill/>
          <a:ln/>
        </p:spPr>
        <p:txBody>
          <a:bodyPr wrap="square" lIns="0" tIns="0" rIns="0" bIns="0" rtlCol="0" anchor="t"/>
          <a:lstStyle/>
          <a:p>
            <a:pPr algn="l" indent="0" marL="0">
              <a:lnSpc>
                <a:spcPct val="128000"/>
              </a:lnSpc>
              <a:buNone/>
            </a:pPr>
            <a:r>
              <a:rPr lang="en-GB" altLang="en-US" sz="1920" dirty="0">
                <a:solidFill>
                  <a:srgbClr val="222222"/>
                </a:solidFill>
                <a:latin typeface="Arial" pitchFamily="34" charset="0"/>
                <a:ea typeface="Arial" pitchFamily="34" charset="-122"/>
                <a:cs typeface="Arial" pitchFamily="34" charset="-120"/>
              </a:rPr>
              <a:t>The analysis reviewed three Qwen drafts and the same-day retrospective, then checked the locally saved main conversation, three inspection execution records, and run logs and group messages retrieved on 14 October. It also read seven skill packages and the actual agreement. Draft claims that conflicted with raw returns or overstated the evidence were corrected. These are local records of historical states; the historical analysis did not query or operate remote systems again. This version adds read-only business-screen captures from 15 October, with scope stated in each caption. [Source index in the appendices]</a:t>
            </a:r>
            <a:endParaRPr lang="en-GB" sz="1920" dirty="0"/>
          </a:p>
        </p:txBody>
      </p:sp>
      <p:sp>
        <p:nvSpPr>
          <p:cNvPr id="5" name="Text 1"/>
          <p:cNvSpPr/>
          <p:nvPr>
            <p:ph idx="102" type="body" hasCustomPrompt="1"/>
          </p:nvPr>
        </p:nvSpPr>
        <p:spPr>
          <a:xfrm>
            <a:off x="762000" y="2057400"/>
            <a:ext cx="10668000" cy="3886200"/>
          </a:xfrm>
          <a:prstGeom prst="rect">
            <a:avLst/>
          </a:prstGeom>
          <a:noFill/>
          <a:ln/>
        </p:spPr>
        <p:txBody>
          <a:bodyPr wrap="square" lIns="0" tIns="0" rIns="0" bIns="0" rtlCol="0" anchor="t"/>
          <a:lstStyle/>
          <a:p>
            <a:pPr indent="0" marL="0">
              <a:buNone/>
            </a:pPr>
            <a:endParaRPr lang="en-US" sz="168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1"/>
          <p:cNvSpPr/>
          <p:nvPr>
            <p:ph idx="101" type="title" hasCustomPrompt="1"/>
          </p:nvPr>
        </p:nvSpPr>
        <p:spPr>
          <a:xfrm>
            <a:off x="381000" y="891540"/>
            <a:ext cx="11430000" cy="487680"/>
          </a:xfrm>
          <a:prstGeom prst="rect">
            <a:avLst/>
          </a:prstGeom>
          <a:noFill/>
          <a:ln/>
        </p:spPr>
        <p:txBody>
          <a:bodyPr wrap="square" lIns="0" tIns="0" rIns="0" bIns="0" rtlCol="0" anchor="t"/>
          <a:lstStyle/>
          <a:p>
            <a:pPr algn="l" indent="0" marL="0">
              <a:buNone/>
            </a:pPr>
            <a:r>
              <a:rPr lang="en-GB" altLang="en-US" sz="2400" b="1" spc="-84" kern="0" dirty="0">
                <a:solidFill>
                  <a:srgbClr val="000000"/>
                </a:solidFill>
                <a:latin typeface="Arial" pitchFamily="34" charset="0"/>
                <a:ea typeface="Arial" pitchFamily="34" charset="-122"/>
                <a:cs typeface="Arial" pitchFamily="34" charset="-120"/>
              </a:rPr>
              <a:t>II. Background and scope (continued)</a:t>
            </a:r>
            <a:endParaRPr lang="en-GB" sz="2400" dirty="0"/>
          </a:p>
        </p:txBody>
      </p:sp>
      <p:sp>
        <p:nvSpPr>
          <p:cNvPr id="3" name="body-02-4-item-0"/>
          <p:cNvSpPr/>
          <p:nvPr/>
        </p:nvSpPr>
        <p:spPr>
          <a:xfrm>
            <a:off x="609600" y="1600200"/>
            <a:ext cx="10972800" cy="1706880"/>
          </a:xfrm>
          <a:prstGeom prst="rect">
            <a:avLst/>
          </a:prstGeom>
          <a:noFill/>
          <a:ln/>
        </p:spPr>
        <p:txBody>
          <a:bodyPr wrap="square" lIns="0" tIns="0" rIns="0" bIns="0" rtlCol="0" anchor="t"/>
          <a:lstStyle/>
          <a:p>
            <a:pPr algn="l" indent="0" marL="0">
              <a:lnSpc>
                <a:spcPct val="128000"/>
              </a:lnSpc>
              <a:buNone/>
            </a:pPr>
            <a:r>
              <a:rPr lang="en-GB" altLang="en-US" sz="1920" dirty="0">
                <a:solidFill>
                  <a:srgbClr val="222222"/>
                </a:solidFill>
                <a:latin typeface="Arial" pitchFamily="34" charset="0"/>
                <a:ea typeface="Arial" pitchFamily="34" charset="-122"/>
                <a:cs typeface="Arial" pitchFamily="34" charset="-120"/>
              </a:rPr>
              <a:t>Four categories are distinguished: A, facts directly supported by material; B, observations from limited practice; C, evidence-based analysis; and D, unimplemented proposals or hypotheses. Manual methods described below are proposed comparators, not descriptions of HSBC's current processes. No on-site manual timing data was collected.</a:t>
            </a:r>
            <a:endParaRPr lang="en-GB" sz="1920" dirty="0"/>
          </a:p>
        </p:txBody>
      </p:sp>
      <p:sp>
        <p:nvSpPr>
          <p:cNvPr id="5" name="Text 1"/>
          <p:cNvSpPr/>
          <p:nvPr>
            <p:ph idx="102" type="body" hasCustomPrompt="1"/>
          </p:nvPr>
        </p:nvSpPr>
        <p:spPr>
          <a:xfrm>
            <a:off x="762000" y="2057400"/>
            <a:ext cx="10668000" cy="3886200"/>
          </a:xfrm>
          <a:prstGeom prst="rect">
            <a:avLst/>
          </a:prstGeom>
          <a:noFill/>
          <a:ln/>
        </p:spPr>
        <p:txBody>
          <a:bodyPr wrap="square" lIns="0" tIns="0" rIns="0" bIns="0" rtlCol="0" anchor="t"/>
          <a:lstStyle/>
          <a:p>
            <a:pPr indent="0" marL="0">
              <a:buNone/>
            </a:pPr>
            <a:endParaRPr lang="en-US" sz="168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1"/>
          <p:cNvSpPr/>
          <p:nvPr>
            <p:ph idx="101" type="title" hasCustomPrompt="1"/>
          </p:nvPr>
        </p:nvSpPr>
        <p:spPr>
          <a:xfrm>
            <a:off x="381000" y="891540"/>
            <a:ext cx="11430000" cy="487680"/>
          </a:xfrm>
          <a:prstGeom prst="rect">
            <a:avLst/>
          </a:prstGeom>
          <a:noFill/>
          <a:ln/>
        </p:spPr>
        <p:txBody>
          <a:bodyPr wrap="square" lIns="0" tIns="0" rIns="0" bIns="0" rtlCol="0" anchor="t"/>
          <a:lstStyle/>
          <a:p>
            <a:pPr algn="l" indent="0" marL="0">
              <a:buNone/>
            </a:pPr>
            <a:r>
              <a:rPr lang="en-GB" altLang="en-US" sz="2400" b="1" spc="-84" kern="0" dirty="0">
                <a:solidFill>
                  <a:srgbClr val="000000"/>
                </a:solidFill>
                <a:latin typeface="Arial" pitchFamily="34" charset="0"/>
                <a:ea typeface="Arial" pitchFamily="34" charset="-122"/>
                <a:cs typeface="Arial" pitchFamily="34" charset="-120"/>
              </a:rPr>
              <a:t>1. Read and enter contract information</a:t>
            </a:r>
            <a:endParaRPr lang="en-GB" sz="2400" dirty="0"/>
          </a:p>
        </p:txBody>
      </p:sp>
      <p:sp>
        <p:nvSpPr>
          <p:cNvPr id="3" name="body-03-1-item-0"/>
          <p:cNvSpPr/>
          <p:nvPr/>
        </p:nvSpPr>
        <p:spPr>
          <a:xfrm>
            <a:off x="609600" y="1600200"/>
            <a:ext cx="10972800" cy="2026920"/>
          </a:xfrm>
          <a:prstGeom prst="rect">
            <a:avLst/>
          </a:prstGeom>
          <a:noFill/>
          <a:ln/>
        </p:spPr>
        <p:txBody>
          <a:bodyPr wrap="square" lIns="0" tIns="0" rIns="0" bIns="0" rtlCol="0" anchor="t"/>
          <a:lstStyle/>
          <a:p>
            <a:pPr algn="l" indent="0" marL="0">
              <a:lnSpc>
                <a:spcPct val="128000"/>
              </a:lnSpc>
              <a:buNone/>
            </a:pPr>
            <a:r>
              <a:rPr lang="en-GB" altLang="en-US" sz="1920" dirty="0">
                <a:solidFill>
                  <a:srgbClr val="222222"/>
                </a:solidFill>
                <a:latin typeface="Arial" pitchFamily="34" charset="0"/>
                <a:ea typeface="Arial" pitchFamily="34" charset="-122"/>
                <a:cs typeface="Arial" pitchFamily="34" charset="-120"/>
              </a:rPr>
              <a:t>The task was to turn contract material in a group into business-ledger fields. A manual comparator would locate and read the document, enter fields and review them. The assistant found the online agreement via group messages, read it, listed the number, customer, project, amount and expiry date, separately explained its status, then requested confirmation. Core values, including RMB 850,000 and expiry on 10 September 2026, matched the input. [A: </a:t>
            </a:r>
            <a:pPr algn="l" indent="0" marL="0">
              <a:lnSpc>
                <a:spcPct val="128000"/>
              </a:lnSpc>
              <a:buNone/>
            </a:pPr>
            <a:r>
              <a:rPr lang="en-GB" altLang="en-US" sz="1920" u="sng" dirty="0">
                <a:solidFill>
                  <a:srgbClr val="B80010"/>
                </a:solidFill>
                <a:latin typeface="Arial" pitchFamily="34" charset="0"/>
                <a:ea typeface="Arial" pitchFamily="34" charset="-122"/>
                <a:cs typeface="Arial" pitchFamily="34" charset="-120"/>
                <a:hlinkClick r:id="rId1" action="ppaction://hlinksldjump" tooltip="">
                  <a:extLst>
                    <a:ext uri="{A12FA001-AC4F-418D-AE19-62706E023703}">
                      <ahyp:hlinkClr xmlns:ahyp="http://schemas.microsoft.com/office/drawing/2018/hyperlinkcolor" val="tx"/>
                    </a:ext>
                  </a:extLst>
                </a:hlinkClick>
              </a:rPr>
              <a:t>E04</a:t>
            </a:r>
            <a:pPr algn="l" indent="0" marL="0">
              <a:lnSpc>
                <a:spcPct val="128000"/>
              </a:lnSpc>
              <a:buNone/>
            </a:pPr>
            <a:r>
              <a:rPr lang="en-GB" altLang="en-US" sz="1920" dirty="0">
                <a:solidFill>
                  <a:srgbClr val="222222"/>
                </a:solidFill>
                <a:latin typeface="Arial" pitchFamily="34" charset="0"/>
                <a:ea typeface="Arial" pitchFamily="34" charset="-122"/>
                <a:cs typeface="Arial" pitchFamily="34" charset="-120"/>
              </a:rPr>
              <a:t>]</a:t>
            </a:r>
            <a:endParaRPr lang="en-GB" sz="1920" dirty="0"/>
          </a:p>
        </p:txBody>
      </p:sp>
      <p:sp>
        <p:nvSpPr>
          <p:cNvPr id="5" name="Text 1"/>
          <p:cNvSpPr/>
          <p:nvPr>
            <p:ph idx="102" type="body" hasCustomPrompt="1"/>
          </p:nvPr>
        </p:nvSpPr>
        <p:spPr>
          <a:xfrm>
            <a:off x="762000" y="2057400"/>
            <a:ext cx="10668000" cy="3886200"/>
          </a:xfrm>
          <a:prstGeom prst="rect">
            <a:avLst/>
          </a:prstGeom>
          <a:noFill/>
          <a:ln/>
        </p:spPr>
        <p:txBody>
          <a:bodyPr wrap="square" lIns="0" tIns="0" rIns="0" bIns="0" rtlCol="0" anchor="t"/>
          <a:lstStyle/>
          <a:p>
            <a:pPr indent="0" marL="0">
              <a:buNone/>
            </a:pPr>
            <a:endParaRPr lang="en-US" sz="168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1"/>
          <p:cNvSpPr/>
          <p:nvPr>
            <p:ph idx="101" type="title" hasCustomPrompt="1"/>
          </p:nvPr>
        </p:nvSpPr>
        <p:spPr>
          <a:xfrm>
            <a:off x="381000" y="891540"/>
            <a:ext cx="11430000" cy="487680"/>
          </a:xfrm>
          <a:prstGeom prst="rect">
            <a:avLst/>
          </a:prstGeom>
          <a:noFill/>
          <a:ln/>
        </p:spPr>
        <p:txBody>
          <a:bodyPr wrap="square" lIns="0" tIns="0" rIns="0" bIns="0" rtlCol="0" anchor="t"/>
          <a:lstStyle/>
          <a:p>
            <a:pPr algn="l" indent="0" marL="0">
              <a:buNone/>
            </a:pPr>
            <a:r>
              <a:rPr lang="en-GB" altLang="en-US" sz="2400" b="1" spc="-84" kern="0" dirty="0">
                <a:solidFill>
                  <a:srgbClr val="000000"/>
                </a:solidFill>
                <a:latin typeface="Arial" pitchFamily="34" charset="0"/>
                <a:ea typeface="Arial" pitchFamily="34" charset="-122"/>
                <a:cs typeface="Arial" pitchFamily="34" charset="-120"/>
              </a:rPr>
              <a:t>Contract entry: the business ledger</a:t>
            </a:r>
            <a:endParaRPr lang="en-GB" sz="2400" dirty="0"/>
          </a:p>
        </p:txBody>
      </p:sp>
      <p:pic>
        <p:nvPicPr>
          <p:cNvPr id="3" name="operation-photo-ui-01-image" descr="Figure 2. Contract HT-2026-0007 in the ledger. This is the state at the later capture, not the write process. The account that I watched AI entry throughout and did not click the agreement remains based on my correction U3.">    </p:cNvPr>
          <p:cNvPicPr>
            <a:picLocks noChangeAspect="1"/>
          </p:cNvPicPr>
          <p:nvPr/>
        </p:nvPicPr>
        <p:blipFill>
          <a:blip r:embed="rId1"/>
          <a:stretch>
            <a:fillRect/>
          </a:stretch>
        </p:blipFill>
        <p:spPr>
          <a:xfrm>
            <a:off x="609600" y="1600200"/>
            <a:ext cx="8401050" cy="2667000"/>
          </a:xfrm>
          <a:prstGeom prst="rect">
            <a:avLst/>
          </a:prstGeom>
        </p:spPr>
      </p:pic>
      <p:sp>
        <p:nvSpPr>
          <p:cNvPr id="4" name="operation-photo-ui-01-caption"/>
          <p:cNvSpPr/>
          <p:nvPr/>
        </p:nvSpPr>
        <p:spPr>
          <a:xfrm>
            <a:off x="609600" y="4495800"/>
            <a:ext cx="10972800" cy="1600200"/>
          </a:xfrm>
          <a:prstGeom prst="rect">
            <a:avLst/>
          </a:prstGeom>
          <a:noFill/>
          <a:ln/>
        </p:spPr>
        <p:txBody>
          <a:bodyPr wrap="square" lIns="0" tIns="0" rIns="0" bIns="0" rtlCol="0" anchor="t"/>
          <a:lstStyle/>
          <a:p>
            <a:pPr algn="l" indent="0" marL="0">
              <a:lnSpc>
                <a:spcPct val="128000"/>
              </a:lnSpc>
              <a:buNone/>
            </a:pPr>
            <a:r>
              <a:rPr lang="en-GB" altLang="en-US" sz="1380" b="1" dirty="0">
                <a:solidFill>
                  <a:srgbClr val="222222"/>
                </a:solidFill>
                <a:latin typeface="Arial" pitchFamily="34" charset="0"/>
                <a:ea typeface="Arial" pitchFamily="34" charset="-122"/>
                <a:cs typeface="Arial" pitchFamily="34" charset="-120"/>
              </a:rPr>
              <a:t>Figure 2. Contract HT-2026-0007 in the ledger</a:t>
            </a:r>
            <a:endParaRPr lang="en-GB" sz="1380" dirty="0"/>
          </a:p>
          <a:p>
            <a:pPr algn="l" indent="0" marL="0">
              <a:lnSpc>
                <a:spcPct val="128000"/>
              </a:lnSpc>
              <a:buNone/>
            </a:pPr>
            <a:r>
              <a:rPr lang="en-GB" altLang="en-US" sz="1380" dirty="0">
                <a:solidFill>
                  <a:srgbClr val="222222"/>
                </a:solidFill>
                <a:latin typeface="Arial" pitchFamily="34" charset="0"/>
                <a:ea typeface="Arial" pitchFamily="34" charset="-122"/>
                <a:cs typeface="Arial" pitchFamily="34" charset="-120"/>
              </a:rPr>
              <a:t>Business demo system /demo30/contracts; captured on 15 October 2026.</a:t>
            </a:r>
            <a:endParaRPr lang="en-GB" sz="1380" dirty="0"/>
          </a:p>
          <a:p>
            <a:pPr algn="l" indent="0" marL="0">
              <a:lnSpc>
                <a:spcPct val="128000"/>
              </a:lnSpc>
              <a:buNone/>
            </a:pPr>
            <a:r>
              <a:rPr lang="en-GB" altLang="en-US" sz="1380" dirty="0">
                <a:solidFill>
                  <a:srgbClr val="222222"/>
                </a:solidFill>
                <a:latin typeface="Arial" pitchFamily="34" charset="0"/>
                <a:ea typeface="Arial" pitchFamily="34" charset="-122"/>
                <a:cs typeface="Arial" pitchFamily="34" charset="-120"/>
              </a:rPr>
              <a:t>Visible fields include the contract number, Qinchuan Urban Construction Group, RMB 850,000, expiry 2026-09-10 and entry date 2026-10-10.</a:t>
            </a:r>
            <a:endParaRPr lang="en-GB" sz="1380" dirty="0"/>
          </a:p>
          <a:p>
            <a:pPr algn="l" indent="0" marL="0">
              <a:lnSpc>
                <a:spcPct val="128000"/>
              </a:lnSpc>
              <a:buNone/>
            </a:pPr>
            <a:r>
              <a:rPr lang="en-GB" altLang="en-US" sz="1380" dirty="0">
                <a:solidFill>
                  <a:srgbClr val="222222"/>
                </a:solidFill>
                <a:latin typeface="Arial" pitchFamily="34" charset="0"/>
                <a:ea typeface="Arial" pitchFamily="34" charset="-122"/>
                <a:cs typeface="Arial" pitchFamily="34" charset="-120"/>
              </a:rPr>
              <a:t>This is the ledger state at the later capture. The screenshot does not show the write process; the account that I watched AI entry throughout and did not click the agreement remains based on my correction </a:t>
            </a:r>
            <a:pPr algn="l" indent="0" marL="0">
              <a:lnSpc>
                <a:spcPct val="128000"/>
              </a:lnSpc>
              <a:buNone/>
            </a:pPr>
            <a:r>
              <a:rPr lang="en-GB" altLang="en-US" sz="1380" u="sng" dirty="0">
                <a:solidFill>
                  <a:srgbClr val="B80010"/>
                </a:solidFill>
                <a:latin typeface="Arial" pitchFamily="34" charset="0"/>
                <a:ea typeface="Arial" pitchFamily="34" charset="-122"/>
                <a:cs typeface="Arial" pitchFamily="34" charset="-120"/>
                <a:hlinkClick r:id="rId2" action="ppaction://hlinksldjump" tooltip="">
                  <a:extLst>
                    <a:ext uri="{A12FA001-AC4F-418D-AE19-62706E023703}">
                      <ahyp:hlinkClr xmlns:ahyp="http://schemas.microsoft.com/office/drawing/2018/hyperlinkcolor" val="tx"/>
                    </a:ext>
                  </a:extLst>
                </a:hlinkClick>
              </a:rPr>
              <a:t>U3</a:t>
            </a:r>
            <a:pPr algn="l" indent="0" marL="0">
              <a:lnSpc>
                <a:spcPct val="128000"/>
              </a:lnSpc>
              <a:buNone/>
            </a:pPr>
            <a:r>
              <a:rPr lang="en-GB" altLang="en-US" sz="1380" dirty="0">
                <a:solidFill>
                  <a:srgbClr val="222222"/>
                </a:solidFill>
                <a:latin typeface="Arial" pitchFamily="34" charset="0"/>
                <a:ea typeface="Arial" pitchFamily="34" charset="-122"/>
                <a:cs typeface="Arial" pitchFamily="34" charset="-120"/>
              </a:rPr>
              <a:t>. References: </a:t>
            </a:r>
            <a:pPr algn="l" indent="0" marL="0">
              <a:lnSpc>
                <a:spcPct val="128000"/>
              </a:lnSpc>
              <a:buNone/>
            </a:pPr>
            <a:r>
              <a:rPr lang="en-GB" altLang="en-US" sz="1380" u="sng" dirty="0">
                <a:solidFill>
                  <a:srgbClr val="B80010"/>
                </a:solidFill>
                <a:latin typeface="Arial" pitchFamily="34" charset="0"/>
                <a:ea typeface="Arial" pitchFamily="34" charset="-122"/>
                <a:cs typeface="Arial" pitchFamily="34" charset="-120"/>
                <a:hlinkClick r:id="rId3" action="ppaction://hlinksldjump" tooltip="">
                  <a:extLst>
                    <a:ext uri="{A12FA001-AC4F-418D-AE19-62706E023703}">
                      <ahyp:hlinkClr xmlns:ahyp="http://schemas.microsoft.com/office/drawing/2018/hyperlinkcolor" val="tx"/>
                    </a:ext>
                  </a:extLst>
                </a:hlinkClick>
              </a:rPr>
              <a:t>E04</a:t>
            </a:r>
            <a:pPr algn="l" indent="0" marL="0">
              <a:lnSpc>
                <a:spcPct val="128000"/>
              </a:lnSpc>
              <a:buNone/>
            </a:pPr>
            <a:r>
              <a:rPr lang="en-GB" altLang="en-US" sz="1380" dirty="0">
                <a:solidFill>
                  <a:srgbClr val="222222"/>
                </a:solidFill>
                <a:latin typeface="Arial" pitchFamily="34" charset="0"/>
                <a:ea typeface="Arial" pitchFamily="34" charset="-122"/>
                <a:cs typeface="Arial" pitchFamily="34" charset="-120"/>
              </a:rPr>
              <a:t>, </a:t>
            </a:r>
            <a:pPr algn="l" indent="0" marL="0">
              <a:lnSpc>
                <a:spcPct val="128000"/>
              </a:lnSpc>
              <a:buNone/>
            </a:pPr>
            <a:r>
              <a:rPr lang="en-GB" altLang="en-US" sz="1380" u="sng" dirty="0">
                <a:solidFill>
                  <a:srgbClr val="B80010"/>
                </a:solidFill>
                <a:latin typeface="Arial" pitchFamily="34" charset="0"/>
                <a:ea typeface="Arial" pitchFamily="34" charset="-122"/>
                <a:cs typeface="Arial" pitchFamily="34" charset="-120"/>
                <a:hlinkClick r:id="rId4" action="ppaction://hlinksldjump" tooltip="">
                  <a:extLst>
                    <a:ext uri="{A12FA001-AC4F-418D-AE19-62706E023703}">
                      <ahyp:hlinkClr xmlns:ahyp="http://schemas.microsoft.com/office/drawing/2018/hyperlinkcolor" val="tx"/>
                    </a:ext>
                  </a:extLst>
                </a:hlinkClick>
              </a:rPr>
              <a:t>E05</a:t>
            </a:r>
            <a:pPr algn="l" indent="0" marL="0">
              <a:lnSpc>
                <a:spcPct val="128000"/>
              </a:lnSpc>
              <a:buNone/>
            </a:pPr>
            <a:r>
              <a:rPr lang="en-GB" altLang="en-US" sz="1380" dirty="0">
                <a:solidFill>
                  <a:srgbClr val="222222"/>
                </a:solidFill>
                <a:latin typeface="Arial" pitchFamily="34" charset="0"/>
                <a:ea typeface="Arial" pitchFamily="34" charset="-122"/>
                <a:cs typeface="Arial" pitchFamily="34" charset="-120"/>
              </a:rPr>
              <a:t>, </a:t>
            </a:r>
            <a:pPr algn="l" indent="0" marL="0">
              <a:lnSpc>
                <a:spcPct val="128000"/>
              </a:lnSpc>
              <a:buNone/>
            </a:pPr>
            <a:r>
              <a:rPr lang="en-GB" altLang="en-US" sz="1380" u="sng" dirty="0">
                <a:solidFill>
                  <a:srgbClr val="B80010"/>
                </a:solidFill>
                <a:latin typeface="Arial" pitchFamily="34" charset="0"/>
                <a:ea typeface="Arial" pitchFamily="34" charset="-122"/>
                <a:cs typeface="Arial" pitchFamily="34" charset="-120"/>
                <a:hlinkClick r:id="rId5" action="ppaction://hlinksldjump" tooltip="">
                  <a:extLst>
                    <a:ext uri="{A12FA001-AC4F-418D-AE19-62706E023703}">
                      <ahyp:hlinkClr xmlns:ahyp="http://schemas.microsoft.com/office/drawing/2018/hyperlinkcolor" val="tx"/>
                    </a:ext>
                  </a:extLst>
                </a:hlinkClick>
              </a:rPr>
              <a:t>U3</a:t>
            </a:r>
            <a:pPr algn="l" indent="0" marL="0">
              <a:lnSpc>
                <a:spcPct val="128000"/>
              </a:lnSpc>
              <a:buNone/>
            </a:pPr>
            <a:r>
              <a:rPr lang="en-GB" altLang="en-US" sz="1380" dirty="0">
                <a:solidFill>
                  <a:srgbClr val="222222"/>
                </a:solidFill>
                <a:latin typeface="Arial" pitchFamily="34" charset="0"/>
                <a:ea typeface="Arial" pitchFamily="34" charset="-122"/>
                <a:cs typeface="Arial" pitchFamily="34" charset="-120"/>
              </a:rPr>
              <a:t>.</a:t>
            </a:r>
            <a:endParaRPr lang="en-GB" sz="1380" dirty="0"/>
          </a:p>
        </p:txBody>
      </p:sp>
      <p:sp>
        <p:nvSpPr>
          <p:cNvPr id="6" name="Text 1"/>
          <p:cNvSpPr/>
          <p:nvPr>
            <p:ph idx="102" type="body" hasCustomPrompt="1"/>
          </p:nvPr>
        </p:nvSpPr>
        <p:spPr>
          <a:xfrm>
            <a:off x="762000" y="2057400"/>
            <a:ext cx="10668000" cy="3886200"/>
          </a:xfrm>
          <a:prstGeom prst="rect">
            <a:avLst/>
          </a:prstGeom>
          <a:noFill/>
          <a:ln/>
        </p:spPr>
        <p:txBody>
          <a:bodyPr wrap="square" lIns="0" tIns="0" rIns="0" bIns="0" rtlCol="0" anchor="t"/>
          <a:lstStyle/>
          <a:p>
            <a:pPr indent="0" marL="0">
              <a:buNone/>
            </a:pPr>
            <a:endParaRPr lang="en-US" sz="168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1"/>
          <p:cNvSpPr/>
          <p:nvPr>
            <p:ph idx="101" type="title" hasCustomPrompt="1"/>
          </p:nvPr>
        </p:nvSpPr>
        <p:spPr>
          <a:xfrm>
            <a:off x="381000" y="891540"/>
            <a:ext cx="11430000" cy="487680"/>
          </a:xfrm>
          <a:prstGeom prst="rect">
            <a:avLst/>
          </a:prstGeom>
          <a:noFill/>
          <a:ln/>
        </p:spPr>
        <p:txBody>
          <a:bodyPr wrap="square" lIns="0" tIns="0" rIns="0" bIns="0" rtlCol="0" anchor="t"/>
          <a:lstStyle/>
          <a:p>
            <a:pPr algn="l" indent="0" marL="0">
              <a:buNone/>
            </a:pPr>
            <a:r>
              <a:rPr lang="en-GB" altLang="en-US" sz="2400" b="1" spc="-84" kern="0" dirty="0">
                <a:solidFill>
                  <a:srgbClr val="000000"/>
                </a:solidFill>
                <a:latin typeface="Arial" pitchFamily="34" charset="0"/>
                <a:ea typeface="Arial" pitchFamily="34" charset="-122"/>
                <a:cs typeface="Arial" pitchFamily="34" charset="-120"/>
              </a:rPr>
              <a:t>1. Read and enter contract information (cont.)</a:t>
            </a:r>
            <a:endParaRPr lang="en-GB" sz="2400" dirty="0"/>
          </a:p>
        </p:txBody>
      </p:sp>
      <p:sp>
        <p:nvSpPr>
          <p:cNvPr id="3" name="body-03-2-item-0"/>
          <p:cNvSpPr/>
          <p:nvPr/>
        </p:nvSpPr>
        <p:spPr>
          <a:xfrm>
            <a:off x="609600" y="1600200"/>
            <a:ext cx="10972800" cy="2667000"/>
          </a:xfrm>
          <a:prstGeom prst="rect">
            <a:avLst/>
          </a:prstGeom>
          <a:noFill/>
          <a:ln/>
        </p:spPr>
        <p:txBody>
          <a:bodyPr wrap="square" lIns="0" tIns="0" rIns="0" bIns="0" rtlCol="0" anchor="t"/>
          <a:lstStyle/>
          <a:p>
            <a:pPr algn="l" indent="0" marL="0">
              <a:lnSpc>
                <a:spcPct val="128000"/>
              </a:lnSpc>
              <a:buNone/>
            </a:pPr>
            <a:r>
              <a:rPr lang="en-GB" altLang="en-US" sz="1920" dirty="0">
                <a:solidFill>
                  <a:srgbClr val="222222"/>
                </a:solidFill>
                <a:latin typeface="Arial" pitchFamily="34" charset="0"/>
                <a:ea typeface="Arial" pitchFamily="34" charset="-122"/>
                <a:cs typeface="Arial" pitchFamily="34" charset="-120"/>
              </a:rPr>
              <a:t>This connects reading, extraction and a confirmation request. However, the input was a short template embedded in a skill and created during setup; unfamiliar contracts, scans, conflicting versions and missing fields were not tested. I did not click the supplementary agreement and observed the AI complete entry in Qwen Office; the contract also appeared in the later ledger. Retain AI entry as an observed outcome, while noting that its write call has not been located in the reviewed main conversation. Confirmation context and execution receipts are still needed to validate the full write process. [A/B: </a:t>
            </a:r>
            <a:pPr algn="l" indent="0" marL="0">
              <a:lnSpc>
                <a:spcPct val="128000"/>
              </a:lnSpc>
              <a:buNone/>
            </a:pPr>
            <a:r>
              <a:rPr lang="en-GB" altLang="en-US" sz="1920" u="sng" dirty="0">
                <a:solidFill>
                  <a:srgbClr val="B80010"/>
                </a:solidFill>
                <a:latin typeface="Arial" pitchFamily="34" charset="0"/>
                <a:ea typeface="Arial" pitchFamily="34" charset="-122"/>
                <a:cs typeface="Arial" pitchFamily="34" charset="-120"/>
                <a:hlinkClick r:id="rId1" action="ppaction://hlinksldjump" tooltip="">
                  <a:extLst>
                    <a:ext uri="{A12FA001-AC4F-418D-AE19-62706E023703}">
                      <ahyp:hlinkClr xmlns:ahyp="http://schemas.microsoft.com/office/drawing/2018/hyperlinkcolor" val="tx"/>
                    </a:ext>
                  </a:extLst>
                </a:hlinkClick>
              </a:rPr>
              <a:t>E04</a:t>
            </a:r>
            <a:pPr algn="l" indent="0" marL="0">
              <a:lnSpc>
                <a:spcPct val="128000"/>
              </a:lnSpc>
              <a:buNone/>
            </a:pPr>
            <a:r>
              <a:rPr lang="en-GB" altLang="en-US" sz="1920" dirty="0">
                <a:solidFill>
                  <a:srgbClr val="222222"/>
                </a:solidFill>
                <a:latin typeface="Arial" pitchFamily="34" charset="0"/>
                <a:ea typeface="Arial" pitchFamily="34" charset="-122"/>
                <a:cs typeface="Arial" pitchFamily="34" charset="-120"/>
              </a:rPr>
              <a:t>–</a:t>
            </a:r>
            <a:pPr algn="l" indent="0" marL="0">
              <a:lnSpc>
                <a:spcPct val="128000"/>
              </a:lnSpc>
              <a:buNone/>
            </a:pPr>
            <a:r>
              <a:rPr lang="en-GB" altLang="en-US" sz="1920" u="sng" dirty="0">
                <a:solidFill>
                  <a:srgbClr val="B80010"/>
                </a:solidFill>
                <a:latin typeface="Arial" pitchFamily="34" charset="0"/>
                <a:ea typeface="Arial" pitchFamily="34" charset="-122"/>
                <a:cs typeface="Arial" pitchFamily="34" charset="-120"/>
                <a:hlinkClick r:id="rId2" action="ppaction://hlinksldjump" tooltip="">
                  <a:extLst>
                    <a:ext uri="{A12FA001-AC4F-418D-AE19-62706E023703}">
                      <ahyp:hlinkClr xmlns:ahyp="http://schemas.microsoft.com/office/drawing/2018/hyperlinkcolor" val="tx"/>
                    </a:ext>
                  </a:extLst>
                </a:hlinkClick>
              </a:rPr>
              <a:t>E05</a:t>
            </a:r>
            <a:pPr algn="l" indent="0" marL="0">
              <a:lnSpc>
                <a:spcPct val="128000"/>
              </a:lnSpc>
              <a:buNone/>
            </a:pPr>
            <a:r>
              <a:rPr lang="en-GB" altLang="en-US" sz="1920" dirty="0">
                <a:solidFill>
                  <a:srgbClr val="222222"/>
                </a:solidFill>
                <a:latin typeface="Arial" pitchFamily="34" charset="0"/>
                <a:ea typeface="Arial" pitchFamily="34" charset="-122"/>
                <a:cs typeface="Arial" pitchFamily="34" charset="-120"/>
              </a:rPr>
              <a:t>; </a:t>
            </a:r>
            <a:pPr algn="l" indent="0" marL="0">
              <a:lnSpc>
                <a:spcPct val="128000"/>
              </a:lnSpc>
              <a:buNone/>
            </a:pPr>
            <a:r>
              <a:rPr lang="en-GB" altLang="en-US" sz="1920" u="sng" dirty="0">
                <a:solidFill>
                  <a:srgbClr val="B80010"/>
                </a:solidFill>
                <a:latin typeface="Arial" pitchFamily="34" charset="0"/>
                <a:ea typeface="Arial" pitchFamily="34" charset="-122"/>
                <a:cs typeface="Arial" pitchFamily="34" charset="-120"/>
                <a:hlinkClick r:id="rId3" action="ppaction://hlinksldjump" tooltip="">
                  <a:extLst>
                    <a:ext uri="{A12FA001-AC4F-418D-AE19-62706E023703}">
                      <ahyp:hlinkClr xmlns:ahyp="http://schemas.microsoft.com/office/drawing/2018/hyperlinkcolor" val="tx"/>
                    </a:ext>
                  </a:extLst>
                </a:hlinkClick>
              </a:rPr>
              <a:t>U3</a:t>
            </a:r>
            <a:pPr algn="l" indent="0" marL="0">
              <a:lnSpc>
                <a:spcPct val="128000"/>
              </a:lnSpc>
              <a:buNone/>
            </a:pPr>
            <a:r>
              <a:rPr lang="en-GB" altLang="en-US" sz="1920" dirty="0">
                <a:solidFill>
                  <a:srgbClr val="222222"/>
                </a:solidFill>
                <a:latin typeface="Arial" pitchFamily="34" charset="0"/>
                <a:ea typeface="Arial" pitchFamily="34" charset="-122"/>
                <a:cs typeface="Arial" pitchFamily="34" charset="-120"/>
              </a:rPr>
              <a:t>]</a:t>
            </a:r>
            <a:endParaRPr lang="en-GB" sz="1920" dirty="0"/>
          </a:p>
        </p:txBody>
      </p:sp>
      <p:sp>
        <p:nvSpPr>
          <p:cNvPr id="4" name="body-03-2-item-1"/>
          <p:cNvSpPr/>
          <p:nvPr/>
        </p:nvSpPr>
        <p:spPr>
          <a:xfrm>
            <a:off x="609600" y="4419600"/>
            <a:ext cx="10972800" cy="1379220"/>
          </a:xfrm>
          <a:prstGeom prst="rect">
            <a:avLst/>
          </a:prstGeom>
          <a:noFill/>
          <a:ln/>
        </p:spPr>
        <p:txBody>
          <a:bodyPr wrap="square" lIns="0" tIns="0" rIns="0" bIns="0" rtlCol="0" anchor="t"/>
          <a:lstStyle/>
          <a:p>
            <a:pPr algn="l" indent="0" marL="0">
              <a:lnSpc>
                <a:spcPct val="128000"/>
              </a:lnSpc>
              <a:buNone/>
            </a:pPr>
            <a:r>
              <a:rPr lang="en-GB" altLang="en-US" sz="1920" dirty="0">
                <a:solidFill>
                  <a:srgbClr val="222222"/>
                </a:solidFill>
                <a:latin typeface="Arial" pitchFamily="34" charset="0"/>
                <a:ea typeface="Arial" pitchFamily="34" charset="-122"/>
                <a:cs typeface="Arial" pitchFamily="34" charset="-120"/>
              </a:rPr>
              <a:t>For technology projects, the useful idea is to extract verifiable handoff fields from defined materials, attach source references and obtain human confirmation. A further test with new material could measure field accuracy, completeness and review effort. Whether this saves time is unknown.</a:t>
            </a:r>
            <a:endParaRPr lang="en-GB" sz="1920" dirty="0"/>
          </a:p>
        </p:txBody>
      </p:sp>
      <p:sp>
        <p:nvSpPr>
          <p:cNvPr id="6" name="Text 1"/>
          <p:cNvSpPr/>
          <p:nvPr>
            <p:ph idx="102" type="body" hasCustomPrompt="1"/>
          </p:nvPr>
        </p:nvSpPr>
        <p:spPr>
          <a:xfrm>
            <a:off x="762000" y="2057400"/>
            <a:ext cx="10668000" cy="3886200"/>
          </a:xfrm>
          <a:prstGeom prst="rect">
            <a:avLst/>
          </a:prstGeom>
          <a:noFill/>
          <a:ln/>
        </p:spPr>
        <p:txBody>
          <a:bodyPr wrap="square" lIns="0" tIns="0" rIns="0" bIns="0" rtlCol="0" anchor="t"/>
          <a:lstStyle/>
          <a:p>
            <a:pPr indent="0" marL="0">
              <a:buNone/>
            </a:pPr>
            <a:endParaRPr lang="en-US" sz="168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1"/>
          <p:cNvSpPr/>
          <p:nvPr>
            <p:ph idx="101" type="title" hasCustomPrompt="1"/>
          </p:nvPr>
        </p:nvSpPr>
        <p:spPr>
          <a:xfrm>
            <a:off x="381000" y="891540"/>
            <a:ext cx="11430000" cy="487680"/>
          </a:xfrm>
          <a:prstGeom prst="rect">
            <a:avLst/>
          </a:prstGeom>
          <a:noFill/>
          <a:ln/>
        </p:spPr>
        <p:txBody>
          <a:bodyPr wrap="square" lIns="0" tIns="0" rIns="0" bIns="0" rtlCol="0" anchor="t"/>
          <a:lstStyle/>
          <a:p>
            <a:pPr algn="l" indent="0" marL="0">
              <a:buNone/>
            </a:pPr>
            <a:r>
              <a:rPr lang="en-GB" altLang="en-US" sz="2400" b="1" spc="-84" kern="0" dirty="0">
                <a:solidFill>
                  <a:srgbClr val="000000"/>
                </a:solidFill>
                <a:latin typeface="Arial" pitchFamily="34" charset="0"/>
                <a:ea typeface="Arial" pitchFamily="34" charset="-122"/>
                <a:cs typeface="Arial" pitchFamily="34" charset="-120"/>
              </a:rPr>
              <a:t>2. Summarise risks and decisions needed</a:t>
            </a:r>
            <a:endParaRPr lang="en-GB" sz="2400" dirty="0"/>
          </a:p>
        </p:txBody>
      </p:sp>
      <p:sp>
        <p:nvSpPr>
          <p:cNvPr id="3" name="body-04-1-item-0"/>
          <p:cNvSpPr/>
          <p:nvPr/>
        </p:nvSpPr>
        <p:spPr>
          <a:xfrm>
            <a:off x="609600" y="1600200"/>
            <a:ext cx="10972800" cy="2026920"/>
          </a:xfrm>
          <a:prstGeom prst="rect">
            <a:avLst/>
          </a:prstGeom>
          <a:noFill/>
          <a:ln/>
        </p:spPr>
        <p:txBody>
          <a:bodyPr wrap="square" lIns="0" tIns="0" rIns="0" bIns="0" rtlCol="0" anchor="t"/>
          <a:lstStyle/>
          <a:p>
            <a:pPr algn="l" indent="0" marL="0">
              <a:lnSpc>
                <a:spcPct val="128000"/>
              </a:lnSpc>
              <a:buNone/>
            </a:pPr>
            <a:r>
              <a:rPr lang="en-GB" altLang="en-US" sz="1920" dirty="0">
                <a:solidFill>
                  <a:srgbClr val="222222"/>
                </a:solidFill>
                <a:latin typeface="Arial" pitchFamily="34" charset="0"/>
                <a:ea typeface="Arial" pitchFamily="34" charset="-122"/>
                <a:cs typeface="Arial" pitchFamily="34" charset="-120"/>
              </a:rPr>
              <a:t>The task was to turn separate ledgers into a status briefing for discussion. The assistant read three data sources—contracts, at-risk projects and tracking items—generated 'new', 'risks', 'handled' and 'decisions needed' content, and posted it to the group. Readback showed three pending decisions and distinguished 'agreement archived' from 'ledger entry awaiting confirmation'. These are recorded outputs. [A: </a:t>
            </a:r>
            <a:pPr algn="l" indent="0" marL="0">
              <a:lnSpc>
                <a:spcPct val="128000"/>
              </a:lnSpc>
              <a:buNone/>
            </a:pPr>
            <a:r>
              <a:rPr lang="en-GB" altLang="en-US" sz="1920" u="sng" dirty="0">
                <a:solidFill>
                  <a:srgbClr val="B80010"/>
                </a:solidFill>
                <a:latin typeface="Arial" pitchFamily="34" charset="0"/>
                <a:ea typeface="Arial" pitchFamily="34" charset="-122"/>
                <a:cs typeface="Arial" pitchFamily="34" charset="-120"/>
                <a:hlinkClick r:id="rId1" action="ppaction://hlinksldjump" tooltip="">
                  <a:extLst>
                    <a:ext uri="{A12FA001-AC4F-418D-AE19-62706E023703}">
                      <ahyp:hlinkClr xmlns:ahyp="http://schemas.microsoft.com/office/drawing/2018/hyperlinkcolor" val="tx"/>
                    </a:ext>
                  </a:extLst>
                </a:hlinkClick>
              </a:rPr>
              <a:t>E11</a:t>
            </a:r>
            <a:pPr algn="l" indent="0" marL="0">
              <a:lnSpc>
                <a:spcPct val="128000"/>
              </a:lnSpc>
              <a:buNone/>
            </a:pPr>
            <a:r>
              <a:rPr lang="en-GB" altLang="en-US" sz="1920" dirty="0">
                <a:solidFill>
                  <a:srgbClr val="222222"/>
                </a:solidFill>
                <a:latin typeface="Arial" pitchFamily="34" charset="0"/>
                <a:ea typeface="Arial" pitchFamily="34" charset="-122"/>
                <a:cs typeface="Arial" pitchFamily="34" charset="-120"/>
              </a:rPr>
              <a:t>]</a:t>
            </a:r>
            <a:endParaRPr lang="en-GB" sz="1920" dirty="0"/>
          </a:p>
        </p:txBody>
      </p:sp>
      <p:sp>
        <p:nvSpPr>
          <p:cNvPr id="4" name="body-04-1-item-1"/>
          <p:cNvSpPr/>
          <p:nvPr/>
        </p:nvSpPr>
        <p:spPr>
          <a:xfrm>
            <a:off x="609600" y="3779520"/>
            <a:ext cx="10972800" cy="2026920"/>
          </a:xfrm>
          <a:prstGeom prst="rect">
            <a:avLst/>
          </a:prstGeom>
          <a:noFill/>
          <a:ln/>
        </p:spPr>
        <p:txBody>
          <a:bodyPr wrap="square" lIns="0" tIns="0" rIns="0" bIns="0" rtlCol="0" anchor="t"/>
          <a:lstStyle/>
          <a:p>
            <a:pPr algn="l" indent="0" marL="0">
              <a:lnSpc>
                <a:spcPct val="128000"/>
              </a:lnSpc>
              <a:buNone/>
            </a:pPr>
            <a:r>
              <a:rPr lang="en-GB" altLang="en-US" sz="1920" dirty="0">
                <a:solidFill>
                  <a:srgbClr val="222222"/>
                </a:solidFill>
                <a:latin typeface="Arial" pitchFamily="34" charset="0"/>
                <a:ea typeface="Arial" pitchFamily="34" charset="-122"/>
                <a:cs typeface="Arial" pitchFamily="34" charset="-120"/>
              </a:rPr>
              <a:t>The useful feature is making status and responsibility explicit. Card colours, @mentions and formatting are ordinary features; no evidence shows improved decision quality or response speed. The risk API already returned days overdue, overspend and progress gaps. The model mainly called tools, aggregated data and expressed results; backend rule calculations cannot all be credited as independent risk detection by the model. [A/C: </a:t>
            </a:r>
            <a:pPr algn="l" indent="0" marL="0">
              <a:lnSpc>
                <a:spcPct val="128000"/>
              </a:lnSpc>
              <a:buNone/>
            </a:pPr>
            <a:r>
              <a:rPr lang="en-GB" altLang="en-US" sz="1920" u="sng" dirty="0">
                <a:solidFill>
                  <a:srgbClr val="B80010"/>
                </a:solidFill>
                <a:latin typeface="Arial" pitchFamily="34" charset="0"/>
                <a:ea typeface="Arial" pitchFamily="34" charset="-122"/>
                <a:cs typeface="Arial" pitchFamily="34" charset="-120"/>
                <a:hlinkClick r:id="rId2" action="ppaction://hlinksldjump" tooltip="">
                  <a:extLst>
                    <a:ext uri="{A12FA001-AC4F-418D-AE19-62706E023703}">
                      <ahyp:hlinkClr xmlns:ahyp="http://schemas.microsoft.com/office/drawing/2018/hyperlinkcolor" val="tx"/>
                    </a:ext>
                  </a:extLst>
                </a:hlinkClick>
              </a:rPr>
              <a:t>E06</a:t>
            </a:r>
            <a:pPr algn="l" indent="0" marL="0">
              <a:lnSpc>
                <a:spcPct val="128000"/>
              </a:lnSpc>
              <a:buNone/>
            </a:pPr>
            <a:r>
              <a:rPr lang="en-GB" altLang="en-US" sz="1920" dirty="0">
                <a:solidFill>
                  <a:srgbClr val="222222"/>
                </a:solidFill>
                <a:latin typeface="Arial" pitchFamily="34" charset="0"/>
                <a:ea typeface="Arial" pitchFamily="34" charset="-122"/>
                <a:cs typeface="Arial" pitchFamily="34" charset="-120"/>
              </a:rPr>
              <a:t>, </a:t>
            </a:r>
            <a:pPr algn="l" indent="0" marL="0">
              <a:lnSpc>
                <a:spcPct val="128000"/>
              </a:lnSpc>
              <a:buNone/>
            </a:pPr>
            <a:r>
              <a:rPr lang="en-GB" altLang="en-US" sz="1920" u="sng" dirty="0">
                <a:solidFill>
                  <a:srgbClr val="B80010"/>
                </a:solidFill>
                <a:latin typeface="Arial" pitchFamily="34" charset="0"/>
                <a:ea typeface="Arial" pitchFamily="34" charset="-122"/>
                <a:cs typeface="Arial" pitchFamily="34" charset="-120"/>
                <a:hlinkClick r:id="rId3" action="ppaction://hlinksldjump" tooltip="">
                  <a:extLst>
                    <a:ext uri="{A12FA001-AC4F-418D-AE19-62706E023703}">
                      <ahyp:hlinkClr xmlns:ahyp="http://schemas.microsoft.com/office/drawing/2018/hyperlinkcolor" val="tx"/>
                    </a:ext>
                  </a:extLst>
                </a:hlinkClick>
              </a:rPr>
              <a:t>E11</a:t>
            </a:r>
            <a:pPr algn="l" indent="0" marL="0">
              <a:lnSpc>
                <a:spcPct val="128000"/>
              </a:lnSpc>
              <a:buNone/>
            </a:pPr>
            <a:r>
              <a:rPr lang="en-GB" altLang="en-US" sz="1920" dirty="0">
                <a:solidFill>
                  <a:srgbClr val="222222"/>
                </a:solidFill>
                <a:latin typeface="Arial" pitchFamily="34" charset="0"/>
                <a:ea typeface="Arial" pitchFamily="34" charset="-122"/>
                <a:cs typeface="Arial" pitchFamily="34" charset="-120"/>
              </a:rPr>
              <a:t>, </a:t>
            </a:r>
            <a:pPr algn="l" indent="0" marL="0">
              <a:lnSpc>
                <a:spcPct val="128000"/>
              </a:lnSpc>
              <a:buNone/>
            </a:pPr>
            <a:r>
              <a:rPr lang="en-GB" altLang="en-US" sz="1920" u="sng" dirty="0">
                <a:solidFill>
                  <a:srgbClr val="B80010"/>
                </a:solidFill>
                <a:latin typeface="Arial" pitchFamily="34" charset="0"/>
                <a:ea typeface="Arial" pitchFamily="34" charset="-122"/>
                <a:cs typeface="Arial" pitchFamily="34" charset="-120"/>
                <a:hlinkClick r:id="rId4" action="ppaction://hlinksldjump" tooltip="">
                  <a:extLst>
                    <a:ext uri="{A12FA001-AC4F-418D-AE19-62706E023703}">
                      <ahyp:hlinkClr xmlns:ahyp="http://schemas.microsoft.com/office/drawing/2018/hyperlinkcolor" val="tx"/>
                    </a:ext>
                  </a:extLst>
                </a:hlinkClick>
              </a:rPr>
              <a:t>E13</a:t>
            </a:r>
            <a:pPr algn="l" indent="0" marL="0">
              <a:lnSpc>
                <a:spcPct val="128000"/>
              </a:lnSpc>
              <a:buNone/>
            </a:pPr>
            <a:r>
              <a:rPr lang="en-GB" altLang="en-US" sz="1920" dirty="0">
                <a:solidFill>
                  <a:srgbClr val="222222"/>
                </a:solidFill>
                <a:latin typeface="Arial" pitchFamily="34" charset="0"/>
                <a:ea typeface="Arial" pitchFamily="34" charset="-122"/>
                <a:cs typeface="Arial" pitchFamily="34" charset="-120"/>
              </a:rPr>
              <a:t>]</a:t>
            </a:r>
            <a:endParaRPr lang="en-GB" sz="1920" dirty="0"/>
          </a:p>
        </p:txBody>
      </p:sp>
      <p:sp>
        <p:nvSpPr>
          <p:cNvPr id="6" name="Text 1"/>
          <p:cNvSpPr/>
          <p:nvPr>
            <p:ph idx="102" type="body" hasCustomPrompt="1"/>
          </p:nvPr>
        </p:nvSpPr>
        <p:spPr>
          <a:xfrm>
            <a:off x="762000" y="2057400"/>
            <a:ext cx="10668000" cy="3886200"/>
          </a:xfrm>
          <a:prstGeom prst="rect">
            <a:avLst/>
          </a:prstGeom>
          <a:noFill/>
          <a:ln/>
        </p:spPr>
        <p:txBody>
          <a:bodyPr wrap="square" lIns="0" tIns="0" rIns="0" bIns="0" rtlCol="0" anchor="t"/>
          <a:lstStyle/>
          <a:p>
            <a:pPr indent="0" marL="0">
              <a:buNone/>
            </a:pPr>
            <a:endParaRPr lang="en-US" sz="168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1"/>
          <p:cNvSpPr/>
          <p:nvPr>
            <p:ph idx="101" type="title" hasCustomPrompt="1"/>
          </p:nvPr>
        </p:nvSpPr>
        <p:spPr>
          <a:xfrm>
            <a:off x="381000" y="891540"/>
            <a:ext cx="11430000" cy="487680"/>
          </a:xfrm>
          <a:prstGeom prst="rect">
            <a:avLst/>
          </a:prstGeom>
          <a:noFill/>
          <a:ln/>
        </p:spPr>
        <p:txBody>
          <a:bodyPr wrap="square" lIns="0" tIns="0" rIns="0" bIns="0" rtlCol="0" anchor="t"/>
          <a:lstStyle/>
          <a:p>
            <a:pPr algn="l" indent="0" marL="0">
              <a:buNone/>
            </a:pPr>
            <a:r>
              <a:rPr lang="en-GB" altLang="en-US" sz="2400" b="1" spc="-84" kern="0" dirty="0">
                <a:solidFill>
                  <a:srgbClr val="000000"/>
                </a:solidFill>
                <a:latin typeface="Arial" pitchFamily="34" charset="0"/>
                <a:ea typeface="Arial" pitchFamily="34" charset="-122"/>
                <a:cs typeface="Arial" pitchFamily="34" charset="-120"/>
              </a:rPr>
              <a:t>Project ledger: progress and budget risk</a:t>
            </a:r>
            <a:endParaRPr lang="en-GB" sz="2400" dirty="0"/>
          </a:p>
        </p:txBody>
      </p:sp>
      <p:pic>
        <p:nvPicPr>
          <p:cNvPr id="3" name="operation-photo-ui-04-image" descr="Figure 3. Progress, budget and spending in the ledger. This read-only capture from 15 October does not replace the 10 October API return. The screen's '15% behind' means a 15-percentage-point gap between the two progress values. Risk labels are displayed by the business system, not all independently identified by the model.">    </p:cNvPr>
          <p:cNvPicPr>
            <a:picLocks noChangeAspect="1"/>
          </p:cNvPicPr>
          <p:nvPr/>
        </p:nvPicPr>
        <p:blipFill>
          <a:blip r:embed="rId1"/>
          <a:stretch>
            <a:fillRect/>
          </a:stretch>
        </p:blipFill>
        <p:spPr>
          <a:xfrm>
            <a:off x="609600" y="1600200"/>
            <a:ext cx="10081260" cy="2667000"/>
          </a:xfrm>
          <a:prstGeom prst="rect">
            <a:avLst/>
          </a:prstGeom>
        </p:spPr>
      </p:pic>
      <p:sp>
        <p:nvSpPr>
          <p:cNvPr id="4" name="operation-photo-ui-04-caption"/>
          <p:cNvSpPr/>
          <p:nvPr/>
        </p:nvSpPr>
        <p:spPr>
          <a:xfrm>
            <a:off x="609600" y="4495800"/>
            <a:ext cx="10972800" cy="1600200"/>
          </a:xfrm>
          <a:prstGeom prst="rect">
            <a:avLst/>
          </a:prstGeom>
          <a:noFill/>
          <a:ln/>
        </p:spPr>
        <p:txBody>
          <a:bodyPr wrap="square" lIns="0" tIns="0" rIns="0" bIns="0" rtlCol="0" anchor="t"/>
          <a:lstStyle/>
          <a:p>
            <a:pPr algn="l" indent="0" marL="0">
              <a:lnSpc>
                <a:spcPct val="128000"/>
              </a:lnSpc>
              <a:buNone/>
            </a:pPr>
            <a:r>
              <a:rPr lang="en-GB" altLang="en-US" sz="1380" b="1" dirty="0">
                <a:solidFill>
                  <a:srgbClr val="222222"/>
                </a:solidFill>
                <a:latin typeface="Arial" pitchFamily="34" charset="0"/>
                <a:ea typeface="Arial" pitchFamily="34" charset="-122"/>
                <a:cs typeface="Arial" pitchFamily="34" charset="-120"/>
              </a:rPr>
              <a:t>Figure 3. Progress, budget and spending in the ledger</a:t>
            </a:r>
            <a:endParaRPr lang="en-GB" sz="1380" dirty="0"/>
          </a:p>
          <a:p>
            <a:pPr algn="l" indent="0" marL="0">
              <a:lnSpc>
                <a:spcPct val="128000"/>
              </a:lnSpc>
              <a:buNone/>
            </a:pPr>
            <a:r>
              <a:rPr lang="en-GB" altLang="en-US" sz="1380" dirty="0">
                <a:solidFill>
                  <a:srgbClr val="222222"/>
                </a:solidFill>
                <a:latin typeface="Arial" pitchFamily="34" charset="0"/>
                <a:ea typeface="Arial" pitchFamily="34" charset="-122"/>
                <a:cs typeface="Arial" pitchFamily="34" charset="-120"/>
              </a:rPr>
              <a:t>Business demo system /demo30/projects; read-only capture on 15 October 2026.</a:t>
            </a:r>
            <a:endParaRPr lang="en-GB" sz="1380" dirty="0"/>
          </a:p>
          <a:p>
            <a:pPr algn="l" indent="0" marL="0">
              <a:lnSpc>
                <a:spcPct val="128000"/>
              </a:lnSpc>
              <a:buNone/>
            </a:pPr>
            <a:r>
              <a:rPr lang="en-GB" altLang="en-US" sz="1380" dirty="0">
                <a:solidFill>
                  <a:srgbClr val="222222"/>
                </a:solidFill>
                <a:latin typeface="Arial" pitchFamily="34" charset="0"/>
                <a:ea typeface="Arial" pitchFamily="34" charset="-122"/>
                <a:cs typeface="Arial" pitchFamily="34" charset="-120"/>
              </a:rPr>
              <a:t>The metro-monitoring project shows 45% actual progress against 60% planned, a budget of RMB 3.15 million and spending of RMB 3.40 million. The screen also shows the Yushang project's progress gap.</a:t>
            </a:r>
            <a:endParaRPr lang="en-GB" sz="1380" dirty="0"/>
          </a:p>
          <a:p>
            <a:pPr algn="l" indent="0" marL="0">
              <a:lnSpc>
                <a:spcPct val="128000"/>
              </a:lnSpc>
              <a:buNone/>
            </a:pPr>
            <a:r>
              <a:rPr lang="en-GB" altLang="en-US" sz="1380" dirty="0">
                <a:solidFill>
                  <a:srgbClr val="222222"/>
                </a:solidFill>
                <a:latin typeface="Arial" pitchFamily="34" charset="0"/>
                <a:ea typeface="Arial" pitchFamily="34" charset="-122"/>
                <a:cs typeface="Arial" pitchFamily="34" charset="-120"/>
              </a:rPr>
              <a:t>This read-only capture from 15 October does not replace the 10 October API return. The screen's '15% behind' means a 15-percentage-point gap. Risk labels come from the business system and cannot all be credited to independent model detection. References: </a:t>
            </a:r>
            <a:pPr algn="l" indent="0" marL="0">
              <a:lnSpc>
                <a:spcPct val="128000"/>
              </a:lnSpc>
              <a:buNone/>
            </a:pPr>
            <a:r>
              <a:rPr lang="en-GB" altLang="en-US" sz="1380" u="sng" dirty="0">
                <a:solidFill>
                  <a:srgbClr val="B80010"/>
                </a:solidFill>
                <a:latin typeface="Arial" pitchFamily="34" charset="0"/>
                <a:ea typeface="Arial" pitchFamily="34" charset="-122"/>
                <a:cs typeface="Arial" pitchFamily="34" charset="-120"/>
                <a:hlinkClick r:id="rId2" action="ppaction://hlinksldjump" tooltip="">
                  <a:extLst>
                    <a:ext uri="{A12FA001-AC4F-418D-AE19-62706E023703}">
                      <ahyp:hlinkClr xmlns:ahyp="http://schemas.microsoft.com/office/drawing/2018/hyperlinkcolor" val="tx"/>
                    </a:ext>
                  </a:extLst>
                </a:hlinkClick>
              </a:rPr>
              <a:t>E06</a:t>
            </a:r>
            <a:pPr algn="l" indent="0" marL="0">
              <a:lnSpc>
                <a:spcPct val="128000"/>
              </a:lnSpc>
              <a:buNone/>
            </a:pPr>
            <a:r>
              <a:rPr lang="en-GB" altLang="en-US" sz="1380" dirty="0">
                <a:solidFill>
                  <a:srgbClr val="222222"/>
                </a:solidFill>
                <a:latin typeface="Arial" pitchFamily="34" charset="0"/>
                <a:ea typeface="Arial" pitchFamily="34" charset="-122"/>
                <a:cs typeface="Arial" pitchFamily="34" charset="-120"/>
              </a:rPr>
              <a:t>, </a:t>
            </a:r>
            <a:pPr algn="l" indent="0" marL="0">
              <a:lnSpc>
                <a:spcPct val="128000"/>
              </a:lnSpc>
              <a:buNone/>
            </a:pPr>
            <a:r>
              <a:rPr lang="en-GB" altLang="en-US" sz="1380" u="sng" dirty="0">
                <a:solidFill>
                  <a:srgbClr val="B80010"/>
                </a:solidFill>
                <a:latin typeface="Arial" pitchFamily="34" charset="0"/>
                <a:ea typeface="Arial" pitchFamily="34" charset="-122"/>
                <a:cs typeface="Arial" pitchFamily="34" charset="-120"/>
                <a:hlinkClick r:id="rId3" action="ppaction://hlinksldjump" tooltip="">
                  <a:extLst>
                    <a:ext uri="{A12FA001-AC4F-418D-AE19-62706E023703}">
                      <ahyp:hlinkClr xmlns:ahyp="http://schemas.microsoft.com/office/drawing/2018/hyperlinkcolor" val="tx"/>
                    </a:ext>
                  </a:extLst>
                </a:hlinkClick>
              </a:rPr>
              <a:t>E23</a:t>
            </a:r>
            <a:pPr algn="l" indent="0" marL="0">
              <a:lnSpc>
                <a:spcPct val="128000"/>
              </a:lnSpc>
              <a:buNone/>
            </a:pPr>
            <a:r>
              <a:rPr lang="en-GB" altLang="en-US" sz="1380" dirty="0">
                <a:solidFill>
                  <a:srgbClr val="222222"/>
                </a:solidFill>
                <a:latin typeface="Arial" pitchFamily="34" charset="0"/>
                <a:ea typeface="Arial" pitchFamily="34" charset="-122"/>
                <a:cs typeface="Arial" pitchFamily="34" charset="-120"/>
              </a:rPr>
              <a:t>.</a:t>
            </a:r>
            <a:endParaRPr lang="en-GB" sz="1380" dirty="0"/>
          </a:p>
        </p:txBody>
      </p:sp>
      <p:sp>
        <p:nvSpPr>
          <p:cNvPr id="6" name="Text 1"/>
          <p:cNvSpPr/>
          <p:nvPr>
            <p:ph idx="102" type="body" hasCustomPrompt="1"/>
          </p:nvPr>
        </p:nvSpPr>
        <p:spPr>
          <a:xfrm>
            <a:off x="762000" y="2057400"/>
            <a:ext cx="10668000" cy="3886200"/>
          </a:xfrm>
          <a:prstGeom prst="rect">
            <a:avLst/>
          </a:prstGeom>
          <a:noFill/>
          <a:ln/>
        </p:spPr>
        <p:txBody>
          <a:bodyPr wrap="square" lIns="0" tIns="0" rIns="0" bIns="0" rtlCol="0" anchor="t"/>
          <a:lstStyle/>
          <a:p>
            <a:pPr indent="0" marL="0">
              <a:buNone/>
            </a:pPr>
            <a:endParaRPr lang="en-US" sz="168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1"/>
          <p:cNvSpPr/>
          <p:nvPr>
            <p:ph idx="101" type="title" hasCustomPrompt="1"/>
          </p:nvPr>
        </p:nvSpPr>
        <p:spPr>
          <a:xfrm>
            <a:off x="381000" y="891540"/>
            <a:ext cx="11430000" cy="487680"/>
          </a:xfrm>
          <a:prstGeom prst="rect">
            <a:avLst/>
          </a:prstGeom>
          <a:noFill/>
          <a:ln/>
        </p:spPr>
        <p:txBody>
          <a:bodyPr wrap="square" lIns="0" tIns="0" rIns="0" bIns="0" rtlCol="0" anchor="t"/>
          <a:lstStyle/>
          <a:p>
            <a:pPr algn="l" indent="0" marL="0">
              <a:buNone/>
            </a:pPr>
            <a:r>
              <a:rPr lang="en-GB" altLang="en-US" sz="2400" b="1" spc="-84" kern="0" dirty="0">
                <a:solidFill>
                  <a:srgbClr val="000000"/>
                </a:solidFill>
                <a:latin typeface="Arial" pitchFamily="34" charset="0"/>
                <a:ea typeface="Arial" pitchFamily="34" charset="-122"/>
                <a:cs typeface="Arial" pitchFamily="34" charset="-120"/>
              </a:rPr>
              <a:t>Group briefing: content in DingTalk</a:t>
            </a:r>
            <a:endParaRPr lang="en-GB" sz="2400" dirty="0"/>
          </a:p>
        </p:txBody>
      </p:sp>
      <p:pic>
        <p:nvPicPr>
          <p:cNvPr id="3" name="operation-photo-ui-02-image" descr="Figure 4. DingTalk's 10 October project briefing (excerpt). This historical message in the current client alone does not establish the initial version or subsequent closure. The group was a one-person demonstration; 'automatic prompt' in a message does not verify reminder delivery.">    </p:cNvPr>
          <p:cNvPicPr>
            <a:picLocks noChangeAspect="1"/>
          </p:cNvPicPr>
          <p:nvPr/>
        </p:nvPicPr>
        <p:blipFill>
          <a:blip r:embed="rId1"/>
          <a:stretch>
            <a:fillRect/>
          </a:stretch>
        </p:blipFill>
        <p:spPr>
          <a:xfrm>
            <a:off x="609600" y="1600200"/>
            <a:ext cx="5224021" cy="2667000"/>
          </a:xfrm>
          <a:prstGeom prst="rect">
            <a:avLst/>
          </a:prstGeom>
        </p:spPr>
      </p:pic>
      <p:sp>
        <p:nvSpPr>
          <p:cNvPr id="4" name="operation-photo-ui-02-caption"/>
          <p:cNvSpPr/>
          <p:nvPr/>
        </p:nvSpPr>
        <p:spPr>
          <a:xfrm>
            <a:off x="609600" y="4495800"/>
            <a:ext cx="10972800" cy="1600200"/>
          </a:xfrm>
          <a:prstGeom prst="rect">
            <a:avLst/>
          </a:prstGeom>
          <a:noFill/>
          <a:ln/>
        </p:spPr>
        <p:txBody>
          <a:bodyPr wrap="square" lIns="0" tIns="0" rIns="0" bIns="0" rtlCol="0" anchor="t"/>
          <a:lstStyle/>
          <a:p>
            <a:pPr algn="l" indent="0" marL="0">
              <a:lnSpc>
                <a:spcPct val="128000"/>
              </a:lnSpc>
              <a:buNone/>
            </a:pPr>
            <a:r>
              <a:rPr lang="en-GB" altLang="en-US" sz="1380" b="1" dirty="0">
                <a:solidFill>
                  <a:srgbClr val="222222"/>
                </a:solidFill>
                <a:latin typeface="Arial" pitchFamily="34" charset="0"/>
                <a:ea typeface="Arial" pitchFamily="34" charset="-122"/>
                <a:cs typeface="Arial" pitchFamily="34" charset="-120"/>
              </a:rPr>
              <a:t>Figure 4. DingTalk's 10 October project briefing (excerpt)</a:t>
            </a:r>
            <a:endParaRPr lang="en-GB" sz="1380" dirty="0"/>
          </a:p>
          <a:p>
            <a:pPr algn="l" indent="0" marL="0">
              <a:lnSpc>
                <a:spcPct val="128000"/>
              </a:lnSpc>
              <a:buNone/>
            </a:pPr>
            <a:r>
              <a:rPr lang="en-GB" altLang="en-US" sz="1380" dirty="0">
                <a:solidFill>
                  <a:srgbClr val="222222"/>
                </a:solidFill>
                <a:latin typeface="Arial" pitchFamily="34" charset="0"/>
                <a:ea typeface="Arial" pitchFamily="34" charset="-122"/>
                <a:cs typeface="Arial" pitchFamily="34" charset="-120"/>
              </a:rPr>
              <a:t>Local DingTalk client, 'Shanqin · Project Collaboration' group; captured on 15 October 2026.</a:t>
            </a:r>
            <a:endParaRPr lang="en-GB" sz="1380" dirty="0"/>
          </a:p>
          <a:p>
            <a:pPr algn="l" indent="0" marL="0">
              <a:lnSpc>
                <a:spcPct val="128000"/>
              </a:lnSpc>
              <a:buNone/>
            </a:pPr>
            <a:r>
              <a:rPr lang="en-GB" altLang="en-US" sz="1380" dirty="0">
                <a:solidFill>
                  <a:srgbClr val="222222"/>
                </a:solidFill>
                <a:latin typeface="Arial" pitchFamily="34" charset="0"/>
                <a:ea typeface="Arial" pitchFamily="34" charset="-122"/>
                <a:cs typeface="Arial" pitchFamily="34" charset="-120"/>
              </a:rPr>
              <a:t>Visible sections include 'new today', 'risk alerts' and 'handled'. This briefing still marks the supplementary agreement as 'ledger entry awaiting confirmation'.</a:t>
            </a:r>
            <a:endParaRPr lang="en-GB" sz="1380" dirty="0"/>
          </a:p>
          <a:p>
            <a:pPr algn="l" indent="0" marL="0">
              <a:lnSpc>
                <a:spcPct val="128000"/>
              </a:lnSpc>
              <a:buNone/>
            </a:pPr>
            <a:r>
              <a:rPr lang="en-GB" altLang="en-US" sz="1380" dirty="0">
                <a:solidFill>
                  <a:srgbClr val="222222"/>
                </a:solidFill>
                <a:latin typeface="Arial" pitchFamily="34" charset="0"/>
                <a:ea typeface="Arial" pitchFamily="34" charset="-122"/>
                <a:cs typeface="Arial" pitchFamily="34" charset="-120"/>
              </a:rPr>
              <a:t>This historical message in the current client alone does not establish the initial version or later closure. The group was a one-person demonstration; 'automatic prompt' in the message does not verify reminder delivery. References: </a:t>
            </a:r>
            <a:pPr algn="l" indent="0" marL="0">
              <a:lnSpc>
                <a:spcPct val="128000"/>
              </a:lnSpc>
              <a:buNone/>
            </a:pPr>
            <a:r>
              <a:rPr lang="en-GB" altLang="en-US" sz="1380" u="sng" dirty="0">
                <a:solidFill>
                  <a:srgbClr val="B80010"/>
                </a:solidFill>
                <a:latin typeface="Arial" pitchFamily="34" charset="0"/>
                <a:ea typeface="Arial" pitchFamily="34" charset="-122"/>
                <a:cs typeface="Arial" pitchFamily="34" charset="-120"/>
                <a:hlinkClick r:id="rId2" action="ppaction://hlinksldjump" tooltip="">
                  <a:extLst>
                    <a:ext uri="{A12FA001-AC4F-418D-AE19-62706E023703}">
                      <ahyp:hlinkClr xmlns:ahyp="http://schemas.microsoft.com/office/drawing/2018/hyperlinkcolor" val="tx"/>
                    </a:ext>
                  </a:extLst>
                </a:hlinkClick>
              </a:rPr>
              <a:t>E07</a:t>
            </a:r>
            <a:pPr algn="l" indent="0" marL="0">
              <a:lnSpc>
                <a:spcPct val="128000"/>
              </a:lnSpc>
              <a:buNone/>
            </a:pPr>
            <a:r>
              <a:rPr lang="en-GB" altLang="en-US" sz="1380" dirty="0">
                <a:solidFill>
                  <a:srgbClr val="222222"/>
                </a:solidFill>
                <a:latin typeface="Arial" pitchFamily="34" charset="0"/>
                <a:ea typeface="Arial" pitchFamily="34" charset="-122"/>
                <a:cs typeface="Arial" pitchFamily="34" charset="-120"/>
              </a:rPr>
              <a:t>, </a:t>
            </a:r>
            <a:pPr algn="l" indent="0" marL="0">
              <a:lnSpc>
                <a:spcPct val="128000"/>
              </a:lnSpc>
              <a:buNone/>
            </a:pPr>
            <a:r>
              <a:rPr lang="en-GB" altLang="en-US" sz="1380" u="sng" dirty="0">
                <a:solidFill>
                  <a:srgbClr val="B80010"/>
                </a:solidFill>
                <a:latin typeface="Arial" pitchFamily="34" charset="0"/>
                <a:ea typeface="Arial" pitchFamily="34" charset="-122"/>
                <a:cs typeface="Arial" pitchFamily="34" charset="-120"/>
                <a:hlinkClick r:id="rId3" action="ppaction://hlinksldjump" tooltip="">
                  <a:extLst>
                    <a:ext uri="{A12FA001-AC4F-418D-AE19-62706E023703}">
                      <ahyp:hlinkClr xmlns:ahyp="http://schemas.microsoft.com/office/drawing/2018/hyperlinkcolor" val="tx"/>
                    </a:ext>
                  </a:extLst>
                </a:hlinkClick>
              </a:rPr>
              <a:t>E08</a:t>
            </a:r>
            <a:pPr algn="l" indent="0" marL="0">
              <a:lnSpc>
                <a:spcPct val="128000"/>
              </a:lnSpc>
              <a:buNone/>
            </a:pPr>
            <a:r>
              <a:rPr lang="en-GB" altLang="en-US" sz="1380" dirty="0">
                <a:solidFill>
                  <a:srgbClr val="222222"/>
                </a:solidFill>
                <a:latin typeface="Arial" pitchFamily="34" charset="0"/>
                <a:ea typeface="Arial" pitchFamily="34" charset="-122"/>
                <a:cs typeface="Arial" pitchFamily="34" charset="-120"/>
              </a:rPr>
              <a:t>, </a:t>
            </a:r>
            <a:pPr algn="l" indent="0" marL="0">
              <a:lnSpc>
                <a:spcPct val="128000"/>
              </a:lnSpc>
              <a:buNone/>
            </a:pPr>
            <a:r>
              <a:rPr lang="en-GB" altLang="en-US" sz="1380" u="sng" dirty="0">
                <a:solidFill>
                  <a:srgbClr val="B80010"/>
                </a:solidFill>
                <a:latin typeface="Arial" pitchFamily="34" charset="0"/>
                <a:ea typeface="Arial" pitchFamily="34" charset="-122"/>
                <a:cs typeface="Arial" pitchFamily="34" charset="-120"/>
                <a:hlinkClick r:id="rId4" action="ppaction://hlinksldjump" tooltip="">
                  <a:extLst>
                    <a:ext uri="{A12FA001-AC4F-418D-AE19-62706E023703}">
                      <ahyp:hlinkClr xmlns:ahyp="http://schemas.microsoft.com/office/drawing/2018/hyperlinkcolor" val="tx"/>
                    </a:ext>
                  </a:extLst>
                </a:hlinkClick>
              </a:rPr>
              <a:t>E11</a:t>
            </a:r>
            <a:pPr algn="l" indent="0" marL="0">
              <a:lnSpc>
                <a:spcPct val="128000"/>
              </a:lnSpc>
              <a:buNone/>
            </a:pPr>
            <a:r>
              <a:rPr lang="en-GB" altLang="en-US" sz="1380" dirty="0">
                <a:solidFill>
                  <a:srgbClr val="222222"/>
                </a:solidFill>
                <a:latin typeface="Arial" pitchFamily="34" charset="0"/>
                <a:ea typeface="Arial" pitchFamily="34" charset="-122"/>
                <a:cs typeface="Arial" pitchFamily="34" charset="-120"/>
              </a:rPr>
              <a:t>.</a:t>
            </a:r>
            <a:endParaRPr lang="en-GB" sz="1380" dirty="0"/>
          </a:p>
        </p:txBody>
      </p:sp>
      <p:sp>
        <p:nvSpPr>
          <p:cNvPr id="6" name="Text 1"/>
          <p:cNvSpPr/>
          <p:nvPr>
            <p:ph idx="102" type="body" hasCustomPrompt="1"/>
          </p:nvPr>
        </p:nvSpPr>
        <p:spPr>
          <a:xfrm>
            <a:off x="762000" y="2057400"/>
            <a:ext cx="10668000" cy="3886200"/>
          </a:xfrm>
          <a:prstGeom prst="rect">
            <a:avLst/>
          </a:prstGeom>
          <a:noFill/>
          <a:ln/>
        </p:spPr>
        <p:txBody>
          <a:bodyPr wrap="square" lIns="0" tIns="0" rIns="0" bIns="0" rtlCol="0" anchor="t"/>
          <a:lstStyle/>
          <a:p>
            <a:pPr indent="0" marL="0">
              <a:buNone/>
            </a:pPr>
            <a:endParaRPr lang="en-US" sz="168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1"/>
          <p:cNvSpPr/>
          <p:nvPr>
            <p:ph idx="101" type="title" hasCustomPrompt="1"/>
          </p:nvPr>
        </p:nvSpPr>
        <p:spPr>
          <a:xfrm>
            <a:off x="381000" y="891540"/>
            <a:ext cx="11430000" cy="487680"/>
          </a:xfrm>
          <a:prstGeom prst="rect">
            <a:avLst/>
          </a:prstGeom>
          <a:noFill/>
          <a:ln/>
        </p:spPr>
        <p:txBody>
          <a:bodyPr wrap="square" lIns="0" tIns="0" rIns="0" bIns="0" rtlCol="0" anchor="t"/>
          <a:lstStyle/>
          <a:p>
            <a:pPr algn="l" indent="0" marL="0">
              <a:buNone/>
            </a:pPr>
            <a:r>
              <a:rPr lang="en-GB" altLang="en-US" sz="2400" b="1" spc="-84" kern="0" dirty="0">
                <a:solidFill>
                  <a:srgbClr val="000000"/>
                </a:solidFill>
                <a:latin typeface="Arial" pitchFamily="34" charset="0"/>
                <a:ea typeface="Arial" pitchFamily="34" charset="-122"/>
                <a:cs typeface="Arial" pitchFamily="34" charset="-120"/>
              </a:rPr>
              <a:t>2. Summarise risks and decisions needed (cont.)</a:t>
            </a:r>
            <a:endParaRPr lang="en-GB" sz="2400" dirty="0"/>
          </a:p>
        </p:txBody>
      </p:sp>
      <p:sp>
        <p:nvSpPr>
          <p:cNvPr id="3" name="body-04-2-item-0"/>
          <p:cNvSpPr/>
          <p:nvPr/>
        </p:nvSpPr>
        <p:spPr>
          <a:xfrm>
            <a:off x="609600" y="1600200"/>
            <a:ext cx="10972800" cy="1706880"/>
          </a:xfrm>
          <a:prstGeom prst="rect">
            <a:avLst/>
          </a:prstGeom>
          <a:noFill/>
          <a:ln/>
        </p:spPr>
        <p:txBody>
          <a:bodyPr wrap="square" lIns="0" tIns="0" rIns="0" bIns="0" rtlCol="0" anchor="t"/>
          <a:lstStyle/>
          <a:p>
            <a:pPr algn="l" indent="0" marL="0">
              <a:lnSpc>
                <a:spcPct val="128000"/>
              </a:lnSpc>
              <a:buNone/>
            </a:pPr>
            <a:r>
              <a:rPr lang="en-GB" altLang="en-US" sz="1920" dirty="0">
                <a:solidFill>
                  <a:srgbClr val="222222"/>
                </a:solidFill>
                <a:latin typeface="Arial" pitchFamily="34" charset="0"/>
                <a:ea typeface="Arial" pitchFamily="34" charset="-122"/>
                <a:cs typeface="Arial" pitchFamily="34" charset="-120"/>
              </a:rPr>
              <a:t>This is a suitable first test for draft project briefings, with limits on interpretation. Contract expiry does not establish payment arrears, nor is contract value necessarily an amount to recover. Planned progress of 60% versus actual progress of 45% is a 15-percentage-point gap. Matters needing business judgement should be presented for confirmation. [C: </a:t>
            </a:r>
            <a:pPr algn="l" indent="0" marL="0">
              <a:lnSpc>
                <a:spcPct val="128000"/>
              </a:lnSpc>
              <a:buNone/>
            </a:pPr>
            <a:r>
              <a:rPr lang="en-GB" altLang="en-US" sz="1920" u="sng" dirty="0">
                <a:solidFill>
                  <a:srgbClr val="B80010"/>
                </a:solidFill>
                <a:latin typeface="Arial" pitchFamily="34" charset="0"/>
                <a:ea typeface="Arial" pitchFamily="34" charset="-122"/>
                <a:cs typeface="Arial" pitchFamily="34" charset="-120"/>
                <a:hlinkClick r:id="rId1" action="ppaction://hlinksldjump" tooltip="">
                  <a:extLst>
                    <a:ext uri="{A12FA001-AC4F-418D-AE19-62706E023703}">
                      <ahyp:hlinkClr xmlns:ahyp="http://schemas.microsoft.com/office/drawing/2018/hyperlinkcolor" val="tx"/>
                    </a:ext>
                  </a:extLst>
                </a:hlinkClick>
              </a:rPr>
              <a:t>E23</a:t>
            </a:r>
            <a:pPr algn="l" indent="0" marL="0">
              <a:lnSpc>
                <a:spcPct val="128000"/>
              </a:lnSpc>
              <a:buNone/>
            </a:pPr>
            <a:r>
              <a:rPr lang="en-GB" altLang="en-US" sz="1920" dirty="0">
                <a:solidFill>
                  <a:srgbClr val="222222"/>
                </a:solidFill>
                <a:latin typeface="Arial" pitchFamily="34" charset="0"/>
                <a:ea typeface="Arial" pitchFamily="34" charset="-122"/>
                <a:cs typeface="Arial" pitchFamily="34" charset="-120"/>
              </a:rPr>
              <a:t>]</a:t>
            </a:r>
            <a:endParaRPr lang="en-GB" sz="1920" dirty="0"/>
          </a:p>
        </p:txBody>
      </p:sp>
      <p:sp>
        <p:nvSpPr>
          <p:cNvPr id="5" name="Text 1"/>
          <p:cNvSpPr/>
          <p:nvPr>
            <p:ph idx="102" type="body" hasCustomPrompt="1"/>
          </p:nvPr>
        </p:nvSpPr>
        <p:spPr>
          <a:xfrm>
            <a:off x="762000" y="2057400"/>
            <a:ext cx="10668000" cy="3886200"/>
          </a:xfrm>
          <a:prstGeom prst="rect">
            <a:avLst/>
          </a:prstGeom>
          <a:noFill/>
          <a:ln/>
        </p:spPr>
        <p:txBody>
          <a:bodyPr wrap="square" lIns="0" tIns="0" rIns="0" bIns="0" rtlCol="0" anchor="t"/>
          <a:lstStyle/>
          <a:p>
            <a:pPr indent="0" marL="0">
              <a:buNone/>
            </a:pPr>
            <a:endParaRPr lang="en-US" sz="168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1"/>
          <p:cNvSpPr/>
          <p:nvPr>
            <p:ph idx="101" type="title" hasCustomPrompt="1"/>
          </p:nvPr>
        </p:nvSpPr>
        <p:spPr>
          <a:xfrm>
            <a:off x="381000" y="891540"/>
            <a:ext cx="11430000" cy="487680"/>
          </a:xfrm>
          <a:prstGeom prst="rect">
            <a:avLst/>
          </a:prstGeom>
          <a:noFill/>
          <a:ln/>
        </p:spPr>
        <p:txBody>
          <a:bodyPr wrap="square" lIns="0" tIns="0" rIns="0" bIns="0" rtlCol="0" anchor="t"/>
          <a:lstStyle/>
          <a:p>
            <a:pPr algn="l" indent="0" marL="0">
              <a:buNone/>
            </a:pPr>
            <a:r>
              <a:rPr lang="en-GB" altLang="en-US" sz="2400" b="1" spc="-84" kern="0" dirty="0">
                <a:solidFill>
                  <a:srgbClr val="000000"/>
                </a:solidFill>
                <a:latin typeface="Arial" pitchFamily="34" charset="0"/>
                <a:ea typeface="Arial" pitchFamily="34" charset="-122"/>
                <a:cs typeface="Arial" pitchFamily="34" charset="-120"/>
              </a:rPr>
              <a:t>3. Register instructions and notify</a:t>
            </a:r>
            <a:endParaRPr lang="en-GB" sz="2400" dirty="0"/>
          </a:p>
        </p:txBody>
      </p:sp>
      <p:sp>
        <p:nvSpPr>
          <p:cNvPr id="3" name="body-05-1-item-0"/>
          <p:cNvSpPr/>
          <p:nvPr/>
        </p:nvSpPr>
        <p:spPr>
          <a:xfrm>
            <a:off x="609600" y="1600200"/>
            <a:ext cx="10972800" cy="1706880"/>
          </a:xfrm>
          <a:prstGeom prst="rect">
            <a:avLst/>
          </a:prstGeom>
          <a:noFill/>
          <a:ln/>
        </p:spPr>
        <p:txBody>
          <a:bodyPr wrap="square" lIns="0" tIns="0" rIns="0" bIns="0" rtlCol="0" anchor="t"/>
          <a:lstStyle/>
          <a:p>
            <a:pPr algn="l" indent="0" marL="0">
              <a:lnSpc>
                <a:spcPct val="128000"/>
              </a:lnSpc>
              <a:buNone/>
            </a:pPr>
            <a:r>
              <a:rPr lang="en-GB" altLang="en-US" sz="1920" dirty="0">
                <a:solidFill>
                  <a:srgbClr val="222222"/>
                </a:solidFill>
                <a:latin typeface="Arial" pitchFamily="34" charset="0"/>
                <a:ea typeface="Arial" pitchFamily="34" charset="-122"/>
                <a:cs typeface="Arial" pitchFamily="34" charset="-120"/>
              </a:rPr>
              <a:t>The task was to turn 'submit a corrective plan within a week' into a trackable item. Records show the assistant created RT-001 with a project, requirement, deadline and 'project owner', then created a personal to-do, sent a correction notice and read the group message back. Compared with the proposed manual workflow, it generated multiple registrations and notification texts. [A/B: </a:t>
            </a:r>
            <a:pPr algn="l" indent="0" marL="0">
              <a:lnSpc>
                <a:spcPct val="128000"/>
              </a:lnSpc>
              <a:buNone/>
            </a:pPr>
            <a:r>
              <a:rPr lang="en-GB" altLang="en-US" sz="1920" u="sng" dirty="0">
                <a:solidFill>
                  <a:srgbClr val="B80010"/>
                </a:solidFill>
                <a:latin typeface="Arial" pitchFamily="34" charset="0"/>
                <a:ea typeface="Arial" pitchFamily="34" charset="-122"/>
                <a:cs typeface="Arial" pitchFamily="34" charset="-120"/>
                <a:hlinkClick r:id="rId1" action="ppaction://hlinksldjump" tooltip="">
                  <a:extLst>
                    <a:ext uri="{A12FA001-AC4F-418D-AE19-62706E023703}">
                      <ahyp:hlinkClr xmlns:ahyp="http://schemas.microsoft.com/office/drawing/2018/hyperlinkcolor" val="tx"/>
                    </a:ext>
                  </a:extLst>
                </a:hlinkClick>
              </a:rPr>
              <a:t>E07</a:t>
            </a:r>
            <a:pPr algn="l" indent="0" marL="0">
              <a:lnSpc>
                <a:spcPct val="128000"/>
              </a:lnSpc>
              <a:buNone/>
            </a:pPr>
            <a:r>
              <a:rPr lang="en-GB" altLang="en-US" sz="1920" dirty="0">
                <a:solidFill>
                  <a:srgbClr val="222222"/>
                </a:solidFill>
                <a:latin typeface="Arial" pitchFamily="34" charset="0"/>
                <a:ea typeface="Arial" pitchFamily="34" charset="-122"/>
                <a:cs typeface="Arial" pitchFamily="34" charset="-120"/>
              </a:rPr>
              <a:t>]</a:t>
            </a:r>
            <a:endParaRPr lang="en-GB" sz="1920" dirty="0"/>
          </a:p>
        </p:txBody>
      </p:sp>
      <p:sp>
        <p:nvSpPr>
          <p:cNvPr id="4" name="body-05-1-item-1"/>
          <p:cNvSpPr/>
          <p:nvPr/>
        </p:nvSpPr>
        <p:spPr>
          <a:xfrm>
            <a:off x="609600" y="3459480"/>
            <a:ext cx="10972800" cy="1706880"/>
          </a:xfrm>
          <a:prstGeom prst="rect">
            <a:avLst/>
          </a:prstGeom>
          <a:noFill/>
          <a:ln/>
        </p:spPr>
        <p:txBody>
          <a:bodyPr wrap="square" lIns="0" tIns="0" rIns="0" bIns="0" rtlCol="0" anchor="t"/>
          <a:lstStyle/>
          <a:p>
            <a:pPr algn="l" indent="0" marL="0">
              <a:lnSpc>
                <a:spcPct val="128000"/>
              </a:lnSpc>
              <a:buNone/>
            </a:pPr>
            <a:r>
              <a:rPr lang="en-GB" altLang="en-US" sz="1920" dirty="0">
                <a:solidFill>
                  <a:srgbClr val="222222"/>
                </a:solidFill>
                <a:latin typeface="Arial" pitchFamily="34" charset="0"/>
                <a:ea typeface="Arial" pitchFamily="34" charset="-122"/>
                <a:cs typeface="Arial" pitchFamily="34" charset="-120"/>
              </a:rPr>
              <a:t>This connects an instruction to work items, but does not demonstrate accountable follow-through. The owner remained a generic role and the to-do was assigned to the demonstrator. There is no record of another person accepting, executing, reporting on or closing it. A to-do with a deadline does not prove notification delivery. [A: </a:t>
            </a:r>
            <a:pPr algn="l" indent="0" marL="0">
              <a:lnSpc>
                <a:spcPct val="128000"/>
              </a:lnSpc>
              <a:buNone/>
            </a:pPr>
            <a:r>
              <a:rPr lang="en-GB" altLang="en-US" sz="1920" u="sng" dirty="0">
                <a:solidFill>
                  <a:srgbClr val="B80010"/>
                </a:solidFill>
                <a:latin typeface="Arial" pitchFamily="34" charset="0"/>
                <a:ea typeface="Arial" pitchFamily="34" charset="-122"/>
                <a:cs typeface="Arial" pitchFamily="34" charset="-120"/>
                <a:hlinkClick r:id="rId2" action="ppaction://hlinksldjump" tooltip="">
                  <a:extLst>
                    <a:ext uri="{A12FA001-AC4F-418D-AE19-62706E023703}">
                      <ahyp:hlinkClr xmlns:ahyp="http://schemas.microsoft.com/office/drawing/2018/hyperlinkcolor" val="tx"/>
                    </a:ext>
                  </a:extLst>
                </a:hlinkClick>
              </a:rPr>
              <a:t>E01</a:t>
            </a:r>
            <a:pPr algn="l" indent="0" marL="0">
              <a:lnSpc>
                <a:spcPct val="128000"/>
              </a:lnSpc>
              <a:buNone/>
            </a:pPr>
            <a:r>
              <a:rPr lang="en-GB" altLang="en-US" sz="1920" dirty="0">
                <a:solidFill>
                  <a:srgbClr val="222222"/>
                </a:solidFill>
                <a:latin typeface="Arial" pitchFamily="34" charset="0"/>
                <a:ea typeface="Arial" pitchFamily="34" charset="-122"/>
                <a:cs typeface="Arial" pitchFamily="34" charset="-120"/>
              </a:rPr>
              <a:t>, </a:t>
            </a:r>
            <a:pPr algn="l" indent="0" marL="0">
              <a:lnSpc>
                <a:spcPct val="128000"/>
              </a:lnSpc>
              <a:buNone/>
            </a:pPr>
            <a:r>
              <a:rPr lang="en-GB" altLang="en-US" sz="1920" u="sng" dirty="0">
                <a:solidFill>
                  <a:srgbClr val="B80010"/>
                </a:solidFill>
                <a:latin typeface="Arial" pitchFamily="34" charset="0"/>
                <a:ea typeface="Arial" pitchFamily="34" charset="-122"/>
                <a:cs typeface="Arial" pitchFamily="34" charset="-120"/>
                <a:hlinkClick r:id="rId3" action="ppaction://hlinksldjump" tooltip="">
                  <a:extLst>
                    <a:ext uri="{A12FA001-AC4F-418D-AE19-62706E023703}">
                      <ahyp:hlinkClr xmlns:ahyp="http://schemas.microsoft.com/office/drawing/2018/hyperlinkcolor" val="tx"/>
                    </a:ext>
                  </a:extLst>
                </a:hlinkClick>
              </a:rPr>
              <a:t>E08</a:t>
            </a:r>
            <a:pPr algn="l" indent="0" marL="0">
              <a:lnSpc>
                <a:spcPct val="128000"/>
              </a:lnSpc>
              <a:buNone/>
            </a:pPr>
            <a:r>
              <a:rPr lang="en-GB" altLang="en-US" sz="1920" dirty="0">
                <a:solidFill>
                  <a:srgbClr val="222222"/>
                </a:solidFill>
                <a:latin typeface="Arial" pitchFamily="34" charset="0"/>
                <a:ea typeface="Arial" pitchFamily="34" charset="-122"/>
                <a:cs typeface="Arial" pitchFamily="34" charset="-120"/>
              </a:rPr>
              <a:t>]</a:t>
            </a:r>
            <a:endParaRPr lang="en-GB" sz="1920" dirty="0"/>
          </a:p>
        </p:txBody>
      </p:sp>
      <p:sp>
        <p:nvSpPr>
          <p:cNvPr id="6" name="Text 1"/>
          <p:cNvSpPr/>
          <p:nvPr>
            <p:ph idx="102" type="body" hasCustomPrompt="1"/>
          </p:nvPr>
        </p:nvSpPr>
        <p:spPr>
          <a:xfrm>
            <a:off x="762000" y="2057400"/>
            <a:ext cx="10668000" cy="3886200"/>
          </a:xfrm>
          <a:prstGeom prst="rect">
            <a:avLst/>
          </a:prstGeom>
          <a:noFill/>
          <a:ln/>
        </p:spPr>
        <p:txBody>
          <a:bodyPr wrap="square" lIns="0" tIns="0" rIns="0" bIns="0" rtlCol="0" anchor="t"/>
          <a:lstStyle/>
          <a:p>
            <a:pPr indent="0" marL="0">
              <a:buNone/>
            </a:pPr>
            <a:endParaRPr lang="en-US" sz="168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1"/>
          <p:cNvSpPr/>
          <p:nvPr>
            <p:ph idx="101" type="title" hasCustomPrompt="1"/>
          </p:nvPr>
        </p:nvSpPr>
        <p:spPr>
          <a:xfrm>
            <a:off x="381000" y="891540"/>
            <a:ext cx="11430000" cy="487680"/>
          </a:xfrm>
          <a:prstGeom prst="rect">
            <a:avLst/>
          </a:prstGeom>
          <a:noFill/>
          <a:ln/>
        </p:spPr>
        <p:txBody>
          <a:bodyPr wrap="square" lIns="0" tIns="0" rIns="0" bIns="0" rtlCol="0" anchor="t"/>
          <a:lstStyle/>
          <a:p>
            <a:pPr algn="l" indent="0" marL="0">
              <a:buNone/>
            </a:pPr>
            <a:r>
              <a:rPr lang="en-GB" altLang="en-US" sz="2400" b="1" spc="-84" kern="0" dirty="0">
                <a:solidFill>
                  <a:srgbClr val="000000"/>
                </a:solidFill>
                <a:latin typeface="Arial" pitchFamily="34" charset="0"/>
                <a:ea typeface="Arial" pitchFamily="34" charset="-122"/>
                <a:cs typeface="Arial" pitchFamily="34" charset="-120"/>
              </a:rPr>
              <a:t>DingTalk to-dos: messages become follow-up items</a:t>
            </a:r>
            <a:endParaRPr lang="en-GB" sz="2400" dirty="0"/>
          </a:p>
        </p:txBody>
      </p:sp>
      <p:pic>
        <p:nvPicPr>
          <p:cNvPr id="3" name="operation-photo-ui-03-image" descr="Figure 5. Decision and corrective-plan follow-up to-dos. The screenshot supports their existence, not reminder delivery, acceptance by an owner or business closure. Relative dates must be interpreted with the capture date and original records; this is not a new effectiveness test.">    </p:cNvPr>
          <p:cNvPicPr>
            <a:picLocks noChangeAspect="1"/>
          </p:cNvPicPr>
          <p:nvPr/>
        </p:nvPicPr>
        <p:blipFill>
          <a:blip r:embed="rId1"/>
          <a:stretch>
            <a:fillRect/>
          </a:stretch>
        </p:blipFill>
        <p:spPr>
          <a:xfrm>
            <a:off x="609600" y="1600200"/>
            <a:ext cx="8590547" cy="2667000"/>
          </a:xfrm>
          <a:prstGeom prst="rect">
            <a:avLst/>
          </a:prstGeom>
        </p:spPr>
      </p:pic>
      <p:sp>
        <p:nvSpPr>
          <p:cNvPr id="4" name="operation-photo-ui-03-caption"/>
          <p:cNvSpPr/>
          <p:nvPr/>
        </p:nvSpPr>
        <p:spPr>
          <a:xfrm>
            <a:off x="609600" y="4495800"/>
            <a:ext cx="10972800" cy="1600200"/>
          </a:xfrm>
          <a:prstGeom prst="rect">
            <a:avLst/>
          </a:prstGeom>
          <a:noFill/>
          <a:ln/>
        </p:spPr>
        <p:txBody>
          <a:bodyPr wrap="square" lIns="0" tIns="0" rIns="0" bIns="0" rtlCol="0" anchor="t"/>
          <a:lstStyle/>
          <a:p>
            <a:pPr algn="l" indent="0" marL="0">
              <a:lnSpc>
                <a:spcPct val="128000"/>
              </a:lnSpc>
              <a:buNone/>
            </a:pPr>
            <a:r>
              <a:rPr lang="en-GB" altLang="en-US" sz="1380" b="1" dirty="0">
                <a:solidFill>
                  <a:srgbClr val="222222"/>
                </a:solidFill>
                <a:latin typeface="Arial" pitchFamily="34" charset="0"/>
                <a:ea typeface="Arial" pitchFamily="34" charset="-122"/>
                <a:cs typeface="Arial" pitchFamily="34" charset="-120"/>
              </a:rPr>
              <a:t>Figure 5. Decision and corrective-plan follow-up to-dos</a:t>
            </a:r>
            <a:endParaRPr lang="en-GB" sz="1380" dirty="0"/>
          </a:p>
          <a:p>
            <a:pPr algn="l" indent="0" marL="0">
              <a:lnSpc>
                <a:spcPct val="128000"/>
              </a:lnSpc>
              <a:buNone/>
            </a:pPr>
            <a:r>
              <a:rPr lang="en-GB" altLang="en-US" sz="1380" dirty="0">
                <a:solidFill>
                  <a:srgbClr val="222222"/>
                </a:solidFill>
                <a:latin typeface="Arial" pitchFamily="34" charset="0"/>
                <a:ea typeface="Arial" pitchFamily="34" charset="-122"/>
                <a:cs typeface="Arial" pitchFamily="34" charset="-120"/>
              </a:rPr>
              <a:t>Local DingTalk client, To-Dos list; captured on 15 October 2026.</a:t>
            </a:r>
            <a:endParaRPr lang="en-GB" sz="1380" dirty="0"/>
          </a:p>
          <a:p>
            <a:pPr algn="l" indent="0" marL="0">
              <a:lnSpc>
                <a:spcPct val="128000"/>
              </a:lnSpc>
              <a:buNone/>
            </a:pPr>
            <a:r>
              <a:rPr lang="en-GB" altLang="en-US" sz="1380" dirty="0">
                <a:solidFill>
                  <a:srgbClr val="222222"/>
                </a:solidFill>
                <a:latin typeface="Arial" pitchFamily="34" charset="0"/>
                <a:ea typeface="Arial" pitchFamily="34" charset="-122"/>
                <a:cs typeface="Arial" pitchFamily="34" charset="-120"/>
              </a:rPr>
              <a:t>Two practice to-dos, assignees and deadlines are visible. The decision item shows Sunday 9:00 AM and the corrective-plan follow-up Saturday 6:00 PM. Both still have a 'Complete' button.</a:t>
            </a:r>
            <a:endParaRPr lang="en-GB" sz="1380" dirty="0"/>
          </a:p>
          <a:p>
            <a:pPr algn="l" indent="0" marL="0">
              <a:lnSpc>
                <a:spcPct val="128000"/>
              </a:lnSpc>
              <a:buNone/>
            </a:pPr>
            <a:r>
              <a:rPr lang="en-GB" altLang="en-US" sz="1380" dirty="0">
                <a:solidFill>
                  <a:srgbClr val="222222"/>
                </a:solidFill>
                <a:latin typeface="Arial" pitchFamily="34" charset="0"/>
                <a:ea typeface="Arial" pitchFamily="34" charset="-122"/>
                <a:cs typeface="Arial" pitchFamily="34" charset="-120"/>
              </a:rPr>
              <a:t>The screenshot supports the existence of to-dos, not reminder delivery, owner acceptance or business closure. Interpret relative dates with the capture date and original records; this is not a new effectiveness test. References: </a:t>
            </a:r>
            <a:pPr algn="l" indent="0" marL="0">
              <a:lnSpc>
                <a:spcPct val="128000"/>
              </a:lnSpc>
              <a:buNone/>
            </a:pPr>
            <a:r>
              <a:rPr lang="en-GB" altLang="en-US" sz="1380" u="sng" dirty="0">
                <a:solidFill>
                  <a:srgbClr val="B80010"/>
                </a:solidFill>
                <a:latin typeface="Arial" pitchFamily="34" charset="0"/>
                <a:ea typeface="Arial" pitchFamily="34" charset="-122"/>
                <a:cs typeface="Arial" pitchFamily="34" charset="-120"/>
                <a:hlinkClick r:id="rId2" action="ppaction://hlinksldjump" tooltip="">
                  <a:extLst>
                    <a:ext uri="{A12FA001-AC4F-418D-AE19-62706E023703}">
                      <ahyp:hlinkClr xmlns:ahyp="http://schemas.microsoft.com/office/drawing/2018/hyperlinkcolor" val="tx"/>
                    </a:ext>
                  </a:extLst>
                </a:hlinkClick>
              </a:rPr>
              <a:t>E07</a:t>
            </a:r>
            <a:pPr algn="l" indent="0" marL="0">
              <a:lnSpc>
                <a:spcPct val="128000"/>
              </a:lnSpc>
              <a:buNone/>
            </a:pPr>
            <a:r>
              <a:rPr lang="en-GB" altLang="en-US" sz="1380" dirty="0">
                <a:solidFill>
                  <a:srgbClr val="222222"/>
                </a:solidFill>
                <a:latin typeface="Arial" pitchFamily="34" charset="0"/>
                <a:ea typeface="Arial" pitchFamily="34" charset="-122"/>
                <a:cs typeface="Arial" pitchFamily="34" charset="-120"/>
              </a:rPr>
              <a:t>, </a:t>
            </a:r>
            <a:pPr algn="l" indent="0" marL="0">
              <a:lnSpc>
                <a:spcPct val="128000"/>
              </a:lnSpc>
              <a:buNone/>
            </a:pPr>
            <a:r>
              <a:rPr lang="en-GB" altLang="en-US" sz="1380" u="sng" dirty="0">
                <a:solidFill>
                  <a:srgbClr val="B80010"/>
                </a:solidFill>
                <a:latin typeface="Arial" pitchFamily="34" charset="0"/>
                <a:ea typeface="Arial" pitchFamily="34" charset="-122"/>
                <a:cs typeface="Arial" pitchFamily="34" charset="-120"/>
                <a:hlinkClick r:id="rId3" action="ppaction://hlinksldjump" tooltip="">
                  <a:extLst>
                    <a:ext uri="{A12FA001-AC4F-418D-AE19-62706E023703}">
                      <ahyp:hlinkClr xmlns:ahyp="http://schemas.microsoft.com/office/drawing/2018/hyperlinkcolor" val="tx"/>
                    </a:ext>
                  </a:extLst>
                </a:hlinkClick>
              </a:rPr>
              <a:t>E08</a:t>
            </a:r>
            <a:pPr algn="l" indent="0" marL="0">
              <a:lnSpc>
                <a:spcPct val="128000"/>
              </a:lnSpc>
              <a:buNone/>
            </a:pPr>
            <a:r>
              <a:rPr lang="en-GB" altLang="en-US" sz="1380" dirty="0">
                <a:solidFill>
                  <a:srgbClr val="222222"/>
                </a:solidFill>
                <a:latin typeface="Arial" pitchFamily="34" charset="0"/>
                <a:ea typeface="Arial" pitchFamily="34" charset="-122"/>
                <a:cs typeface="Arial" pitchFamily="34" charset="-120"/>
              </a:rPr>
              <a:t>.</a:t>
            </a:r>
            <a:endParaRPr lang="en-GB" sz="1380" dirty="0"/>
          </a:p>
        </p:txBody>
      </p:sp>
      <p:sp>
        <p:nvSpPr>
          <p:cNvPr id="6" name="Text 1"/>
          <p:cNvSpPr/>
          <p:nvPr>
            <p:ph idx="102" type="body" hasCustomPrompt="1"/>
          </p:nvPr>
        </p:nvSpPr>
        <p:spPr>
          <a:xfrm>
            <a:off x="762000" y="2057400"/>
            <a:ext cx="10668000" cy="3886200"/>
          </a:xfrm>
          <a:prstGeom prst="rect">
            <a:avLst/>
          </a:prstGeom>
          <a:noFill/>
          <a:ln/>
        </p:spPr>
        <p:txBody>
          <a:bodyPr wrap="square" lIns="0" tIns="0" rIns="0" bIns="0" rtlCol="0" anchor="t"/>
          <a:lstStyle/>
          <a:p>
            <a:pPr indent="0" marL="0">
              <a:buNone/>
            </a:pPr>
            <a:endParaRPr lang="en-US" sz="168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1"/>
          <p:cNvSpPr/>
          <p:nvPr>
            <p:ph idx="101" type="title" hasCustomPrompt="1"/>
          </p:nvPr>
        </p:nvSpPr>
        <p:spPr>
          <a:xfrm>
            <a:off x="381000" y="891540"/>
            <a:ext cx="11430000" cy="487680"/>
          </a:xfrm>
          <a:prstGeom prst="rect">
            <a:avLst/>
          </a:prstGeom>
          <a:noFill/>
          <a:ln/>
        </p:spPr>
        <p:txBody>
          <a:bodyPr wrap="square" lIns="0" tIns="0" rIns="0" bIns="0" rtlCol="0" anchor="t"/>
          <a:lstStyle/>
          <a:p>
            <a:pPr algn="l" indent="0" marL="0">
              <a:buNone/>
            </a:pPr>
            <a:r>
              <a:rPr lang="en-GB" altLang="en-US" sz="2400" b="1" spc="-84" kern="0" dirty="0">
                <a:solidFill>
                  <a:srgbClr val="000000"/>
                </a:solidFill>
                <a:latin typeface="Arial" pitchFamily="34" charset="0"/>
                <a:ea typeface="Arial" pitchFamily="34" charset="-122"/>
                <a:cs typeface="Arial" pitchFamily="34" charset="-120"/>
              </a:rPr>
              <a:t>Risk tracking: the current list is empty</a:t>
            </a:r>
            <a:endParaRPr lang="en-GB" sz="2400" dirty="0"/>
          </a:p>
        </p:txBody>
      </p:sp>
      <p:pic>
        <p:nvPicPr>
          <p:cNvPr id="3" name="operation-photo-ui-05-image" descr="Figure 6. Risk-tracking page shows 'No risk-tracking items'. The current view on 15 October does not prove that RT-001 was deleted or explain the different reads on 10 October. Alongside the still-existing to-dos, it shows why each work object's status needs separate checks.">    </p:cNvPr>
          <p:cNvPicPr>
            <a:picLocks noChangeAspect="1"/>
          </p:cNvPicPr>
          <p:nvPr/>
        </p:nvPicPr>
        <p:blipFill>
          <a:blip r:embed="rId1"/>
          <a:stretch>
            <a:fillRect/>
          </a:stretch>
        </p:blipFill>
        <p:spPr>
          <a:xfrm>
            <a:off x="609600" y="1600200"/>
            <a:ext cx="10081260" cy="2667000"/>
          </a:xfrm>
          <a:prstGeom prst="rect">
            <a:avLst/>
          </a:prstGeom>
        </p:spPr>
      </p:pic>
      <p:sp>
        <p:nvSpPr>
          <p:cNvPr id="4" name="operation-photo-ui-05-caption"/>
          <p:cNvSpPr/>
          <p:nvPr/>
        </p:nvSpPr>
        <p:spPr>
          <a:xfrm>
            <a:off x="609600" y="4495800"/>
            <a:ext cx="10972800" cy="1600200"/>
          </a:xfrm>
          <a:prstGeom prst="rect">
            <a:avLst/>
          </a:prstGeom>
          <a:noFill/>
          <a:ln/>
        </p:spPr>
        <p:txBody>
          <a:bodyPr wrap="square" lIns="0" tIns="0" rIns="0" bIns="0" rtlCol="0" anchor="t"/>
          <a:lstStyle/>
          <a:p>
            <a:pPr algn="l" indent="0" marL="0">
              <a:lnSpc>
                <a:spcPct val="128000"/>
              </a:lnSpc>
              <a:buNone/>
            </a:pPr>
            <a:r>
              <a:rPr lang="en-GB" altLang="en-US" sz="1380" b="1" dirty="0">
                <a:solidFill>
                  <a:srgbClr val="222222"/>
                </a:solidFill>
                <a:latin typeface="Arial" pitchFamily="34" charset="0"/>
                <a:ea typeface="Arial" pitchFamily="34" charset="-122"/>
                <a:cs typeface="Arial" pitchFamily="34" charset="-120"/>
              </a:rPr>
              <a:t>Figure 6. Risk-tracking page shows 'No risk-tracking items'</a:t>
            </a:r>
            <a:endParaRPr lang="en-GB" sz="1380" dirty="0"/>
          </a:p>
          <a:p>
            <a:pPr algn="l" indent="0" marL="0">
              <a:lnSpc>
                <a:spcPct val="128000"/>
              </a:lnSpc>
              <a:buNone/>
            </a:pPr>
            <a:r>
              <a:rPr lang="en-GB" altLang="en-US" sz="1380" dirty="0">
                <a:solidFill>
                  <a:srgbClr val="222222"/>
                </a:solidFill>
                <a:latin typeface="Arial" pitchFamily="34" charset="0"/>
                <a:ea typeface="Arial" pitchFamily="34" charset="-122"/>
                <a:cs typeface="Arial" pitchFamily="34" charset="-120"/>
              </a:rPr>
              <a:t>Business demo system /demo30/risks; read-only capture on 15 October 2026.</a:t>
            </a:r>
            <a:endParaRPr lang="en-GB" sz="1380" dirty="0"/>
          </a:p>
          <a:p>
            <a:pPr algn="l" indent="0" marL="0">
              <a:lnSpc>
                <a:spcPct val="128000"/>
              </a:lnSpc>
              <a:buNone/>
            </a:pPr>
            <a:r>
              <a:rPr lang="en-GB" altLang="en-US" sz="1380" dirty="0">
                <a:solidFill>
                  <a:srgbClr val="222222"/>
                </a:solidFill>
                <a:latin typeface="Arial" pitchFamily="34" charset="0"/>
                <a:ea typeface="Arial" pitchFamily="34" charset="-122"/>
                <a:cs typeface="Arial" pitchFamily="34" charset="-120"/>
              </a:rPr>
              <a:t>The 'All' filter is selected. The page says 'No risk-tracking items'; RT-001 is not visible.</a:t>
            </a:r>
            <a:endParaRPr lang="en-GB" sz="1380" dirty="0"/>
          </a:p>
          <a:p>
            <a:pPr algn="l" indent="0" marL="0">
              <a:lnSpc>
                <a:spcPct val="128000"/>
              </a:lnSpc>
              <a:buNone/>
            </a:pPr>
            <a:r>
              <a:rPr lang="en-GB" altLang="en-US" sz="1380" dirty="0">
                <a:solidFill>
                  <a:srgbClr val="222222"/>
                </a:solidFill>
                <a:latin typeface="Arial" pitchFamily="34" charset="0"/>
                <a:ea typeface="Arial" pitchFamily="34" charset="-122"/>
                <a:cs typeface="Arial" pitchFamily="34" charset="-120"/>
              </a:rPr>
              <a:t>This current view on 15 October does not prove RT-001 was deleted or explain the two different reads on 10 October. Alongside the still-existing to-dos, it shows why each work object's status needs separate checks. References: </a:t>
            </a:r>
            <a:pPr algn="l" indent="0" marL="0">
              <a:lnSpc>
                <a:spcPct val="128000"/>
              </a:lnSpc>
              <a:buNone/>
            </a:pPr>
            <a:r>
              <a:rPr lang="en-GB" altLang="en-US" sz="1380" u="sng" dirty="0">
                <a:solidFill>
                  <a:srgbClr val="B80010"/>
                </a:solidFill>
                <a:latin typeface="Arial" pitchFamily="34" charset="0"/>
                <a:ea typeface="Arial" pitchFamily="34" charset="-122"/>
                <a:cs typeface="Arial" pitchFamily="34" charset="-120"/>
                <a:hlinkClick r:id="rId2" action="ppaction://hlinksldjump" tooltip="">
                  <a:extLst>
                    <a:ext uri="{A12FA001-AC4F-418D-AE19-62706E023703}">
                      <ahyp:hlinkClr xmlns:ahyp="http://schemas.microsoft.com/office/drawing/2018/hyperlinkcolor" val="tx"/>
                    </a:ext>
                  </a:extLst>
                </a:hlinkClick>
              </a:rPr>
              <a:t>E07</a:t>
            </a:r>
            <a:pPr algn="l" indent="0" marL="0">
              <a:lnSpc>
                <a:spcPct val="128000"/>
              </a:lnSpc>
              <a:buNone/>
            </a:pPr>
            <a:r>
              <a:rPr lang="en-GB" altLang="en-US" sz="1380" dirty="0">
                <a:solidFill>
                  <a:srgbClr val="222222"/>
                </a:solidFill>
                <a:latin typeface="Arial" pitchFamily="34" charset="0"/>
                <a:ea typeface="Arial" pitchFamily="34" charset="-122"/>
                <a:cs typeface="Arial" pitchFamily="34" charset="-120"/>
              </a:rPr>
              <a:t>, </a:t>
            </a:r>
            <a:pPr algn="l" indent="0" marL="0">
              <a:lnSpc>
                <a:spcPct val="128000"/>
              </a:lnSpc>
              <a:buNone/>
            </a:pPr>
            <a:r>
              <a:rPr lang="en-GB" altLang="en-US" sz="1380" u="sng" dirty="0">
                <a:solidFill>
                  <a:srgbClr val="B80010"/>
                </a:solidFill>
                <a:latin typeface="Arial" pitchFamily="34" charset="0"/>
                <a:ea typeface="Arial" pitchFamily="34" charset="-122"/>
                <a:cs typeface="Arial" pitchFamily="34" charset="-120"/>
                <a:hlinkClick r:id="rId3" action="ppaction://hlinksldjump" tooltip="">
                  <a:extLst>
                    <a:ext uri="{A12FA001-AC4F-418D-AE19-62706E023703}">
                      <ahyp:hlinkClr xmlns:ahyp="http://schemas.microsoft.com/office/drawing/2018/hyperlinkcolor" val="tx"/>
                    </a:ext>
                  </a:extLst>
                </a:hlinkClick>
              </a:rPr>
              <a:t>E09</a:t>
            </a:r>
            <a:pPr algn="l" indent="0" marL="0">
              <a:lnSpc>
                <a:spcPct val="128000"/>
              </a:lnSpc>
              <a:buNone/>
            </a:pPr>
            <a:r>
              <a:rPr lang="en-GB" altLang="en-US" sz="1380" dirty="0">
                <a:solidFill>
                  <a:srgbClr val="222222"/>
                </a:solidFill>
                <a:latin typeface="Arial" pitchFamily="34" charset="0"/>
                <a:ea typeface="Arial" pitchFamily="34" charset="-122"/>
                <a:cs typeface="Arial" pitchFamily="34" charset="-120"/>
              </a:rPr>
              <a:t>, </a:t>
            </a:r>
            <a:pPr algn="l" indent="0" marL="0">
              <a:lnSpc>
                <a:spcPct val="128000"/>
              </a:lnSpc>
              <a:buNone/>
            </a:pPr>
            <a:r>
              <a:rPr lang="en-GB" altLang="en-US" sz="1380" u="sng" dirty="0">
                <a:solidFill>
                  <a:srgbClr val="B80010"/>
                </a:solidFill>
                <a:latin typeface="Arial" pitchFamily="34" charset="0"/>
                <a:ea typeface="Arial" pitchFamily="34" charset="-122"/>
                <a:cs typeface="Arial" pitchFamily="34" charset="-120"/>
                <a:hlinkClick r:id="rId4" action="ppaction://hlinksldjump" tooltip="">
                  <a:extLst>
                    <a:ext uri="{A12FA001-AC4F-418D-AE19-62706E023703}">
                      <ahyp:hlinkClr xmlns:ahyp="http://schemas.microsoft.com/office/drawing/2018/hyperlinkcolor" val="tx"/>
                    </a:ext>
                  </a:extLst>
                </a:hlinkClick>
              </a:rPr>
              <a:t>E10</a:t>
            </a:r>
            <a:pPr algn="l" indent="0" marL="0">
              <a:lnSpc>
                <a:spcPct val="128000"/>
              </a:lnSpc>
              <a:buNone/>
            </a:pPr>
            <a:r>
              <a:rPr lang="en-GB" altLang="en-US" sz="1380" dirty="0">
                <a:solidFill>
                  <a:srgbClr val="222222"/>
                </a:solidFill>
                <a:latin typeface="Arial" pitchFamily="34" charset="0"/>
                <a:ea typeface="Arial" pitchFamily="34" charset="-122"/>
                <a:cs typeface="Arial" pitchFamily="34" charset="-120"/>
              </a:rPr>
              <a:t>.</a:t>
            </a:r>
            <a:endParaRPr lang="en-GB" sz="1380" dirty="0"/>
          </a:p>
        </p:txBody>
      </p:sp>
      <p:sp>
        <p:nvSpPr>
          <p:cNvPr id="6" name="Text 1"/>
          <p:cNvSpPr/>
          <p:nvPr>
            <p:ph idx="102" type="body" hasCustomPrompt="1"/>
          </p:nvPr>
        </p:nvSpPr>
        <p:spPr>
          <a:xfrm>
            <a:off x="762000" y="2057400"/>
            <a:ext cx="10668000" cy="3886200"/>
          </a:xfrm>
          <a:prstGeom prst="rect">
            <a:avLst/>
          </a:prstGeom>
          <a:noFill/>
          <a:ln/>
        </p:spPr>
        <p:txBody>
          <a:bodyPr wrap="square" lIns="0" tIns="0" rIns="0" bIns="0" rtlCol="0" anchor="t"/>
          <a:lstStyle/>
          <a:p>
            <a:pPr indent="0" marL="0">
              <a:buNone/>
            </a:pPr>
            <a:endParaRPr lang="en-US" sz="168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1"/>
          <p:cNvSpPr/>
          <p:nvPr>
            <p:ph idx="101" type="title" hasCustomPrompt="1"/>
          </p:nvPr>
        </p:nvSpPr>
        <p:spPr>
          <a:xfrm>
            <a:off x="381000" y="891540"/>
            <a:ext cx="11430000" cy="487680"/>
          </a:xfrm>
          <a:prstGeom prst="rect">
            <a:avLst/>
          </a:prstGeom>
          <a:noFill/>
          <a:ln/>
        </p:spPr>
        <p:txBody>
          <a:bodyPr wrap="square" lIns="0" tIns="0" rIns="0" bIns="0" rtlCol="0" anchor="t"/>
          <a:lstStyle/>
          <a:p>
            <a:pPr algn="l" indent="0" marL="0">
              <a:buNone/>
            </a:pPr>
            <a:r>
              <a:rPr lang="en-GB" altLang="en-US" sz="2400" b="1" spc="-84" kern="0" dirty="0">
                <a:solidFill>
                  <a:srgbClr val="000000"/>
                </a:solidFill>
                <a:latin typeface="Arial" pitchFamily="34" charset="0"/>
                <a:ea typeface="Arial" pitchFamily="34" charset="-122"/>
                <a:cs typeface="Arial" pitchFamily="34" charset="-120"/>
              </a:rPr>
              <a:t>3. Register instructions and notify (cont.)</a:t>
            </a:r>
            <a:endParaRPr lang="en-GB" sz="2400" dirty="0"/>
          </a:p>
        </p:txBody>
      </p:sp>
      <p:sp>
        <p:nvSpPr>
          <p:cNvPr id="3" name="body-05-2-item-0"/>
          <p:cNvSpPr/>
          <p:nvPr/>
        </p:nvSpPr>
        <p:spPr>
          <a:xfrm>
            <a:off x="609600" y="1600200"/>
            <a:ext cx="10972800" cy="2026920"/>
          </a:xfrm>
          <a:prstGeom prst="rect">
            <a:avLst/>
          </a:prstGeom>
          <a:noFill/>
          <a:ln/>
        </p:spPr>
        <p:txBody>
          <a:bodyPr wrap="square" lIns="0" tIns="0" rIns="0" bIns="0" rtlCol="0" anchor="t"/>
          <a:lstStyle/>
          <a:p>
            <a:pPr algn="l" indent="0" marL="0">
              <a:lnSpc>
                <a:spcPct val="128000"/>
              </a:lnSpc>
              <a:buNone/>
            </a:pPr>
            <a:r>
              <a:rPr lang="en-GB" altLang="en-US" sz="1920" dirty="0">
                <a:solidFill>
                  <a:srgbClr val="222222"/>
                </a:solidFill>
                <a:latin typeface="Arial" pitchFamily="34" charset="0"/>
                <a:ea typeface="Arial" pitchFamily="34" charset="-122"/>
                <a:cs typeface="Arial" pitchFamily="34" charset="-120"/>
              </a:rPr>
              <a:t>The main conversation read RT-001 at 16:02, but the inspection subtask returned an empty list at 16:11. The records do not establish whether this was caused by a different tenant or connection context, a data reset, persistence or something else. First test how records, to-dos and notifications for one item correspond in an isolated sandbox, then involve a real recipient. Successful sending alone is insufficient for acceptance. [A/C: </a:t>
            </a:r>
            <a:pPr algn="l" indent="0" marL="0">
              <a:lnSpc>
                <a:spcPct val="128000"/>
              </a:lnSpc>
              <a:buNone/>
            </a:pPr>
            <a:r>
              <a:rPr lang="en-GB" altLang="en-US" sz="1920" u="sng" dirty="0">
                <a:solidFill>
                  <a:srgbClr val="B80010"/>
                </a:solidFill>
                <a:latin typeface="Arial" pitchFamily="34" charset="0"/>
                <a:ea typeface="Arial" pitchFamily="34" charset="-122"/>
                <a:cs typeface="Arial" pitchFamily="34" charset="-120"/>
                <a:hlinkClick r:id="rId1" action="ppaction://hlinksldjump" tooltip="">
                  <a:extLst>
                    <a:ext uri="{A12FA001-AC4F-418D-AE19-62706E023703}">
                      <ahyp:hlinkClr xmlns:ahyp="http://schemas.microsoft.com/office/drawing/2018/hyperlinkcolor" val="tx"/>
                    </a:ext>
                  </a:extLst>
                </a:hlinkClick>
              </a:rPr>
              <a:t>E09</a:t>
            </a:r>
            <a:pPr algn="l" indent="0" marL="0">
              <a:lnSpc>
                <a:spcPct val="128000"/>
              </a:lnSpc>
              <a:buNone/>
            </a:pPr>
            <a:r>
              <a:rPr lang="en-GB" altLang="en-US" sz="1920" dirty="0">
                <a:solidFill>
                  <a:srgbClr val="222222"/>
                </a:solidFill>
                <a:latin typeface="Arial" pitchFamily="34" charset="0"/>
                <a:ea typeface="Arial" pitchFamily="34" charset="-122"/>
                <a:cs typeface="Arial" pitchFamily="34" charset="-120"/>
              </a:rPr>
              <a:t>]</a:t>
            </a:r>
            <a:endParaRPr lang="en-GB" sz="1920" dirty="0"/>
          </a:p>
        </p:txBody>
      </p:sp>
      <p:sp>
        <p:nvSpPr>
          <p:cNvPr id="5" name="Text 1"/>
          <p:cNvSpPr/>
          <p:nvPr>
            <p:ph idx="102" type="body" hasCustomPrompt="1"/>
          </p:nvPr>
        </p:nvSpPr>
        <p:spPr>
          <a:xfrm>
            <a:off x="762000" y="2057400"/>
            <a:ext cx="10668000" cy="3886200"/>
          </a:xfrm>
          <a:prstGeom prst="rect">
            <a:avLst/>
          </a:prstGeom>
          <a:noFill/>
          <a:ln/>
        </p:spPr>
        <p:txBody>
          <a:bodyPr wrap="square" lIns="0" tIns="0" rIns="0" bIns="0" rtlCol="0" anchor="t"/>
          <a:lstStyle/>
          <a:p>
            <a:pPr indent="0" marL="0">
              <a:buNone/>
            </a:pPr>
            <a:endParaRPr lang="en-US" sz="168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1"/>
          <p:cNvSpPr/>
          <p:nvPr>
            <p:ph idx="101" type="title" hasCustomPrompt="1"/>
          </p:nvPr>
        </p:nvSpPr>
        <p:spPr>
          <a:xfrm>
            <a:off x="381000" y="891540"/>
            <a:ext cx="11430000" cy="487680"/>
          </a:xfrm>
          <a:prstGeom prst="rect">
            <a:avLst/>
          </a:prstGeom>
          <a:noFill/>
          <a:ln/>
        </p:spPr>
        <p:txBody>
          <a:bodyPr wrap="square" lIns="0" tIns="0" rIns="0" bIns="0" rtlCol="0" anchor="t"/>
          <a:lstStyle/>
          <a:p>
            <a:pPr algn="l" indent="0" marL="0">
              <a:buNone/>
            </a:pPr>
            <a:r>
              <a:rPr lang="en-GB" altLang="en-US" sz="2400" b="1" spc="-84" kern="0" dirty="0">
                <a:solidFill>
                  <a:srgbClr val="000000"/>
                </a:solidFill>
                <a:latin typeface="Arial" pitchFamily="34" charset="0"/>
                <a:ea typeface="Arial" pitchFamily="34" charset="-122"/>
                <a:cs typeface="Arial" pitchFamily="34" charset="-120"/>
              </a:rPr>
              <a:t>4. Daily inspections and exception handling</a:t>
            </a:r>
            <a:endParaRPr lang="en-GB" sz="2400" dirty="0"/>
          </a:p>
        </p:txBody>
      </p:sp>
      <p:sp>
        <p:nvSpPr>
          <p:cNvPr id="3" name="body-06-1-item-0"/>
          <p:cNvSpPr/>
          <p:nvPr/>
        </p:nvSpPr>
        <p:spPr>
          <a:xfrm>
            <a:off x="609600" y="1600200"/>
            <a:ext cx="10972800" cy="2026920"/>
          </a:xfrm>
          <a:prstGeom prst="rect">
            <a:avLst/>
          </a:prstGeom>
          <a:noFill/>
          <a:ln/>
        </p:spPr>
        <p:txBody>
          <a:bodyPr wrap="square" lIns="0" tIns="0" rIns="0" bIns="0" rtlCol="0" anchor="t"/>
          <a:lstStyle/>
          <a:p>
            <a:pPr algn="l" indent="0" marL="0">
              <a:lnSpc>
                <a:spcPct val="128000"/>
              </a:lnSpc>
              <a:buNone/>
            </a:pPr>
            <a:r>
              <a:rPr lang="en-GB" altLang="en-US" sz="1920" dirty="0">
                <a:solidFill>
                  <a:srgbClr val="222222"/>
                </a:solidFill>
                <a:latin typeface="Arial" pitchFamily="34" charset="0"/>
                <a:ea typeface="Arial" pitchFamily="34" charset="-122"/>
                <a:cs typeface="Arial" pitchFamily="34" charset="-120"/>
              </a:rPr>
              <a:t>The task was to query risks repeatedly and notify only when action was needed. Qwen Office created a daily 09:00 task and immediately triggered one demonstration. Of four subsequent scheduled runs, 11 October logged too_late, 12 October sleep, and 13 and 14 October completion. The latter two group messages appeared at 09:11:57 and 09:11:38. Causes are described only to the extent supported by logs. [A: </a:t>
            </a:r>
            <a:pPr algn="l" indent="0" marL="0">
              <a:lnSpc>
                <a:spcPct val="128000"/>
              </a:lnSpc>
              <a:buNone/>
            </a:pPr>
            <a:r>
              <a:rPr lang="en-GB" altLang="en-US" sz="1920" u="sng" dirty="0">
                <a:solidFill>
                  <a:srgbClr val="B80010"/>
                </a:solidFill>
                <a:latin typeface="Arial" pitchFamily="34" charset="0"/>
                <a:ea typeface="Arial" pitchFamily="34" charset="-122"/>
                <a:cs typeface="Arial" pitchFamily="34" charset="-120"/>
                <a:hlinkClick r:id="rId1" action="ppaction://hlinksldjump" tooltip="">
                  <a:extLst>
                    <a:ext uri="{A12FA001-AC4F-418D-AE19-62706E023703}">
                      <ahyp:hlinkClr xmlns:ahyp="http://schemas.microsoft.com/office/drawing/2018/hyperlinkcolor" val="tx"/>
                    </a:ext>
                  </a:extLst>
                </a:hlinkClick>
              </a:rPr>
              <a:t>E15</a:t>
            </a:r>
            <a:pPr algn="l" indent="0" marL="0">
              <a:lnSpc>
                <a:spcPct val="128000"/>
              </a:lnSpc>
              <a:buNone/>
            </a:pPr>
            <a:r>
              <a:rPr lang="en-GB" altLang="en-US" sz="1920" dirty="0">
                <a:solidFill>
                  <a:srgbClr val="222222"/>
                </a:solidFill>
                <a:latin typeface="Arial" pitchFamily="34" charset="0"/>
                <a:ea typeface="Arial" pitchFamily="34" charset="-122"/>
                <a:cs typeface="Arial" pitchFamily="34" charset="-120"/>
              </a:rPr>
              <a:t>–</a:t>
            </a:r>
            <a:pPr algn="l" indent="0" marL="0">
              <a:lnSpc>
                <a:spcPct val="128000"/>
              </a:lnSpc>
              <a:buNone/>
            </a:pPr>
            <a:r>
              <a:rPr lang="en-GB" altLang="en-US" sz="1920" u="sng" dirty="0">
                <a:solidFill>
                  <a:srgbClr val="B80010"/>
                </a:solidFill>
                <a:latin typeface="Arial" pitchFamily="34" charset="0"/>
                <a:ea typeface="Arial" pitchFamily="34" charset="-122"/>
                <a:cs typeface="Arial" pitchFamily="34" charset="-120"/>
                <a:hlinkClick r:id="rId2" action="ppaction://hlinksldjump" tooltip="">
                  <a:extLst>
                    <a:ext uri="{A12FA001-AC4F-418D-AE19-62706E023703}">
                      <ahyp:hlinkClr xmlns:ahyp="http://schemas.microsoft.com/office/drawing/2018/hyperlinkcolor" val="tx"/>
                    </a:ext>
                  </a:extLst>
                </a:hlinkClick>
              </a:rPr>
              <a:t>E16</a:t>
            </a:r>
            <a:pPr algn="l" indent="0" marL="0">
              <a:lnSpc>
                <a:spcPct val="128000"/>
              </a:lnSpc>
              <a:buNone/>
            </a:pPr>
            <a:r>
              <a:rPr lang="en-GB" altLang="en-US" sz="1920" dirty="0">
                <a:solidFill>
                  <a:srgbClr val="222222"/>
                </a:solidFill>
                <a:latin typeface="Arial" pitchFamily="34" charset="0"/>
                <a:ea typeface="Arial" pitchFamily="34" charset="-122"/>
                <a:cs typeface="Arial" pitchFamily="34" charset="-120"/>
              </a:rPr>
              <a:t>]</a:t>
            </a:r>
            <a:endParaRPr lang="en-GB" sz="1920" dirty="0"/>
          </a:p>
        </p:txBody>
      </p:sp>
      <p:sp>
        <p:nvSpPr>
          <p:cNvPr id="4" name="body-06-1-item-1"/>
          <p:cNvSpPr/>
          <p:nvPr/>
        </p:nvSpPr>
        <p:spPr>
          <a:xfrm>
            <a:off x="609600" y="3779520"/>
            <a:ext cx="10972800" cy="2026920"/>
          </a:xfrm>
          <a:prstGeom prst="rect">
            <a:avLst/>
          </a:prstGeom>
          <a:noFill/>
          <a:ln/>
        </p:spPr>
        <p:txBody>
          <a:bodyPr wrap="square" lIns="0" tIns="0" rIns="0" bIns="0" rtlCol="0" anchor="t"/>
          <a:lstStyle/>
          <a:p>
            <a:pPr algn="l" indent="0" marL="0">
              <a:lnSpc>
                <a:spcPct val="128000"/>
              </a:lnSpc>
              <a:buNone/>
            </a:pPr>
            <a:r>
              <a:rPr lang="en-GB" altLang="en-US" sz="1920" dirty="0">
                <a:solidFill>
                  <a:srgbClr val="222222"/>
                </a:solidFill>
                <a:latin typeface="Arial" pitchFamily="34" charset="0"/>
                <a:ea typeface="Arial" pitchFamily="34" charset="-122"/>
                <a:cs typeface="Arial" pitchFamily="34" charset="-120"/>
              </a:rPr>
              <a:t>The earlier retrospective's failure explanation most needs correction. On 10 October the inspection API had already returned an empty tracking list, yet the assistant attributed this to 'exactly day seven being missed', changed the prompt and confirmed scheduling remained enabled. No successful retest under the same data-present conditions is recorded. </a:t>
            </a:r>
            <a:pPr algn="l" indent="0" marL="0">
              <a:lnSpc>
                <a:spcPct val="128000"/>
              </a:lnSpc>
              <a:buNone/>
            </a:pPr>
            <a:r>
              <a:rPr lang="en-GB" altLang="en-US" sz="1920" b="1" dirty="0">
                <a:solidFill>
                  <a:srgbClr val="222222"/>
                </a:solidFill>
                <a:latin typeface="Arial" pitchFamily="34" charset="0"/>
                <a:ea typeface="Arial" pitchFamily="34" charset="-122"/>
                <a:cs typeface="Arial" pitchFamily="34" charset="-120"/>
              </a:rPr>
              <a:t>An updated configuration and an enabled task do not prove that the business issue was fixed.</a:t>
            </a:r>
            <a:pPr algn="l" indent="0" marL="0">
              <a:lnSpc>
                <a:spcPct val="128000"/>
              </a:lnSpc>
              <a:buNone/>
            </a:pPr>
            <a:r>
              <a:rPr lang="en-GB" altLang="en-US" sz="1920" dirty="0">
                <a:solidFill>
                  <a:srgbClr val="222222"/>
                </a:solidFill>
                <a:latin typeface="Arial" pitchFamily="34" charset="0"/>
                <a:ea typeface="Arial" pitchFamily="34" charset="-122"/>
                <a:cs typeface="Arial" pitchFamily="34" charset="-120"/>
              </a:rPr>
              <a:t> [A/C: </a:t>
            </a:r>
            <a:pPr algn="l" indent="0" marL="0">
              <a:lnSpc>
                <a:spcPct val="128000"/>
              </a:lnSpc>
              <a:buNone/>
            </a:pPr>
            <a:r>
              <a:rPr lang="en-GB" altLang="en-US" sz="1920" u="sng" dirty="0">
                <a:solidFill>
                  <a:srgbClr val="B80010"/>
                </a:solidFill>
                <a:latin typeface="Arial" pitchFamily="34" charset="0"/>
                <a:ea typeface="Arial" pitchFamily="34" charset="-122"/>
                <a:cs typeface="Arial" pitchFamily="34" charset="-120"/>
                <a:hlinkClick r:id="rId3" action="ppaction://hlinksldjump" tooltip="">
                  <a:extLst>
                    <a:ext uri="{A12FA001-AC4F-418D-AE19-62706E023703}">
                      <ahyp:hlinkClr xmlns:ahyp="http://schemas.microsoft.com/office/drawing/2018/hyperlinkcolor" val="tx"/>
                    </a:ext>
                  </a:extLst>
                </a:hlinkClick>
              </a:rPr>
              <a:t>E09</a:t>
            </a:r>
            <a:pPr algn="l" indent="0" marL="0">
              <a:lnSpc>
                <a:spcPct val="128000"/>
              </a:lnSpc>
              <a:buNone/>
            </a:pPr>
            <a:r>
              <a:rPr lang="en-GB" altLang="en-US" sz="1920" dirty="0">
                <a:solidFill>
                  <a:srgbClr val="222222"/>
                </a:solidFill>
                <a:latin typeface="Arial" pitchFamily="34" charset="0"/>
                <a:ea typeface="Arial" pitchFamily="34" charset="-122"/>
                <a:cs typeface="Arial" pitchFamily="34" charset="-120"/>
              </a:rPr>
              <a:t>–</a:t>
            </a:r>
            <a:pPr algn="l" indent="0" marL="0">
              <a:lnSpc>
                <a:spcPct val="128000"/>
              </a:lnSpc>
              <a:buNone/>
            </a:pPr>
            <a:r>
              <a:rPr lang="en-GB" altLang="en-US" sz="1920" u="sng" dirty="0">
                <a:solidFill>
                  <a:srgbClr val="B80010"/>
                </a:solidFill>
                <a:latin typeface="Arial" pitchFamily="34" charset="0"/>
                <a:ea typeface="Arial" pitchFamily="34" charset="-122"/>
                <a:cs typeface="Arial" pitchFamily="34" charset="-120"/>
                <a:hlinkClick r:id="rId4" action="ppaction://hlinksldjump" tooltip="">
                  <a:extLst>
                    <a:ext uri="{A12FA001-AC4F-418D-AE19-62706E023703}">
                      <ahyp:hlinkClr xmlns:ahyp="http://schemas.microsoft.com/office/drawing/2018/hyperlinkcolor" val="tx"/>
                    </a:ext>
                  </a:extLst>
                </a:hlinkClick>
              </a:rPr>
              <a:t>E10</a:t>
            </a:r>
            <a:pPr algn="l" indent="0" marL="0">
              <a:lnSpc>
                <a:spcPct val="128000"/>
              </a:lnSpc>
              <a:buNone/>
            </a:pPr>
            <a:r>
              <a:rPr lang="en-GB" altLang="en-US" sz="1920" dirty="0">
                <a:solidFill>
                  <a:srgbClr val="222222"/>
                </a:solidFill>
                <a:latin typeface="Arial" pitchFamily="34" charset="0"/>
                <a:ea typeface="Arial" pitchFamily="34" charset="-122"/>
                <a:cs typeface="Arial" pitchFamily="34" charset="-120"/>
              </a:rPr>
              <a:t>]</a:t>
            </a:r>
            <a:endParaRPr lang="en-GB" sz="1920" dirty="0"/>
          </a:p>
        </p:txBody>
      </p:sp>
      <p:sp>
        <p:nvSpPr>
          <p:cNvPr id="6" name="Text 1"/>
          <p:cNvSpPr/>
          <p:nvPr>
            <p:ph idx="102" type="body" hasCustomPrompt="1"/>
          </p:nvPr>
        </p:nvSpPr>
        <p:spPr>
          <a:xfrm>
            <a:off x="762000" y="2057400"/>
            <a:ext cx="10668000" cy="3886200"/>
          </a:xfrm>
          <a:prstGeom prst="rect">
            <a:avLst/>
          </a:prstGeom>
          <a:noFill/>
          <a:ln/>
        </p:spPr>
        <p:txBody>
          <a:bodyPr wrap="square" lIns="0" tIns="0" rIns="0" bIns="0" rtlCol="0" anchor="t"/>
          <a:lstStyle/>
          <a:p>
            <a:pPr indent="0" marL="0">
              <a:buNone/>
            </a:pPr>
            <a:endParaRPr lang="en-US" sz="168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1"/>
          <p:cNvSpPr/>
          <p:nvPr>
            <p:ph idx="101" type="title" hasCustomPrompt="1"/>
          </p:nvPr>
        </p:nvSpPr>
        <p:spPr>
          <a:xfrm>
            <a:off x="381000" y="891540"/>
            <a:ext cx="11430000" cy="487680"/>
          </a:xfrm>
          <a:prstGeom prst="rect">
            <a:avLst/>
          </a:prstGeom>
          <a:noFill/>
          <a:ln/>
        </p:spPr>
        <p:txBody>
          <a:bodyPr wrap="square" lIns="0" tIns="0" rIns="0" bIns="0" rtlCol="0" anchor="t"/>
          <a:lstStyle/>
          <a:p>
            <a:pPr algn="l" indent="0" marL="0">
              <a:buNone/>
            </a:pPr>
            <a:r>
              <a:rPr lang="en-GB" altLang="en-US" sz="2400" b="1" spc="-84" kern="0" dirty="0">
                <a:solidFill>
                  <a:srgbClr val="000000"/>
                </a:solidFill>
                <a:latin typeface="Arial" pitchFamily="34" charset="0"/>
                <a:ea typeface="Arial" pitchFamily="34" charset="-122"/>
                <a:cs typeface="Arial" pitchFamily="34" charset="-120"/>
              </a:rPr>
              <a:t>4. Daily inspections and exception handling (cont.)</a:t>
            </a:r>
            <a:endParaRPr lang="en-GB" sz="2400" dirty="0"/>
          </a:p>
        </p:txBody>
      </p:sp>
      <p:sp>
        <p:nvSpPr>
          <p:cNvPr id="3" name="body-06-2-item-0"/>
          <p:cNvSpPr/>
          <p:nvPr/>
        </p:nvSpPr>
        <p:spPr>
          <a:xfrm>
            <a:off x="609600" y="1600200"/>
            <a:ext cx="10972800" cy="2026920"/>
          </a:xfrm>
          <a:prstGeom prst="rect">
            <a:avLst/>
          </a:prstGeom>
          <a:noFill/>
          <a:ln/>
        </p:spPr>
        <p:txBody>
          <a:bodyPr wrap="square" lIns="0" tIns="0" rIns="0" bIns="0" rtlCol="0" anchor="t"/>
          <a:lstStyle/>
          <a:p>
            <a:pPr algn="l" indent="0" marL="0">
              <a:lnSpc>
                <a:spcPct val="128000"/>
              </a:lnSpc>
              <a:buNone/>
            </a:pPr>
            <a:r>
              <a:rPr lang="en-GB" altLang="en-US" sz="1920" dirty="0">
                <a:solidFill>
                  <a:srgbClr val="222222"/>
                </a:solidFill>
                <a:latin typeface="Arial" pitchFamily="34" charset="0"/>
                <a:ea typeface="Arial" pitchFamily="34" charset="-122"/>
                <a:cs typeface="Arial" pitchFamily="34" charset="-120"/>
              </a:rPr>
              <a:t>These inspections merit further evaluation, but should not yet be the sole protection for critical deadlines. No group message may mean no risk or no execution. Validate business notifications, operational health, delay, failure alerts and human takeover separately. Only this group and available logs were checked; this does not establish that the platform lacks other alert channels. [C/D: </a:t>
            </a:r>
            <a:pPr algn="l" indent="0" marL="0">
              <a:lnSpc>
                <a:spcPct val="128000"/>
              </a:lnSpc>
              <a:buNone/>
            </a:pPr>
            <a:r>
              <a:rPr lang="en-GB" altLang="en-US" sz="1920" u="sng" dirty="0">
                <a:solidFill>
                  <a:srgbClr val="B80010"/>
                </a:solidFill>
                <a:latin typeface="Arial" pitchFamily="34" charset="0"/>
                <a:ea typeface="Arial" pitchFamily="34" charset="-122"/>
                <a:cs typeface="Arial" pitchFamily="34" charset="-120"/>
                <a:hlinkClick r:id="rId1" action="ppaction://hlinksldjump" tooltip="">
                  <a:extLst>
                    <a:ext uri="{A12FA001-AC4F-418D-AE19-62706E023703}">
                      <ahyp:hlinkClr xmlns:ahyp="http://schemas.microsoft.com/office/drawing/2018/hyperlinkcolor" val="tx"/>
                    </a:ext>
                  </a:extLst>
                </a:hlinkClick>
              </a:rPr>
              <a:t>E17</a:t>
            </a:r>
            <a:pPr algn="l" indent="0" marL="0">
              <a:lnSpc>
                <a:spcPct val="128000"/>
              </a:lnSpc>
              <a:buNone/>
            </a:pPr>
            <a:r>
              <a:rPr lang="en-GB" altLang="en-US" sz="1920" dirty="0">
                <a:solidFill>
                  <a:srgbClr val="222222"/>
                </a:solidFill>
                <a:latin typeface="Arial" pitchFamily="34" charset="0"/>
                <a:ea typeface="Arial" pitchFamily="34" charset="-122"/>
                <a:cs typeface="Arial" pitchFamily="34" charset="-120"/>
              </a:rPr>
              <a:t>]</a:t>
            </a:r>
            <a:endParaRPr lang="en-GB" sz="1920" dirty="0"/>
          </a:p>
        </p:txBody>
      </p:sp>
      <p:sp>
        <p:nvSpPr>
          <p:cNvPr id="5" name="Text 1"/>
          <p:cNvSpPr/>
          <p:nvPr>
            <p:ph idx="102" type="body" hasCustomPrompt="1"/>
          </p:nvPr>
        </p:nvSpPr>
        <p:spPr>
          <a:xfrm>
            <a:off x="762000" y="2057400"/>
            <a:ext cx="10668000" cy="3886200"/>
          </a:xfrm>
          <a:prstGeom prst="rect">
            <a:avLst/>
          </a:prstGeom>
          <a:noFill/>
          <a:ln/>
        </p:spPr>
        <p:txBody>
          <a:bodyPr wrap="square" lIns="0" tIns="0" rIns="0" bIns="0" rtlCol="0" anchor="t"/>
          <a:lstStyle/>
          <a:p>
            <a:pPr indent="0" marL="0">
              <a:buNone/>
            </a:pPr>
            <a:endParaRPr lang="en-US" sz="168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1"/>
          <p:cNvSpPr/>
          <p:nvPr>
            <p:ph idx="101" type="title" hasCustomPrompt="1"/>
          </p:nvPr>
        </p:nvSpPr>
        <p:spPr>
          <a:xfrm>
            <a:off x="381000" y="891540"/>
            <a:ext cx="11430000" cy="487680"/>
          </a:xfrm>
          <a:prstGeom prst="rect">
            <a:avLst/>
          </a:prstGeom>
          <a:noFill/>
          <a:ln/>
        </p:spPr>
        <p:txBody>
          <a:bodyPr wrap="square" lIns="0" tIns="0" rIns="0" bIns="0" rtlCol="0" anchor="t"/>
          <a:lstStyle/>
          <a:p>
            <a:pPr algn="l" indent="0" marL="0">
              <a:buNone/>
            </a:pPr>
            <a:r>
              <a:rPr lang="en-GB" altLang="en-US" sz="2400" b="1" spc="-84" kern="0" dirty="0">
                <a:solidFill>
                  <a:srgbClr val="000000"/>
                </a:solidFill>
                <a:latin typeface="Arial" pitchFamily="34" charset="0"/>
                <a:ea typeface="Arial" pitchFamily="34" charset="-122"/>
                <a:cs typeface="Arial" pitchFamily="34" charset="-120"/>
              </a:rPr>
              <a:t>Actual records of four scheduled inspections</a:t>
            </a:r>
            <a:endParaRPr lang="en-GB" sz="2400" dirty="0"/>
          </a:p>
        </p:txBody>
      </p:sp>
      <p:sp>
        <p:nvSpPr>
          <p:cNvPr id="3" name="patrol-records-card-0"/>
          <p:cNvSpPr/>
          <p:nvPr/>
        </p:nvSpPr>
        <p:spPr>
          <a:xfrm>
            <a:off x="609600" y="1600200"/>
            <a:ext cx="5334000" cy="1828800"/>
          </a:xfrm>
          <a:prstGeom prst="rect">
            <a:avLst/>
          </a:prstGeom>
          <a:solidFill>
            <a:srgbClr val="F4F4F4"/>
          </a:solidFill>
          <a:ln w="12700">
            <a:solidFill>
              <a:srgbClr val="F4F4F4"/>
            </a:solidFill>
            <a:prstDash val="solid"/>
          </a:ln>
        </p:spPr>
      </p:sp>
      <p:sp>
        <p:nvSpPr>
          <p:cNvPr id="4" name="Text 2"/>
          <p:cNvSpPr/>
          <p:nvPr/>
        </p:nvSpPr>
        <p:spPr>
          <a:xfrm>
            <a:off x="609600" y="1600200"/>
            <a:ext cx="5334000" cy="1828800"/>
          </a:xfrm>
          <a:prstGeom prst="rect">
            <a:avLst/>
          </a:prstGeom>
          <a:noFill/>
          <a:ln/>
        </p:spPr>
        <p:txBody>
          <a:bodyPr wrap="square" lIns="63500" tIns="63500" rIns="63500" bIns="63500" rtlCol="0" anchor="ctr"/>
          <a:lstStyle/>
          <a:p>
            <a:pPr algn="l" indent="0" marL="0">
              <a:lnSpc>
                <a:spcPct val="128000"/>
              </a:lnSpc>
              <a:buNone/>
            </a:pPr>
            <a:r>
              <a:rPr lang="en-GB" altLang="en-US" sz="1680" dirty="0">
                <a:solidFill>
                  <a:srgbClr val="222222"/>
                </a:solidFill>
                <a:latin typeface="Arial" pitchFamily="34" charset="0"/>
                <a:ea typeface="Arial" pitchFamily="34" charset="-122"/>
                <a:cs typeface="Arial" pitchFamily="34" charset="-120"/>
              </a:rPr>
              <a:t>11 October · Execution error</a:t>
            </a:r>
            <a:endParaRPr lang="en-GB" sz="1680" dirty="0"/>
          </a:p>
          <a:p>
            <a:pPr algn="l" indent="0" marL="0">
              <a:lnSpc>
                <a:spcPct val="128000"/>
              </a:lnSpc>
              <a:buNone/>
            </a:pPr>
            <a:endParaRPr lang="en-GB" sz="1680" dirty="0"/>
          </a:p>
          <a:p>
            <a:pPr algn="l" indent="0" marL="0">
              <a:lnSpc>
                <a:spcPct val="128000"/>
              </a:lnSpc>
              <a:buNone/>
            </a:pPr>
            <a:r>
              <a:rPr lang="en-GB" altLang="en-US" sz="1680" dirty="0">
                <a:solidFill>
                  <a:srgbClr val="222222"/>
                </a:solidFill>
                <a:latin typeface="Arial" pitchFamily="34" charset="0"/>
                <a:ea typeface="Arial" pitchFamily="34" charset="-122"/>
                <a:cs typeface="Arial" pitchFamily="34" charset="-120"/>
              </a:rPr>
              <a:t>Log: too_late</a:t>
            </a:r>
            <a:endParaRPr lang="en-GB" sz="1680" dirty="0"/>
          </a:p>
          <a:p>
            <a:pPr algn="l" indent="0" marL="0">
              <a:lnSpc>
                <a:spcPct val="128000"/>
              </a:lnSpc>
              <a:buNone/>
            </a:pPr>
            <a:r>
              <a:rPr lang="en-GB" altLang="en-US" sz="1680" dirty="0">
                <a:solidFill>
                  <a:srgbClr val="222222"/>
                </a:solidFill>
                <a:latin typeface="Arial" pitchFamily="34" charset="0"/>
                <a:ea typeface="Arial" pitchFamily="34" charset="-122"/>
                <a:cs typeface="Arial" pitchFamily="34" charset="-120"/>
              </a:rPr>
              <a:t>This does not establish that the device was offline</a:t>
            </a:r>
            <a:endParaRPr lang="en-GB" sz="1680" dirty="0"/>
          </a:p>
        </p:txBody>
      </p:sp>
      <p:sp>
        <p:nvSpPr>
          <p:cNvPr id="5" name="patrol-records-card-1"/>
          <p:cNvSpPr/>
          <p:nvPr/>
        </p:nvSpPr>
        <p:spPr>
          <a:xfrm>
            <a:off x="6248400" y="1600200"/>
            <a:ext cx="5334000" cy="1828800"/>
          </a:xfrm>
          <a:prstGeom prst="rect">
            <a:avLst/>
          </a:prstGeom>
          <a:solidFill>
            <a:srgbClr val="F4F4F4"/>
          </a:solidFill>
          <a:ln w="12700">
            <a:solidFill>
              <a:srgbClr val="F4F4F4"/>
            </a:solidFill>
            <a:prstDash val="solid"/>
          </a:ln>
        </p:spPr>
      </p:sp>
      <p:sp>
        <p:nvSpPr>
          <p:cNvPr id="6" name="Text 4"/>
          <p:cNvSpPr/>
          <p:nvPr/>
        </p:nvSpPr>
        <p:spPr>
          <a:xfrm>
            <a:off x="6248400" y="1600200"/>
            <a:ext cx="5334000" cy="1828800"/>
          </a:xfrm>
          <a:prstGeom prst="rect">
            <a:avLst/>
          </a:prstGeom>
          <a:noFill/>
          <a:ln/>
        </p:spPr>
        <p:txBody>
          <a:bodyPr wrap="square" lIns="63500" tIns="63500" rIns="63500" bIns="63500" rtlCol="0" anchor="ctr"/>
          <a:lstStyle/>
          <a:p>
            <a:pPr algn="l" indent="0" marL="0">
              <a:lnSpc>
                <a:spcPct val="128000"/>
              </a:lnSpc>
              <a:buNone/>
            </a:pPr>
            <a:r>
              <a:rPr lang="en-GB" altLang="en-US" sz="1680" dirty="0">
                <a:solidFill>
                  <a:srgbClr val="222222"/>
                </a:solidFill>
                <a:latin typeface="Arial" pitchFamily="34" charset="0"/>
                <a:ea typeface="Arial" pitchFamily="34" charset="-122"/>
                <a:cs typeface="Arial" pitchFamily="34" charset="-120"/>
              </a:rPr>
              <a:t>12 October · Execution error</a:t>
            </a:r>
            <a:endParaRPr lang="en-GB" sz="1680" dirty="0"/>
          </a:p>
          <a:p>
            <a:pPr algn="l" indent="0" marL="0">
              <a:lnSpc>
                <a:spcPct val="128000"/>
              </a:lnSpc>
              <a:buNone/>
            </a:pPr>
            <a:endParaRPr lang="en-GB" sz="1680" dirty="0"/>
          </a:p>
          <a:p>
            <a:pPr algn="l" indent="0" marL="0">
              <a:lnSpc>
                <a:spcPct val="128000"/>
              </a:lnSpc>
              <a:buNone/>
            </a:pPr>
            <a:r>
              <a:rPr lang="en-GB" altLang="en-US" sz="1680" dirty="0">
                <a:solidFill>
                  <a:srgbClr val="222222"/>
                </a:solidFill>
                <a:latin typeface="Arial" pitchFamily="34" charset="0"/>
                <a:ea typeface="Arial" pitchFamily="34" charset="-122"/>
                <a:cs typeface="Arial" pitchFamily="34" charset="-120"/>
              </a:rPr>
              <a:t>Log: sleep</a:t>
            </a:r>
            <a:endParaRPr lang="en-GB" sz="1680" dirty="0"/>
          </a:p>
          <a:p>
            <a:pPr algn="l" indent="0" marL="0">
              <a:lnSpc>
                <a:spcPct val="128000"/>
              </a:lnSpc>
              <a:buNone/>
            </a:pPr>
            <a:r>
              <a:rPr lang="en-GB" altLang="en-US" sz="1680" dirty="0">
                <a:solidFill>
                  <a:srgbClr val="222222"/>
                </a:solidFill>
                <a:latin typeface="Arial" pitchFamily="34" charset="0"/>
                <a:ea typeface="Arial" pitchFamily="34" charset="-122"/>
                <a:cs typeface="Arial" pitchFamily="34" charset="-120"/>
              </a:rPr>
              <a:t>Recovery and other alert channels remain to be checked</a:t>
            </a:r>
            <a:endParaRPr lang="en-GB" sz="1680" dirty="0"/>
          </a:p>
        </p:txBody>
      </p:sp>
      <p:sp>
        <p:nvSpPr>
          <p:cNvPr id="7" name="patrol-records-card-2"/>
          <p:cNvSpPr/>
          <p:nvPr/>
        </p:nvSpPr>
        <p:spPr>
          <a:xfrm>
            <a:off x="609600" y="3543300"/>
            <a:ext cx="5334000" cy="1828800"/>
          </a:xfrm>
          <a:prstGeom prst="rect">
            <a:avLst/>
          </a:prstGeom>
          <a:solidFill>
            <a:srgbClr val="F4F4F4"/>
          </a:solidFill>
          <a:ln w="12700">
            <a:solidFill>
              <a:srgbClr val="F4F4F4"/>
            </a:solidFill>
            <a:prstDash val="solid"/>
          </a:ln>
        </p:spPr>
      </p:sp>
      <p:sp>
        <p:nvSpPr>
          <p:cNvPr id="8" name="Text 6"/>
          <p:cNvSpPr/>
          <p:nvPr/>
        </p:nvSpPr>
        <p:spPr>
          <a:xfrm>
            <a:off x="609600" y="3543300"/>
            <a:ext cx="5334000" cy="1828800"/>
          </a:xfrm>
          <a:prstGeom prst="rect">
            <a:avLst/>
          </a:prstGeom>
          <a:noFill/>
          <a:ln/>
        </p:spPr>
        <p:txBody>
          <a:bodyPr wrap="square" lIns="63500" tIns="63500" rIns="63500" bIns="63500" rtlCol="0" anchor="ctr"/>
          <a:lstStyle/>
          <a:p>
            <a:pPr algn="l" indent="0" marL="0">
              <a:lnSpc>
                <a:spcPct val="128000"/>
              </a:lnSpc>
              <a:buNone/>
            </a:pPr>
            <a:r>
              <a:rPr lang="en-GB" altLang="en-US" sz="1680" dirty="0">
                <a:solidFill>
                  <a:srgbClr val="222222"/>
                </a:solidFill>
                <a:latin typeface="Arial" pitchFamily="34" charset="0"/>
                <a:ea typeface="Arial" pitchFamily="34" charset="-122"/>
                <a:cs typeface="Arial" pitchFamily="34" charset="-120"/>
              </a:rPr>
              <a:t>13 October · Completion recorded</a:t>
            </a:r>
            <a:endParaRPr lang="en-GB" sz="1680" dirty="0"/>
          </a:p>
          <a:p>
            <a:pPr algn="l" indent="0" marL="0">
              <a:lnSpc>
                <a:spcPct val="128000"/>
              </a:lnSpc>
              <a:buNone/>
            </a:pPr>
            <a:endParaRPr lang="en-GB" sz="1680" dirty="0"/>
          </a:p>
          <a:p>
            <a:pPr algn="l" indent="0" marL="0">
              <a:lnSpc>
                <a:spcPct val="128000"/>
              </a:lnSpc>
              <a:buNone/>
            </a:pPr>
            <a:r>
              <a:rPr lang="en-GB" altLang="en-US" sz="1680" dirty="0">
                <a:solidFill>
                  <a:srgbClr val="222222"/>
                </a:solidFill>
                <a:latin typeface="Arial" pitchFamily="34" charset="0"/>
                <a:ea typeface="Arial" pitchFamily="34" charset="-122"/>
                <a:cs typeface="Arial" pitchFamily="34" charset="-120"/>
              </a:rPr>
              <a:t>Group message: 09:11:57</a:t>
            </a:r>
            <a:endParaRPr lang="en-GB" sz="1680" dirty="0"/>
          </a:p>
          <a:p>
            <a:pPr algn="l" indent="0" marL="0">
              <a:lnSpc>
                <a:spcPct val="128000"/>
              </a:lnSpc>
              <a:buNone/>
            </a:pPr>
            <a:r>
              <a:rPr lang="en-GB" altLang="en-US" sz="1680" dirty="0">
                <a:solidFill>
                  <a:srgbClr val="222222"/>
                </a:solidFill>
                <a:latin typeface="Arial" pitchFamily="34" charset="0"/>
                <a:ea typeface="Arial" pitchFamily="34" charset="-122"/>
                <a:cs typeface="Arial" pitchFamily="34" charset="-120"/>
              </a:rPr>
              <a:t>Scheduled time: 09:00</a:t>
            </a:r>
            <a:endParaRPr lang="en-GB" sz="1680" dirty="0"/>
          </a:p>
        </p:txBody>
      </p:sp>
      <p:sp>
        <p:nvSpPr>
          <p:cNvPr id="9" name="patrol-records-card-3"/>
          <p:cNvSpPr/>
          <p:nvPr/>
        </p:nvSpPr>
        <p:spPr>
          <a:xfrm>
            <a:off x="6248400" y="3543300"/>
            <a:ext cx="5334000" cy="1828800"/>
          </a:xfrm>
          <a:prstGeom prst="rect">
            <a:avLst/>
          </a:prstGeom>
          <a:solidFill>
            <a:srgbClr val="F4F4F4"/>
          </a:solidFill>
          <a:ln w="12700">
            <a:solidFill>
              <a:srgbClr val="F4F4F4"/>
            </a:solidFill>
            <a:prstDash val="solid"/>
          </a:ln>
        </p:spPr>
      </p:sp>
      <p:sp>
        <p:nvSpPr>
          <p:cNvPr id="10" name="Text 8"/>
          <p:cNvSpPr/>
          <p:nvPr/>
        </p:nvSpPr>
        <p:spPr>
          <a:xfrm>
            <a:off x="6248400" y="3543300"/>
            <a:ext cx="5334000" cy="1828800"/>
          </a:xfrm>
          <a:prstGeom prst="rect">
            <a:avLst/>
          </a:prstGeom>
          <a:noFill/>
          <a:ln/>
        </p:spPr>
        <p:txBody>
          <a:bodyPr wrap="square" lIns="63500" tIns="63500" rIns="63500" bIns="63500" rtlCol="0" anchor="ctr"/>
          <a:lstStyle/>
          <a:p>
            <a:pPr algn="l" indent="0" marL="0">
              <a:lnSpc>
                <a:spcPct val="128000"/>
              </a:lnSpc>
              <a:buNone/>
            </a:pPr>
            <a:r>
              <a:rPr lang="en-GB" altLang="en-US" sz="1680" dirty="0">
                <a:solidFill>
                  <a:srgbClr val="222222"/>
                </a:solidFill>
                <a:latin typeface="Arial" pitchFamily="34" charset="0"/>
                <a:ea typeface="Arial" pitchFamily="34" charset="-122"/>
                <a:cs typeface="Arial" pitchFamily="34" charset="-120"/>
              </a:rPr>
              <a:t>14 October · Completion recorded</a:t>
            </a:r>
            <a:endParaRPr lang="en-GB" sz="1680" dirty="0"/>
          </a:p>
          <a:p>
            <a:pPr algn="l" indent="0" marL="0">
              <a:lnSpc>
                <a:spcPct val="128000"/>
              </a:lnSpc>
              <a:buNone/>
            </a:pPr>
            <a:endParaRPr lang="en-GB" sz="1680" dirty="0"/>
          </a:p>
          <a:p>
            <a:pPr algn="l" indent="0" marL="0">
              <a:lnSpc>
                <a:spcPct val="128000"/>
              </a:lnSpc>
              <a:buNone/>
            </a:pPr>
            <a:r>
              <a:rPr lang="en-GB" altLang="en-US" sz="1680" dirty="0">
                <a:solidFill>
                  <a:srgbClr val="222222"/>
                </a:solidFill>
                <a:latin typeface="Arial" pitchFamily="34" charset="0"/>
                <a:ea typeface="Arial" pitchFamily="34" charset="-122"/>
                <a:cs typeface="Arial" pitchFamily="34" charset="-120"/>
              </a:rPr>
              <a:t>Group message: 09:11:38</a:t>
            </a:r>
            <a:endParaRPr lang="en-GB" sz="1680" dirty="0"/>
          </a:p>
          <a:p>
            <a:pPr algn="l" indent="0" marL="0">
              <a:lnSpc>
                <a:spcPct val="128000"/>
              </a:lnSpc>
              <a:buNone/>
            </a:pPr>
            <a:r>
              <a:rPr lang="en-GB" altLang="en-US" sz="1680" dirty="0">
                <a:solidFill>
                  <a:srgbClr val="222222"/>
                </a:solidFill>
                <a:latin typeface="Arial" pitchFamily="34" charset="0"/>
                <a:ea typeface="Arial" pitchFamily="34" charset="-122"/>
                <a:cs typeface="Arial" pitchFamily="34" charset="-120"/>
              </a:rPr>
              <a:t>Scheduled time: 09:00</a:t>
            </a:r>
            <a:endParaRPr lang="en-GB" sz="1680" dirty="0"/>
          </a:p>
        </p:txBody>
      </p:sp>
      <p:sp>
        <p:nvSpPr>
          <p:cNvPr id="11" name="patrol-records-source"/>
          <p:cNvSpPr/>
          <p:nvPr/>
        </p:nvSpPr>
        <p:spPr>
          <a:xfrm>
            <a:off x="609600" y="5448300"/>
            <a:ext cx="10972800" cy="647700"/>
          </a:xfrm>
          <a:prstGeom prst="rect">
            <a:avLst/>
          </a:prstGeom>
          <a:noFill/>
          <a:ln/>
        </p:spPr>
        <p:txBody>
          <a:bodyPr wrap="square" lIns="0" tIns="0" rIns="0" bIns="0" rtlCol="0" anchor="t"/>
          <a:lstStyle/>
          <a:p>
            <a:pPr algn="l" indent="0" marL="0">
              <a:lnSpc>
                <a:spcPct val="128000"/>
              </a:lnSpc>
              <a:buNone/>
            </a:pPr>
            <a:r>
              <a:rPr lang="en-GB" altLang="en-US" sz="1560" u="sng" dirty="0">
                <a:solidFill>
                  <a:srgbClr val="B80010"/>
                </a:solidFill>
                <a:latin typeface="Arial" pitchFamily="34" charset="0"/>
                <a:ea typeface="Arial" pitchFamily="34" charset="-122"/>
                <a:cs typeface="Arial" pitchFamily="34" charset="-120"/>
                <a:hlinkClick r:id="rId1" action="ppaction://hlinksldjump" tooltip="">
                  <a:extLst>
                    <a:ext uri="{A12FA001-AC4F-418D-AE19-62706E023703}">
                      <ahyp:hlinkClr xmlns:ahyp="http://schemas.microsoft.com/office/drawing/2018/hyperlinkcolor" val="tx"/>
                    </a:ext>
                  </a:extLst>
                </a:hlinkClick>
              </a:rPr>
              <a:t>E15</a:t>
            </a:r>
            <a:pPr algn="l" indent="0" marL="0">
              <a:lnSpc>
                <a:spcPct val="128000"/>
              </a:lnSpc>
              <a:buNone/>
            </a:pPr>
            <a:r>
              <a:rPr lang="en-GB" altLang="en-US" sz="1560" dirty="0">
                <a:solidFill>
                  <a:srgbClr val="222222"/>
                </a:solidFill>
                <a:latin typeface="Arial" pitchFamily="34" charset="0"/>
                <a:ea typeface="Arial" pitchFamily="34" charset="-122"/>
                <a:cs typeface="Arial" pitchFamily="34" charset="-120"/>
              </a:rPr>
              <a:t>–</a:t>
            </a:r>
            <a:pPr algn="l" indent="0" marL="0">
              <a:lnSpc>
                <a:spcPct val="128000"/>
              </a:lnSpc>
              <a:buNone/>
            </a:pPr>
            <a:r>
              <a:rPr lang="en-GB" altLang="en-US" sz="1560" u="sng" dirty="0">
                <a:solidFill>
                  <a:srgbClr val="B80010"/>
                </a:solidFill>
                <a:latin typeface="Arial" pitchFamily="34" charset="0"/>
                <a:ea typeface="Arial" pitchFamily="34" charset="-122"/>
                <a:cs typeface="Arial" pitchFamily="34" charset="-120"/>
                <a:hlinkClick r:id="rId2" action="ppaction://hlinksldjump" tooltip="">
                  <a:extLst>
                    <a:ext uri="{A12FA001-AC4F-418D-AE19-62706E023703}">
                      <ahyp:hlinkClr xmlns:ahyp="http://schemas.microsoft.com/office/drawing/2018/hyperlinkcolor" val="tx"/>
                    </a:ext>
                  </a:extLst>
                </a:hlinkClick>
              </a:rPr>
              <a:t>E17</a:t>
            </a:r>
            <a:pPr algn="l" indent="0" marL="0">
              <a:lnSpc>
                <a:spcPct val="128000"/>
              </a:lnSpc>
              <a:buNone/>
            </a:pPr>
            <a:r>
              <a:rPr lang="en-GB" altLang="en-US" sz="1560" dirty="0">
                <a:solidFill>
                  <a:srgbClr val="222222"/>
                </a:solidFill>
                <a:latin typeface="Arial" pitchFamily="34" charset="0"/>
                <a:ea typeface="Arial" pitchFamily="34" charset="-122"/>
                <a:cs typeface="Arial" pitchFamily="34" charset="-120"/>
              </a:rPr>
              <a:t>; a manual demonstration also ran on 10 October. These four scheduled runs do not estimate overall product reliability.</a:t>
            </a:r>
            <a:endParaRPr lang="en-GB" sz="1560" dirty="0"/>
          </a:p>
        </p:txBody>
      </p:sp>
      <p:sp>
        <p:nvSpPr>
          <p:cNvPr id="13" name="Text 1"/>
          <p:cNvSpPr/>
          <p:nvPr>
            <p:ph idx="102" type="body" hasCustomPrompt="1"/>
          </p:nvPr>
        </p:nvSpPr>
        <p:spPr>
          <a:xfrm>
            <a:off x="762000" y="2057400"/>
            <a:ext cx="5105400" cy="3886200"/>
          </a:xfrm>
          <a:prstGeom prst="rect">
            <a:avLst/>
          </a:prstGeom>
          <a:noFill/>
          <a:ln/>
        </p:spPr>
        <p:txBody>
          <a:bodyPr wrap="square" lIns="0" tIns="0" rIns="0" bIns="0" rtlCol="0" anchor="t"/>
          <a:lstStyle/>
          <a:p>
            <a:pPr indent="0" marL="0">
              <a:buNone/>
            </a:pPr>
            <a:endParaRPr lang="en-US" sz="1680" dirty="0"/>
          </a:p>
        </p:txBody>
      </p:sp>
      <p:sp>
        <p:nvSpPr>
          <p:cNvPr id="14" name="Text 1"/>
          <p:cNvSpPr/>
          <p:nvPr>
            <p:ph idx="103" type="body" hasCustomPrompt="1"/>
          </p:nvPr>
        </p:nvSpPr>
        <p:spPr>
          <a:xfrm>
            <a:off x="6324600" y="2057400"/>
            <a:ext cx="5105400" cy="3886200"/>
          </a:xfrm>
          <a:prstGeom prst="rect">
            <a:avLst/>
          </a:prstGeom>
          <a:noFill/>
          <a:ln/>
        </p:spPr>
        <p:txBody>
          <a:bodyPr wrap="square" lIns="0" tIns="0" rIns="0" bIns="0" rtlCol="0" anchor="t"/>
          <a:lstStyle/>
          <a:p>
            <a:pPr indent="0" marL="0">
              <a:buNone/>
            </a:pPr>
            <a:endParaRPr lang="en-US" sz="168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1"/>
          <p:cNvSpPr/>
          <p:nvPr>
            <p:ph idx="101" type="title" hasCustomPrompt="1"/>
          </p:nvPr>
        </p:nvSpPr>
        <p:spPr>
          <a:xfrm>
            <a:off x="381000" y="891540"/>
            <a:ext cx="11430000" cy="487680"/>
          </a:xfrm>
          <a:prstGeom prst="rect">
            <a:avLst/>
          </a:prstGeom>
          <a:noFill/>
          <a:ln/>
        </p:spPr>
        <p:txBody>
          <a:bodyPr wrap="square" lIns="0" tIns="0" rIns="0" bIns="0" rtlCol="0" anchor="t"/>
          <a:lstStyle/>
          <a:p>
            <a:pPr algn="l" indent="0" marL="0">
              <a:buNone/>
            </a:pPr>
            <a:r>
              <a:rPr lang="en-GB" altLang="en-US" sz="2400" b="1" spc="-84" kern="0" dirty="0">
                <a:solidFill>
                  <a:srgbClr val="000000"/>
                </a:solidFill>
                <a:latin typeface="Arial" pitchFamily="34" charset="0"/>
                <a:ea typeface="Arial" pitchFamily="34" charset="-122"/>
                <a:cs typeface="Arial" pitchFamily="34" charset="-120"/>
              </a:rPr>
              <a:t>1. Value at the handoffs between tools</a:t>
            </a:r>
            <a:endParaRPr lang="en-GB" sz="2400" dirty="0"/>
          </a:p>
        </p:txBody>
      </p:sp>
      <p:sp>
        <p:nvSpPr>
          <p:cNvPr id="3" name="body-07-1-item-0"/>
          <p:cNvSpPr/>
          <p:nvPr/>
        </p:nvSpPr>
        <p:spPr>
          <a:xfrm>
            <a:off x="609600" y="1600200"/>
            <a:ext cx="10972800" cy="2026920"/>
          </a:xfrm>
          <a:prstGeom prst="rect">
            <a:avLst/>
          </a:prstGeom>
          <a:noFill/>
          <a:ln/>
        </p:spPr>
        <p:txBody>
          <a:bodyPr wrap="square" lIns="0" tIns="0" rIns="0" bIns="0" rtlCol="0" anchor="t"/>
          <a:lstStyle/>
          <a:p>
            <a:pPr algn="l" indent="0" marL="0">
              <a:lnSpc>
                <a:spcPct val="128000"/>
              </a:lnSpc>
              <a:buNone/>
            </a:pPr>
            <a:r>
              <a:rPr lang="en-GB" altLang="en-US" sz="1920" dirty="0">
                <a:solidFill>
                  <a:srgbClr val="222222"/>
                </a:solidFill>
                <a:latin typeface="Arial" pitchFamily="34" charset="0"/>
                <a:ea typeface="Arial" pitchFamily="34" charset="-122"/>
                <a:cs typeface="Arial" pitchFamily="34" charset="-120"/>
              </a:rPr>
              <a:t>Qwen interprets requests, organises content and calls tools. The business system supplies records and some rule calculations. DingTalk holds online documents, group messages and personal to-dos. Qwen Office creates scheduled tasks. Standalone AI can also summarise manually supplied material; DingTalk adds paths for acquiring inputs and placing outputs into collaboration objects, creating the possibility of less manual copying. [A/C: </a:t>
            </a:r>
            <a:pPr algn="l" indent="0" marL="0">
              <a:lnSpc>
                <a:spcPct val="128000"/>
              </a:lnSpc>
              <a:buNone/>
            </a:pPr>
            <a:r>
              <a:rPr lang="en-GB" altLang="en-US" sz="1920" u="sng" dirty="0">
                <a:solidFill>
                  <a:srgbClr val="B80010"/>
                </a:solidFill>
                <a:latin typeface="Arial" pitchFamily="34" charset="0"/>
                <a:ea typeface="Arial" pitchFamily="34" charset="-122"/>
                <a:cs typeface="Arial" pitchFamily="34" charset="-120"/>
                <a:hlinkClick r:id="rId1" action="ppaction://hlinksldjump" tooltip="">
                  <a:extLst>
                    <a:ext uri="{A12FA001-AC4F-418D-AE19-62706E023703}">
                      <ahyp:hlinkClr xmlns:ahyp="http://schemas.microsoft.com/office/drawing/2018/hyperlinkcolor" val="tx"/>
                    </a:ext>
                  </a:extLst>
                </a:hlinkClick>
              </a:rPr>
              <a:t>E20</a:t>
            </a:r>
            <a:pPr algn="l" indent="0" marL="0">
              <a:lnSpc>
                <a:spcPct val="128000"/>
              </a:lnSpc>
              <a:buNone/>
            </a:pPr>
            <a:r>
              <a:rPr lang="en-GB" altLang="en-US" sz="1920" dirty="0">
                <a:solidFill>
                  <a:srgbClr val="222222"/>
                </a:solidFill>
                <a:latin typeface="Arial" pitchFamily="34" charset="0"/>
                <a:ea typeface="Arial" pitchFamily="34" charset="-122"/>
                <a:cs typeface="Arial" pitchFamily="34" charset="-120"/>
              </a:rPr>
              <a:t>]</a:t>
            </a:r>
            <a:endParaRPr lang="en-GB" sz="1920" dirty="0"/>
          </a:p>
        </p:txBody>
      </p:sp>
      <p:sp>
        <p:nvSpPr>
          <p:cNvPr id="4" name="body-07-1-item-1"/>
          <p:cNvSpPr/>
          <p:nvPr/>
        </p:nvSpPr>
        <p:spPr>
          <a:xfrm>
            <a:off x="609600" y="3779520"/>
            <a:ext cx="10972800" cy="1379220"/>
          </a:xfrm>
          <a:prstGeom prst="rect">
            <a:avLst/>
          </a:prstGeom>
          <a:noFill/>
          <a:ln/>
        </p:spPr>
        <p:txBody>
          <a:bodyPr wrap="square" lIns="0" tIns="0" rIns="0" bIns="0" rtlCol="0" anchor="t"/>
          <a:lstStyle/>
          <a:p>
            <a:pPr algn="l" indent="0" marL="0">
              <a:lnSpc>
                <a:spcPct val="128000"/>
              </a:lnSpc>
              <a:buNone/>
            </a:pPr>
            <a:r>
              <a:rPr lang="en-GB" altLang="en-US" sz="1920" dirty="0">
                <a:solidFill>
                  <a:srgbClr val="222222"/>
                </a:solidFill>
                <a:latin typeface="Arial" pitchFamily="34" charset="0"/>
                <a:ea typeface="Arial" pitchFamily="34" charset="-122"/>
                <a:cs typeface="Arial" pitchFamily="34" charset="-120"/>
              </a:rPr>
              <a:t>No same-task comparison of standalone AI and AI connected to a platform was performed, so this additional value cannot be quantified. Existing templates or ordinary automation should also be compared if they can perform fixed-rule tasks more reliably. [D: </a:t>
            </a:r>
            <a:pPr algn="l" indent="0" marL="0">
              <a:lnSpc>
                <a:spcPct val="128000"/>
              </a:lnSpc>
              <a:buNone/>
            </a:pPr>
            <a:r>
              <a:rPr lang="en-GB" altLang="en-US" sz="1920" u="sng" dirty="0">
                <a:solidFill>
                  <a:srgbClr val="B80010"/>
                </a:solidFill>
                <a:latin typeface="Arial" pitchFamily="34" charset="0"/>
                <a:ea typeface="Arial" pitchFamily="34" charset="-122"/>
                <a:cs typeface="Arial" pitchFamily="34" charset="-120"/>
                <a:hlinkClick r:id="rId2" action="ppaction://hlinksldjump" tooltip="">
                  <a:extLst>
                    <a:ext uri="{A12FA001-AC4F-418D-AE19-62706E023703}">
                      <ahyp:hlinkClr xmlns:ahyp="http://schemas.microsoft.com/office/drawing/2018/hyperlinkcolor" val="tx"/>
                    </a:ext>
                  </a:extLst>
                </a:hlinkClick>
              </a:rPr>
              <a:t>E21</a:t>
            </a:r>
            <a:pPr algn="l" indent="0" marL="0">
              <a:lnSpc>
                <a:spcPct val="128000"/>
              </a:lnSpc>
              <a:buNone/>
            </a:pPr>
            <a:r>
              <a:rPr lang="en-GB" altLang="en-US" sz="1920" dirty="0">
                <a:solidFill>
                  <a:srgbClr val="222222"/>
                </a:solidFill>
                <a:latin typeface="Arial" pitchFamily="34" charset="0"/>
                <a:ea typeface="Arial" pitchFamily="34" charset="-122"/>
                <a:cs typeface="Arial" pitchFamily="34" charset="-120"/>
              </a:rPr>
              <a:t>–</a:t>
            </a:r>
            <a:pPr algn="l" indent="0" marL="0">
              <a:lnSpc>
                <a:spcPct val="128000"/>
              </a:lnSpc>
              <a:buNone/>
            </a:pPr>
            <a:r>
              <a:rPr lang="en-GB" altLang="en-US" sz="1920" u="sng" dirty="0">
                <a:solidFill>
                  <a:srgbClr val="B80010"/>
                </a:solidFill>
                <a:latin typeface="Arial" pitchFamily="34" charset="0"/>
                <a:ea typeface="Arial" pitchFamily="34" charset="-122"/>
                <a:cs typeface="Arial" pitchFamily="34" charset="-120"/>
                <a:hlinkClick r:id="rId3" action="ppaction://hlinksldjump" tooltip="">
                  <a:extLst>
                    <a:ext uri="{A12FA001-AC4F-418D-AE19-62706E023703}">
                      <ahyp:hlinkClr xmlns:ahyp="http://schemas.microsoft.com/office/drawing/2018/hyperlinkcolor" val="tx"/>
                    </a:ext>
                  </a:extLst>
                </a:hlinkClick>
              </a:rPr>
              <a:t>E22</a:t>
            </a:r>
            <a:pPr algn="l" indent="0" marL="0">
              <a:lnSpc>
                <a:spcPct val="128000"/>
              </a:lnSpc>
              <a:buNone/>
            </a:pPr>
            <a:r>
              <a:rPr lang="en-GB" altLang="en-US" sz="1920" dirty="0">
                <a:solidFill>
                  <a:srgbClr val="222222"/>
                </a:solidFill>
                <a:latin typeface="Arial" pitchFamily="34" charset="0"/>
                <a:ea typeface="Arial" pitchFamily="34" charset="-122"/>
                <a:cs typeface="Arial" pitchFamily="34" charset="-120"/>
              </a:rPr>
              <a:t>]</a:t>
            </a:r>
            <a:endParaRPr lang="en-GB" sz="1920" dirty="0"/>
          </a:p>
        </p:txBody>
      </p:sp>
      <p:sp>
        <p:nvSpPr>
          <p:cNvPr id="6" name="Text 1"/>
          <p:cNvSpPr/>
          <p:nvPr>
            <p:ph idx="102" type="body" hasCustomPrompt="1"/>
          </p:nvPr>
        </p:nvSpPr>
        <p:spPr>
          <a:xfrm>
            <a:off x="762000" y="2057400"/>
            <a:ext cx="10668000" cy="3886200"/>
          </a:xfrm>
          <a:prstGeom prst="rect">
            <a:avLst/>
          </a:prstGeom>
          <a:noFill/>
          <a:ln/>
        </p:spPr>
        <p:txBody>
          <a:bodyPr wrap="square" lIns="0" tIns="0" rIns="0" bIns="0" rtlCol="0" anchor="t"/>
          <a:lstStyle/>
          <a:p>
            <a:pPr indent="0" marL="0">
              <a:buNone/>
            </a:pPr>
            <a:endParaRPr lang="en-US" sz="168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1"/>
          <p:cNvSpPr/>
          <p:nvPr>
            <p:ph idx="101" type="title" hasCustomPrompt="1"/>
          </p:nvPr>
        </p:nvSpPr>
        <p:spPr>
          <a:xfrm>
            <a:off x="381000" y="891540"/>
            <a:ext cx="11430000" cy="487680"/>
          </a:xfrm>
          <a:prstGeom prst="rect">
            <a:avLst/>
          </a:prstGeom>
          <a:noFill/>
          <a:ln/>
        </p:spPr>
        <p:txBody>
          <a:bodyPr wrap="square" lIns="0" tIns="0" rIns="0" bIns="0" rtlCol="0" anchor="t"/>
          <a:lstStyle/>
          <a:p>
            <a:pPr algn="l" indent="0" marL="0">
              <a:buNone/>
            </a:pPr>
            <a:r>
              <a:rPr lang="en-GB" altLang="en-US" sz="2400" b="1" spc="-84" kern="0" dirty="0">
                <a:solidFill>
                  <a:srgbClr val="000000"/>
                </a:solidFill>
                <a:latin typeface="Arial" pitchFamily="34" charset="0"/>
                <a:ea typeface="Arial" pitchFamily="34" charset="-122"/>
                <a:cs typeface="Arial" pitchFamily="34" charset="-120"/>
              </a:rPr>
              <a:t>How information moves between tools</a:t>
            </a:r>
            <a:endParaRPr lang="en-GB" sz="2400" dirty="0"/>
          </a:p>
        </p:txBody>
      </p:sp>
      <p:sp>
        <p:nvSpPr>
          <p:cNvPr id="3" name="roles-card-0"/>
          <p:cNvSpPr/>
          <p:nvPr/>
        </p:nvSpPr>
        <p:spPr>
          <a:xfrm>
            <a:off x="609600" y="1600200"/>
            <a:ext cx="5334000" cy="1828800"/>
          </a:xfrm>
          <a:prstGeom prst="rect">
            <a:avLst/>
          </a:prstGeom>
          <a:solidFill>
            <a:srgbClr val="F4F4F4"/>
          </a:solidFill>
          <a:ln w="12700">
            <a:solidFill>
              <a:srgbClr val="F4F4F4"/>
            </a:solidFill>
            <a:prstDash val="solid"/>
          </a:ln>
        </p:spPr>
      </p:sp>
      <p:sp>
        <p:nvSpPr>
          <p:cNvPr id="4" name="Text 2"/>
          <p:cNvSpPr/>
          <p:nvPr/>
        </p:nvSpPr>
        <p:spPr>
          <a:xfrm>
            <a:off x="609600" y="1600200"/>
            <a:ext cx="5334000" cy="1828800"/>
          </a:xfrm>
          <a:prstGeom prst="rect">
            <a:avLst/>
          </a:prstGeom>
          <a:noFill/>
          <a:ln/>
        </p:spPr>
        <p:txBody>
          <a:bodyPr wrap="square" lIns="63500" tIns="63500" rIns="63500" bIns="63500" rtlCol="0" anchor="ctr"/>
          <a:lstStyle/>
          <a:p>
            <a:pPr algn="l" indent="0" marL="0">
              <a:lnSpc>
                <a:spcPct val="128000"/>
              </a:lnSpc>
              <a:buNone/>
            </a:pPr>
            <a:r>
              <a:rPr lang="en-GB" altLang="en-US" sz="1680" dirty="0">
                <a:solidFill>
                  <a:srgbClr val="222222"/>
                </a:solidFill>
                <a:latin typeface="Arial" pitchFamily="34" charset="0"/>
                <a:ea typeface="Arial" pitchFamily="34" charset="-122"/>
                <a:cs typeface="Arial" pitchFamily="34" charset="-120"/>
              </a:rPr>
              <a:t>Inputs and materials</a:t>
            </a:r>
            <a:endParaRPr lang="en-GB" sz="1680" dirty="0"/>
          </a:p>
          <a:p>
            <a:pPr algn="l" indent="0" marL="0">
              <a:lnSpc>
                <a:spcPct val="128000"/>
              </a:lnSpc>
              <a:buNone/>
            </a:pPr>
            <a:endParaRPr lang="en-GB" sz="1680" dirty="0"/>
          </a:p>
          <a:p>
            <a:pPr algn="l" indent="0" marL="0">
              <a:lnSpc>
                <a:spcPct val="128000"/>
              </a:lnSpc>
              <a:buNone/>
            </a:pPr>
            <a:r>
              <a:rPr lang="en-GB" altLang="en-US" sz="1680" dirty="0">
                <a:solidFill>
                  <a:srgbClr val="222222"/>
                </a:solidFill>
                <a:latin typeface="Arial" pitchFamily="34" charset="0"/>
                <a:ea typeface="Arial" pitchFamily="34" charset="-122"/>
                <a:cs typeface="Arial" pitchFamily="34" charset="-120"/>
              </a:rPr>
              <a:t>Group documents and business-ledger query results</a:t>
            </a:r>
            <a:endParaRPr lang="en-GB" sz="1680" dirty="0"/>
          </a:p>
          <a:p>
            <a:pPr algn="l" indent="0" marL="0">
              <a:lnSpc>
                <a:spcPct val="128000"/>
              </a:lnSpc>
              <a:buNone/>
            </a:pPr>
            <a:r>
              <a:rPr lang="en-GB" altLang="en-US" sz="1680" dirty="0">
                <a:solidFill>
                  <a:srgbClr val="222222"/>
                </a:solidFill>
                <a:latin typeface="Arial" pitchFamily="34" charset="0"/>
                <a:ea typeface="Arial" pitchFamily="34" charset="-122"/>
                <a:cs typeface="Arial" pitchFamily="34" charset="-120"/>
              </a:rPr>
              <a:t>Material quality and definitions still need checking</a:t>
            </a:r>
            <a:endParaRPr lang="en-GB" sz="1680" dirty="0"/>
          </a:p>
        </p:txBody>
      </p:sp>
      <p:sp>
        <p:nvSpPr>
          <p:cNvPr id="5" name="roles-card-1"/>
          <p:cNvSpPr/>
          <p:nvPr/>
        </p:nvSpPr>
        <p:spPr>
          <a:xfrm>
            <a:off x="6248400" y="1600200"/>
            <a:ext cx="5334000" cy="1828800"/>
          </a:xfrm>
          <a:prstGeom prst="rect">
            <a:avLst/>
          </a:prstGeom>
          <a:solidFill>
            <a:srgbClr val="F4F4F4"/>
          </a:solidFill>
          <a:ln w="12700">
            <a:solidFill>
              <a:srgbClr val="F4F4F4"/>
            </a:solidFill>
            <a:prstDash val="solid"/>
          </a:ln>
        </p:spPr>
      </p:sp>
      <p:sp>
        <p:nvSpPr>
          <p:cNvPr id="6" name="Text 4"/>
          <p:cNvSpPr/>
          <p:nvPr/>
        </p:nvSpPr>
        <p:spPr>
          <a:xfrm>
            <a:off x="6248400" y="1600200"/>
            <a:ext cx="5334000" cy="1828800"/>
          </a:xfrm>
          <a:prstGeom prst="rect">
            <a:avLst/>
          </a:prstGeom>
          <a:noFill/>
          <a:ln/>
        </p:spPr>
        <p:txBody>
          <a:bodyPr wrap="square" lIns="63500" tIns="63500" rIns="63500" bIns="63500" rtlCol="0" anchor="ctr"/>
          <a:lstStyle/>
          <a:p>
            <a:pPr algn="l" indent="0" marL="0">
              <a:lnSpc>
                <a:spcPct val="128000"/>
              </a:lnSpc>
              <a:buNone/>
            </a:pPr>
            <a:r>
              <a:rPr lang="en-GB" altLang="en-US" sz="1680" dirty="0">
                <a:solidFill>
                  <a:srgbClr val="222222"/>
                </a:solidFill>
                <a:latin typeface="Arial" pitchFamily="34" charset="0"/>
                <a:ea typeface="Arial" pitchFamily="34" charset="-122"/>
                <a:cs typeface="Arial" pitchFamily="34" charset="-120"/>
              </a:rPr>
              <a:t>Qwen Office</a:t>
            </a:r>
            <a:endParaRPr lang="en-GB" sz="1680" dirty="0"/>
          </a:p>
          <a:p>
            <a:pPr algn="l" indent="0" marL="0">
              <a:lnSpc>
                <a:spcPct val="128000"/>
              </a:lnSpc>
              <a:buNone/>
            </a:pPr>
            <a:endParaRPr lang="en-GB" sz="1680" dirty="0"/>
          </a:p>
          <a:p>
            <a:pPr algn="l" indent="0" marL="0">
              <a:lnSpc>
                <a:spcPct val="128000"/>
              </a:lnSpc>
              <a:buNone/>
            </a:pPr>
            <a:r>
              <a:rPr lang="en-GB" altLang="en-US" sz="1680" dirty="0">
                <a:solidFill>
                  <a:srgbClr val="222222"/>
                </a:solidFill>
                <a:latin typeface="Arial" pitchFamily="34" charset="0"/>
                <a:ea typeface="Arial" pitchFamily="34" charset="-122"/>
                <a:cs typeface="Arial" pitchFamily="34" charset="-120"/>
              </a:rPr>
              <a:t>Interpret requests, organise content and call tools</a:t>
            </a:r>
            <a:endParaRPr lang="en-GB" sz="1680" dirty="0"/>
          </a:p>
          <a:p>
            <a:pPr algn="l" indent="0" marL="0">
              <a:lnSpc>
                <a:spcPct val="128000"/>
              </a:lnSpc>
              <a:buNone/>
            </a:pPr>
            <a:r>
              <a:rPr lang="en-GB" altLang="en-US" sz="1680" dirty="0">
                <a:solidFill>
                  <a:srgbClr val="222222"/>
                </a:solidFill>
                <a:latin typeface="Arial" pitchFamily="34" charset="0"/>
                <a:ea typeface="Arial" pitchFamily="34" charset="-122"/>
                <a:cs typeface="Arial" pitchFamily="34" charset="-120"/>
              </a:rPr>
              <a:t>Create scheduled tasks</a:t>
            </a:r>
            <a:endParaRPr lang="en-GB" sz="1680" dirty="0"/>
          </a:p>
        </p:txBody>
      </p:sp>
      <p:sp>
        <p:nvSpPr>
          <p:cNvPr id="7" name="roles-card-2"/>
          <p:cNvSpPr/>
          <p:nvPr/>
        </p:nvSpPr>
        <p:spPr>
          <a:xfrm>
            <a:off x="609600" y="3543300"/>
            <a:ext cx="5334000" cy="1828800"/>
          </a:xfrm>
          <a:prstGeom prst="rect">
            <a:avLst/>
          </a:prstGeom>
          <a:solidFill>
            <a:srgbClr val="F4F4F4"/>
          </a:solidFill>
          <a:ln w="12700">
            <a:solidFill>
              <a:srgbClr val="F4F4F4"/>
            </a:solidFill>
            <a:prstDash val="solid"/>
          </a:ln>
        </p:spPr>
      </p:sp>
      <p:sp>
        <p:nvSpPr>
          <p:cNvPr id="8" name="Text 6"/>
          <p:cNvSpPr/>
          <p:nvPr/>
        </p:nvSpPr>
        <p:spPr>
          <a:xfrm>
            <a:off x="609600" y="3543300"/>
            <a:ext cx="5334000" cy="1828800"/>
          </a:xfrm>
          <a:prstGeom prst="rect">
            <a:avLst/>
          </a:prstGeom>
          <a:noFill/>
          <a:ln/>
        </p:spPr>
        <p:txBody>
          <a:bodyPr wrap="square" lIns="63500" tIns="63500" rIns="63500" bIns="63500" rtlCol="0" anchor="ctr"/>
          <a:lstStyle/>
          <a:p>
            <a:pPr algn="l" indent="0" marL="0">
              <a:lnSpc>
                <a:spcPct val="128000"/>
              </a:lnSpc>
              <a:buNone/>
            </a:pPr>
            <a:r>
              <a:rPr lang="en-GB" altLang="en-US" sz="1680" dirty="0">
                <a:solidFill>
                  <a:srgbClr val="222222"/>
                </a:solidFill>
                <a:latin typeface="Arial" pitchFamily="34" charset="0"/>
                <a:ea typeface="Arial" pitchFamily="34" charset="-122"/>
                <a:cs typeface="Arial" pitchFamily="34" charset="-120"/>
              </a:rPr>
              <a:t>Business system</a:t>
            </a:r>
            <a:endParaRPr lang="en-GB" sz="1680" dirty="0"/>
          </a:p>
          <a:p>
            <a:pPr algn="l" indent="0" marL="0">
              <a:lnSpc>
                <a:spcPct val="128000"/>
              </a:lnSpc>
              <a:buNone/>
            </a:pPr>
            <a:endParaRPr lang="en-GB" sz="1680" dirty="0"/>
          </a:p>
          <a:p>
            <a:pPr algn="l" indent="0" marL="0">
              <a:lnSpc>
                <a:spcPct val="128000"/>
              </a:lnSpc>
              <a:buNone/>
            </a:pPr>
            <a:r>
              <a:rPr lang="en-GB" altLang="en-US" sz="1680" dirty="0">
                <a:solidFill>
                  <a:srgbClr val="222222"/>
                </a:solidFill>
                <a:latin typeface="Arial" pitchFamily="34" charset="0"/>
                <a:ea typeface="Arial" pitchFamily="34" charset="-122"/>
                <a:cs typeface="Arial" pitchFamily="34" charset="-120"/>
              </a:rPr>
              <a:t>Store and query business records</a:t>
            </a:r>
            <a:endParaRPr lang="en-GB" sz="1680" dirty="0"/>
          </a:p>
          <a:p>
            <a:pPr algn="l" indent="0" marL="0">
              <a:lnSpc>
                <a:spcPct val="128000"/>
              </a:lnSpc>
              <a:buNone/>
            </a:pPr>
            <a:r>
              <a:rPr lang="en-GB" altLang="en-US" sz="1680" dirty="0">
                <a:solidFill>
                  <a:srgbClr val="222222"/>
                </a:solidFill>
                <a:latin typeface="Arial" pitchFamily="34" charset="0"/>
                <a:ea typeface="Arial" pitchFamily="34" charset="-122"/>
                <a:cs typeface="Arial" pitchFamily="34" charset="-120"/>
              </a:rPr>
              <a:t>Return some rule-based calculations</a:t>
            </a:r>
            <a:endParaRPr lang="en-GB" sz="1680" dirty="0"/>
          </a:p>
        </p:txBody>
      </p:sp>
      <p:sp>
        <p:nvSpPr>
          <p:cNvPr id="9" name="roles-card-3"/>
          <p:cNvSpPr/>
          <p:nvPr/>
        </p:nvSpPr>
        <p:spPr>
          <a:xfrm>
            <a:off x="6248400" y="3543300"/>
            <a:ext cx="5334000" cy="1828800"/>
          </a:xfrm>
          <a:prstGeom prst="rect">
            <a:avLst/>
          </a:prstGeom>
          <a:solidFill>
            <a:srgbClr val="F4F4F4"/>
          </a:solidFill>
          <a:ln w="12700">
            <a:solidFill>
              <a:srgbClr val="F4F4F4"/>
            </a:solidFill>
            <a:prstDash val="solid"/>
          </a:ln>
        </p:spPr>
      </p:sp>
      <p:sp>
        <p:nvSpPr>
          <p:cNvPr id="10" name="Text 8"/>
          <p:cNvSpPr/>
          <p:nvPr/>
        </p:nvSpPr>
        <p:spPr>
          <a:xfrm>
            <a:off x="6248400" y="3543300"/>
            <a:ext cx="5334000" cy="1828800"/>
          </a:xfrm>
          <a:prstGeom prst="rect">
            <a:avLst/>
          </a:prstGeom>
          <a:noFill/>
          <a:ln/>
        </p:spPr>
        <p:txBody>
          <a:bodyPr wrap="square" lIns="63500" tIns="63500" rIns="63500" bIns="63500" rtlCol="0" anchor="ctr"/>
          <a:lstStyle/>
          <a:p>
            <a:pPr algn="l" indent="0" marL="0">
              <a:lnSpc>
                <a:spcPct val="128000"/>
              </a:lnSpc>
              <a:buNone/>
            </a:pPr>
            <a:r>
              <a:rPr lang="en-GB" altLang="en-US" sz="1680" dirty="0">
                <a:solidFill>
                  <a:srgbClr val="222222"/>
                </a:solidFill>
                <a:latin typeface="Arial" pitchFamily="34" charset="0"/>
                <a:ea typeface="Arial" pitchFamily="34" charset="-122"/>
                <a:cs typeface="Arial" pitchFamily="34" charset="-120"/>
              </a:rPr>
              <a:t>DingTalk</a:t>
            </a:r>
            <a:endParaRPr lang="en-GB" sz="1680" dirty="0"/>
          </a:p>
          <a:p>
            <a:pPr algn="l" indent="0" marL="0">
              <a:lnSpc>
                <a:spcPct val="128000"/>
              </a:lnSpc>
              <a:buNone/>
            </a:pPr>
            <a:endParaRPr lang="en-GB" sz="1680" dirty="0"/>
          </a:p>
          <a:p>
            <a:pPr algn="l" indent="0" marL="0">
              <a:lnSpc>
                <a:spcPct val="128000"/>
              </a:lnSpc>
              <a:buNone/>
            </a:pPr>
            <a:r>
              <a:rPr lang="en-GB" altLang="en-US" sz="1680" dirty="0">
                <a:solidFill>
                  <a:srgbClr val="222222"/>
                </a:solidFill>
                <a:latin typeface="Arial" pitchFamily="34" charset="0"/>
                <a:ea typeface="Arial" pitchFamily="34" charset="-122"/>
                <a:cs typeface="Arial" pitchFamily="34" charset="-120"/>
              </a:rPr>
              <a:t>Online documents, group messages and personal to-dos</a:t>
            </a:r>
            <a:endParaRPr lang="en-GB" sz="1680" dirty="0"/>
          </a:p>
          <a:p>
            <a:pPr algn="l" indent="0" marL="0">
              <a:lnSpc>
                <a:spcPct val="128000"/>
              </a:lnSpc>
              <a:buNone/>
            </a:pPr>
            <a:r>
              <a:rPr lang="en-GB" altLang="en-US" sz="1680" dirty="0">
                <a:solidFill>
                  <a:srgbClr val="222222"/>
                </a:solidFill>
                <a:latin typeface="Arial" pitchFamily="34" charset="0"/>
                <a:ea typeface="Arial" pitchFamily="34" charset="-122"/>
                <a:cs typeface="Arial" pitchFamily="34" charset="-120"/>
              </a:rPr>
              <a:t>Multi-person acceptance, execution and closure unverified</a:t>
            </a:r>
            <a:endParaRPr lang="en-GB" sz="1680" dirty="0"/>
          </a:p>
        </p:txBody>
      </p:sp>
      <p:sp>
        <p:nvSpPr>
          <p:cNvPr id="11" name="roles-source"/>
          <p:cNvSpPr/>
          <p:nvPr/>
        </p:nvSpPr>
        <p:spPr>
          <a:xfrm>
            <a:off x="609600" y="5448300"/>
            <a:ext cx="10972800" cy="647700"/>
          </a:xfrm>
          <a:prstGeom prst="rect">
            <a:avLst/>
          </a:prstGeom>
          <a:noFill/>
          <a:ln/>
        </p:spPr>
        <p:txBody>
          <a:bodyPr wrap="square" lIns="0" tIns="0" rIns="0" bIns="0" rtlCol="0" anchor="t"/>
          <a:lstStyle/>
          <a:p>
            <a:pPr algn="l" indent="0" marL="0">
              <a:lnSpc>
                <a:spcPct val="128000"/>
              </a:lnSpc>
              <a:buNone/>
            </a:pPr>
            <a:r>
              <a:rPr lang="en-GB" altLang="en-US" sz="1560" dirty="0">
                <a:solidFill>
                  <a:srgbClr val="222222"/>
                </a:solidFill>
                <a:latin typeface="Arial" pitchFamily="34" charset="0"/>
                <a:ea typeface="Arial" pitchFamily="34" charset="-122"/>
                <a:cs typeface="Arial" pitchFamily="34" charset="-120"/>
              </a:rPr>
              <a:t>Roles summarised from </a:t>
            </a:r>
            <a:pPr algn="l" indent="0" marL="0">
              <a:lnSpc>
                <a:spcPct val="128000"/>
              </a:lnSpc>
              <a:buNone/>
            </a:pPr>
            <a:r>
              <a:rPr lang="en-GB" altLang="en-US" sz="1560" u="sng" dirty="0">
                <a:solidFill>
                  <a:srgbClr val="B80010"/>
                </a:solidFill>
                <a:latin typeface="Arial" pitchFamily="34" charset="0"/>
                <a:ea typeface="Arial" pitchFamily="34" charset="-122"/>
                <a:cs typeface="Arial" pitchFamily="34" charset="-120"/>
                <a:hlinkClick r:id="rId1" action="ppaction://hlinksldjump" tooltip="">
                  <a:extLst>
                    <a:ext uri="{A12FA001-AC4F-418D-AE19-62706E023703}">
                      <ahyp:hlinkClr xmlns:ahyp="http://schemas.microsoft.com/office/drawing/2018/hyperlinkcolor" val="tx"/>
                    </a:ext>
                  </a:extLst>
                </a:hlinkClick>
              </a:rPr>
              <a:t>E20</a:t>
            </a:r>
            <a:pPr algn="l" indent="0" marL="0">
              <a:lnSpc>
                <a:spcPct val="128000"/>
              </a:lnSpc>
              <a:buNone/>
            </a:pPr>
            <a:r>
              <a:rPr lang="en-GB" altLang="en-US" sz="1560" dirty="0">
                <a:solidFill>
                  <a:srgbClr val="222222"/>
                </a:solidFill>
                <a:latin typeface="Arial" pitchFamily="34" charset="0"/>
                <a:ea typeface="Arial" pitchFamily="34" charset="-122"/>
                <a:cs typeface="Arial" pitchFamily="34" charset="-120"/>
              </a:rPr>
              <a:t>, </a:t>
            </a:r>
            <a:pPr algn="l" indent="0" marL="0">
              <a:lnSpc>
                <a:spcPct val="128000"/>
              </a:lnSpc>
              <a:buNone/>
            </a:pPr>
            <a:r>
              <a:rPr lang="en-GB" altLang="en-US" sz="1560" u="sng" dirty="0">
                <a:solidFill>
                  <a:srgbClr val="B80010"/>
                </a:solidFill>
                <a:latin typeface="Arial" pitchFamily="34" charset="0"/>
                <a:ea typeface="Arial" pitchFamily="34" charset="-122"/>
                <a:cs typeface="Arial" pitchFamily="34" charset="-120"/>
                <a:hlinkClick r:id="rId2" action="ppaction://hlinksldjump" tooltip="">
                  <a:extLst>
                    <a:ext uri="{A12FA001-AC4F-418D-AE19-62706E023703}">
                      <ahyp:hlinkClr xmlns:ahyp="http://schemas.microsoft.com/office/drawing/2018/hyperlinkcolor" val="tx"/>
                    </a:ext>
                  </a:extLst>
                </a:hlinkClick>
              </a:rPr>
              <a:t>E07</a:t>
            </a:r>
            <a:pPr algn="l" indent="0" marL="0">
              <a:lnSpc>
                <a:spcPct val="128000"/>
              </a:lnSpc>
              <a:buNone/>
            </a:pPr>
            <a:r>
              <a:rPr lang="en-GB" altLang="en-US" sz="1560" dirty="0">
                <a:solidFill>
                  <a:srgbClr val="222222"/>
                </a:solidFill>
                <a:latin typeface="Arial" pitchFamily="34" charset="0"/>
                <a:ea typeface="Arial" pitchFamily="34" charset="-122"/>
                <a:cs typeface="Arial" pitchFamily="34" charset="-120"/>
              </a:rPr>
              <a:t>–</a:t>
            </a:r>
            <a:pPr algn="l" indent="0" marL="0">
              <a:lnSpc>
                <a:spcPct val="128000"/>
              </a:lnSpc>
              <a:buNone/>
            </a:pPr>
            <a:r>
              <a:rPr lang="en-GB" altLang="en-US" sz="1560" u="sng" dirty="0">
                <a:solidFill>
                  <a:srgbClr val="B80010"/>
                </a:solidFill>
                <a:latin typeface="Arial" pitchFamily="34" charset="0"/>
                <a:ea typeface="Arial" pitchFamily="34" charset="-122"/>
                <a:cs typeface="Arial" pitchFamily="34" charset="-120"/>
                <a:hlinkClick r:id="rId3" action="ppaction://hlinksldjump" tooltip="">
                  <a:extLst>
                    <a:ext uri="{A12FA001-AC4F-418D-AE19-62706E023703}">
                      <ahyp:hlinkClr xmlns:ahyp="http://schemas.microsoft.com/office/drawing/2018/hyperlinkcolor" val="tx"/>
                    </a:ext>
                  </a:extLst>
                </a:hlinkClick>
              </a:rPr>
              <a:t>E09</a:t>
            </a:r>
            <a:pPr algn="l" indent="0" marL="0">
              <a:lnSpc>
                <a:spcPct val="128000"/>
              </a:lnSpc>
              <a:buNone/>
            </a:pPr>
            <a:r>
              <a:rPr lang="en-GB" altLang="en-US" sz="1560" dirty="0">
                <a:solidFill>
                  <a:srgbClr val="222222"/>
                </a:solidFill>
                <a:latin typeface="Arial" pitchFamily="34" charset="0"/>
                <a:ea typeface="Arial" pitchFamily="34" charset="-122"/>
                <a:cs typeface="Arial" pitchFamily="34" charset="-120"/>
              </a:rPr>
              <a:t>. Paths differ by scenario; this does not validate a complete workflow through to closure.</a:t>
            </a:r>
            <a:endParaRPr lang="en-GB" sz="1560" dirty="0"/>
          </a:p>
        </p:txBody>
      </p:sp>
      <p:sp>
        <p:nvSpPr>
          <p:cNvPr id="13" name="Text 1"/>
          <p:cNvSpPr/>
          <p:nvPr>
            <p:ph idx="102" type="body" hasCustomPrompt="1"/>
          </p:nvPr>
        </p:nvSpPr>
        <p:spPr>
          <a:xfrm>
            <a:off x="762000" y="2057400"/>
            <a:ext cx="5105400" cy="3886200"/>
          </a:xfrm>
          <a:prstGeom prst="rect">
            <a:avLst/>
          </a:prstGeom>
          <a:noFill/>
          <a:ln/>
        </p:spPr>
        <p:txBody>
          <a:bodyPr wrap="square" lIns="0" tIns="0" rIns="0" bIns="0" rtlCol="0" anchor="t"/>
          <a:lstStyle/>
          <a:p>
            <a:pPr indent="0" marL="0">
              <a:buNone/>
            </a:pPr>
            <a:endParaRPr lang="en-US" sz="1680" dirty="0"/>
          </a:p>
        </p:txBody>
      </p:sp>
      <p:sp>
        <p:nvSpPr>
          <p:cNvPr id="14" name="Text 1"/>
          <p:cNvSpPr/>
          <p:nvPr>
            <p:ph idx="103" type="body" hasCustomPrompt="1"/>
          </p:nvPr>
        </p:nvSpPr>
        <p:spPr>
          <a:xfrm>
            <a:off x="6324600" y="2057400"/>
            <a:ext cx="5105400" cy="3886200"/>
          </a:xfrm>
          <a:prstGeom prst="rect">
            <a:avLst/>
          </a:prstGeom>
          <a:noFill/>
          <a:ln/>
        </p:spPr>
        <p:txBody>
          <a:bodyPr wrap="square" lIns="0" tIns="0" rIns="0" bIns="0" rtlCol="0" anchor="t"/>
          <a:lstStyle/>
          <a:p>
            <a:pPr indent="0" marL="0">
              <a:buNone/>
            </a:pPr>
            <a:endParaRPr lang="en-US" sz="168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1"/>
          <p:cNvSpPr/>
          <p:nvPr>
            <p:ph idx="101" type="title" hasCustomPrompt="1"/>
          </p:nvPr>
        </p:nvSpPr>
        <p:spPr>
          <a:xfrm>
            <a:off x="381000" y="891540"/>
            <a:ext cx="11430000" cy="487680"/>
          </a:xfrm>
          <a:prstGeom prst="rect">
            <a:avLst/>
          </a:prstGeom>
          <a:noFill/>
          <a:ln/>
        </p:spPr>
        <p:txBody>
          <a:bodyPr wrap="square" lIns="0" tIns="0" rIns="0" bIns="0" rtlCol="0" anchor="t"/>
          <a:lstStyle/>
          <a:p>
            <a:pPr algn="l" indent="0" marL="0">
              <a:buNone/>
            </a:pPr>
            <a:r>
              <a:rPr lang="en-GB" altLang="en-US" sz="2400" b="1" spc="-84" kern="0" dirty="0">
                <a:solidFill>
                  <a:srgbClr val="000000"/>
                </a:solidFill>
                <a:latin typeface="Arial" pitchFamily="34" charset="0"/>
                <a:ea typeface="Arial" pitchFamily="34" charset="-122"/>
                <a:cs typeface="Arial" pitchFamily="34" charset="-120"/>
              </a:rPr>
              <a:t>2. Validate each control separately</a:t>
            </a:r>
            <a:endParaRPr lang="en-GB" sz="2400" dirty="0"/>
          </a:p>
        </p:txBody>
      </p:sp>
      <p:sp>
        <p:nvSpPr>
          <p:cNvPr id="3" name="body-08-1-item-0"/>
          <p:cNvSpPr/>
          <p:nvPr/>
        </p:nvSpPr>
        <p:spPr>
          <a:xfrm>
            <a:off x="609600" y="1600200"/>
            <a:ext cx="10972800" cy="1379220"/>
          </a:xfrm>
          <a:prstGeom prst="rect">
            <a:avLst/>
          </a:prstGeom>
          <a:noFill/>
          <a:ln/>
        </p:spPr>
        <p:txBody>
          <a:bodyPr wrap="square" lIns="0" tIns="0" rIns="0" bIns="0" rtlCol="0" anchor="t"/>
          <a:lstStyle/>
          <a:p>
            <a:pPr algn="l" indent="0" marL="0">
              <a:lnSpc>
                <a:spcPct val="128000"/>
              </a:lnSpc>
              <a:buNone/>
            </a:pPr>
            <a:r>
              <a:rPr lang="en-GB" altLang="en-US" sz="1920" dirty="0">
                <a:solidFill>
                  <a:srgbClr val="222222"/>
                </a:solidFill>
                <a:latin typeface="Arial" pitchFamily="34" charset="0"/>
                <a:ea typeface="Arial" pitchFamily="34" charset="-122"/>
                <a:cs typeface="Arial" pitchFamily="34" charset="-120"/>
              </a:rPr>
              <a:t>The demonstration contains useful positive observations: confirmation requested after contract extraction, customer analysis kept in the conversation, cross-organisation reading denied, invalid @mention format blocked, and some messages read back. [A/B: </a:t>
            </a:r>
            <a:pPr algn="l" indent="0" marL="0">
              <a:lnSpc>
                <a:spcPct val="128000"/>
              </a:lnSpc>
              <a:buNone/>
            </a:pPr>
            <a:r>
              <a:rPr lang="en-GB" altLang="en-US" sz="1920" u="sng" dirty="0">
                <a:solidFill>
                  <a:srgbClr val="B80010"/>
                </a:solidFill>
                <a:latin typeface="Arial" pitchFamily="34" charset="0"/>
                <a:ea typeface="Arial" pitchFamily="34" charset="-122"/>
                <a:cs typeface="Arial" pitchFamily="34" charset="-120"/>
                <a:hlinkClick r:id="rId1" action="ppaction://hlinksldjump" tooltip="">
                  <a:extLst>
                    <a:ext uri="{A12FA001-AC4F-418D-AE19-62706E023703}">
                      <ahyp:hlinkClr xmlns:ahyp="http://schemas.microsoft.com/office/drawing/2018/hyperlinkcolor" val="tx"/>
                    </a:ext>
                  </a:extLst>
                </a:hlinkClick>
              </a:rPr>
              <a:t>E03</a:t>
            </a:r>
            <a:pPr algn="l" indent="0" marL="0">
              <a:lnSpc>
                <a:spcPct val="128000"/>
              </a:lnSpc>
              <a:buNone/>
            </a:pPr>
            <a:r>
              <a:rPr lang="en-GB" altLang="en-US" sz="1920" dirty="0">
                <a:solidFill>
                  <a:srgbClr val="222222"/>
                </a:solidFill>
                <a:latin typeface="Arial" pitchFamily="34" charset="0"/>
                <a:ea typeface="Arial" pitchFamily="34" charset="-122"/>
                <a:cs typeface="Arial" pitchFamily="34" charset="-120"/>
              </a:rPr>
              <a:t>, </a:t>
            </a:r>
            <a:pPr algn="l" indent="0" marL="0">
              <a:lnSpc>
                <a:spcPct val="128000"/>
              </a:lnSpc>
              <a:buNone/>
            </a:pPr>
            <a:r>
              <a:rPr lang="en-GB" altLang="en-US" sz="1920" u="sng" dirty="0">
                <a:solidFill>
                  <a:srgbClr val="B80010"/>
                </a:solidFill>
                <a:latin typeface="Arial" pitchFamily="34" charset="0"/>
                <a:ea typeface="Arial" pitchFamily="34" charset="-122"/>
                <a:cs typeface="Arial" pitchFamily="34" charset="-120"/>
                <a:hlinkClick r:id="rId2" action="ppaction://hlinksldjump" tooltip="">
                  <a:extLst>
                    <a:ext uri="{A12FA001-AC4F-418D-AE19-62706E023703}">
                      <ahyp:hlinkClr xmlns:ahyp="http://schemas.microsoft.com/office/drawing/2018/hyperlinkcolor" val="tx"/>
                    </a:ext>
                  </a:extLst>
                </a:hlinkClick>
              </a:rPr>
              <a:t>E13</a:t>
            </a:r>
            <a:pPr algn="l" indent="0" marL="0">
              <a:lnSpc>
                <a:spcPct val="128000"/>
              </a:lnSpc>
              <a:buNone/>
            </a:pPr>
            <a:r>
              <a:rPr lang="en-GB" altLang="en-US" sz="1920" dirty="0">
                <a:solidFill>
                  <a:srgbClr val="222222"/>
                </a:solidFill>
                <a:latin typeface="Arial" pitchFamily="34" charset="0"/>
                <a:ea typeface="Arial" pitchFamily="34" charset="-122"/>
                <a:cs typeface="Arial" pitchFamily="34" charset="-120"/>
              </a:rPr>
              <a:t>–</a:t>
            </a:r>
            <a:pPr algn="l" indent="0" marL="0">
              <a:lnSpc>
                <a:spcPct val="128000"/>
              </a:lnSpc>
              <a:buNone/>
            </a:pPr>
            <a:r>
              <a:rPr lang="en-GB" altLang="en-US" sz="1920" u="sng" dirty="0">
                <a:solidFill>
                  <a:srgbClr val="B80010"/>
                </a:solidFill>
                <a:latin typeface="Arial" pitchFamily="34" charset="0"/>
                <a:ea typeface="Arial" pitchFamily="34" charset="-122"/>
                <a:cs typeface="Arial" pitchFamily="34" charset="-120"/>
                <a:hlinkClick r:id="rId3" action="ppaction://hlinksldjump" tooltip="">
                  <a:extLst>
                    <a:ext uri="{A12FA001-AC4F-418D-AE19-62706E023703}">
                      <ahyp:hlinkClr xmlns:ahyp="http://schemas.microsoft.com/office/drawing/2018/hyperlinkcolor" val="tx"/>
                    </a:ext>
                  </a:extLst>
                </a:hlinkClick>
              </a:rPr>
              <a:t>E14</a:t>
            </a:r>
            <a:pPr algn="l" indent="0" marL="0">
              <a:lnSpc>
                <a:spcPct val="128000"/>
              </a:lnSpc>
              <a:buNone/>
            </a:pPr>
            <a:r>
              <a:rPr lang="en-GB" altLang="en-US" sz="1920" dirty="0">
                <a:solidFill>
                  <a:srgbClr val="222222"/>
                </a:solidFill>
                <a:latin typeface="Arial" pitchFamily="34" charset="0"/>
                <a:ea typeface="Arial" pitchFamily="34" charset="-122"/>
                <a:cs typeface="Arial" pitchFamily="34" charset="-120"/>
              </a:rPr>
              <a:t>]</a:t>
            </a:r>
            <a:endParaRPr lang="en-GB" sz="1920" dirty="0"/>
          </a:p>
        </p:txBody>
      </p:sp>
      <p:sp>
        <p:nvSpPr>
          <p:cNvPr id="4" name="body-08-1-item-1"/>
          <p:cNvSpPr/>
          <p:nvPr/>
        </p:nvSpPr>
        <p:spPr>
          <a:xfrm>
            <a:off x="609600" y="3131820"/>
            <a:ext cx="10972800" cy="2346960"/>
          </a:xfrm>
          <a:prstGeom prst="rect">
            <a:avLst/>
          </a:prstGeom>
          <a:noFill/>
          <a:ln/>
        </p:spPr>
        <p:txBody>
          <a:bodyPr wrap="square" lIns="0" tIns="0" rIns="0" bIns="0" rtlCol="0" anchor="t"/>
          <a:lstStyle/>
          <a:p>
            <a:pPr algn="l" indent="0" marL="0">
              <a:lnSpc>
                <a:spcPct val="128000"/>
              </a:lnSpc>
              <a:buNone/>
            </a:pPr>
            <a:r>
              <a:rPr lang="en-GB" altLang="en-US" sz="1920" dirty="0">
                <a:solidFill>
                  <a:srgbClr val="222222"/>
                </a:solidFill>
                <a:latin typeface="Arial" pitchFamily="34" charset="0"/>
                <a:ea typeface="Arial" pitchFamily="34" charset="-122"/>
                <a:cs typeface="Arial" pitchFamily="34" charset="-120"/>
              </a:rPr>
              <a:t>These controls serve different purposes. Format validation is not business approval. A skill's instruction not to post to a group does not prove all conflicting instructions are blocked. One confirmation request does not prove confirmation always matches the eventual write. Not clicking the agreement does not establish that AI acted without authorisation; inspect the specific confirmation and execution sequence. Test refusal, changes, retries, wrong destinations and insufficient permissions separately. [C/D: </a:t>
            </a:r>
            <a:pPr algn="l" indent="0" marL="0">
              <a:lnSpc>
                <a:spcPct val="128000"/>
              </a:lnSpc>
              <a:buNone/>
            </a:pPr>
            <a:r>
              <a:rPr lang="en-GB" altLang="en-US" sz="1920" u="sng" dirty="0">
                <a:solidFill>
                  <a:srgbClr val="B80010"/>
                </a:solidFill>
                <a:latin typeface="Arial" pitchFamily="34" charset="0"/>
                <a:ea typeface="Arial" pitchFamily="34" charset="-122"/>
                <a:cs typeface="Arial" pitchFamily="34" charset="-120"/>
                <a:hlinkClick r:id="rId4" action="ppaction://hlinksldjump" tooltip="">
                  <a:extLst>
                    <a:ext uri="{A12FA001-AC4F-418D-AE19-62706E023703}">
                      <ahyp:hlinkClr xmlns:ahyp="http://schemas.microsoft.com/office/drawing/2018/hyperlinkcolor" val="tx"/>
                    </a:ext>
                  </a:extLst>
                </a:hlinkClick>
              </a:rPr>
              <a:t>E14</a:t>
            </a:r>
            <a:pPr algn="l" indent="0" marL="0">
              <a:lnSpc>
                <a:spcPct val="128000"/>
              </a:lnSpc>
              <a:buNone/>
            </a:pPr>
            <a:r>
              <a:rPr lang="en-GB" altLang="en-US" sz="1920" dirty="0">
                <a:solidFill>
                  <a:srgbClr val="222222"/>
                </a:solidFill>
                <a:latin typeface="Arial" pitchFamily="34" charset="0"/>
                <a:ea typeface="Arial" pitchFamily="34" charset="-122"/>
                <a:cs typeface="Arial" pitchFamily="34" charset="-120"/>
              </a:rPr>
              <a:t>]</a:t>
            </a:r>
            <a:endParaRPr lang="en-GB" sz="1920" dirty="0"/>
          </a:p>
        </p:txBody>
      </p:sp>
      <p:sp>
        <p:nvSpPr>
          <p:cNvPr id="6" name="Text 1"/>
          <p:cNvSpPr/>
          <p:nvPr>
            <p:ph idx="102" type="body" hasCustomPrompt="1"/>
          </p:nvPr>
        </p:nvSpPr>
        <p:spPr>
          <a:xfrm>
            <a:off x="762000" y="2057400"/>
            <a:ext cx="10668000" cy="3886200"/>
          </a:xfrm>
          <a:prstGeom prst="rect">
            <a:avLst/>
          </a:prstGeom>
          <a:noFill/>
          <a:ln/>
        </p:spPr>
        <p:txBody>
          <a:bodyPr wrap="square" lIns="0" tIns="0" rIns="0" bIns="0" rtlCol="0" anchor="t"/>
          <a:lstStyle/>
          <a:p>
            <a:pPr indent="0" marL="0">
              <a:buNone/>
            </a:pPr>
            <a:endParaRPr lang="en-US" sz="168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1"/>
          <p:cNvSpPr/>
          <p:nvPr>
            <p:ph idx="101" type="title" hasCustomPrompt="1"/>
          </p:nvPr>
        </p:nvSpPr>
        <p:spPr>
          <a:xfrm>
            <a:off x="381000" y="891540"/>
            <a:ext cx="11430000" cy="487680"/>
          </a:xfrm>
          <a:prstGeom prst="rect">
            <a:avLst/>
          </a:prstGeom>
          <a:noFill/>
          <a:ln/>
        </p:spPr>
        <p:txBody>
          <a:bodyPr wrap="square" lIns="0" tIns="0" rIns="0" bIns="0" rtlCol="0" anchor="t"/>
          <a:lstStyle/>
          <a:p>
            <a:pPr algn="l" indent="0" marL="0">
              <a:buNone/>
            </a:pPr>
            <a:r>
              <a:rPr lang="en-GB" altLang="en-US" sz="2400" b="1" spc="-84" kern="0" dirty="0">
                <a:solidFill>
                  <a:srgbClr val="000000"/>
                </a:solidFill>
                <a:latin typeface="Arial" pitchFamily="34" charset="0"/>
                <a:ea typeface="Arial" pitchFamily="34" charset="-122"/>
                <a:cs typeface="Arial" pitchFamily="34" charset="-120"/>
              </a:rPr>
              <a:t>3. Check both fields and interpretation</a:t>
            </a:r>
            <a:endParaRPr lang="en-GB" sz="2400" dirty="0"/>
          </a:p>
        </p:txBody>
      </p:sp>
      <p:sp>
        <p:nvSpPr>
          <p:cNvPr id="3" name="body-09-1-item-0"/>
          <p:cNvSpPr/>
          <p:nvPr/>
        </p:nvSpPr>
        <p:spPr>
          <a:xfrm>
            <a:off x="609600" y="1600200"/>
            <a:ext cx="10972800" cy="2026920"/>
          </a:xfrm>
          <a:prstGeom prst="rect">
            <a:avLst/>
          </a:prstGeom>
          <a:noFill/>
          <a:ln/>
        </p:spPr>
        <p:txBody>
          <a:bodyPr wrap="square" lIns="0" tIns="0" rIns="0" bIns="0" rtlCol="0" anchor="t"/>
          <a:lstStyle/>
          <a:p>
            <a:pPr algn="l" indent="0" marL="0">
              <a:lnSpc>
                <a:spcPct val="128000"/>
              </a:lnSpc>
              <a:buNone/>
            </a:pPr>
            <a:r>
              <a:rPr lang="en-GB" altLang="en-US" sz="1920" dirty="0">
                <a:solidFill>
                  <a:srgbClr val="222222"/>
                </a:solidFill>
                <a:latin typeface="Arial" pitchFamily="34" charset="0"/>
                <a:ea typeface="Arial" pitchFamily="34" charset="-122"/>
                <a:cs typeface="Arial" pitchFamily="34" charset="-120"/>
              </a:rPr>
              <a:t>The customer-analysis API returned business amounts, project counts, expiry dates and status. The assistant further asserted that renewal or extension formalities were incomplete and revenue lacked contractual protection. The input did not establish these conclusions; customer resource priorities also lacked complete payment and return information. Reading material correctly does not guarantee a valid business interpretation. [A/C: </a:t>
            </a:r>
            <a:pPr algn="l" indent="0" marL="0">
              <a:lnSpc>
                <a:spcPct val="128000"/>
              </a:lnSpc>
              <a:buNone/>
            </a:pPr>
            <a:r>
              <a:rPr lang="en-GB" altLang="en-US" sz="1920" u="sng" dirty="0">
                <a:solidFill>
                  <a:srgbClr val="B80010"/>
                </a:solidFill>
                <a:latin typeface="Arial" pitchFamily="34" charset="0"/>
                <a:ea typeface="Arial" pitchFamily="34" charset="-122"/>
                <a:cs typeface="Arial" pitchFamily="34" charset="-120"/>
                <a:hlinkClick r:id="rId1" action="ppaction://hlinksldjump" tooltip="">
                  <a:extLst>
                    <a:ext uri="{A12FA001-AC4F-418D-AE19-62706E023703}">
                      <ahyp:hlinkClr xmlns:ahyp="http://schemas.microsoft.com/office/drawing/2018/hyperlinkcolor" val="tx"/>
                    </a:ext>
                  </a:extLst>
                </a:hlinkClick>
              </a:rPr>
              <a:t>E12</a:t>
            </a:r>
            <a:pPr algn="l" indent="0" marL="0">
              <a:lnSpc>
                <a:spcPct val="128000"/>
              </a:lnSpc>
              <a:buNone/>
            </a:pPr>
            <a:r>
              <a:rPr lang="en-GB" altLang="en-US" sz="1920" dirty="0">
                <a:solidFill>
                  <a:srgbClr val="222222"/>
                </a:solidFill>
                <a:latin typeface="Arial" pitchFamily="34" charset="0"/>
                <a:ea typeface="Arial" pitchFamily="34" charset="-122"/>
                <a:cs typeface="Arial" pitchFamily="34" charset="-120"/>
              </a:rPr>
              <a:t>]</a:t>
            </a:r>
            <a:endParaRPr lang="en-GB" sz="1920" dirty="0"/>
          </a:p>
        </p:txBody>
      </p:sp>
      <p:sp>
        <p:nvSpPr>
          <p:cNvPr id="4" name="body-09-1-item-1"/>
          <p:cNvSpPr/>
          <p:nvPr/>
        </p:nvSpPr>
        <p:spPr>
          <a:xfrm>
            <a:off x="609600" y="3779520"/>
            <a:ext cx="10972800" cy="1379220"/>
          </a:xfrm>
          <a:prstGeom prst="rect">
            <a:avLst/>
          </a:prstGeom>
          <a:noFill/>
          <a:ln/>
        </p:spPr>
        <p:txBody>
          <a:bodyPr wrap="square" lIns="0" tIns="0" rIns="0" bIns="0" rtlCol="0" anchor="t"/>
          <a:lstStyle/>
          <a:p>
            <a:pPr algn="l" indent="0" marL="0">
              <a:lnSpc>
                <a:spcPct val="128000"/>
              </a:lnSpc>
              <a:buNone/>
            </a:pPr>
            <a:r>
              <a:rPr lang="en-GB" altLang="en-US" sz="1920" dirty="0">
                <a:solidFill>
                  <a:srgbClr val="222222"/>
                </a:solidFill>
                <a:latin typeface="Arial" pitchFamily="34" charset="0"/>
                <a:ea typeface="Arial" pitchFamily="34" charset="-122"/>
                <a:cs typeface="Arial" pitchFamily="34" charset="-120"/>
              </a:rPr>
              <a:t>Likewise, an unsupported diagnosis of the inspection problem entered the retrospective and was then described as fixed in a draft. AI summaries should retain raw returns and the basis for human corrections. One AI summary cannot independently substantiate another. [C: </a:t>
            </a:r>
            <a:pPr algn="l" indent="0" marL="0">
              <a:lnSpc>
                <a:spcPct val="128000"/>
              </a:lnSpc>
              <a:buNone/>
            </a:pPr>
            <a:r>
              <a:rPr lang="en-GB" altLang="en-US" sz="1920" u="sng" dirty="0">
                <a:solidFill>
                  <a:srgbClr val="B80010"/>
                </a:solidFill>
                <a:latin typeface="Arial" pitchFamily="34" charset="0"/>
                <a:ea typeface="Arial" pitchFamily="34" charset="-122"/>
                <a:cs typeface="Arial" pitchFamily="34" charset="-120"/>
                <a:hlinkClick r:id="rId2" action="ppaction://hlinksldjump" tooltip="">
                  <a:extLst>
                    <a:ext uri="{A12FA001-AC4F-418D-AE19-62706E023703}">
                      <ahyp:hlinkClr xmlns:ahyp="http://schemas.microsoft.com/office/drawing/2018/hyperlinkcolor" val="tx"/>
                    </a:ext>
                  </a:extLst>
                </a:hlinkClick>
              </a:rPr>
              <a:t>E10</a:t>
            </a:r>
            <a:pPr algn="l" indent="0" marL="0">
              <a:lnSpc>
                <a:spcPct val="128000"/>
              </a:lnSpc>
              <a:buNone/>
            </a:pPr>
            <a:r>
              <a:rPr lang="en-GB" altLang="en-US" sz="1920" dirty="0">
                <a:solidFill>
                  <a:srgbClr val="222222"/>
                </a:solidFill>
                <a:latin typeface="Arial" pitchFamily="34" charset="0"/>
                <a:ea typeface="Arial" pitchFamily="34" charset="-122"/>
                <a:cs typeface="Arial" pitchFamily="34" charset="-120"/>
              </a:rPr>
              <a:t>]</a:t>
            </a:r>
            <a:endParaRPr lang="en-GB" sz="1920" dirty="0"/>
          </a:p>
        </p:txBody>
      </p:sp>
      <p:sp>
        <p:nvSpPr>
          <p:cNvPr id="6" name="Text 1"/>
          <p:cNvSpPr/>
          <p:nvPr>
            <p:ph idx="102" type="body" hasCustomPrompt="1"/>
          </p:nvPr>
        </p:nvSpPr>
        <p:spPr>
          <a:xfrm>
            <a:off x="762000" y="2057400"/>
            <a:ext cx="10668000" cy="3886200"/>
          </a:xfrm>
          <a:prstGeom prst="rect">
            <a:avLst/>
          </a:prstGeom>
          <a:noFill/>
          <a:ln/>
        </p:spPr>
        <p:txBody>
          <a:bodyPr wrap="square" lIns="0" tIns="0" rIns="0" bIns="0" rtlCol="0" anchor="t"/>
          <a:lstStyle/>
          <a:p>
            <a:pPr indent="0" marL="0">
              <a:buNone/>
            </a:pPr>
            <a:endParaRPr lang="en-US" sz="168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1"/>
          <p:cNvSpPr/>
          <p:nvPr>
            <p:ph idx="101" type="title" hasCustomPrompt="1"/>
          </p:nvPr>
        </p:nvSpPr>
        <p:spPr>
          <a:xfrm>
            <a:off x="381000" y="891540"/>
            <a:ext cx="11430000" cy="487680"/>
          </a:xfrm>
          <a:prstGeom prst="rect">
            <a:avLst/>
          </a:prstGeom>
          <a:noFill/>
          <a:ln/>
        </p:spPr>
        <p:txBody>
          <a:bodyPr wrap="square" lIns="0" tIns="0" rIns="0" bIns="0" rtlCol="0" anchor="t"/>
          <a:lstStyle/>
          <a:p>
            <a:pPr algn="l" indent="0" marL="0">
              <a:buNone/>
            </a:pPr>
            <a:r>
              <a:rPr lang="en-GB" altLang="en-US" sz="2400" b="1" spc="-84" kern="0" dirty="0">
                <a:solidFill>
                  <a:srgbClr val="000000"/>
                </a:solidFill>
                <a:latin typeface="Arial" pitchFamily="34" charset="0"/>
                <a:ea typeface="Arial" pitchFamily="34" charset="-122"/>
                <a:cs typeface="Arial" pitchFamily="34" charset="-120"/>
              </a:rPr>
              <a:t>4. Feasibility is not proof of benefit</a:t>
            </a:r>
            <a:endParaRPr lang="en-GB" sz="2400" dirty="0"/>
          </a:p>
        </p:txBody>
      </p:sp>
      <p:graphicFrame>
        <p:nvGraphicFramePr>
          <p:cNvPr id="29" name="body-10-1-item-0"/>
          <p:cNvGraphicFramePr>
            <a:graphicFrameLocks noGrp="1"/>
          </p:cNvGraphicFramePr>
          <p:nvPr>
            <p:extLst>
              <p:ext uri="{D42A27DB-BD31-4B8C-83A1-F6EECF244321}">
                <p14:modId xmlns:p14="http://schemas.microsoft.com/office/powerpoint/2010/main" val="1579011935"/>
              </p:ext>
            </p:extLst>
          </p:nvPr>
        </p:nvGraphicFramePr>
        <p:xfrm>
          <a:off x="609600" y="1600200"/>
          <a:ext cx="10972800" cy="3718560"/>
        </p:xfrm>
        <a:graphic>
          <a:graphicData uri="http://schemas.openxmlformats.org/drawingml/2006/table">
            <a:tbl>
              <a:tblPr/>
              <a:tblGrid>
                <a:gridCol w="3657600"/>
                <a:gridCol w="3657600"/>
                <a:gridCol w="3657600"/>
              </a:tblGrid>
              <a:tr h="929640">
                <a:tc>
                  <a:txBody>
                    <a:bodyPr/>
                    <a:lstStyle/>
                    <a:p>
                      <a:pPr algn="l" indent="0" marL="0">
                        <a:buNone/>
                      </a:pPr>
                      <a:r>
                        <a:rPr lang="en-US" sz="1560" b="1" dirty="0">
                          <a:solidFill>
                            <a:srgbClr val="FFFFFF"/>
                          </a:solidFill>
                          <a:latin typeface="Arial" pitchFamily="34" charset="0"/>
                          <a:ea typeface="Arial" pitchFamily="34" charset="-122"/>
                          <a:cs typeface="Arial" pitchFamily="34" charset="-120"/>
                        </a:rPr>
                        <a:t>Level of judgement</a:t>
                      </a:r>
                      <a:endParaRPr lang="en-US" sz="1560" dirty="0">
                        <a:latin typeface="Arial" charset="0"/>
                        <a:ea typeface="Arial" charset="0"/>
                        <a:cs typeface="Arial" charset="0"/>
                      </a:endParaRPr>
                    </a:p>
                  </a:txBody>
                  <a:tcPr marL="106680" marR="106680" marT="60960" marB="60960" anchor="mid">
                    <a:lnL w="6350" cap="flat" cmpd="sng" algn="ctr">
                      <a:solidFill>
                        <a:srgbClr val="D7D7D7"/>
                      </a:solidFill>
                      <a:prstDash val="solid"/>
                      <a:round/>
                      <a:headEnd type="none" w="med" len="med"/>
                      <a:tailEnd type="none" w="med" len="med"/>
                    </a:lnL>
                    <a:lnR w="6350" cap="flat" cmpd="sng" algn="ctr">
                      <a:solidFill>
                        <a:srgbClr val="D7D7D7"/>
                      </a:solidFill>
                      <a:prstDash val="solid"/>
                      <a:round/>
                      <a:headEnd type="none" w="med" len="med"/>
                      <a:tailEnd type="none" w="med" len="med"/>
                    </a:lnR>
                    <a:lnT w="6350" cap="flat" cmpd="sng" algn="ctr">
                      <a:solidFill>
                        <a:srgbClr val="D7D7D7"/>
                      </a:solidFill>
                      <a:prstDash val="solid"/>
                      <a:round/>
                      <a:headEnd type="none" w="med" len="med"/>
                      <a:tailEnd type="none" w="med" len="med"/>
                    </a:lnT>
                    <a:lnB w="6350" cap="flat" cmpd="sng" algn="ctr">
                      <a:solidFill>
                        <a:srgbClr val="D7D7D7"/>
                      </a:solidFill>
                      <a:prstDash val="solid"/>
                      <a:round/>
                      <a:headEnd type="none" w="med" len="med"/>
                      <a:tailEnd type="none" w="med" len="med"/>
                    </a:lnB>
                    <a:solidFill>
                      <a:srgbClr val="DB0011"/>
                    </a:solidFill>
                  </a:tcPr>
                </a:tc>
                <a:tc>
                  <a:txBody>
                    <a:bodyPr/>
                    <a:lstStyle/>
                    <a:p>
                      <a:pPr algn="l" indent="0" marL="0">
                        <a:buNone/>
                      </a:pPr>
                      <a:r>
                        <a:rPr lang="en-US" sz="1560" b="1" dirty="0">
                          <a:solidFill>
                            <a:srgbClr val="FFFFFF"/>
                          </a:solidFill>
                          <a:latin typeface="Arial" pitchFamily="34" charset="0"/>
                          <a:ea typeface="Arial" pitchFamily="34" charset="-122"/>
                          <a:cs typeface="Arial" pitchFamily="34" charset="-120"/>
                        </a:rPr>
                        <a:t>Current basis</a:t>
                      </a:r>
                      <a:endParaRPr lang="en-US" sz="1560" dirty="0">
                        <a:latin typeface="Arial" charset="0"/>
                        <a:ea typeface="Arial" charset="0"/>
                        <a:cs typeface="Arial" charset="0"/>
                      </a:endParaRPr>
                    </a:p>
                  </a:txBody>
                  <a:tcPr marL="106680" marR="106680" marT="60960" marB="60960" anchor="mid">
                    <a:lnL w="6350" cap="flat" cmpd="sng" algn="ctr">
                      <a:solidFill>
                        <a:srgbClr val="D7D7D7"/>
                      </a:solidFill>
                      <a:prstDash val="solid"/>
                      <a:round/>
                      <a:headEnd type="none" w="med" len="med"/>
                      <a:tailEnd type="none" w="med" len="med"/>
                    </a:lnL>
                    <a:lnR w="6350" cap="flat" cmpd="sng" algn="ctr">
                      <a:solidFill>
                        <a:srgbClr val="D7D7D7"/>
                      </a:solidFill>
                      <a:prstDash val="solid"/>
                      <a:round/>
                      <a:headEnd type="none" w="med" len="med"/>
                      <a:tailEnd type="none" w="med" len="med"/>
                    </a:lnR>
                    <a:lnT w="6350" cap="flat" cmpd="sng" algn="ctr">
                      <a:solidFill>
                        <a:srgbClr val="D7D7D7"/>
                      </a:solidFill>
                      <a:prstDash val="solid"/>
                      <a:round/>
                      <a:headEnd type="none" w="med" len="med"/>
                      <a:tailEnd type="none" w="med" len="med"/>
                    </a:lnT>
                    <a:lnB w="6350" cap="flat" cmpd="sng" algn="ctr">
                      <a:solidFill>
                        <a:srgbClr val="D7D7D7"/>
                      </a:solidFill>
                      <a:prstDash val="solid"/>
                      <a:round/>
                      <a:headEnd type="none" w="med" len="med"/>
                      <a:tailEnd type="none" w="med" len="med"/>
                    </a:lnB>
                    <a:solidFill>
                      <a:srgbClr val="DB0011"/>
                    </a:solidFill>
                  </a:tcPr>
                </a:tc>
                <a:tc>
                  <a:txBody>
                    <a:bodyPr/>
                    <a:lstStyle/>
                    <a:p>
                      <a:pPr algn="l" indent="0" marL="0">
                        <a:buNone/>
                      </a:pPr>
                      <a:r>
                        <a:rPr lang="en-US" sz="1560" b="1" dirty="0">
                          <a:solidFill>
                            <a:srgbClr val="FFFFFF"/>
                          </a:solidFill>
                          <a:latin typeface="Arial" pitchFamily="34" charset="0"/>
                          <a:ea typeface="Arial" pitchFamily="34" charset="-122"/>
                          <a:cs typeface="Arial" pitchFamily="34" charset="-120"/>
                        </a:rPr>
                        <a:t>Conclusion</a:t>
                      </a:r>
                      <a:endParaRPr lang="en-US" sz="1560" dirty="0">
                        <a:latin typeface="Arial" charset="0"/>
                        <a:ea typeface="Arial" charset="0"/>
                        <a:cs typeface="Arial" charset="0"/>
                      </a:endParaRPr>
                    </a:p>
                  </a:txBody>
                  <a:tcPr marL="106680" marR="106680" marT="60960" marB="60960" anchor="mid">
                    <a:lnL w="6350" cap="flat" cmpd="sng" algn="ctr">
                      <a:solidFill>
                        <a:srgbClr val="D7D7D7"/>
                      </a:solidFill>
                      <a:prstDash val="solid"/>
                      <a:round/>
                      <a:headEnd type="none" w="med" len="med"/>
                      <a:tailEnd type="none" w="med" len="med"/>
                    </a:lnL>
                    <a:lnR w="6350" cap="flat" cmpd="sng" algn="ctr">
                      <a:solidFill>
                        <a:srgbClr val="D7D7D7"/>
                      </a:solidFill>
                      <a:prstDash val="solid"/>
                      <a:round/>
                      <a:headEnd type="none" w="med" len="med"/>
                      <a:tailEnd type="none" w="med" len="med"/>
                    </a:lnR>
                    <a:lnT w="6350" cap="flat" cmpd="sng" algn="ctr">
                      <a:solidFill>
                        <a:srgbClr val="D7D7D7"/>
                      </a:solidFill>
                      <a:prstDash val="solid"/>
                      <a:round/>
                      <a:headEnd type="none" w="med" len="med"/>
                      <a:tailEnd type="none" w="med" len="med"/>
                    </a:lnT>
                    <a:lnB w="6350" cap="flat" cmpd="sng" algn="ctr">
                      <a:solidFill>
                        <a:srgbClr val="D7D7D7"/>
                      </a:solidFill>
                      <a:prstDash val="solid"/>
                      <a:round/>
                      <a:headEnd type="none" w="med" len="med"/>
                      <a:tailEnd type="none" w="med" len="med"/>
                    </a:lnB>
                    <a:solidFill>
                      <a:srgbClr val="DB0011"/>
                    </a:solidFill>
                  </a:tcPr>
                </a:tc>
              </a:tr>
              <a:tr h="929640">
                <a:tc>
                  <a:txBody>
                    <a:bodyPr/>
                    <a:lstStyle/>
                    <a:p>
                      <a:pPr algn="l" indent="0" marL="0">
                        <a:buNone/>
                      </a:pPr>
                      <a:r>
                        <a:rPr lang="en-US" sz="1560" dirty="0">
                          <a:solidFill>
                            <a:srgbClr val="000000"/>
                          </a:solidFill>
                          <a:latin typeface="Arial" pitchFamily="34" charset="0"/>
                          <a:ea typeface="Arial" pitchFamily="34" charset="-122"/>
                          <a:cs typeface="Arial" pitchFamily="34" charset="-120"/>
                        </a:rPr>
                        <a:t>Functions work</a:t>
                      </a:r>
                      <a:endParaRPr lang="en-US" sz="1560" dirty="0">
                        <a:latin typeface="Arial" charset="0"/>
                        <a:ea typeface="Arial" charset="0"/>
                        <a:cs typeface="Arial" charset="0"/>
                      </a:endParaRPr>
                    </a:p>
                  </a:txBody>
                  <a:tcPr marL="106680" marR="106680" marT="60960" marB="60960" anchor="mid">
                    <a:lnL w="6350" cap="flat" cmpd="sng" algn="ctr">
                      <a:solidFill>
                        <a:srgbClr val="D7D7D7"/>
                      </a:solidFill>
                      <a:prstDash val="solid"/>
                      <a:round/>
                      <a:headEnd type="none" w="med" len="med"/>
                      <a:tailEnd type="none" w="med" len="med"/>
                    </a:lnL>
                    <a:lnR w="6350" cap="flat" cmpd="sng" algn="ctr">
                      <a:solidFill>
                        <a:srgbClr val="D7D7D7"/>
                      </a:solidFill>
                      <a:prstDash val="solid"/>
                      <a:round/>
                      <a:headEnd type="none" w="med" len="med"/>
                      <a:tailEnd type="none" w="med" len="med"/>
                    </a:lnR>
                    <a:lnT w="6350" cap="flat" cmpd="sng" algn="ctr">
                      <a:solidFill>
                        <a:srgbClr val="D7D7D7"/>
                      </a:solidFill>
                      <a:prstDash val="solid"/>
                      <a:round/>
                      <a:headEnd type="none" w="med" len="med"/>
                      <a:tailEnd type="none" w="med" len="med"/>
                    </a:lnT>
                    <a:lnB w="6350" cap="flat" cmpd="sng" algn="ctr">
                      <a:solidFill>
                        <a:srgbClr val="D7D7D7"/>
                      </a:solidFill>
                      <a:prstDash val="solid"/>
                      <a:round/>
                      <a:headEnd type="none" w="med" len="med"/>
                      <a:tailEnd type="none" w="med" len="med"/>
                    </a:lnB>
                    <a:solidFill>
                      <a:srgbClr val="F4F4F4"/>
                    </a:solidFill>
                  </a:tcPr>
                </a:tc>
                <a:tc>
                  <a:txBody>
                    <a:bodyPr/>
                    <a:lstStyle/>
                    <a:p>
                      <a:pPr algn="l" indent="0" marL="0">
                        <a:buNone/>
                      </a:pPr>
                      <a:r>
                        <a:rPr lang="en-US" sz="1560" dirty="0">
                          <a:solidFill>
                            <a:srgbClr val="000000"/>
                          </a:solidFill>
                          <a:latin typeface="Arial" pitchFamily="34" charset="0"/>
                          <a:ea typeface="Arial" pitchFamily="34" charset="-122"/>
                          <a:cs typeface="Arial" pitchFamily="34" charset="-120"/>
                        </a:rPr>
                        <a:t>Records of document reading, tracking writes, to-do creation and message readback</a:t>
                      </a:r>
                      <a:endParaRPr lang="en-US" sz="1560" dirty="0">
                        <a:latin typeface="Arial" charset="0"/>
                        <a:ea typeface="Arial" charset="0"/>
                        <a:cs typeface="Arial" charset="0"/>
                      </a:endParaRPr>
                    </a:p>
                  </a:txBody>
                  <a:tcPr marL="106680" marR="106680" marT="60960" marB="60960" anchor="mid">
                    <a:lnL w="6350" cap="flat" cmpd="sng" algn="ctr">
                      <a:solidFill>
                        <a:srgbClr val="D7D7D7"/>
                      </a:solidFill>
                      <a:prstDash val="solid"/>
                      <a:round/>
                      <a:headEnd type="none" w="med" len="med"/>
                      <a:tailEnd type="none" w="med" len="med"/>
                    </a:lnL>
                    <a:lnR w="6350" cap="flat" cmpd="sng" algn="ctr">
                      <a:solidFill>
                        <a:srgbClr val="D7D7D7"/>
                      </a:solidFill>
                      <a:prstDash val="solid"/>
                      <a:round/>
                      <a:headEnd type="none" w="med" len="med"/>
                      <a:tailEnd type="none" w="med" len="med"/>
                    </a:lnR>
                    <a:lnT w="6350" cap="flat" cmpd="sng" algn="ctr">
                      <a:solidFill>
                        <a:srgbClr val="D7D7D7"/>
                      </a:solidFill>
                      <a:prstDash val="solid"/>
                      <a:round/>
                      <a:headEnd type="none" w="med" len="med"/>
                      <a:tailEnd type="none" w="med" len="med"/>
                    </a:lnT>
                    <a:lnB w="6350" cap="flat" cmpd="sng" algn="ctr">
                      <a:solidFill>
                        <a:srgbClr val="D7D7D7"/>
                      </a:solidFill>
                      <a:prstDash val="solid"/>
                      <a:round/>
                      <a:headEnd type="none" w="med" len="med"/>
                      <a:tailEnd type="none" w="med" len="med"/>
                    </a:lnB>
                    <a:solidFill>
                      <a:srgbClr val="F4F4F4"/>
                    </a:solidFill>
                  </a:tcPr>
                </a:tc>
                <a:tc>
                  <a:txBody>
                    <a:bodyPr/>
                    <a:lstStyle/>
                    <a:p>
                      <a:pPr algn="l" indent="0" marL="0">
                        <a:buNone/>
                      </a:pPr>
                      <a:r>
                        <a:rPr lang="en-US" sz="1560" dirty="0">
                          <a:solidFill>
                            <a:srgbClr val="000000"/>
                          </a:solidFill>
                          <a:latin typeface="Arial" pitchFamily="34" charset="0"/>
                          <a:ea typeface="Arial" pitchFamily="34" charset="-122"/>
                          <a:cs typeface="Arial" pitchFamily="34" charset="-120"/>
                        </a:rPr>
                        <a:t>Several functions worked under those conditions</a:t>
                      </a:r>
                      <a:endParaRPr lang="en-US" sz="1560" dirty="0">
                        <a:latin typeface="Arial" charset="0"/>
                        <a:ea typeface="Arial" charset="0"/>
                        <a:cs typeface="Arial" charset="0"/>
                      </a:endParaRPr>
                    </a:p>
                  </a:txBody>
                  <a:tcPr marL="106680" marR="106680" marT="60960" marB="60960" anchor="mid">
                    <a:lnL w="6350" cap="flat" cmpd="sng" algn="ctr">
                      <a:solidFill>
                        <a:srgbClr val="D7D7D7"/>
                      </a:solidFill>
                      <a:prstDash val="solid"/>
                      <a:round/>
                      <a:headEnd type="none" w="med" len="med"/>
                      <a:tailEnd type="none" w="med" len="med"/>
                    </a:lnL>
                    <a:lnR w="6350" cap="flat" cmpd="sng" algn="ctr">
                      <a:solidFill>
                        <a:srgbClr val="D7D7D7"/>
                      </a:solidFill>
                      <a:prstDash val="solid"/>
                      <a:round/>
                      <a:headEnd type="none" w="med" len="med"/>
                      <a:tailEnd type="none" w="med" len="med"/>
                    </a:lnR>
                    <a:lnT w="6350" cap="flat" cmpd="sng" algn="ctr">
                      <a:solidFill>
                        <a:srgbClr val="D7D7D7"/>
                      </a:solidFill>
                      <a:prstDash val="solid"/>
                      <a:round/>
                      <a:headEnd type="none" w="med" len="med"/>
                      <a:tailEnd type="none" w="med" len="med"/>
                    </a:lnT>
                    <a:lnB w="6350" cap="flat" cmpd="sng" algn="ctr">
                      <a:solidFill>
                        <a:srgbClr val="D7D7D7"/>
                      </a:solidFill>
                      <a:prstDash val="solid"/>
                      <a:round/>
                      <a:headEnd type="none" w="med" len="med"/>
                      <a:tailEnd type="none" w="med" len="med"/>
                    </a:lnB>
                    <a:solidFill>
                      <a:srgbClr val="F4F4F4"/>
                    </a:solidFill>
                  </a:tcPr>
                </a:tc>
              </a:tr>
              <a:tr h="929640">
                <a:tc>
                  <a:txBody>
                    <a:bodyPr/>
                    <a:lstStyle/>
                    <a:p>
                      <a:pPr algn="l" indent="0" marL="0">
                        <a:buNone/>
                      </a:pPr>
                      <a:r>
                        <a:rPr lang="en-US" sz="1560" dirty="0">
                          <a:solidFill>
                            <a:srgbClr val="000000"/>
                          </a:solidFill>
                          <a:latin typeface="Arial" pitchFamily="34" charset="0"/>
                          <a:ea typeface="Arial" pitchFamily="34" charset="-122"/>
                          <a:cs typeface="Arial" pitchFamily="34" charset="-120"/>
                        </a:rPr>
                        <a:t>Scenario feasibility</a:t>
                      </a:r>
                      <a:endParaRPr lang="en-US" sz="1560" dirty="0">
                        <a:latin typeface="Arial" charset="0"/>
                        <a:ea typeface="Arial" charset="0"/>
                        <a:cs typeface="Arial" charset="0"/>
                      </a:endParaRPr>
                    </a:p>
                  </a:txBody>
                  <a:tcPr marL="106680" marR="106680" marT="60960" marB="60960" anchor="mid">
                    <a:lnL w="6350" cap="flat" cmpd="sng" algn="ctr">
                      <a:solidFill>
                        <a:srgbClr val="D7D7D7"/>
                      </a:solidFill>
                      <a:prstDash val="solid"/>
                      <a:round/>
                      <a:headEnd type="none" w="med" len="med"/>
                      <a:tailEnd type="none" w="med" len="med"/>
                    </a:lnL>
                    <a:lnR w="6350" cap="flat" cmpd="sng" algn="ctr">
                      <a:solidFill>
                        <a:srgbClr val="D7D7D7"/>
                      </a:solidFill>
                      <a:prstDash val="solid"/>
                      <a:round/>
                      <a:headEnd type="none" w="med" len="med"/>
                      <a:tailEnd type="none" w="med" len="med"/>
                    </a:lnR>
                    <a:lnT w="6350" cap="flat" cmpd="sng" algn="ctr">
                      <a:solidFill>
                        <a:srgbClr val="D7D7D7"/>
                      </a:solidFill>
                      <a:prstDash val="solid"/>
                      <a:round/>
                      <a:headEnd type="none" w="med" len="med"/>
                      <a:tailEnd type="none" w="med" len="med"/>
                    </a:lnT>
                    <a:lnB w="6350" cap="flat" cmpd="sng" algn="ctr">
                      <a:solidFill>
                        <a:srgbClr val="D7D7D7"/>
                      </a:solidFill>
                      <a:prstDash val="solid"/>
                      <a:round/>
                      <a:headEnd type="none" w="med" len="med"/>
                      <a:tailEnd type="none" w="med" len="med"/>
                    </a:lnB>
                    <a:solidFill>
                      <a:srgbClr val="FFFFFF"/>
                    </a:solidFill>
                  </a:tcPr>
                </a:tc>
                <a:tc>
                  <a:txBody>
                    <a:bodyPr/>
                    <a:lstStyle/>
                    <a:p>
                      <a:pPr algn="l" indent="0" marL="0">
                        <a:buNone/>
                      </a:pPr>
                      <a:r>
                        <a:rPr lang="en-US" sz="1560" dirty="0">
                          <a:solidFill>
                            <a:srgbClr val="000000"/>
                          </a:solidFill>
                          <a:latin typeface="Arial" pitchFamily="34" charset="0"/>
                          <a:ea typeface="Arial" pitchFamily="34" charset="-122"/>
                          <a:cs typeface="Arial" pitchFamily="34" charset="-120"/>
                        </a:rPr>
                        <a:t>Sequential operations with simulated data, one person and preset skills</a:t>
                      </a:r>
                      <a:endParaRPr lang="en-US" sz="1560" dirty="0">
                        <a:latin typeface="Arial" charset="0"/>
                        <a:ea typeface="Arial" charset="0"/>
                        <a:cs typeface="Arial" charset="0"/>
                      </a:endParaRPr>
                    </a:p>
                  </a:txBody>
                  <a:tcPr marL="106680" marR="106680" marT="60960" marB="60960" anchor="mid">
                    <a:lnL w="6350" cap="flat" cmpd="sng" algn="ctr">
                      <a:solidFill>
                        <a:srgbClr val="D7D7D7"/>
                      </a:solidFill>
                      <a:prstDash val="solid"/>
                      <a:round/>
                      <a:headEnd type="none" w="med" len="med"/>
                      <a:tailEnd type="none" w="med" len="med"/>
                    </a:lnL>
                    <a:lnR w="6350" cap="flat" cmpd="sng" algn="ctr">
                      <a:solidFill>
                        <a:srgbClr val="D7D7D7"/>
                      </a:solidFill>
                      <a:prstDash val="solid"/>
                      <a:round/>
                      <a:headEnd type="none" w="med" len="med"/>
                      <a:tailEnd type="none" w="med" len="med"/>
                    </a:lnR>
                    <a:lnT w="6350" cap="flat" cmpd="sng" algn="ctr">
                      <a:solidFill>
                        <a:srgbClr val="D7D7D7"/>
                      </a:solidFill>
                      <a:prstDash val="solid"/>
                      <a:round/>
                      <a:headEnd type="none" w="med" len="med"/>
                      <a:tailEnd type="none" w="med" len="med"/>
                    </a:lnT>
                    <a:lnB w="6350" cap="flat" cmpd="sng" algn="ctr">
                      <a:solidFill>
                        <a:srgbClr val="D7D7D7"/>
                      </a:solidFill>
                      <a:prstDash val="solid"/>
                      <a:round/>
                      <a:headEnd type="none" w="med" len="med"/>
                      <a:tailEnd type="none" w="med" len="med"/>
                    </a:lnB>
                    <a:solidFill>
                      <a:srgbClr val="FFFFFF"/>
                    </a:solidFill>
                  </a:tcPr>
                </a:tc>
                <a:tc>
                  <a:txBody>
                    <a:bodyPr/>
                    <a:lstStyle/>
                    <a:p>
                      <a:pPr algn="l" indent="0" marL="0">
                        <a:buNone/>
                      </a:pPr>
                      <a:r>
                        <a:rPr lang="en-US" sz="1560" dirty="0">
                          <a:solidFill>
                            <a:srgbClr val="000000"/>
                          </a:solidFill>
                          <a:latin typeface="Arial" pitchFamily="34" charset="0"/>
                          <a:ea typeface="Arial" pitchFamily="34" charset="-122"/>
                          <a:cs typeface="Arial" pitchFamily="34" charset="-120"/>
                        </a:rPr>
                        <a:t>Selected paths are feasible; end-to-end gaps remain</a:t>
                      </a:r>
                      <a:endParaRPr lang="en-US" sz="1560" dirty="0">
                        <a:latin typeface="Arial" charset="0"/>
                        <a:ea typeface="Arial" charset="0"/>
                        <a:cs typeface="Arial" charset="0"/>
                      </a:endParaRPr>
                    </a:p>
                  </a:txBody>
                  <a:tcPr marL="106680" marR="106680" marT="60960" marB="60960" anchor="mid">
                    <a:lnL w="6350" cap="flat" cmpd="sng" algn="ctr">
                      <a:solidFill>
                        <a:srgbClr val="D7D7D7"/>
                      </a:solidFill>
                      <a:prstDash val="solid"/>
                      <a:round/>
                      <a:headEnd type="none" w="med" len="med"/>
                      <a:tailEnd type="none" w="med" len="med"/>
                    </a:lnL>
                    <a:lnR w="6350" cap="flat" cmpd="sng" algn="ctr">
                      <a:solidFill>
                        <a:srgbClr val="D7D7D7"/>
                      </a:solidFill>
                      <a:prstDash val="solid"/>
                      <a:round/>
                      <a:headEnd type="none" w="med" len="med"/>
                      <a:tailEnd type="none" w="med" len="med"/>
                    </a:lnR>
                    <a:lnT w="6350" cap="flat" cmpd="sng" algn="ctr">
                      <a:solidFill>
                        <a:srgbClr val="D7D7D7"/>
                      </a:solidFill>
                      <a:prstDash val="solid"/>
                      <a:round/>
                      <a:headEnd type="none" w="med" len="med"/>
                      <a:tailEnd type="none" w="med" len="med"/>
                    </a:lnT>
                    <a:lnB w="6350" cap="flat" cmpd="sng" algn="ctr">
                      <a:solidFill>
                        <a:srgbClr val="D7D7D7"/>
                      </a:solidFill>
                      <a:prstDash val="solid"/>
                      <a:round/>
                      <a:headEnd type="none" w="med" len="med"/>
                      <a:tailEnd type="none" w="med" len="med"/>
                    </a:lnB>
                    <a:solidFill>
                      <a:srgbClr val="FFFFFF"/>
                    </a:solidFill>
                  </a:tcPr>
                </a:tc>
              </a:tr>
              <a:tr h="929640">
                <a:tc>
                  <a:txBody>
                    <a:bodyPr/>
                    <a:lstStyle/>
                    <a:p>
                      <a:pPr algn="l" indent="0" marL="0">
                        <a:buNone/>
                      </a:pPr>
                      <a:r>
                        <a:rPr lang="en-US" sz="1560" dirty="0">
                          <a:solidFill>
                            <a:srgbClr val="000000"/>
                          </a:solidFill>
                          <a:latin typeface="Arial" pitchFamily="34" charset="0"/>
                          <a:ea typeface="Arial" pitchFamily="34" charset="-122"/>
                          <a:cs typeface="Arial" pitchFamily="34" charset="-120"/>
                        </a:rPr>
                        <a:t>Benefits validated</a:t>
                      </a:r>
                      <a:endParaRPr lang="en-US" sz="1560" dirty="0">
                        <a:latin typeface="Arial" charset="0"/>
                        <a:ea typeface="Arial" charset="0"/>
                        <a:cs typeface="Arial" charset="0"/>
                      </a:endParaRPr>
                    </a:p>
                  </a:txBody>
                  <a:tcPr marL="106680" marR="106680" marT="60960" marB="60960" anchor="mid">
                    <a:lnL w="6350" cap="flat" cmpd="sng" algn="ctr">
                      <a:solidFill>
                        <a:srgbClr val="D7D7D7"/>
                      </a:solidFill>
                      <a:prstDash val="solid"/>
                      <a:round/>
                      <a:headEnd type="none" w="med" len="med"/>
                      <a:tailEnd type="none" w="med" len="med"/>
                    </a:lnL>
                    <a:lnR w="6350" cap="flat" cmpd="sng" algn="ctr">
                      <a:solidFill>
                        <a:srgbClr val="D7D7D7"/>
                      </a:solidFill>
                      <a:prstDash val="solid"/>
                      <a:round/>
                      <a:headEnd type="none" w="med" len="med"/>
                      <a:tailEnd type="none" w="med" len="med"/>
                    </a:lnR>
                    <a:lnT w="6350" cap="flat" cmpd="sng" algn="ctr">
                      <a:solidFill>
                        <a:srgbClr val="D7D7D7"/>
                      </a:solidFill>
                      <a:prstDash val="solid"/>
                      <a:round/>
                      <a:headEnd type="none" w="med" len="med"/>
                      <a:tailEnd type="none" w="med" len="med"/>
                    </a:lnT>
                    <a:lnB w="6350" cap="flat" cmpd="sng" algn="ctr">
                      <a:solidFill>
                        <a:srgbClr val="D7D7D7"/>
                      </a:solidFill>
                      <a:prstDash val="solid"/>
                      <a:round/>
                      <a:headEnd type="none" w="med" len="med"/>
                      <a:tailEnd type="none" w="med" len="med"/>
                    </a:lnB>
                    <a:solidFill>
                      <a:srgbClr val="F4F4F4"/>
                    </a:solidFill>
                  </a:tcPr>
                </a:tc>
                <a:tc>
                  <a:txBody>
                    <a:bodyPr/>
                    <a:lstStyle/>
                    <a:p>
                      <a:pPr algn="l" indent="0" marL="0">
                        <a:buNone/>
                      </a:pPr>
                      <a:r>
                        <a:rPr lang="en-US" sz="1560" dirty="0">
                          <a:solidFill>
                            <a:srgbClr val="000000"/>
                          </a:solidFill>
                          <a:latin typeface="Arial" pitchFamily="34" charset="0"/>
                          <a:ea typeface="Arial" pitchFamily="34" charset="-122"/>
                          <a:cs typeface="Arial" pitchFamily="34" charset="-120"/>
                        </a:rPr>
                        <a:t>No manual baseline, common quality scoring or handoff-effectiveness measures</a:t>
                      </a:r>
                      <a:endParaRPr lang="en-US" sz="1560" dirty="0">
                        <a:latin typeface="Arial" charset="0"/>
                        <a:ea typeface="Arial" charset="0"/>
                        <a:cs typeface="Arial" charset="0"/>
                      </a:endParaRPr>
                    </a:p>
                  </a:txBody>
                  <a:tcPr marL="106680" marR="106680" marT="60960" marB="60960" anchor="mid">
                    <a:lnL w="6350" cap="flat" cmpd="sng" algn="ctr">
                      <a:solidFill>
                        <a:srgbClr val="D7D7D7"/>
                      </a:solidFill>
                      <a:prstDash val="solid"/>
                      <a:round/>
                      <a:headEnd type="none" w="med" len="med"/>
                      <a:tailEnd type="none" w="med" len="med"/>
                    </a:lnL>
                    <a:lnR w="6350" cap="flat" cmpd="sng" algn="ctr">
                      <a:solidFill>
                        <a:srgbClr val="D7D7D7"/>
                      </a:solidFill>
                      <a:prstDash val="solid"/>
                      <a:round/>
                      <a:headEnd type="none" w="med" len="med"/>
                      <a:tailEnd type="none" w="med" len="med"/>
                    </a:lnR>
                    <a:lnT w="6350" cap="flat" cmpd="sng" algn="ctr">
                      <a:solidFill>
                        <a:srgbClr val="D7D7D7"/>
                      </a:solidFill>
                      <a:prstDash val="solid"/>
                      <a:round/>
                      <a:headEnd type="none" w="med" len="med"/>
                      <a:tailEnd type="none" w="med" len="med"/>
                    </a:lnT>
                    <a:lnB w="6350" cap="flat" cmpd="sng" algn="ctr">
                      <a:solidFill>
                        <a:srgbClr val="D7D7D7"/>
                      </a:solidFill>
                      <a:prstDash val="solid"/>
                      <a:round/>
                      <a:headEnd type="none" w="med" len="med"/>
                      <a:tailEnd type="none" w="med" len="med"/>
                    </a:lnB>
                    <a:solidFill>
                      <a:srgbClr val="F4F4F4"/>
                    </a:solidFill>
                  </a:tcPr>
                </a:tc>
                <a:tc>
                  <a:txBody>
                    <a:bodyPr/>
                    <a:lstStyle/>
                    <a:p>
                      <a:pPr algn="l" indent="0" marL="0">
                        <a:buNone/>
                      </a:pPr>
                      <a:r>
                        <a:rPr lang="en-US" sz="1560" dirty="0">
                          <a:solidFill>
                            <a:srgbClr val="000000"/>
                          </a:solidFill>
                          <a:latin typeface="Arial" pitchFamily="34" charset="0"/>
                          <a:ea typeface="Arial" pitchFamily="34" charset="-122"/>
                          <a:cs typeface="Arial" pitchFamily="34" charset="-120"/>
                        </a:rPr>
                        <a:t>Not yet verified</a:t>
                      </a:r>
                      <a:endParaRPr lang="en-US" sz="1560" dirty="0">
                        <a:latin typeface="Arial" charset="0"/>
                        <a:ea typeface="Arial" charset="0"/>
                        <a:cs typeface="Arial" charset="0"/>
                      </a:endParaRPr>
                    </a:p>
                  </a:txBody>
                  <a:tcPr marL="106680" marR="106680" marT="60960" marB="60960" anchor="mid">
                    <a:lnL w="6350" cap="flat" cmpd="sng" algn="ctr">
                      <a:solidFill>
                        <a:srgbClr val="D7D7D7"/>
                      </a:solidFill>
                      <a:prstDash val="solid"/>
                      <a:round/>
                      <a:headEnd type="none" w="med" len="med"/>
                      <a:tailEnd type="none" w="med" len="med"/>
                    </a:lnL>
                    <a:lnR w="6350" cap="flat" cmpd="sng" algn="ctr">
                      <a:solidFill>
                        <a:srgbClr val="D7D7D7"/>
                      </a:solidFill>
                      <a:prstDash val="solid"/>
                      <a:round/>
                      <a:headEnd type="none" w="med" len="med"/>
                      <a:tailEnd type="none" w="med" len="med"/>
                    </a:lnR>
                    <a:lnT w="6350" cap="flat" cmpd="sng" algn="ctr">
                      <a:solidFill>
                        <a:srgbClr val="D7D7D7"/>
                      </a:solidFill>
                      <a:prstDash val="solid"/>
                      <a:round/>
                      <a:headEnd type="none" w="med" len="med"/>
                      <a:tailEnd type="none" w="med" len="med"/>
                    </a:lnT>
                    <a:lnB w="6350" cap="flat" cmpd="sng" algn="ctr">
                      <a:solidFill>
                        <a:srgbClr val="D7D7D7"/>
                      </a:solidFill>
                      <a:prstDash val="solid"/>
                      <a:round/>
                      <a:headEnd type="none" w="med" len="med"/>
                      <a:tailEnd type="none" w="med" len="med"/>
                    </a:lnB>
                    <a:solidFill>
                      <a:srgbClr val="F4F4F4"/>
                    </a:solidFill>
                  </a:tcPr>
                </a:tc>
              </a:tr>
            </a:tbl>
          </a:graphicData>
        </a:graphic>
      </p:graphicFrame>
      <p:sp>
        <p:nvSpPr>
          <p:cNvPr id="5" name="Text 1"/>
          <p:cNvSpPr/>
          <p:nvPr>
            <p:ph idx="102" type="body" hasCustomPrompt="1"/>
          </p:nvPr>
        </p:nvSpPr>
        <p:spPr>
          <a:xfrm>
            <a:off x="762000" y="2057400"/>
            <a:ext cx="10668000" cy="3886200"/>
          </a:xfrm>
          <a:prstGeom prst="rect">
            <a:avLst/>
          </a:prstGeom>
          <a:noFill/>
          <a:ln/>
        </p:spPr>
        <p:txBody>
          <a:bodyPr wrap="square" lIns="0" tIns="0" rIns="0" bIns="0" rtlCol="0" anchor="t"/>
          <a:lstStyle/>
          <a:p>
            <a:pPr indent="0" marL="0">
              <a:buNone/>
            </a:pPr>
            <a:endParaRPr lang="en-US" sz="168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1"/>
          <p:cNvSpPr/>
          <p:nvPr>
            <p:ph idx="101" type="title" hasCustomPrompt="1"/>
          </p:nvPr>
        </p:nvSpPr>
        <p:spPr>
          <a:xfrm>
            <a:off x="381000" y="891540"/>
            <a:ext cx="11430000" cy="487680"/>
          </a:xfrm>
          <a:prstGeom prst="rect">
            <a:avLst/>
          </a:prstGeom>
          <a:noFill/>
          <a:ln/>
        </p:spPr>
        <p:txBody>
          <a:bodyPr wrap="square" lIns="0" tIns="0" rIns="0" bIns="0" rtlCol="0" anchor="t"/>
          <a:lstStyle/>
          <a:p>
            <a:pPr algn="l" indent="0" marL="0">
              <a:buNone/>
            </a:pPr>
            <a:r>
              <a:rPr lang="en-GB" altLang="en-US" sz="2400" b="1" spc="-84" kern="0" dirty="0">
                <a:solidFill>
                  <a:srgbClr val="000000"/>
                </a:solidFill>
                <a:latin typeface="Arial" pitchFamily="34" charset="0"/>
                <a:ea typeface="Arial" pitchFamily="34" charset="-122"/>
                <a:cs typeface="Arial" pitchFamily="34" charset="-120"/>
              </a:rPr>
              <a:t>4. Feasibility and benefit (continued)</a:t>
            </a:r>
            <a:endParaRPr lang="en-GB" sz="2400" dirty="0"/>
          </a:p>
        </p:txBody>
      </p:sp>
      <p:graphicFrame>
        <p:nvGraphicFramePr>
          <p:cNvPr id="30" name="body-10-2-item-0"/>
          <p:cNvGraphicFramePr>
            <a:graphicFrameLocks noGrp="1"/>
          </p:cNvGraphicFramePr>
          <p:nvPr>
            <p:extLst>
              <p:ext uri="{D42A27DB-BD31-4B8C-83A1-F6EECF244321}">
                <p14:modId xmlns:p14="http://schemas.microsoft.com/office/powerpoint/2010/main" val="1579011935"/>
              </p:ext>
            </p:extLst>
          </p:nvPr>
        </p:nvGraphicFramePr>
        <p:xfrm>
          <a:off x="609600" y="1600200"/>
          <a:ext cx="10972800" cy="1859280"/>
        </p:xfrm>
        <a:graphic>
          <a:graphicData uri="http://schemas.openxmlformats.org/drawingml/2006/table">
            <a:tbl>
              <a:tblPr/>
              <a:tblGrid>
                <a:gridCol w="3657600"/>
                <a:gridCol w="3657600"/>
                <a:gridCol w="3657600"/>
              </a:tblGrid>
              <a:tr h="929640">
                <a:tc>
                  <a:txBody>
                    <a:bodyPr/>
                    <a:lstStyle/>
                    <a:p>
                      <a:pPr algn="l" indent="0" marL="0">
                        <a:buNone/>
                      </a:pPr>
                      <a:r>
                        <a:rPr lang="en-US" sz="1560" b="1" dirty="0">
                          <a:solidFill>
                            <a:srgbClr val="FFFFFF"/>
                          </a:solidFill>
                          <a:latin typeface="Arial" pitchFamily="34" charset="0"/>
                          <a:ea typeface="Arial" pitchFamily="34" charset="-122"/>
                          <a:cs typeface="Arial" pitchFamily="34" charset="-120"/>
                        </a:rPr>
                        <a:t>Level of judgement</a:t>
                      </a:r>
                      <a:endParaRPr lang="en-US" sz="1560" dirty="0">
                        <a:latin typeface="Arial" charset="0"/>
                        <a:ea typeface="Arial" charset="0"/>
                        <a:cs typeface="Arial" charset="0"/>
                      </a:endParaRPr>
                    </a:p>
                  </a:txBody>
                  <a:tcPr marL="106680" marR="106680" marT="60960" marB="60960" anchor="mid">
                    <a:lnL w="6350" cap="flat" cmpd="sng" algn="ctr">
                      <a:solidFill>
                        <a:srgbClr val="D7D7D7"/>
                      </a:solidFill>
                      <a:prstDash val="solid"/>
                      <a:round/>
                      <a:headEnd type="none" w="med" len="med"/>
                      <a:tailEnd type="none" w="med" len="med"/>
                    </a:lnL>
                    <a:lnR w="6350" cap="flat" cmpd="sng" algn="ctr">
                      <a:solidFill>
                        <a:srgbClr val="D7D7D7"/>
                      </a:solidFill>
                      <a:prstDash val="solid"/>
                      <a:round/>
                      <a:headEnd type="none" w="med" len="med"/>
                      <a:tailEnd type="none" w="med" len="med"/>
                    </a:lnR>
                    <a:lnT w="6350" cap="flat" cmpd="sng" algn="ctr">
                      <a:solidFill>
                        <a:srgbClr val="D7D7D7"/>
                      </a:solidFill>
                      <a:prstDash val="solid"/>
                      <a:round/>
                      <a:headEnd type="none" w="med" len="med"/>
                      <a:tailEnd type="none" w="med" len="med"/>
                    </a:lnT>
                    <a:lnB w="6350" cap="flat" cmpd="sng" algn="ctr">
                      <a:solidFill>
                        <a:srgbClr val="D7D7D7"/>
                      </a:solidFill>
                      <a:prstDash val="solid"/>
                      <a:round/>
                      <a:headEnd type="none" w="med" len="med"/>
                      <a:tailEnd type="none" w="med" len="med"/>
                    </a:lnB>
                    <a:solidFill>
                      <a:srgbClr val="DB0011"/>
                    </a:solidFill>
                  </a:tcPr>
                </a:tc>
                <a:tc>
                  <a:txBody>
                    <a:bodyPr/>
                    <a:lstStyle/>
                    <a:p>
                      <a:pPr algn="l" indent="0" marL="0">
                        <a:buNone/>
                      </a:pPr>
                      <a:r>
                        <a:rPr lang="en-US" sz="1560" b="1" dirty="0">
                          <a:solidFill>
                            <a:srgbClr val="FFFFFF"/>
                          </a:solidFill>
                          <a:latin typeface="Arial" pitchFamily="34" charset="0"/>
                          <a:ea typeface="Arial" pitchFamily="34" charset="-122"/>
                          <a:cs typeface="Arial" pitchFamily="34" charset="-120"/>
                        </a:rPr>
                        <a:t>Current basis</a:t>
                      </a:r>
                      <a:endParaRPr lang="en-US" sz="1560" dirty="0">
                        <a:latin typeface="Arial" charset="0"/>
                        <a:ea typeface="Arial" charset="0"/>
                        <a:cs typeface="Arial" charset="0"/>
                      </a:endParaRPr>
                    </a:p>
                  </a:txBody>
                  <a:tcPr marL="106680" marR="106680" marT="60960" marB="60960" anchor="mid">
                    <a:lnL w="6350" cap="flat" cmpd="sng" algn="ctr">
                      <a:solidFill>
                        <a:srgbClr val="D7D7D7"/>
                      </a:solidFill>
                      <a:prstDash val="solid"/>
                      <a:round/>
                      <a:headEnd type="none" w="med" len="med"/>
                      <a:tailEnd type="none" w="med" len="med"/>
                    </a:lnL>
                    <a:lnR w="6350" cap="flat" cmpd="sng" algn="ctr">
                      <a:solidFill>
                        <a:srgbClr val="D7D7D7"/>
                      </a:solidFill>
                      <a:prstDash val="solid"/>
                      <a:round/>
                      <a:headEnd type="none" w="med" len="med"/>
                      <a:tailEnd type="none" w="med" len="med"/>
                    </a:lnR>
                    <a:lnT w="6350" cap="flat" cmpd="sng" algn="ctr">
                      <a:solidFill>
                        <a:srgbClr val="D7D7D7"/>
                      </a:solidFill>
                      <a:prstDash val="solid"/>
                      <a:round/>
                      <a:headEnd type="none" w="med" len="med"/>
                      <a:tailEnd type="none" w="med" len="med"/>
                    </a:lnT>
                    <a:lnB w="6350" cap="flat" cmpd="sng" algn="ctr">
                      <a:solidFill>
                        <a:srgbClr val="D7D7D7"/>
                      </a:solidFill>
                      <a:prstDash val="solid"/>
                      <a:round/>
                      <a:headEnd type="none" w="med" len="med"/>
                      <a:tailEnd type="none" w="med" len="med"/>
                    </a:lnB>
                    <a:solidFill>
                      <a:srgbClr val="DB0011"/>
                    </a:solidFill>
                  </a:tcPr>
                </a:tc>
                <a:tc>
                  <a:txBody>
                    <a:bodyPr/>
                    <a:lstStyle/>
                    <a:p>
                      <a:pPr algn="l" indent="0" marL="0">
                        <a:buNone/>
                      </a:pPr>
                      <a:r>
                        <a:rPr lang="en-US" sz="1560" b="1" dirty="0">
                          <a:solidFill>
                            <a:srgbClr val="FFFFFF"/>
                          </a:solidFill>
                          <a:latin typeface="Arial" pitchFamily="34" charset="0"/>
                          <a:ea typeface="Arial" pitchFamily="34" charset="-122"/>
                          <a:cs typeface="Arial" pitchFamily="34" charset="-120"/>
                        </a:rPr>
                        <a:t>Conclusion</a:t>
                      </a:r>
                      <a:endParaRPr lang="en-US" sz="1560" dirty="0">
                        <a:latin typeface="Arial" charset="0"/>
                        <a:ea typeface="Arial" charset="0"/>
                        <a:cs typeface="Arial" charset="0"/>
                      </a:endParaRPr>
                    </a:p>
                  </a:txBody>
                  <a:tcPr marL="106680" marR="106680" marT="60960" marB="60960" anchor="mid">
                    <a:lnL w="6350" cap="flat" cmpd="sng" algn="ctr">
                      <a:solidFill>
                        <a:srgbClr val="D7D7D7"/>
                      </a:solidFill>
                      <a:prstDash val="solid"/>
                      <a:round/>
                      <a:headEnd type="none" w="med" len="med"/>
                      <a:tailEnd type="none" w="med" len="med"/>
                    </a:lnL>
                    <a:lnR w="6350" cap="flat" cmpd="sng" algn="ctr">
                      <a:solidFill>
                        <a:srgbClr val="D7D7D7"/>
                      </a:solidFill>
                      <a:prstDash val="solid"/>
                      <a:round/>
                      <a:headEnd type="none" w="med" len="med"/>
                      <a:tailEnd type="none" w="med" len="med"/>
                    </a:lnR>
                    <a:lnT w="6350" cap="flat" cmpd="sng" algn="ctr">
                      <a:solidFill>
                        <a:srgbClr val="D7D7D7"/>
                      </a:solidFill>
                      <a:prstDash val="solid"/>
                      <a:round/>
                      <a:headEnd type="none" w="med" len="med"/>
                      <a:tailEnd type="none" w="med" len="med"/>
                    </a:lnT>
                    <a:lnB w="6350" cap="flat" cmpd="sng" algn="ctr">
                      <a:solidFill>
                        <a:srgbClr val="D7D7D7"/>
                      </a:solidFill>
                      <a:prstDash val="solid"/>
                      <a:round/>
                      <a:headEnd type="none" w="med" len="med"/>
                      <a:tailEnd type="none" w="med" len="med"/>
                    </a:lnB>
                    <a:solidFill>
                      <a:srgbClr val="DB0011"/>
                    </a:solidFill>
                  </a:tcPr>
                </a:tc>
              </a:tr>
              <a:tr h="929640">
                <a:tc>
                  <a:txBody>
                    <a:bodyPr/>
                    <a:lstStyle/>
                    <a:p>
                      <a:pPr algn="l" indent="0" marL="0">
                        <a:buNone/>
                      </a:pPr>
                      <a:r>
                        <a:rPr lang="en-US" sz="1560" dirty="0">
                          <a:solidFill>
                            <a:srgbClr val="000000"/>
                          </a:solidFill>
                          <a:latin typeface="Arial" pitchFamily="34" charset="0"/>
                          <a:ea typeface="Arial" pitchFamily="34" charset="-122"/>
                          <a:cs typeface="Arial" pitchFamily="34" charset="-120"/>
                        </a:rPr>
                        <a:t>Readiness for wider use</a:t>
                      </a:r>
                      <a:endParaRPr lang="en-US" sz="1560" dirty="0">
                        <a:latin typeface="Arial" charset="0"/>
                        <a:ea typeface="Arial" charset="0"/>
                        <a:cs typeface="Arial" charset="0"/>
                      </a:endParaRPr>
                    </a:p>
                  </a:txBody>
                  <a:tcPr marL="106680" marR="106680" marT="60960" marB="60960" anchor="mid">
                    <a:lnL w="6350" cap="flat" cmpd="sng" algn="ctr">
                      <a:solidFill>
                        <a:srgbClr val="D7D7D7"/>
                      </a:solidFill>
                      <a:prstDash val="solid"/>
                      <a:round/>
                      <a:headEnd type="none" w="med" len="med"/>
                      <a:tailEnd type="none" w="med" len="med"/>
                    </a:lnL>
                    <a:lnR w="6350" cap="flat" cmpd="sng" algn="ctr">
                      <a:solidFill>
                        <a:srgbClr val="D7D7D7"/>
                      </a:solidFill>
                      <a:prstDash val="solid"/>
                      <a:round/>
                      <a:headEnd type="none" w="med" len="med"/>
                      <a:tailEnd type="none" w="med" len="med"/>
                    </a:lnR>
                    <a:lnT w="6350" cap="flat" cmpd="sng" algn="ctr">
                      <a:solidFill>
                        <a:srgbClr val="D7D7D7"/>
                      </a:solidFill>
                      <a:prstDash val="solid"/>
                      <a:round/>
                      <a:headEnd type="none" w="med" len="med"/>
                      <a:tailEnd type="none" w="med" len="med"/>
                    </a:lnT>
                    <a:lnB w="6350" cap="flat" cmpd="sng" algn="ctr">
                      <a:solidFill>
                        <a:srgbClr val="D7D7D7"/>
                      </a:solidFill>
                      <a:prstDash val="solid"/>
                      <a:round/>
                      <a:headEnd type="none" w="med" len="med"/>
                      <a:tailEnd type="none" w="med" len="med"/>
                    </a:lnB>
                    <a:solidFill>
                      <a:srgbClr val="F4F4F4"/>
                    </a:solidFill>
                  </a:tcPr>
                </a:tc>
                <a:tc>
                  <a:txBody>
                    <a:bodyPr/>
                    <a:lstStyle/>
                    <a:p>
                      <a:pPr algn="l" indent="0" marL="0">
                        <a:buNone/>
                      </a:pPr>
                      <a:r>
                        <a:rPr lang="en-US" sz="1560" dirty="0">
                          <a:solidFill>
                            <a:srgbClr val="000000"/>
                          </a:solidFill>
                          <a:latin typeface="Arial" pitchFamily="34" charset="0"/>
                          <a:ea typeface="Arial" pitchFamily="34" charset="-122"/>
                          <a:cs typeface="Arial" pitchFamily="34" charset="-120"/>
                        </a:rPr>
                        <a:t>Bank environment, multi-person use and sustained operations not tested</a:t>
                      </a:r>
                      <a:endParaRPr lang="en-US" sz="1560" dirty="0">
                        <a:latin typeface="Arial" charset="0"/>
                        <a:ea typeface="Arial" charset="0"/>
                        <a:cs typeface="Arial" charset="0"/>
                      </a:endParaRPr>
                    </a:p>
                  </a:txBody>
                  <a:tcPr marL="106680" marR="106680" marT="60960" marB="60960" anchor="mid">
                    <a:lnL w="6350" cap="flat" cmpd="sng" algn="ctr">
                      <a:solidFill>
                        <a:srgbClr val="D7D7D7"/>
                      </a:solidFill>
                      <a:prstDash val="solid"/>
                      <a:round/>
                      <a:headEnd type="none" w="med" len="med"/>
                      <a:tailEnd type="none" w="med" len="med"/>
                    </a:lnL>
                    <a:lnR w="6350" cap="flat" cmpd="sng" algn="ctr">
                      <a:solidFill>
                        <a:srgbClr val="D7D7D7"/>
                      </a:solidFill>
                      <a:prstDash val="solid"/>
                      <a:round/>
                      <a:headEnd type="none" w="med" len="med"/>
                      <a:tailEnd type="none" w="med" len="med"/>
                    </a:lnR>
                    <a:lnT w="6350" cap="flat" cmpd="sng" algn="ctr">
                      <a:solidFill>
                        <a:srgbClr val="D7D7D7"/>
                      </a:solidFill>
                      <a:prstDash val="solid"/>
                      <a:round/>
                      <a:headEnd type="none" w="med" len="med"/>
                      <a:tailEnd type="none" w="med" len="med"/>
                    </a:lnT>
                    <a:lnB w="6350" cap="flat" cmpd="sng" algn="ctr">
                      <a:solidFill>
                        <a:srgbClr val="D7D7D7"/>
                      </a:solidFill>
                      <a:prstDash val="solid"/>
                      <a:round/>
                      <a:headEnd type="none" w="med" len="med"/>
                      <a:tailEnd type="none" w="med" len="med"/>
                    </a:lnB>
                    <a:solidFill>
                      <a:srgbClr val="F4F4F4"/>
                    </a:solidFill>
                  </a:tcPr>
                </a:tc>
                <a:tc>
                  <a:txBody>
                    <a:bodyPr/>
                    <a:lstStyle/>
                    <a:p>
                      <a:pPr algn="l" indent="0" marL="0">
                        <a:buNone/>
                      </a:pPr>
                      <a:r>
                        <a:rPr lang="en-US" sz="1560" dirty="0">
                          <a:solidFill>
                            <a:srgbClr val="000000"/>
                          </a:solidFill>
                          <a:latin typeface="Arial" pitchFamily="34" charset="0"/>
                          <a:ea typeface="Arial" pitchFamily="34" charset="-122"/>
                          <a:cs typeface="Arial" pitchFamily="34" charset="-120"/>
                        </a:rPr>
                        <a:t>Not yet verified</a:t>
                      </a:r>
                      <a:endParaRPr lang="en-US" sz="1560" dirty="0">
                        <a:latin typeface="Arial" charset="0"/>
                        <a:ea typeface="Arial" charset="0"/>
                        <a:cs typeface="Arial" charset="0"/>
                      </a:endParaRPr>
                    </a:p>
                  </a:txBody>
                  <a:tcPr marL="106680" marR="106680" marT="60960" marB="60960" anchor="mid">
                    <a:lnL w="6350" cap="flat" cmpd="sng" algn="ctr">
                      <a:solidFill>
                        <a:srgbClr val="D7D7D7"/>
                      </a:solidFill>
                      <a:prstDash val="solid"/>
                      <a:round/>
                      <a:headEnd type="none" w="med" len="med"/>
                      <a:tailEnd type="none" w="med" len="med"/>
                    </a:lnL>
                    <a:lnR w="6350" cap="flat" cmpd="sng" algn="ctr">
                      <a:solidFill>
                        <a:srgbClr val="D7D7D7"/>
                      </a:solidFill>
                      <a:prstDash val="solid"/>
                      <a:round/>
                      <a:headEnd type="none" w="med" len="med"/>
                      <a:tailEnd type="none" w="med" len="med"/>
                    </a:lnR>
                    <a:lnT w="6350" cap="flat" cmpd="sng" algn="ctr">
                      <a:solidFill>
                        <a:srgbClr val="D7D7D7"/>
                      </a:solidFill>
                      <a:prstDash val="solid"/>
                      <a:round/>
                      <a:headEnd type="none" w="med" len="med"/>
                      <a:tailEnd type="none" w="med" len="med"/>
                    </a:lnT>
                    <a:lnB w="6350" cap="flat" cmpd="sng" algn="ctr">
                      <a:solidFill>
                        <a:srgbClr val="D7D7D7"/>
                      </a:solidFill>
                      <a:prstDash val="solid"/>
                      <a:round/>
                      <a:headEnd type="none" w="med" len="med"/>
                      <a:tailEnd type="none" w="med" len="med"/>
                    </a:lnB>
                    <a:solidFill>
                      <a:srgbClr val="F4F4F4"/>
                    </a:solidFill>
                  </a:tcPr>
                </a:tc>
              </a:tr>
            </a:tbl>
          </a:graphicData>
        </a:graphic>
      </p:graphicFrame>
      <p:sp>
        <p:nvSpPr>
          <p:cNvPr id="5" name="Text 1"/>
          <p:cNvSpPr/>
          <p:nvPr>
            <p:ph idx="102" type="body" hasCustomPrompt="1"/>
          </p:nvPr>
        </p:nvSpPr>
        <p:spPr>
          <a:xfrm>
            <a:off x="762000" y="2057400"/>
            <a:ext cx="10668000" cy="3886200"/>
          </a:xfrm>
          <a:prstGeom prst="rect">
            <a:avLst/>
          </a:prstGeom>
          <a:noFill/>
          <a:ln/>
        </p:spPr>
        <p:txBody>
          <a:bodyPr wrap="square" lIns="0" tIns="0" rIns="0" bIns="0" rtlCol="0" anchor="t"/>
          <a:lstStyle/>
          <a:p>
            <a:pPr indent="0" marL="0">
              <a:buNone/>
            </a:pPr>
            <a:endParaRPr lang="en-US" sz="168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1"/>
          <p:cNvSpPr/>
          <p:nvPr>
            <p:ph idx="101" type="title" hasCustomPrompt="1"/>
          </p:nvPr>
        </p:nvSpPr>
        <p:spPr>
          <a:xfrm>
            <a:off x="381000" y="891540"/>
            <a:ext cx="11430000" cy="487680"/>
          </a:xfrm>
          <a:prstGeom prst="rect">
            <a:avLst/>
          </a:prstGeom>
          <a:noFill/>
          <a:ln/>
        </p:spPr>
        <p:txBody>
          <a:bodyPr wrap="square" lIns="0" tIns="0" rIns="0" bIns="0" rtlCol="0" anchor="t"/>
          <a:lstStyle/>
          <a:p>
            <a:pPr algn="l" indent="0" marL="0">
              <a:buNone/>
            </a:pPr>
            <a:r>
              <a:rPr lang="en-GB" altLang="en-US" sz="2400" b="1" spc="-84" kern="0" dirty="0">
                <a:solidFill>
                  <a:srgbClr val="000000"/>
                </a:solidFill>
                <a:latin typeface="Arial" pitchFamily="34" charset="0"/>
                <a:ea typeface="Arial" pitchFamily="34" charset="-122"/>
                <a:cs typeface="Arial" pitchFamily="34" charset="-120"/>
              </a:rPr>
              <a:t>4. Feasibility and benefit (continued)</a:t>
            </a:r>
            <a:endParaRPr lang="en-GB" sz="2400" dirty="0"/>
          </a:p>
        </p:txBody>
      </p:sp>
      <p:sp>
        <p:nvSpPr>
          <p:cNvPr id="3" name="body-10-3-item-0"/>
          <p:cNvSpPr/>
          <p:nvPr/>
        </p:nvSpPr>
        <p:spPr>
          <a:xfrm>
            <a:off x="609600" y="1600200"/>
            <a:ext cx="10972800" cy="1379220"/>
          </a:xfrm>
          <a:prstGeom prst="rect">
            <a:avLst/>
          </a:prstGeom>
          <a:noFill/>
          <a:ln/>
        </p:spPr>
        <p:txBody>
          <a:bodyPr wrap="square" lIns="0" tIns="0" rIns="0" bIns="0" rtlCol="0" anchor="t"/>
          <a:lstStyle/>
          <a:p>
            <a:pPr algn="l" indent="0" marL="0">
              <a:lnSpc>
                <a:spcPct val="128000"/>
              </a:lnSpc>
              <a:buNone/>
            </a:pPr>
            <a:r>
              <a:rPr lang="en-GB" altLang="en-US" sz="1920" dirty="0">
                <a:solidFill>
                  <a:srgbClr val="222222"/>
                </a:solidFill>
                <a:latin typeface="Arial" pitchFamily="34" charset="0"/>
                <a:ea typeface="Arial" pitchFamily="34" charset="-122"/>
                <a:cs typeface="Arial" pitchFamily="34" charset="-120"/>
              </a:rPr>
              <a:t>Seven skill packages provide reusable workflows, but contain example dependencies such as demo groups, people and old dates. Rollout also costs parameter migration, permission confirmation, testing and ongoing maintenance; no such cost data was collected. [</a:t>
            </a:r>
            <a:pPr algn="l" indent="0" marL="0">
              <a:lnSpc>
                <a:spcPct val="128000"/>
              </a:lnSpc>
              <a:buNone/>
            </a:pPr>
            <a:r>
              <a:rPr lang="en-GB" altLang="en-US" sz="1920" u="sng" dirty="0">
                <a:solidFill>
                  <a:srgbClr val="B80010"/>
                </a:solidFill>
                <a:latin typeface="Arial" pitchFamily="34" charset="0"/>
                <a:ea typeface="Arial" pitchFamily="34" charset="-122"/>
                <a:cs typeface="Arial" pitchFamily="34" charset="-120"/>
                <a:hlinkClick r:id="rId1" action="ppaction://hlinksldjump" tooltip="">
                  <a:extLst>
                    <a:ext uri="{A12FA001-AC4F-418D-AE19-62706E023703}">
                      <ahyp:hlinkClr xmlns:ahyp="http://schemas.microsoft.com/office/drawing/2018/hyperlinkcolor" val="tx"/>
                    </a:ext>
                  </a:extLst>
                </a:hlinkClick>
              </a:rPr>
              <a:t>E19</a:t>
            </a:r>
            <a:pPr algn="l" indent="0" marL="0">
              <a:lnSpc>
                <a:spcPct val="128000"/>
              </a:lnSpc>
              <a:buNone/>
            </a:pPr>
            <a:r>
              <a:rPr lang="en-GB" altLang="en-US" sz="1920" dirty="0">
                <a:solidFill>
                  <a:srgbClr val="222222"/>
                </a:solidFill>
                <a:latin typeface="Arial" pitchFamily="34" charset="0"/>
                <a:ea typeface="Arial" pitchFamily="34" charset="-122"/>
                <a:cs typeface="Arial" pitchFamily="34" charset="-120"/>
              </a:rPr>
              <a:t>, </a:t>
            </a:r>
            <a:pPr algn="l" indent="0" marL="0">
              <a:lnSpc>
                <a:spcPct val="128000"/>
              </a:lnSpc>
              <a:buNone/>
            </a:pPr>
            <a:r>
              <a:rPr lang="en-GB" altLang="en-US" sz="1920" u="sng" dirty="0">
                <a:solidFill>
                  <a:srgbClr val="B80010"/>
                </a:solidFill>
                <a:latin typeface="Arial" pitchFamily="34" charset="0"/>
                <a:ea typeface="Arial" pitchFamily="34" charset="-122"/>
                <a:cs typeface="Arial" pitchFamily="34" charset="-120"/>
                <a:hlinkClick r:id="rId2" action="ppaction://hlinksldjump" tooltip="">
                  <a:extLst>
                    <a:ext uri="{A12FA001-AC4F-418D-AE19-62706E023703}">
                      <ahyp:hlinkClr xmlns:ahyp="http://schemas.microsoft.com/office/drawing/2018/hyperlinkcolor" val="tx"/>
                    </a:ext>
                  </a:extLst>
                </a:hlinkClick>
              </a:rPr>
              <a:t>E21</a:t>
            </a:r>
            <a:pPr algn="l" indent="0" marL="0">
              <a:lnSpc>
                <a:spcPct val="128000"/>
              </a:lnSpc>
              <a:buNone/>
            </a:pPr>
            <a:r>
              <a:rPr lang="en-GB" altLang="en-US" sz="1920" dirty="0">
                <a:solidFill>
                  <a:srgbClr val="222222"/>
                </a:solidFill>
                <a:latin typeface="Arial" pitchFamily="34" charset="0"/>
                <a:ea typeface="Arial" pitchFamily="34" charset="-122"/>
                <a:cs typeface="Arial" pitchFamily="34" charset="-120"/>
              </a:rPr>
              <a:t>, </a:t>
            </a:r>
            <a:pPr algn="l" indent="0" marL="0">
              <a:lnSpc>
                <a:spcPct val="128000"/>
              </a:lnSpc>
              <a:buNone/>
            </a:pPr>
            <a:r>
              <a:rPr lang="en-GB" altLang="en-US" sz="1920" u="sng" dirty="0">
                <a:solidFill>
                  <a:srgbClr val="B80010"/>
                </a:solidFill>
                <a:latin typeface="Arial" pitchFamily="34" charset="0"/>
                <a:ea typeface="Arial" pitchFamily="34" charset="-122"/>
                <a:cs typeface="Arial" pitchFamily="34" charset="-120"/>
                <a:hlinkClick r:id="rId3" action="ppaction://hlinksldjump" tooltip="">
                  <a:extLst>
                    <a:ext uri="{A12FA001-AC4F-418D-AE19-62706E023703}">
                      <ahyp:hlinkClr xmlns:ahyp="http://schemas.microsoft.com/office/drawing/2018/hyperlinkcolor" val="tx"/>
                    </a:ext>
                  </a:extLst>
                </a:hlinkClick>
              </a:rPr>
              <a:t>E24</a:t>
            </a:r>
            <a:pPr algn="l" indent="0" marL="0">
              <a:lnSpc>
                <a:spcPct val="128000"/>
              </a:lnSpc>
              <a:buNone/>
            </a:pPr>
            <a:r>
              <a:rPr lang="en-GB" altLang="en-US" sz="1920" dirty="0">
                <a:solidFill>
                  <a:srgbClr val="222222"/>
                </a:solidFill>
                <a:latin typeface="Arial" pitchFamily="34" charset="0"/>
                <a:ea typeface="Arial" pitchFamily="34" charset="-122"/>
                <a:cs typeface="Arial" pitchFamily="34" charset="-120"/>
              </a:rPr>
              <a:t>]</a:t>
            </a:r>
            <a:endParaRPr lang="en-GB" sz="1920" dirty="0"/>
          </a:p>
        </p:txBody>
      </p:sp>
      <p:sp>
        <p:nvSpPr>
          <p:cNvPr id="5" name="Text 1"/>
          <p:cNvSpPr/>
          <p:nvPr>
            <p:ph idx="102" type="body" hasCustomPrompt="1"/>
          </p:nvPr>
        </p:nvSpPr>
        <p:spPr>
          <a:xfrm>
            <a:off x="762000" y="2057400"/>
            <a:ext cx="10668000" cy="3886200"/>
          </a:xfrm>
          <a:prstGeom prst="rect">
            <a:avLst/>
          </a:prstGeom>
          <a:noFill/>
          <a:ln/>
        </p:spPr>
        <p:txBody>
          <a:bodyPr wrap="square" lIns="0" tIns="0" rIns="0" bIns="0" rtlCol="0" anchor="t"/>
          <a:lstStyle/>
          <a:p>
            <a:pPr indent="0" marL="0">
              <a:buNone/>
            </a:pPr>
            <a:endParaRPr lang="en-US" sz="168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1"/>
          <p:cNvSpPr/>
          <p:nvPr>
            <p:ph idx="101" type="title" hasCustomPrompt="1"/>
          </p:nvPr>
        </p:nvSpPr>
        <p:spPr>
          <a:xfrm>
            <a:off x="381000" y="891540"/>
            <a:ext cx="11430000" cy="487680"/>
          </a:xfrm>
          <a:prstGeom prst="rect">
            <a:avLst/>
          </a:prstGeom>
          <a:noFill/>
          <a:ln/>
        </p:spPr>
        <p:txBody>
          <a:bodyPr wrap="square" lIns="0" tIns="0" rIns="0" bIns="0" rtlCol="0" anchor="t"/>
          <a:lstStyle/>
          <a:p>
            <a:pPr algn="l" indent="0" marL="0">
              <a:buNone/>
            </a:pPr>
            <a:r>
              <a:rPr lang="en-GB" altLang="en-US" sz="2400" b="1" spc="-84" kern="0" dirty="0">
                <a:solidFill>
                  <a:srgbClr val="000000"/>
                </a:solidFill>
                <a:latin typeface="Arial" pitchFamily="34" charset="0"/>
                <a:ea typeface="Arial" pitchFamily="34" charset="-122"/>
                <a:cs typeface="Arial" pitchFamily="34" charset="-120"/>
              </a:rPr>
              <a:t>V. Relevance to bank technology work</a:t>
            </a:r>
            <a:endParaRPr lang="en-GB" sz="2400" dirty="0"/>
          </a:p>
        </p:txBody>
      </p:sp>
      <p:sp>
        <p:nvSpPr>
          <p:cNvPr id="3" name="body-11-1-item-0"/>
          <p:cNvSpPr/>
          <p:nvPr/>
        </p:nvSpPr>
        <p:spPr>
          <a:xfrm>
            <a:off x="609600" y="1600200"/>
            <a:ext cx="10972800" cy="2026920"/>
          </a:xfrm>
          <a:prstGeom prst="rect">
            <a:avLst/>
          </a:prstGeom>
          <a:noFill/>
          <a:ln/>
        </p:spPr>
        <p:txBody>
          <a:bodyPr wrap="square" lIns="0" tIns="0" rIns="0" bIns="0" rtlCol="0" anchor="t"/>
          <a:lstStyle/>
          <a:p>
            <a:pPr algn="l" indent="0" marL="0">
              <a:lnSpc>
                <a:spcPct val="128000"/>
              </a:lnSpc>
              <a:buNone/>
            </a:pPr>
            <a:r>
              <a:rPr lang="en-GB" altLang="en-US" sz="1920" dirty="0">
                <a:solidFill>
                  <a:srgbClr val="222222"/>
                </a:solidFill>
                <a:latin typeface="Arial" pitchFamily="34" charset="0"/>
                <a:ea typeface="Arial" pitchFamily="34" charset="-122"/>
                <a:cs typeface="Arial" pitchFamily="34" charset="-120"/>
              </a:rPr>
              <a:t>Candidate uses are extracting project information, summarising status, preparing decisions and handing off tasks. These could use AI's language and information-organisation abilities, while still requiring clear business objects, final judgement, recipients and accountability. They are use-case hypotheses, not evidence of problems at this bank or approval to use the products. [C/D: </a:t>
            </a:r>
            <a:pPr algn="l" indent="0" marL="0">
              <a:lnSpc>
                <a:spcPct val="128000"/>
              </a:lnSpc>
              <a:buNone/>
            </a:pPr>
            <a:r>
              <a:rPr lang="en-GB" altLang="en-US" sz="1920" u="sng" dirty="0">
                <a:solidFill>
                  <a:srgbClr val="B80010"/>
                </a:solidFill>
                <a:latin typeface="Arial" pitchFamily="34" charset="0"/>
                <a:ea typeface="Arial" pitchFamily="34" charset="-122"/>
                <a:cs typeface="Arial" pitchFamily="34" charset="-120"/>
                <a:hlinkClick r:id="rId1" action="ppaction://hlinksldjump" tooltip="">
                  <a:extLst>
                    <a:ext uri="{A12FA001-AC4F-418D-AE19-62706E023703}">
                      <ahyp:hlinkClr xmlns:ahyp="http://schemas.microsoft.com/office/drawing/2018/hyperlinkcolor" val="tx"/>
                    </a:ext>
                  </a:extLst>
                </a:hlinkClick>
              </a:rPr>
              <a:t>E22</a:t>
            </a:r>
            <a:pPr algn="l" indent="0" marL="0">
              <a:lnSpc>
                <a:spcPct val="128000"/>
              </a:lnSpc>
              <a:buNone/>
            </a:pPr>
            <a:r>
              <a:rPr lang="en-GB" altLang="en-US" sz="1920" dirty="0">
                <a:solidFill>
                  <a:srgbClr val="222222"/>
                </a:solidFill>
                <a:latin typeface="Arial" pitchFamily="34" charset="0"/>
                <a:ea typeface="Arial" pitchFamily="34" charset="-122"/>
                <a:cs typeface="Arial" pitchFamily="34" charset="-120"/>
              </a:rPr>
              <a:t>, </a:t>
            </a:r>
            <a:pPr algn="l" indent="0" marL="0">
              <a:lnSpc>
                <a:spcPct val="128000"/>
              </a:lnSpc>
              <a:buNone/>
            </a:pPr>
            <a:r>
              <a:rPr lang="en-GB" altLang="en-US" sz="1920" u="sng" dirty="0">
                <a:solidFill>
                  <a:srgbClr val="B80010"/>
                </a:solidFill>
                <a:latin typeface="Arial" pitchFamily="34" charset="0"/>
                <a:ea typeface="Arial" pitchFamily="34" charset="-122"/>
                <a:cs typeface="Arial" pitchFamily="34" charset="-120"/>
                <a:hlinkClick r:id="rId2" action="ppaction://hlinksldjump" tooltip="">
                  <a:extLst>
                    <a:ext uri="{A12FA001-AC4F-418D-AE19-62706E023703}">
                      <ahyp:hlinkClr xmlns:ahyp="http://schemas.microsoft.com/office/drawing/2018/hyperlinkcolor" val="tx"/>
                    </a:ext>
                  </a:extLst>
                </a:hlinkClick>
              </a:rPr>
              <a:t>E24</a:t>
            </a:r>
            <a:pPr algn="l" indent="0" marL="0">
              <a:lnSpc>
                <a:spcPct val="128000"/>
              </a:lnSpc>
              <a:buNone/>
            </a:pPr>
            <a:r>
              <a:rPr lang="en-GB" altLang="en-US" sz="1920" dirty="0">
                <a:solidFill>
                  <a:srgbClr val="222222"/>
                </a:solidFill>
                <a:latin typeface="Arial" pitchFamily="34" charset="0"/>
                <a:ea typeface="Arial" pitchFamily="34" charset="-122"/>
                <a:cs typeface="Arial" pitchFamily="34" charset="-120"/>
              </a:rPr>
              <a:t>]</a:t>
            </a:r>
            <a:endParaRPr lang="en-GB" sz="1920" dirty="0"/>
          </a:p>
        </p:txBody>
      </p:sp>
      <p:sp>
        <p:nvSpPr>
          <p:cNvPr id="5" name="Text 1"/>
          <p:cNvSpPr/>
          <p:nvPr>
            <p:ph idx="102" type="body" hasCustomPrompt="1"/>
          </p:nvPr>
        </p:nvSpPr>
        <p:spPr>
          <a:xfrm>
            <a:off x="762000" y="2057400"/>
            <a:ext cx="10668000" cy="3886200"/>
          </a:xfrm>
          <a:prstGeom prst="rect">
            <a:avLst/>
          </a:prstGeom>
          <a:noFill/>
          <a:ln/>
        </p:spPr>
        <p:txBody>
          <a:bodyPr wrap="square" lIns="0" tIns="0" rIns="0" bIns="0" rtlCol="0" anchor="t"/>
          <a:lstStyle/>
          <a:p>
            <a:pPr indent="0" marL="0">
              <a:buNone/>
            </a:pPr>
            <a:endParaRPr lang="en-US" sz="168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1"/>
          <p:cNvSpPr/>
          <p:nvPr>
            <p:ph idx="101" type="title" hasCustomPrompt="1"/>
          </p:nvPr>
        </p:nvSpPr>
        <p:spPr>
          <a:xfrm>
            <a:off x="381000" y="891540"/>
            <a:ext cx="11430000" cy="487680"/>
          </a:xfrm>
          <a:prstGeom prst="rect">
            <a:avLst/>
          </a:prstGeom>
          <a:noFill/>
          <a:ln/>
        </p:spPr>
        <p:txBody>
          <a:bodyPr wrap="square" lIns="0" tIns="0" rIns="0" bIns="0" rtlCol="0" anchor="t"/>
          <a:lstStyle/>
          <a:p>
            <a:pPr algn="l" indent="0" marL="0">
              <a:buNone/>
            </a:pPr>
            <a:r>
              <a:rPr lang="en-GB" altLang="en-US" sz="2400" b="1" spc="-84" kern="0" dirty="0">
                <a:solidFill>
                  <a:srgbClr val="000000"/>
                </a:solidFill>
                <a:latin typeface="Arial" pitchFamily="34" charset="0"/>
                <a:ea typeface="Arial" pitchFamily="34" charset="-122"/>
                <a:cs typeface="Arial" pitchFamily="34" charset="-120"/>
              </a:rPr>
              <a:t>V. Relevance to bank technology work (cont.)</a:t>
            </a:r>
            <a:endParaRPr lang="en-GB" sz="2400" dirty="0"/>
          </a:p>
        </p:txBody>
      </p:sp>
      <p:sp>
        <p:nvSpPr>
          <p:cNvPr id="3" name="body-11-2-item-0"/>
          <p:cNvSpPr/>
          <p:nvPr/>
        </p:nvSpPr>
        <p:spPr>
          <a:xfrm>
            <a:off x="609600" y="1600200"/>
            <a:ext cx="10972800" cy="2667000"/>
          </a:xfrm>
          <a:prstGeom prst="rect">
            <a:avLst/>
          </a:prstGeom>
          <a:noFill/>
          <a:ln/>
        </p:spPr>
        <p:txBody>
          <a:bodyPr wrap="square" lIns="0" tIns="0" rIns="0" bIns="0" rtlCol="0" anchor="t"/>
          <a:lstStyle/>
          <a:p>
            <a:pPr algn="l" indent="0" marL="0">
              <a:lnSpc>
                <a:spcPct val="128000"/>
              </a:lnSpc>
              <a:buNone/>
            </a:pPr>
            <a:r>
              <a:rPr lang="en-GB" altLang="en-US" sz="1920" dirty="0">
                <a:solidFill>
                  <a:srgbClr val="222222"/>
                </a:solidFill>
                <a:latin typeface="Arial" pitchFamily="34" charset="0"/>
                <a:ea typeface="Arial" pitchFamily="34" charset="-122"/>
                <a:cs typeface="Arial" pitchFamily="34" charset="-120"/>
              </a:rPr>
              <a:t>Internal usability requires a separate assessment. Business or project owners should define information standards, acceptance criteria and final responsibility. Technology teams should design tests, record failures and human takeover. Security and data owners should confirm permitted tools, data categories, transfer, retention and access. Platform teams should confirm identity, permissions, interfaces, audit, scheduling and support. Applicable internal processes remain to be confirmed; this report does not infer existing architecture or control gaps. [D: </a:t>
            </a:r>
            <a:pPr algn="l" indent="0" marL="0">
              <a:lnSpc>
                <a:spcPct val="128000"/>
              </a:lnSpc>
              <a:buNone/>
            </a:pPr>
            <a:r>
              <a:rPr lang="en-GB" altLang="en-US" sz="1920" u="sng" dirty="0">
                <a:solidFill>
                  <a:srgbClr val="B80010"/>
                </a:solidFill>
                <a:latin typeface="Arial" pitchFamily="34" charset="0"/>
                <a:ea typeface="Arial" pitchFamily="34" charset="-122"/>
                <a:cs typeface="Arial" pitchFamily="34" charset="-120"/>
                <a:hlinkClick r:id="rId1" action="ppaction://hlinksldjump" tooltip="">
                  <a:extLst>
                    <a:ext uri="{A12FA001-AC4F-418D-AE19-62706E023703}">
                      <ahyp:hlinkClr xmlns:ahyp="http://schemas.microsoft.com/office/drawing/2018/hyperlinkcolor" val="tx"/>
                    </a:ext>
                  </a:extLst>
                </a:hlinkClick>
              </a:rPr>
              <a:t>E24</a:t>
            </a:r>
            <a:pPr algn="l" indent="0" marL="0">
              <a:lnSpc>
                <a:spcPct val="128000"/>
              </a:lnSpc>
              <a:buNone/>
            </a:pPr>
            <a:r>
              <a:rPr lang="en-GB" altLang="en-US" sz="1920" dirty="0">
                <a:solidFill>
                  <a:srgbClr val="222222"/>
                </a:solidFill>
                <a:latin typeface="Arial" pitchFamily="34" charset="0"/>
                <a:ea typeface="Arial" pitchFamily="34" charset="-122"/>
                <a:cs typeface="Arial" pitchFamily="34" charset="-120"/>
              </a:rPr>
              <a:t>]</a:t>
            </a:r>
            <a:endParaRPr lang="en-GB" sz="1920" dirty="0"/>
          </a:p>
        </p:txBody>
      </p:sp>
      <p:sp>
        <p:nvSpPr>
          <p:cNvPr id="5" name="Text 1"/>
          <p:cNvSpPr/>
          <p:nvPr>
            <p:ph idx="102" type="body" hasCustomPrompt="1"/>
          </p:nvPr>
        </p:nvSpPr>
        <p:spPr>
          <a:xfrm>
            <a:off x="762000" y="2057400"/>
            <a:ext cx="10668000" cy="3886200"/>
          </a:xfrm>
          <a:prstGeom prst="rect">
            <a:avLst/>
          </a:prstGeom>
          <a:noFill/>
          <a:ln/>
        </p:spPr>
        <p:txBody>
          <a:bodyPr wrap="square" lIns="0" tIns="0" rIns="0" bIns="0" rtlCol="0" anchor="t"/>
          <a:lstStyle/>
          <a:p>
            <a:pPr indent="0" marL="0">
              <a:buNone/>
            </a:pPr>
            <a:endParaRPr lang="en-US" sz="168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1"/>
          <p:cNvSpPr/>
          <p:nvPr>
            <p:ph idx="101" type="title" hasCustomPrompt="1"/>
          </p:nvPr>
        </p:nvSpPr>
        <p:spPr>
          <a:xfrm>
            <a:off x="381000" y="891540"/>
            <a:ext cx="11430000" cy="487680"/>
          </a:xfrm>
          <a:prstGeom prst="rect">
            <a:avLst/>
          </a:prstGeom>
          <a:noFill/>
          <a:ln/>
        </p:spPr>
        <p:txBody>
          <a:bodyPr wrap="square" lIns="0" tIns="0" rIns="0" bIns="0" rtlCol="0" anchor="t"/>
          <a:lstStyle/>
          <a:p>
            <a:pPr algn="l" indent="0" marL="0">
              <a:buNone/>
            </a:pPr>
            <a:r>
              <a:rPr lang="en-GB" altLang="en-US" sz="2400" b="1" spc="-84" kern="0" dirty="0">
                <a:solidFill>
                  <a:srgbClr val="000000"/>
                </a:solidFill>
                <a:latin typeface="Arial" pitchFamily="34" charset="0"/>
                <a:ea typeface="Arial" pitchFamily="34" charset="-122"/>
                <a:cs typeface="Arial" pitchFamily="34" charset="-120"/>
              </a:rPr>
              <a:t>V. Relevance to bank technology work (cont.)</a:t>
            </a:r>
            <a:endParaRPr lang="en-GB" sz="2400" dirty="0"/>
          </a:p>
        </p:txBody>
      </p:sp>
      <p:sp>
        <p:nvSpPr>
          <p:cNvPr id="3" name="body-11-3-item-0"/>
          <p:cNvSpPr/>
          <p:nvPr/>
        </p:nvSpPr>
        <p:spPr>
          <a:xfrm>
            <a:off x="609600" y="1600200"/>
            <a:ext cx="10972800" cy="1706880"/>
          </a:xfrm>
          <a:prstGeom prst="rect">
            <a:avLst/>
          </a:prstGeom>
          <a:noFill/>
          <a:ln/>
        </p:spPr>
        <p:txBody>
          <a:bodyPr wrap="square" lIns="0" tIns="0" rIns="0" bIns="0" rtlCol="0" anchor="t"/>
          <a:lstStyle/>
          <a:p>
            <a:pPr algn="l" indent="0" marL="0">
              <a:lnSpc>
                <a:spcPct val="128000"/>
              </a:lnSpc>
              <a:buNone/>
            </a:pPr>
            <a:r>
              <a:rPr lang="en-GB" altLang="en-US" sz="1920" dirty="0">
                <a:solidFill>
                  <a:srgbClr val="222222"/>
                </a:solidFill>
                <a:latin typeface="Arial" pitchFamily="34" charset="0"/>
                <a:ea typeface="Arial" pitchFamily="34" charset="-122"/>
                <a:cs typeface="Arial" pitchFamily="34" charset="-120"/>
              </a:rPr>
              <a:t>Key limitations are a single preset sample, a one-person demonstration, no benefits baseline and unexplained tracking-state differences. Real material quality, conflicting definitions and exceptions add review cost. Even if generation becomes faster, check whether final delivery still meets requirements and whether data-entry effort has merely become more time-consuming checking.</a:t>
            </a:r>
            <a:endParaRPr lang="en-GB" sz="1920" dirty="0"/>
          </a:p>
        </p:txBody>
      </p:sp>
      <p:sp>
        <p:nvSpPr>
          <p:cNvPr id="5" name="Text 1"/>
          <p:cNvSpPr/>
          <p:nvPr>
            <p:ph idx="102" type="body" hasCustomPrompt="1"/>
          </p:nvPr>
        </p:nvSpPr>
        <p:spPr>
          <a:xfrm>
            <a:off x="762000" y="2057400"/>
            <a:ext cx="10668000" cy="3886200"/>
          </a:xfrm>
          <a:prstGeom prst="rect">
            <a:avLst/>
          </a:prstGeom>
          <a:noFill/>
          <a:ln/>
        </p:spPr>
        <p:txBody>
          <a:bodyPr wrap="square" lIns="0" tIns="0" rIns="0" bIns="0" rtlCol="0" anchor="t"/>
          <a:lstStyle/>
          <a:p>
            <a:pPr indent="0" marL="0">
              <a:buNone/>
            </a:pPr>
            <a:endParaRPr lang="en-US" sz="168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1"/>
          <p:cNvSpPr/>
          <p:nvPr>
            <p:ph idx="101" type="title" hasCustomPrompt="1"/>
          </p:nvPr>
        </p:nvSpPr>
        <p:spPr>
          <a:xfrm>
            <a:off x="381000" y="891540"/>
            <a:ext cx="11430000" cy="487680"/>
          </a:xfrm>
          <a:prstGeom prst="rect">
            <a:avLst/>
          </a:prstGeom>
          <a:noFill/>
          <a:ln/>
        </p:spPr>
        <p:txBody>
          <a:bodyPr wrap="square" lIns="0" tIns="0" rIns="0" bIns="0" rtlCol="0" anchor="t"/>
          <a:lstStyle/>
          <a:p>
            <a:pPr algn="l" indent="0" marL="0">
              <a:buNone/>
            </a:pPr>
            <a:r>
              <a:rPr lang="en-GB" altLang="en-US" sz="2400" b="1" spc="-84" kern="0" dirty="0">
                <a:solidFill>
                  <a:srgbClr val="000000"/>
                </a:solidFill>
                <a:latin typeface="Arial" pitchFamily="34" charset="0"/>
                <a:ea typeface="Arial" pitchFamily="34" charset="-122"/>
                <a:cs typeface="Arial" pitchFamily="34" charset="-120"/>
              </a:rPr>
              <a:t>1. Start with two clearly scoped tasks</a:t>
            </a:r>
            <a:endParaRPr lang="en-GB" sz="2400" dirty="0"/>
          </a:p>
        </p:txBody>
      </p:sp>
      <p:sp>
        <p:nvSpPr>
          <p:cNvPr id="3" name="body-12-1-item-0"/>
          <p:cNvSpPr/>
          <p:nvPr/>
        </p:nvSpPr>
        <p:spPr>
          <a:xfrm>
            <a:off x="609600" y="1600200"/>
            <a:ext cx="10972800" cy="2026920"/>
          </a:xfrm>
          <a:prstGeom prst="rect">
            <a:avLst/>
          </a:prstGeom>
          <a:noFill/>
          <a:ln/>
        </p:spPr>
        <p:txBody>
          <a:bodyPr wrap="square" lIns="0" tIns="0" rIns="0" bIns="0" rtlCol="0" anchor="t"/>
          <a:lstStyle/>
          <a:p>
            <a:pPr algn="l" indent="0" marL="0">
              <a:lnSpc>
                <a:spcPct val="128000"/>
              </a:lnSpc>
              <a:buNone/>
            </a:pPr>
            <a:r>
              <a:rPr lang="en-GB" altLang="en-US" sz="1920" dirty="0">
                <a:solidFill>
                  <a:srgbClr val="222222"/>
                </a:solidFill>
                <a:latin typeface="Arial" pitchFamily="34" charset="0"/>
                <a:ea typeface="Arial" pitchFamily="34" charset="-122"/>
                <a:cs typeface="Arial" pitchFamily="34" charset="-120"/>
              </a:rPr>
              <a:t>A manager should designate a task owner and arrange a validation window of no more than two weeks in a permitted environment, using synthetic material for field extraction and project-briefing drafts. This is a proposed timebox, not an agreed plan or promise of results. Humans review every output first. Any later use of de-identified or real internal material must remain within the actually permitted scope. [D]</a:t>
            </a:r>
            <a:endParaRPr lang="en-GB" sz="1920" dirty="0"/>
          </a:p>
        </p:txBody>
      </p:sp>
      <p:sp>
        <p:nvSpPr>
          <p:cNvPr id="4" name="body-12-1-item-1"/>
          <p:cNvSpPr/>
          <p:nvPr/>
        </p:nvSpPr>
        <p:spPr>
          <a:xfrm>
            <a:off x="609600" y="3779520"/>
            <a:ext cx="10972800" cy="1059180"/>
          </a:xfrm>
          <a:prstGeom prst="rect">
            <a:avLst/>
          </a:prstGeom>
          <a:noFill/>
          <a:ln/>
        </p:spPr>
        <p:txBody>
          <a:bodyPr wrap="square" lIns="0" tIns="0" rIns="0" bIns="0" rtlCol="0" anchor="t"/>
          <a:lstStyle/>
          <a:p>
            <a:pPr algn="l" indent="0" marL="0">
              <a:lnSpc>
                <a:spcPct val="128000"/>
              </a:lnSpc>
              <a:buNone/>
            </a:pPr>
            <a:r>
              <a:rPr lang="en-GB" altLang="en-US" sz="1920" dirty="0">
                <a:solidFill>
                  <a:srgbClr val="222222"/>
                </a:solidFill>
                <a:latin typeface="Arial" pitchFamily="34" charset="0"/>
                <a:ea typeface="Arial" pitchFamily="34" charset="-122"/>
                <a:cs typeface="Arial" pitchFamily="34" charset="-120"/>
              </a:rPr>
              <a:t>Do not initially prioritise customer business decisions, unattended critical reminders or more presentation formatting. Two-person handoffs can be the next stage, testing whether the collaboration platform adds value.</a:t>
            </a:r>
            <a:endParaRPr lang="en-GB" sz="1920" dirty="0"/>
          </a:p>
        </p:txBody>
      </p:sp>
      <p:sp>
        <p:nvSpPr>
          <p:cNvPr id="6" name="Text 1"/>
          <p:cNvSpPr/>
          <p:nvPr>
            <p:ph idx="102" type="body" hasCustomPrompt="1"/>
          </p:nvPr>
        </p:nvSpPr>
        <p:spPr>
          <a:xfrm>
            <a:off x="762000" y="2057400"/>
            <a:ext cx="10668000" cy="3886200"/>
          </a:xfrm>
          <a:prstGeom prst="rect">
            <a:avLst/>
          </a:prstGeom>
          <a:noFill/>
          <a:ln/>
        </p:spPr>
        <p:txBody>
          <a:bodyPr wrap="square" lIns="0" tIns="0" rIns="0" bIns="0" rtlCol="0" anchor="t"/>
          <a:lstStyle/>
          <a:p>
            <a:pPr indent="0" marL="0">
              <a:buNone/>
            </a:pPr>
            <a:endParaRPr lang="en-US" sz="168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1"/>
          <p:cNvSpPr/>
          <p:nvPr>
            <p:ph idx="101" type="title" hasCustomPrompt="1"/>
          </p:nvPr>
        </p:nvSpPr>
        <p:spPr>
          <a:xfrm>
            <a:off x="381000" y="891540"/>
            <a:ext cx="11430000" cy="487680"/>
          </a:xfrm>
          <a:prstGeom prst="rect">
            <a:avLst/>
          </a:prstGeom>
          <a:noFill/>
          <a:ln/>
        </p:spPr>
        <p:txBody>
          <a:bodyPr wrap="square" lIns="0" tIns="0" rIns="0" bIns="0" rtlCol="0" anchor="t"/>
          <a:lstStyle/>
          <a:p>
            <a:pPr algn="l" indent="0" marL="0">
              <a:buNone/>
            </a:pPr>
            <a:r>
              <a:rPr lang="en-GB" altLang="en-US" sz="2400" b="1" spc="-84" kern="0" dirty="0">
                <a:solidFill>
                  <a:srgbClr val="000000"/>
                </a:solidFill>
                <a:latin typeface="Arial" pitchFamily="34" charset="0"/>
                <a:ea typeface="Arial" pitchFamily="34" charset="-122"/>
                <a:cs typeface="Arial" pitchFamily="34" charset="-120"/>
              </a:rPr>
              <a:t>2. Compare complete tasks to one standard</a:t>
            </a:r>
            <a:endParaRPr lang="en-GB" sz="2400" dirty="0"/>
          </a:p>
        </p:txBody>
      </p:sp>
      <p:sp>
        <p:nvSpPr>
          <p:cNvPr id="3" name="body-13-1-item-0"/>
          <p:cNvSpPr/>
          <p:nvPr/>
        </p:nvSpPr>
        <p:spPr>
          <a:xfrm>
            <a:off x="609600" y="1600200"/>
            <a:ext cx="10972800" cy="2346960"/>
          </a:xfrm>
          <a:prstGeom prst="rect">
            <a:avLst/>
          </a:prstGeom>
          <a:noFill/>
          <a:ln/>
        </p:spPr>
        <p:txBody>
          <a:bodyPr wrap="square" lIns="0" tIns="0" rIns="0" bIns="0" rtlCol="0" anchor="t"/>
          <a:lstStyle/>
          <a:p>
            <a:pPr algn="l" indent="0" marL="0">
              <a:lnSpc>
                <a:spcPct val="128000"/>
              </a:lnSpc>
              <a:buNone/>
            </a:pPr>
            <a:r>
              <a:rPr lang="en-GB" altLang="en-US" sz="1920" dirty="0">
                <a:solidFill>
                  <a:srgbClr val="222222"/>
                </a:solidFill>
                <a:latin typeface="Arial" pitchFamily="34" charset="0"/>
                <a:ea typeface="Arial" pitchFamily="34" charset="-122"/>
                <a:cs typeface="Arial" pitchFamily="34" charset="-120"/>
              </a:rPr>
              <a:t>Prepare six pairs of equally difficult but different tasks per scenario: 12 pairs and 24 executions across two scenarios, with 12 manual and 12 AI-assisted runs. Randomly allocate methods and alternate execution order, avoiding the memory advantage of manually completing material before asking AI to repeat it. Use the same input scope and final acceptance criteria; record practice and setup separately from formal timing. This small sample supports initial observation, not department-wide benefit projections. [D]</a:t>
            </a:r>
            <a:endParaRPr lang="en-GB" sz="1920" dirty="0"/>
          </a:p>
        </p:txBody>
      </p:sp>
      <p:sp>
        <p:nvSpPr>
          <p:cNvPr id="5" name="Text 1"/>
          <p:cNvSpPr/>
          <p:nvPr>
            <p:ph idx="102" type="body" hasCustomPrompt="1"/>
          </p:nvPr>
        </p:nvSpPr>
        <p:spPr>
          <a:xfrm>
            <a:off x="762000" y="2057400"/>
            <a:ext cx="10668000" cy="3886200"/>
          </a:xfrm>
          <a:prstGeom prst="rect">
            <a:avLst/>
          </a:prstGeom>
          <a:noFill/>
          <a:ln/>
        </p:spPr>
        <p:txBody>
          <a:bodyPr wrap="square" lIns="0" tIns="0" rIns="0" bIns="0" rtlCol="0" anchor="t"/>
          <a:lstStyle/>
          <a:p>
            <a:pPr indent="0" marL="0">
              <a:buNone/>
            </a:pPr>
            <a:endParaRPr lang="en-US" sz="168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1"/>
          <p:cNvSpPr/>
          <p:nvPr>
            <p:ph idx="101" type="title" hasCustomPrompt="1"/>
          </p:nvPr>
        </p:nvSpPr>
        <p:spPr>
          <a:xfrm>
            <a:off x="381000" y="891540"/>
            <a:ext cx="11430000" cy="487680"/>
          </a:xfrm>
          <a:prstGeom prst="rect">
            <a:avLst/>
          </a:prstGeom>
          <a:noFill/>
          <a:ln/>
        </p:spPr>
        <p:txBody>
          <a:bodyPr wrap="square" lIns="0" tIns="0" rIns="0" bIns="0" rtlCol="0" anchor="t"/>
          <a:lstStyle/>
          <a:p>
            <a:pPr algn="l" indent="0" marL="0">
              <a:buNone/>
            </a:pPr>
            <a:r>
              <a:rPr lang="en-GB" altLang="en-US" sz="2400" b="1" spc="-84" kern="0" dirty="0">
                <a:solidFill>
                  <a:srgbClr val="000000"/>
                </a:solidFill>
                <a:latin typeface="Arial" pitchFamily="34" charset="0"/>
                <a:ea typeface="Arial" pitchFamily="34" charset="-122"/>
                <a:cs typeface="Arial" pitchFamily="34" charset="-120"/>
              </a:rPr>
              <a:t>2. Compare complete tasks to one standard (cont.)</a:t>
            </a:r>
            <a:endParaRPr lang="en-GB" sz="2400" dirty="0"/>
          </a:p>
        </p:txBody>
      </p:sp>
      <p:sp>
        <p:nvSpPr>
          <p:cNvPr id="3" name="body-13-2-item-0"/>
          <p:cNvSpPr/>
          <p:nvPr/>
        </p:nvSpPr>
        <p:spPr>
          <a:xfrm>
            <a:off x="609600" y="1600200"/>
            <a:ext cx="10972800" cy="2026920"/>
          </a:xfrm>
          <a:prstGeom prst="rect">
            <a:avLst/>
          </a:prstGeom>
          <a:noFill/>
          <a:ln/>
        </p:spPr>
        <p:txBody>
          <a:bodyPr wrap="square" lIns="0" tIns="0" rIns="0" bIns="0" rtlCol="0" anchor="t"/>
          <a:lstStyle/>
          <a:p>
            <a:pPr algn="l" indent="0" marL="0">
              <a:lnSpc>
                <a:spcPct val="128000"/>
              </a:lnSpc>
              <a:buNone/>
            </a:pPr>
            <a:r>
              <a:rPr lang="en-GB" altLang="en-US" sz="1920" dirty="0">
                <a:solidFill>
                  <a:srgbClr val="222222"/>
                </a:solidFill>
                <a:latin typeface="Arial" pitchFamily="34" charset="0"/>
                <a:ea typeface="Arial" pitchFamily="34" charset="-122"/>
                <a:cs typeface="Arial" pitchFamily="34" charset="-120"/>
              </a:rPr>
              <a:t>Keep four core measures: active human time, elapsed time to acceptance, output completeness/accuracy and revision rounds. Include prompting, review, confirmation, copying, rework and manual recovery after failure; record learning and maintenance costs separately. Score first drafts and final quality separately, retaining failed and abandoned cases. Do not invent baseline values or target savings before data exists. [D]</a:t>
            </a:r>
            <a:endParaRPr lang="en-GB" sz="1920" dirty="0"/>
          </a:p>
        </p:txBody>
      </p:sp>
      <p:sp>
        <p:nvSpPr>
          <p:cNvPr id="4" name="body-13-2-item-1"/>
          <p:cNvSpPr/>
          <p:nvPr/>
        </p:nvSpPr>
        <p:spPr>
          <a:xfrm>
            <a:off x="609600" y="3779520"/>
            <a:ext cx="10972800" cy="1379220"/>
          </a:xfrm>
          <a:prstGeom prst="rect">
            <a:avLst/>
          </a:prstGeom>
          <a:noFill/>
          <a:ln/>
        </p:spPr>
        <p:txBody>
          <a:bodyPr wrap="square" lIns="0" tIns="0" rIns="0" bIns="0" rtlCol="0" anchor="t"/>
          <a:lstStyle/>
          <a:p>
            <a:pPr algn="l" indent="0" marL="0">
              <a:lnSpc>
                <a:spcPct val="128000"/>
              </a:lnSpc>
              <a:buNone/>
            </a:pPr>
            <a:r>
              <a:rPr lang="en-GB" altLang="en-US" sz="1920" dirty="0">
                <a:solidFill>
                  <a:srgbClr val="222222"/>
                </a:solidFill>
                <a:latin typeface="Arial" pitchFamily="34" charset="0"/>
                <a:ea typeface="Arial" pitchFamily="34" charset="-122"/>
                <a:cs typeface="Arial" pitchFamily="34" charset="-120"/>
              </a:rPr>
              <a:t>If initial results are acceptable, use new tasks to compare AI drafting followed by manual copying with AI connected to the collaboration platform, separating integration benefits from generation benefits. A two-person test should check that owner, deadline, item ID and acceptance information are complete.</a:t>
            </a:r>
            <a:endParaRPr lang="en-GB" sz="1920" dirty="0"/>
          </a:p>
        </p:txBody>
      </p:sp>
      <p:sp>
        <p:nvSpPr>
          <p:cNvPr id="6" name="Text 1"/>
          <p:cNvSpPr/>
          <p:nvPr>
            <p:ph idx="102" type="body" hasCustomPrompt="1"/>
          </p:nvPr>
        </p:nvSpPr>
        <p:spPr>
          <a:xfrm>
            <a:off x="762000" y="2057400"/>
            <a:ext cx="10668000" cy="3886200"/>
          </a:xfrm>
          <a:prstGeom prst="rect">
            <a:avLst/>
          </a:prstGeom>
          <a:noFill/>
          <a:ln/>
        </p:spPr>
        <p:txBody>
          <a:bodyPr wrap="square" lIns="0" tIns="0" rIns="0" bIns="0" rtlCol="0" anchor="t"/>
          <a:lstStyle/>
          <a:p>
            <a:pPr indent="0" marL="0">
              <a:buNone/>
            </a:pPr>
            <a:endParaRPr lang="en-US" sz="168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ext 1"/>
          <p:cNvSpPr/>
          <p:nvPr>
            <p:ph idx="101" type="title" hasCustomPrompt="1"/>
          </p:nvPr>
        </p:nvSpPr>
        <p:spPr>
          <a:xfrm>
            <a:off x="381000" y="891540"/>
            <a:ext cx="11430000" cy="487680"/>
          </a:xfrm>
          <a:prstGeom prst="rect">
            <a:avLst/>
          </a:prstGeom>
          <a:noFill/>
          <a:ln/>
        </p:spPr>
        <p:txBody>
          <a:bodyPr wrap="square" lIns="0" tIns="0" rIns="0" bIns="0" rtlCol="0" anchor="t"/>
          <a:lstStyle/>
          <a:p>
            <a:pPr algn="l" indent="0" marL="0">
              <a:buNone/>
            </a:pPr>
            <a:r>
              <a:rPr lang="en-GB" altLang="en-US" sz="2400" b="1" spc="-84" kern="0" dirty="0">
                <a:solidFill>
                  <a:srgbClr val="000000"/>
                </a:solidFill>
                <a:latin typeface="Arial" pitchFamily="34" charset="0"/>
                <a:ea typeface="Arial" pitchFamily="34" charset="-122"/>
                <a:cs typeface="Arial" pitchFamily="34" charset="-120"/>
              </a:rPr>
              <a:t>3. Decide whether to expand or stop</a:t>
            </a:r>
            <a:endParaRPr lang="en-GB" sz="2400" dirty="0"/>
          </a:p>
        </p:txBody>
      </p:sp>
      <p:sp>
        <p:nvSpPr>
          <p:cNvPr id="3" name="body-14-1-item-0"/>
          <p:cNvSpPr/>
          <p:nvPr/>
        </p:nvSpPr>
        <p:spPr>
          <a:xfrm>
            <a:off x="609600" y="1600200"/>
            <a:ext cx="10972800" cy="1706880"/>
          </a:xfrm>
          <a:prstGeom prst="rect">
            <a:avLst/>
          </a:prstGeom>
          <a:noFill/>
          <a:ln/>
        </p:spPr>
        <p:txBody>
          <a:bodyPr wrap="square" lIns="0" tIns="0" rIns="0" bIns="0" rtlCol="0" anchor="t"/>
          <a:lstStyle/>
          <a:p>
            <a:pPr algn="l" indent="0" marL="0">
              <a:lnSpc>
                <a:spcPct val="128000"/>
              </a:lnSpc>
              <a:buNone/>
            </a:pPr>
            <a:r>
              <a:rPr lang="en-GB" altLang="en-US" sz="1920" dirty="0">
                <a:solidFill>
                  <a:srgbClr val="222222"/>
                </a:solidFill>
                <a:latin typeface="Arial" pitchFamily="34" charset="0"/>
                <a:ea typeface="Arial" pitchFamily="34" charset="-122"/>
                <a:cs typeface="Arial" pitchFamily="34" charset="-120"/>
              </a:rPr>
              <a:t>Before expanding, require quality against the same standard, net improvement after review and maintenance, traceable error handling and confirmed conditions of use. Critical errors must not escape acceptance, and unauthorised writes or distribution must not occur. The task owner should set time-improvement criteria and tolerances for non-critical errors before seeing results. [D]</a:t>
            </a:r>
            <a:endParaRPr lang="en-GB" sz="1920" dirty="0"/>
          </a:p>
        </p:txBody>
      </p:sp>
      <p:sp>
        <p:nvSpPr>
          <p:cNvPr id="4" name="body-14-1-item-1"/>
          <p:cNvSpPr/>
          <p:nvPr/>
        </p:nvSpPr>
        <p:spPr>
          <a:xfrm>
            <a:off x="609600" y="3459480"/>
            <a:ext cx="10972800" cy="1706880"/>
          </a:xfrm>
          <a:prstGeom prst="rect">
            <a:avLst/>
          </a:prstGeom>
          <a:noFill/>
          <a:ln/>
        </p:spPr>
        <p:txBody>
          <a:bodyPr wrap="square" lIns="0" tIns="0" rIns="0" bIns="0" rtlCol="0" anchor="t"/>
          <a:lstStyle/>
          <a:p>
            <a:pPr algn="l" indent="0" marL="0">
              <a:lnSpc>
                <a:spcPct val="128000"/>
              </a:lnSpc>
              <a:buNone/>
            </a:pPr>
            <a:r>
              <a:rPr lang="en-GB" altLang="en-US" sz="1920" dirty="0">
                <a:solidFill>
                  <a:srgbClr val="222222"/>
                </a:solidFill>
                <a:latin typeface="Arial" pitchFamily="34" charset="0"/>
                <a:ea typeface="Arial" pitchFamily="34" charset="-122"/>
                <a:cs typeface="Arial" pitchFamily="34" charset="-120"/>
              </a:rPr>
              <a:t>If drafts help but integration costs offset the gains, retain drafting assistance alone. If state is inconsistent, critical items are silently missed or responsibility cannot be established, stop the relevant automatic actions and restore manual handling. An inconclusive evaluation may be ended without widening scope just to prolong the trial.</a:t>
            </a:r>
            <a:endParaRPr lang="en-GB" sz="1920" dirty="0"/>
          </a:p>
        </p:txBody>
      </p:sp>
      <p:sp>
        <p:nvSpPr>
          <p:cNvPr id="6" name="Text 1"/>
          <p:cNvSpPr/>
          <p:nvPr>
            <p:ph idx="102" type="body" hasCustomPrompt="1"/>
          </p:nvPr>
        </p:nvSpPr>
        <p:spPr>
          <a:xfrm>
            <a:off x="762000" y="2057400"/>
            <a:ext cx="10668000" cy="3886200"/>
          </a:xfrm>
          <a:prstGeom prst="rect">
            <a:avLst/>
          </a:prstGeom>
          <a:noFill/>
          <a:ln/>
        </p:spPr>
        <p:txBody>
          <a:bodyPr wrap="square" lIns="0" tIns="0" rIns="0" bIns="0" rtlCol="0" anchor="t"/>
          <a:lstStyle/>
          <a:p>
            <a:pPr indent="0" marL="0">
              <a:buNone/>
            </a:pPr>
            <a:endParaRPr lang="en-US" sz="168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ext 1"/>
          <p:cNvSpPr/>
          <p:nvPr>
            <p:ph idx="101" type="title" hasCustomPrompt="1"/>
          </p:nvPr>
        </p:nvSpPr>
        <p:spPr>
          <a:xfrm>
            <a:off x="381000" y="891540"/>
            <a:ext cx="11430000" cy="487680"/>
          </a:xfrm>
          <a:prstGeom prst="rect">
            <a:avLst/>
          </a:prstGeom>
          <a:noFill/>
          <a:ln/>
        </p:spPr>
        <p:txBody>
          <a:bodyPr wrap="square" lIns="0" tIns="0" rIns="0" bIns="0" rtlCol="0" anchor="t"/>
          <a:lstStyle/>
          <a:p>
            <a:pPr algn="l" indent="0" marL="0">
              <a:buNone/>
            </a:pPr>
            <a:r>
              <a:rPr lang="en-GB" altLang="en-US" sz="2400" b="1" spc="-84" kern="0" dirty="0">
                <a:solidFill>
                  <a:srgbClr val="000000"/>
                </a:solidFill>
                <a:latin typeface="Arial" pitchFamily="34" charset="0"/>
                <a:ea typeface="Arial" pitchFamily="34" charset="-122"/>
                <a:cs typeface="Arial" pitchFamily="34" charset="-120"/>
              </a:rPr>
              <a:t>Appendix A. Case evidence</a:t>
            </a:r>
            <a:endParaRPr lang="en-GB" sz="2400" dirty="0"/>
          </a:p>
        </p:txBody>
      </p:sp>
      <p:graphicFrame>
        <p:nvGraphicFramePr>
          <p:cNvPr id="39" name="body-15-1-item-0"/>
          <p:cNvGraphicFramePr>
            <a:graphicFrameLocks noGrp="1"/>
          </p:cNvGraphicFramePr>
          <p:nvPr>
            <p:extLst>
              <p:ext uri="{D42A27DB-BD31-4B8C-83A1-F6EECF244321}">
                <p14:modId xmlns:p14="http://schemas.microsoft.com/office/powerpoint/2010/main" val="1579011935"/>
              </p:ext>
            </p:extLst>
          </p:nvPr>
        </p:nvGraphicFramePr>
        <p:xfrm>
          <a:off x="609600" y="1600200"/>
          <a:ext cx="10972800" cy="1859280"/>
        </p:xfrm>
        <a:graphic>
          <a:graphicData uri="http://schemas.openxmlformats.org/drawingml/2006/table">
            <a:tbl>
              <a:tblPr/>
              <a:tblGrid>
                <a:gridCol w="3657600"/>
                <a:gridCol w="3657600"/>
                <a:gridCol w="3657600"/>
              </a:tblGrid>
              <a:tr h="929640">
                <a:tc>
                  <a:txBody>
                    <a:bodyPr/>
                    <a:lstStyle/>
                    <a:p>
                      <a:pPr algn="l" indent="0" marL="0">
                        <a:buNone/>
                      </a:pPr>
                      <a:r>
                        <a:rPr lang="en-US" sz="1560" b="1" dirty="0">
                          <a:solidFill>
                            <a:srgbClr val="FFFFFF"/>
                          </a:solidFill>
                          <a:latin typeface="Arial" pitchFamily="34" charset="0"/>
                          <a:ea typeface="Arial" pitchFamily="34" charset="-122"/>
                          <a:cs typeface="Arial" pitchFamily="34" charset="-120"/>
                        </a:rPr>
                        <a:t>Item</a:t>
                      </a:r>
                      <a:endParaRPr lang="en-US" sz="1560" dirty="0">
                        <a:latin typeface="Arial" charset="0"/>
                        <a:ea typeface="Arial" charset="0"/>
                        <a:cs typeface="Arial" charset="0"/>
                      </a:endParaRPr>
                    </a:p>
                  </a:txBody>
                  <a:tcPr marL="106680" marR="106680" marT="60960" marB="60960" anchor="mid">
                    <a:lnL w="6350" cap="flat" cmpd="sng" algn="ctr">
                      <a:solidFill>
                        <a:srgbClr val="D7D7D7"/>
                      </a:solidFill>
                      <a:prstDash val="solid"/>
                      <a:round/>
                      <a:headEnd type="none" w="med" len="med"/>
                      <a:tailEnd type="none" w="med" len="med"/>
                    </a:lnL>
                    <a:lnR w="6350" cap="flat" cmpd="sng" algn="ctr">
                      <a:solidFill>
                        <a:srgbClr val="D7D7D7"/>
                      </a:solidFill>
                      <a:prstDash val="solid"/>
                      <a:round/>
                      <a:headEnd type="none" w="med" len="med"/>
                      <a:tailEnd type="none" w="med" len="med"/>
                    </a:lnR>
                    <a:lnT w="6350" cap="flat" cmpd="sng" algn="ctr">
                      <a:solidFill>
                        <a:srgbClr val="D7D7D7"/>
                      </a:solidFill>
                      <a:prstDash val="solid"/>
                      <a:round/>
                      <a:headEnd type="none" w="med" len="med"/>
                      <a:tailEnd type="none" w="med" len="med"/>
                    </a:lnT>
                    <a:lnB w="6350" cap="flat" cmpd="sng" algn="ctr">
                      <a:solidFill>
                        <a:srgbClr val="D7D7D7"/>
                      </a:solidFill>
                      <a:prstDash val="solid"/>
                      <a:round/>
                      <a:headEnd type="none" w="med" len="med"/>
                      <a:tailEnd type="none" w="med" len="med"/>
                    </a:lnB>
                    <a:solidFill>
                      <a:srgbClr val="DB0011"/>
                    </a:solidFill>
                  </a:tcPr>
                </a:tc>
                <a:tc>
                  <a:txBody>
                    <a:bodyPr/>
                    <a:lstStyle/>
                    <a:p>
                      <a:pPr algn="l" indent="0" marL="0">
                        <a:buNone/>
                      </a:pPr>
                      <a:r>
                        <a:rPr lang="en-US" sz="1560" b="1" dirty="0">
                          <a:solidFill>
                            <a:srgbClr val="FFFFFF"/>
                          </a:solidFill>
                          <a:latin typeface="Arial" pitchFamily="34" charset="0"/>
                          <a:ea typeface="Arial" pitchFamily="34" charset="-122"/>
                          <a:cs typeface="Arial" pitchFamily="34" charset="-120"/>
                        </a:rPr>
                        <a:t>Most direct evidence</a:t>
                      </a:r>
                      <a:endParaRPr lang="en-US" sz="1560" dirty="0">
                        <a:latin typeface="Arial" charset="0"/>
                        <a:ea typeface="Arial" charset="0"/>
                        <a:cs typeface="Arial" charset="0"/>
                      </a:endParaRPr>
                    </a:p>
                  </a:txBody>
                  <a:tcPr marL="106680" marR="106680" marT="60960" marB="60960" anchor="mid">
                    <a:lnL w="6350" cap="flat" cmpd="sng" algn="ctr">
                      <a:solidFill>
                        <a:srgbClr val="D7D7D7"/>
                      </a:solidFill>
                      <a:prstDash val="solid"/>
                      <a:round/>
                      <a:headEnd type="none" w="med" len="med"/>
                      <a:tailEnd type="none" w="med" len="med"/>
                    </a:lnL>
                    <a:lnR w="6350" cap="flat" cmpd="sng" algn="ctr">
                      <a:solidFill>
                        <a:srgbClr val="D7D7D7"/>
                      </a:solidFill>
                      <a:prstDash val="solid"/>
                      <a:round/>
                      <a:headEnd type="none" w="med" len="med"/>
                      <a:tailEnd type="none" w="med" len="med"/>
                    </a:lnR>
                    <a:lnT w="6350" cap="flat" cmpd="sng" algn="ctr">
                      <a:solidFill>
                        <a:srgbClr val="D7D7D7"/>
                      </a:solidFill>
                      <a:prstDash val="solid"/>
                      <a:round/>
                      <a:headEnd type="none" w="med" len="med"/>
                      <a:tailEnd type="none" w="med" len="med"/>
                    </a:lnT>
                    <a:lnB w="6350" cap="flat" cmpd="sng" algn="ctr">
                      <a:solidFill>
                        <a:srgbClr val="D7D7D7"/>
                      </a:solidFill>
                      <a:prstDash val="solid"/>
                      <a:round/>
                      <a:headEnd type="none" w="med" len="med"/>
                      <a:tailEnd type="none" w="med" len="med"/>
                    </a:lnB>
                    <a:solidFill>
                      <a:srgbClr val="DB0011"/>
                    </a:solidFill>
                  </a:tcPr>
                </a:tc>
                <a:tc>
                  <a:txBody>
                    <a:bodyPr/>
                    <a:lstStyle/>
                    <a:p>
                      <a:pPr algn="l" indent="0" marL="0">
                        <a:buNone/>
                      </a:pPr>
                      <a:r>
                        <a:rPr lang="en-US" sz="1560" b="1" dirty="0">
                          <a:solidFill>
                            <a:srgbClr val="FFFFFF"/>
                          </a:solidFill>
                          <a:latin typeface="Arial" pitchFamily="34" charset="0"/>
                          <a:ea typeface="Arial" pitchFamily="34" charset="-122"/>
                          <a:cs typeface="Arial" pitchFamily="34" charset="-120"/>
                        </a:rPr>
                        <a:t>Supported conclusion and limits</a:t>
                      </a:r>
                      <a:endParaRPr lang="en-US" sz="1560" dirty="0">
                        <a:latin typeface="Arial" charset="0"/>
                        <a:ea typeface="Arial" charset="0"/>
                        <a:cs typeface="Arial" charset="0"/>
                      </a:endParaRPr>
                    </a:p>
                  </a:txBody>
                  <a:tcPr marL="106680" marR="106680" marT="60960" marB="60960" anchor="mid">
                    <a:lnL w="6350" cap="flat" cmpd="sng" algn="ctr">
                      <a:solidFill>
                        <a:srgbClr val="D7D7D7"/>
                      </a:solidFill>
                      <a:prstDash val="solid"/>
                      <a:round/>
                      <a:headEnd type="none" w="med" len="med"/>
                      <a:tailEnd type="none" w="med" len="med"/>
                    </a:lnL>
                    <a:lnR w="6350" cap="flat" cmpd="sng" algn="ctr">
                      <a:solidFill>
                        <a:srgbClr val="D7D7D7"/>
                      </a:solidFill>
                      <a:prstDash val="solid"/>
                      <a:round/>
                      <a:headEnd type="none" w="med" len="med"/>
                      <a:tailEnd type="none" w="med" len="med"/>
                    </a:lnR>
                    <a:lnT w="6350" cap="flat" cmpd="sng" algn="ctr">
                      <a:solidFill>
                        <a:srgbClr val="D7D7D7"/>
                      </a:solidFill>
                      <a:prstDash val="solid"/>
                      <a:round/>
                      <a:headEnd type="none" w="med" len="med"/>
                      <a:tailEnd type="none" w="med" len="med"/>
                    </a:lnT>
                    <a:lnB w="6350" cap="flat" cmpd="sng" algn="ctr">
                      <a:solidFill>
                        <a:srgbClr val="D7D7D7"/>
                      </a:solidFill>
                      <a:prstDash val="solid"/>
                      <a:round/>
                      <a:headEnd type="none" w="med" len="med"/>
                      <a:tailEnd type="none" w="med" len="med"/>
                    </a:lnB>
                    <a:solidFill>
                      <a:srgbClr val="DB0011"/>
                    </a:solidFill>
                  </a:tcPr>
                </a:tc>
              </a:tr>
              <a:tr h="929640">
                <a:tc>
                  <a:txBody>
                    <a:bodyPr/>
                    <a:lstStyle/>
                    <a:p>
                      <a:pPr algn="l" indent="0" marL="0">
                        <a:buNone/>
                      </a:pPr>
                      <a:r>
                        <a:rPr lang="en-US" sz="1560" dirty="0">
                          <a:solidFill>
                            <a:srgbClr val="000000"/>
                          </a:solidFill>
                          <a:latin typeface="Arial" pitchFamily="34" charset="0"/>
                          <a:ea typeface="Arial" pitchFamily="34" charset="-122"/>
                          <a:cs typeface="Arial" pitchFamily="34" charset="-120"/>
                        </a:rPr>
                        <a:t>Contract extraction</a:t>
                      </a:r>
                      <a:endParaRPr lang="en-US" sz="1560" dirty="0">
                        <a:latin typeface="Arial" charset="0"/>
                        <a:ea typeface="Arial" charset="0"/>
                        <a:cs typeface="Arial" charset="0"/>
                      </a:endParaRPr>
                    </a:p>
                  </a:txBody>
                  <a:tcPr marL="106680" marR="106680" marT="60960" marB="60960" anchor="mid">
                    <a:lnL w="6350" cap="flat" cmpd="sng" algn="ctr">
                      <a:solidFill>
                        <a:srgbClr val="D7D7D7"/>
                      </a:solidFill>
                      <a:prstDash val="solid"/>
                      <a:round/>
                      <a:headEnd type="none" w="med" len="med"/>
                      <a:tailEnd type="none" w="med" len="med"/>
                    </a:lnL>
                    <a:lnR w="6350" cap="flat" cmpd="sng" algn="ctr">
                      <a:solidFill>
                        <a:srgbClr val="D7D7D7"/>
                      </a:solidFill>
                      <a:prstDash val="solid"/>
                      <a:round/>
                      <a:headEnd type="none" w="med" len="med"/>
                      <a:tailEnd type="none" w="med" len="med"/>
                    </a:lnR>
                    <a:lnT w="6350" cap="flat" cmpd="sng" algn="ctr">
                      <a:solidFill>
                        <a:srgbClr val="D7D7D7"/>
                      </a:solidFill>
                      <a:prstDash val="solid"/>
                      <a:round/>
                      <a:headEnd type="none" w="med" len="med"/>
                      <a:tailEnd type="none" w="med" len="med"/>
                    </a:lnT>
                    <a:lnB w="6350" cap="flat" cmpd="sng" algn="ctr">
                      <a:solidFill>
                        <a:srgbClr val="D7D7D7"/>
                      </a:solidFill>
                      <a:prstDash val="solid"/>
                      <a:round/>
                      <a:headEnd type="none" w="med" len="med"/>
                      <a:tailEnd type="none" w="med" len="med"/>
                    </a:lnB>
                    <a:solidFill>
                      <a:srgbClr val="F4F4F4"/>
                    </a:solidFill>
                  </a:tcPr>
                </a:tc>
                <a:tc>
                  <a:txBody>
                    <a:bodyPr/>
                    <a:lstStyle/>
                    <a:p>
                      <a:pPr algn="l" indent="0" marL="0">
                        <a:buNone/>
                      </a:pPr>
                      <a:r>
                        <a:rPr lang="en-US" sz="1560" dirty="0">
                          <a:solidFill>
                            <a:srgbClr val="000000"/>
                          </a:solidFill>
                          <a:latin typeface="Arial" pitchFamily="34" charset="0"/>
                          <a:ea typeface="Arial" pitchFamily="34" charset="-122"/>
                          <a:cs typeface="Arial" pitchFamily="34" charset="-120"/>
                        </a:rPr>
                        <a:t>R1 lines 320, 325; M5</a:t>
                      </a:r>
                      <a:endParaRPr lang="en-US" sz="1560" dirty="0">
                        <a:latin typeface="Arial" charset="0"/>
                        <a:ea typeface="Arial" charset="0"/>
                        <a:cs typeface="Arial" charset="0"/>
                      </a:endParaRPr>
                    </a:p>
                  </a:txBody>
                  <a:tcPr marL="106680" marR="106680" marT="60960" marB="60960" anchor="mid">
                    <a:lnL w="6350" cap="flat" cmpd="sng" algn="ctr">
                      <a:solidFill>
                        <a:srgbClr val="D7D7D7"/>
                      </a:solidFill>
                      <a:prstDash val="solid"/>
                      <a:round/>
                      <a:headEnd type="none" w="med" len="med"/>
                      <a:tailEnd type="none" w="med" len="med"/>
                    </a:lnL>
                    <a:lnR w="6350" cap="flat" cmpd="sng" algn="ctr">
                      <a:solidFill>
                        <a:srgbClr val="D7D7D7"/>
                      </a:solidFill>
                      <a:prstDash val="solid"/>
                      <a:round/>
                      <a:headEnd type="none" w="med" len="med"/>
                      <a:tailEnd type="none" w="med" len="med"/>
                    </a:lnR>
                    <a:lnT w="6350" cap="flat" cmpd="sng" algn="ctr">
                      <a:solidFill>
                        <a:srgbClr val="D7D7D7"/>
                      </a:solidFill>
                      <a:prstDash val="solid"/>
                      <a:round/>
                      <a:headEnd type="none" w="med" len="med"/>
                      <a:tailEnd type="none" w="med" len="med"/>
                    </a:lnT>
                    <a:lnB w="6350" cap="flat" cmpd="sng" algn="ctr">
                      <a:solidFill>
                        <a:srgbClr val="D7D7D7"/>
                      </a:solidFill>
                      <a:prstDash val="solid"/>
                      <a:round/>
                      <a:headEnd type="none" w="med" len="med"/>
                      <a:tailEnd type="none" w="med" len="med"/>
                    </a:lnB>
                    <a:solidFill>
                      <a:srgbClr val="F4F4F4"/>
                    </a:solidFill>
                  </a:tcPr>
                </a:tc>
                <a:tc>
                  <a:txBody>
                    <a:bodyPr/>
                    <a:lstStyle/>
                    <a:p>
                      <a:pPr algn="l" indent="0" marL="0">
                        <a:buNone/>
                      </a:pPr>
                      <a:r>
                        <a:rPr lang="en-US" sz="1560" dirty="0">
                          <a:solidFill>
                            <a:srgbClr val="000000"/>
                          </a:solidFill>
                          <a:latin typeface="Arial" pitchFamily="34" charset="0"/>
                          <a:ea typeface="Arial" pitchFamily="34" charset="-122"/>
                          <a:cs typeface="Arial" pitchFamily="34" charset="-120"/>
                        </a:rPr>
                        <a:t>Source and core values match; confirmation requested; one preset template</a:t>
                      </a:r>
                      <a:endParaRPr lang="en-US" sz="1560" dirty="0">
                        <a:latin typeface="Arial" charset="0"/>
                        <a:ea typeface="Arial" charset="0"/>
                        <a:cs typeface="Arial" charset="0"/>
                      </a:endParaRPr>
                    </a:p>
                  </a:txBody>
                  <a:tcPr marL="106680" marR="106680" marT="60960" marB="60960" anchor="mid">
                    <a:lnL w="6350" cap="flat" cmpd="sng" algn="ctr">
                      <a:solidFill>
                        <a:srgbClr val="D7D7D7"/>
                      </a:solidFill>
                      <a:prstDash val="solid"/>
                      <a:round/>
                      <a:headEnd type="none" w="med" len="med"/>
                      <a:tailEnd type="none" w="med" len="med"/>
                    </a:lnL>
                    <a:lnR w="6350" cap="flat" cmpd="sng" algn="ctr">
                      <a:solidFill>
                        <a:srgbClr val="D7D7D7"/>
                      </a:solidFill>
                      <a:prstDash val="solid"/>
                      <a:round/>
                      <a:headEnd type="none" w="med" len="med"/>
                      <a:tailEnd type="none" w="med" len="med"/>
                    </a:lnR>
                    <a:lnT w="6350" cap="flat" cmpd="sng" algn="ctr">
                      <a:solidFill>
                        <a:srgbClr val="D7D7D7"/>
                      </a:solidFill>
                      <a:prstDash val="solid"/>
                      <a:round/>
                      <a:headEnd type="none" w="med" len="med"/>
                      <a:tailEnd type="none" w="med" len="med"/>
                    </a:lnT>
                    <a:lnB w="6350" cap="flat" cmpd="sng" algn="ctr">
                      <a:solidFill>
                        <a:srgbClr val="D7D7D7"/>
                      </a:solidFill>
                      <a:prstDash val="solid"/>
                      <a:round/>
                      <a:headEnd type="none" w="med" len="med"/>
                      <a:tailEnd type="none" w="med" len="med"/>
                    </a:lnB>
                    <a:solidFill>
                      <a:srgbClr val="F4F4F4"/>
                    </a:solidFill>
                  </a:tcPr>
                </a:tc>
              </a:tr>
            </a:tbl>
          </a:graphicData>
        </a:graphic>
      </p:graphicFrame>
      <p:sp>
        <p:nvSpPr>
          <p:cNvPr id="5" name="Text 1"/>
          <p:cNvSpPr/>
          <p:nvPr>
            <p:ph idx="102" type="body" hasCustomPrompt="1"/>
          </p:nvPr>
        </p:nvSpPr>
        <p:spPr>
          <a:xfrm>
            <a:off x="762000" y="2057400"/>
            <a:ext cx="10668000" cy="3886200"/>
          </a:xfrm>
          <a:prstGeom prst="rect">
            <a:avLst/>
          </a:prstGeom>
          <a:noFill/>
          <a:ln/>
        </p:spPr>
        <p:txBody>
          <a:bodyPr wrap="square" lIns="0" tIns="0" rIns="0" bIns="0" rtlCol="0" anchor="t"/>
          <a:lstStyle/>
          <a:p>
            <a:pPr indent="0" marL="0">
              <a:buNone/>
            </a:pPr>
            <a:endParaRPr lang="en-US" sz="168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Text 1"/>
          <p:cNvSpPr/>
          <p:nvPr>
            <p:ph idx="101" type="title" hasCustomPrompt="1"/>
          </p:nvPr>
        </p:nvSpPr>
        <p:spPr>
          <a:xfrm>
            <a:off x="381000" y="891540"/>
            <a:ext cx="11430000" cy="487680"/>
          </a:xfrm>
          <a:prstGeom prst="rect">
            <a:avLst/>
          </a:prstGeom>
          <a:noFill/>
          <a:ln/>
        </p:spPr>
        <p:txBody>
          <a:bodyPr wrap="square" lIns="0" tIns="0" rIns="0" bIns="0" rtlCol="0" anchor="t"/>
          <a:lstStyle/>
          <a:p>
            <a:pPr algn="l" indent="0" marL="0">
              <a:buNone/>
            </a:pPr>
            <a:r>
              <a:rPr lang="en-GB" altLang="en-US" sz="2400" b="1" spc="-84" kern="0" dirty="0">
                <a:solidFill>
                  <a:srgbClr val="000000"/>
                </a:solidFill>
                <a:latin typeface="Arial" pitchFamily="34" charset="0"/>
                <a:ea typeface="Arial" pitchFamily="34" charset="-122"/>
                <a:cs typeface="Arial" pitchFamily="34" charset="-120"/>
              </a:rPr>
              <a:t>Appendix A. Case evidence (continued)</a:t>
            </a:r>
            <a:endParaRPr lang="en-GB" sz="2400" dirty="0"/>
          </a:p>
        </p:txBody>
      </p:sp>
      <p:graphicFrame>
        <p:nvGraphicFramePr>
          <p:cNvPr id="40" name="body-15-2-item-0"/>
          <p:cNvGraphicFramePr>
            <a:graphicFrameLocks noGrp="1"/>
          </p:cNvGraphicFramePr>
          <p:nvPr>
            <p:extLst>
              <p:ext uri="{D42A27DB-BD31-4B8C-83A1-F6EECF244321}">
                <p14:modId xmlns:p14="http://schemas.microsoft.com/office/powerpoint/2010/main" val="1579011935"/>
              </p:ext>
            </p:extLst>
          </p:nvPr>
        </p:nvGraphicFramePr>
        <p:xfrm>
          <a:off x="609600" y="1600200"/>
          <a:ext cx="10972800" cy="2834640"/>
        </p:xfrm>
        <a:graphic>
          <a:graphicData uri="http://schemas.openxmlformats.org/drawingml/2006/table">
            <a:tbl>
              <a:tblPr/>
              <a:tblGrid>
                <a:gridCol w="3657600"/>
                <a:gridCol w="3657600"/>
                <a:gridCol w="3657600"/>
              </a:tblGrid>
              <a:tr h="1417320">
                <a:tc>
                  <a:txBody>
                    <a:bodyPr/>
                    <a:lstStyle/>
                    <a:p>
                      <a:pPr algn="l" indent="0" marL="0">
                        <a:buNone/>
                      </a:pPr>
                      <a:r>
                        <a:rPr lang="en-US" sz="1560" b="1" dirty="0">
                          <a:solidFill>
                            <a:srgbClr val="FFFFFF"/>
                          </a:solidFill>
                          <a:latin typeface="Arial" pitchFamily="34" charset="0"/>
                          <a:ea typeface="Arial" pitchFamily="34" charset="-122"/>
                          <a:cs typeface="Arial" pitchFamily="34" charset="-120"/>
                        </a:rPr>
                        <a:t>Item</a:t>
                      </a:r>
                      <a:endParaRPr lang="en-US" sz="1560" dirty="0">
                        <a:latin typeface="Arial" charset="0"/>
                        <a:ea typeface="Arial" charset="0"/>
                        <a:cs typeface="Arial" charset="0"/>
                      </a:endParaRPr>
                    </a:p>
                  </a:txBody>
                  <a:tcPr marL="106680" marR="106680" marT="60960" marB="60960" anchor="mid">
                    <a:lnL w="6350" cap="flat" cmpd="sng" algn="ctr">
                      <a:solidFill>
                        <a:srgbClr val="D7D7D7"/>
                      </a:solidFill>
                      <a:prstDash val="solid"/>
                      <a:round/>
                      <a:headEnd type="none" w="med" len="med"/>
                      <a:tailEnd type="none" w="med" len="med"/>
                    </a:lnL>
                    <a:lnR w="6350" cap="flat" cmpd="sng" algn="ctr">
                      <a:solidFill>
                        <a:srgbClr val="D7D7D7"/>
                      </a:solidFill>
                      <a:prstDash val="solid"/>
                      <a:round/>
                      <a:headEnd type="none" w="med" len="med"/>
                      <a:tailEnd type="none" w="med" len="med"/>
                    </a:lnR>
                    <a:lnT w="6350" cap="flat" cmpd="sng" algn="ctr">
                      <a:solidFill>
                        <a:srgbClr val="D7D7D7"/>
                      </a:solidFill>
                      <a:prstDash val="solid"/>
                      <a:round/>
                      <a:headEnd type="none" w="med" len="med"/>
                      <a:tailEnd type="none" w="med" len="med"/>
                    </a:lnT>
                    <a:lnB w="6350" cap="flat" cmpd="sng" algn="ctr">
                      <a:solidFill>
                        <a:srgbClr val="D7D7D7"/>
                      </a:solidFill>
                      <a:prstDash val="solid"/>
                      <a:round/>
                      <a:headEnd type="none" w="med" len="med"/>
                      <a:tailEnd type="none" w="med" len="med"/>
                    </a:lnB>
                    <a:solidFill>
                      <a:srgbClr val="DB0011"/>
                    </a:solidFill>
                  </a:tcPr>
                </a:tc>
                <a:tc>
                  <a:txBody>
                    <a:bodyPr/>
                    <a:lstStyle/>
                    <a:p>
                      <a:pPr algn="l" indent="0" marL="0">
                        <a:buNone/>
                      </a:pPr>
                      <a:r>
                        <a:rPr lang="en-US" sz="1560" b="1" dirty="0">
                          <a:solidFill>
                            <a:srgbClr val="FFFFFF"/>
                          </a:solidFill>
                          <a:latin typeface="Arial" pitchFamily="34" charset="0"/>
                          <a:ea typeface="Arial" pitchFamily="34" charset="-122"/>
                          <a:cs typeface="Arial" pitchFamily="34" charset="-120"/>
                        </a:rPr>
                        <a:t>Most direct evidence</a:t>
                      </a:r>
                      <a:endParaRPr lang="en-US" sz="1560" dirty="0">
                        <a:latin typeface="Arial" charset="0"/>
                        <a:ea typeface="Arial" charset="0"/>
                        <a:cs typeface="Arial" charset="0"/>
                      </a:endParaRPr>
                    </a:p>
                  </a:txBody>
                  <a:tcPr marL="106680" marR="106680" marT="60960" marB="60960" anchor="mid">
                    <a:lnL w="6350" cap="flat" cmpd="sng" algn="ctr">
                      <a:solidFill>
                        <a:srgbClr val="D7D7D7"/>
                      </a:solidFill>
                      <a:prstDash val="solid"/>
                      <a:round/>
                      <a:headEnd type="none" w="med" len="med"/>
                      <a:tailEnd type="none" w="med" len="med"/>
                    </a:lnL>
                    <a:lnR w="6350" cap="flat" cmpd="sng" algn="ctr">
                      <a:solidFill>
                        <a:srgbClr val="D7D7D7"/>
                      </a:solidFill>
                      <a:prstDash val="solid"/>
                      <a:round/>
                      <a:headEnd type="none" w="med" len="med"/>
                      <a:tailEnd type="none" w="med" len="med"/>
                    </a:lnR>
                    <a:lnT w="6350" cap="flat" cmpd="sng" algn="ctr">
                      <a:solidFill>
                        <a:srgbClr val="D7D7D7"/>
                      </a:solidFill>
                      <a:prstDash val="solid"/>
                      <a:round/>
                      <a:headEnd type="none" w="med" len="med"/>
                      <a:tailEnd type="none" w="med" len="med"/>
                    </a:lnT>
                    <a:lnB w="6350" cap="flat" cmpd="sng" algn="ctr">
                      <a:solidFill>
                        <a:srgbClr val="D7D7D7"/>
                      </a:solidFill>
                      <a:prstDash val="solid"/>
                      <a:round/>
                      <a:headEnd type="none" w="med" len="med"/>
                      <a:tailEnd type="none" w="med" len="med"/>
                    </a:lnB>
                    <a:solidFill>
                      <a:srgbClr val="DB0011"/>
                    </a:solidFill>
                  </a:tcPr>
                </a:tc>
                <a:tc>
                  <a:txBody>
                    <a:bodyPr/>
                    <a:lstStyle/>
                    <a:p>
                      <a:pPr algn="l" indent="0" marL="0">
                        <a:buNone/>
                      </a:pPr>
                      <a:r>
                        <a:rPr lang="en-US" sz="1560" b="1" dirty="0">
                          <a:solidFill>
                            <a:srgbClr val="FFFFFF"/>
                          </a:solidFill>
                          <a:latin typeface="Arial" pitchFamily="34" charset="0"/>
                          <a:ea typeface="Arial" pitchFamily="34" charset="-122"/>
                          <a:cs typeface="Arial" pitchFamily="34" charset="-120"/>
                        </a:rPr>
                        <a:t>Supported conclusion and limits</a:t>
                      </a:r>
                      <a:endParaRPr lang="en-US" sz="1560" dirty="0">
                        <a:latin typeface="Arial" charset="0"/>
                        <a:ea typeface="Arial" charset="0"/>
                        <a:cs typeface="Arial" charset="0"/>
                      </a:endParaRPr>
                    </a:p>
                  </a:txBody>
                  <a:tcPr marL="106680" marR="106680" marT="60960" marB="60960" anchor="mid">
                    <a:lnL w="6350" cap="flat" cmpd="sng" algn="ctr">
                      <a:solidFill>
                        <a:srgbClr val="D7D7D7"/>
                      </a:solidFill>
                      <a:prstDash val="solid"/>
                      <a:round/>
                      <a:headEnd type="none" w="med" len="med"/>
                      <a:tailEnd type="none" w="med" len="med"/>
                    </a:lnL>
                    <a:lnR w="6350" cap="flat" cmpd="sng" algn="ctr">
                      <a:solidFill>
                        <a:srgbClr val="D7D7D7"/>
                      </a:solidFill>
                      <a:prstDash val="solid"/>
                      <a:round/>
                      <a:headEnd type="none" w="med" len="med"/>
                      <a:tailEnd type="none" w="med" len="med"/>
                    </a:lnR>
                    <a:lnT w="6350" cap="flat" cmpd="sng" algn="ctr">
                      <a:solidFill>
                        <a:srgbClr val="D7D7D7"/>
                      </a:solidFill>
                      <a:prstDash val="solid"/>
                      <a:round/>
                      <a:headEnd type="none" w="med" len="med"/>
                      <a:tailEnd type="none" w="med" len="med"/>
                    </a:lnT>
                    <a:lnB w="6350" cap="flat" cmpd="sng" algn="ctr">
                      <a:solidFill>
                        <a:srgbClr val="D7D7D7"/>
                      </a:solidFill>
                      <a:prstDash val="solid"/>
                      <a:round/>
                      <a:headEnd type="none" w="med" len="med"/>
                      <a:tailEnd type="none" w="med" len="med"/>
                    </a:lnB>
                    <a:solidFill>
                      <a:srgbClr val="DB0011"/>
                    </a:solidFill>
                  </a:tcPr>
                </a:tc>
              </a:tr>
              <a:tr h="1417320">
                <a:tc>
                  <a:txBody>
                    <a:bodyPr/>
                    <a:lstStyle/>
                    <a:p>
                      <a:pPr algn="l" indent="0" marL="0">
                        <a:buNone/>
                      </a:pPr>
                      <a:r>
                        <a:rPr lang="en-US" sz="1560" dirty="0">
                          <a:solidFill>
                            <a:srgbClr val="000000"/>
                          </a:solidFill>
                          <a:latin typeface="Arial" pitchFamily="34" charset="0"/>
                          <a:ea typeface="Arial" pitchFamily="34" charset="-122"/>
                          <a:cs typeface="Arial" pitchFamily="34" charset="-120"/>
                        </a:rPr>
                        <a:t>Subsequent contract entry</a:t>
                      </a:r>
                      <a:endParaRPr lang="en-US" sz="1560" dirty="0">
                        <a:latin typeface="Arial" charset="0"/>
                        <a:ea typeface="Arial" charset="0"/>
                        <a:cs typeface="Arial" charset="0"/>
                      </a:endParaRPr>
                    </a:p>
                  </a:txBody>
                  <a:tcPr marL="106680" marR="106680" marT="60960" marB="60960" anchor="mid">
                    <a:lnL w="6350" cap="flat" cmpd="sng" algn="ctr">
                      <a:solidFill>
                        <a:srgbClr val="D7D7D7"/>
                      </a:solidFill>
                      <a:prstDash val="solid"/>
                      <a:round/>
                      <a:headEnd type="none" w="med" len="med"/>
                      <a:tailEnd type="none" w="med" len="med"/>
                    </a:lnL>
                    <a:lnR w="6350" cap="flat" cmpd="sng" algn="ctr">
                      <a:solidFill>
                        <a:srgbClr val="D7D7D7"/>
                      </a:solidFill>
                      <a:prstDash val="solid"/>
                      <a:round/>
                      <a:headEnd type="none" w="med" len="med"/>
                      <a:tailEnd type="none" w="med" len="med"/>
                    </a:lnR>
                    <a:lnT w="6350" cap="flat" cmpd="sng" algn="ctr">
                      <a:solidFill>
                        <a:srgbClr val="D7D7D7"/>
                      </a:solidFill>
                      <a:prstDash val="solid"/>
                      <a:round/>
                      <a:headEnd type="none" w="med" len="med"/>
                      <a:tailEnd type="none" w="med" len="med"/>
                    </a:lnT>
                    <a:lnB w="6350" cap="flat" cmpd="sng" algn="ctr">
                      <a:solidFill>
                        <a:srgbClr val="D7D7D7"/>
                      </a:solidFill>
                      <a:prstDash val="solid"/>
                      <a:round/>
                      <a:headEnd type="none" w="med" len="med"/>
                      <a:tailEnd type="none" w="med" len="med"/>
                    </a:lnB>
                    <a:solidFill>
                      <a:srgbClr val="F4F4F4"/>
                    </a:solidFill>
                  </a:tcPr>
                </a:tc>
                <a:tc>
                  <a:txBody>
                    <a:bodyPr/>
                    <a:lstStyle/>
                    <a:p>
                      <a:pPr algn="l" indent="0" marL="0">
                        <a:buNone/>
                      </a:pPr>
                      <a:r>
                        <a:rPr lang="en-US" sz="1560" dirty="0">
                          <a:solidFill>
                            <a:srgbClr val="000000"/>
                          </a:solidFill>
                          <a:latin typeface="Arial" pitchFamily="34" charset="0"/>
                          <a:ea typeface="Arial" pitchFamily="34" charset="-122"/>
                          <a:cs typeface="Arial" pitchFamily="34" charset="-120"/>
                        </a:rPr>
                        <a:t>User correction U3; R3 line 16, R5 line 73</a:t>
                      </a:r>
                      <a:endParaRPr lang="en-US" sz="1560" dirty="0">
                        <a:latin typeface="Arial" charset="0"/>
                        <a:ea typeface="Arial" charset="0"/>
                        <a:cs typeface="Arial" charset="0"/>
                      </a:endParaRPr>
                    </a:p>
                  </a:txBody>
                  <a:tcPr marL="106680" marR="106680" marT="60960" marB="60960" anchor="mid">
                    <a:lnL w="6350" cap="flat" cmpd="sng" algn="ctr">
                      <a:solidFill>
                        <a:srgbClr val="D7D7D7"/>
                      </a:solidFill>
                      <a:prstDash val="solid"/>
                      <a:round/>
                      <a:headEnd type="none" w="med" len="med"/>
                      <a:tailEnd type="none" w="med" len="med"/>
                    </a:lnL>
                    <a:lnR w="6350" cap="flat" cmpd="sng" algn="ctr">
                      <a:solidFill>
                        <a:srgbClr val="D7D7D7"/>
                      </a:solidFill>
                      <a:prstDash val="solid"/>
                      <a:round/>
                      <a:headEnd type="none" w="med" len="med"/>
                      <a:tailEnd type="none" w="med" len="med"/>
                    </a:lnR>
                    <a:lnT w="6350" cap="flat" cmpd="sng" algn="ctr">
                      <a:solidFill>
                        <a:srgbClr val="D7D7D7"/>
                      </a:solidFill>
                      <a:prstDash val="solid"/>
                      <a:round/>
                      <a:headEnd type="none" w="med" len="med"/>
                      <a:tailEnd type="none" w="med" len="med"/>
                    </a:lnT>
                    <a:lnB w="6350" cap="flat" cmpd="sng" algn="ctr">
                      <a:solidFill>
                        <a:srgbClr val="D7D7D7"/>
                      </a:solidFill>
                      <a:prstDash val="solid"/>
                      <a:round/>
                      <a:headEnd type="none" w="med" len="med"/>
                      <a:tailEnd type="none" w="med" len="med"/>
                    </a:lnB>
                    <a:solidFill>
                      <a:srgbClr val="F4F4F4"/>
                    </a:solidFill>
                  </a:tcPr>
                </a:tc>
                <a:tc>
                  <a:txBody>
                    <a:bodyPr/>
                    <a:lstStyle/>
                    <a:p>
                      <a:pPr algn="l" indent="0" marL="0">
                        <a:buNone/>
                      </a:pPr>
                      <a:r>
                        <a:rPr lang="en-US" sz="1560" dirty="0">
                          <a:solidFill>
                            <a:srgbClr val="000000"/>
                          </a:solidFill>
                          <a:latin typeface="Arial" pitchFamily="34" charset="0"/>
                          <a:ea typeface="Arial" pitchFamily="34" charset="-122"/>
                          <a:cs typeface="Arial" pitchFamily="34" charset="-120"/>
                        </a:rPr>
                        <a:t>I observed AI entry without clicking the agreement; ledger record exists, but the write call and confirmation sequence need checking</a:t>
                      </a:r>
                      <a:endParaRPr lang="en-US" sz="1560" dirty="0">
                        <a:latin typeface="Arial" charset="0"/>
                        <a:ea typeface="Arial" charset="0"/>
                        <a:cs typeface="Arial" charset="0"/>
                      </a:endParaRPr>
                    </a:p>
                  </a:txBody>
                  <a:tcPr marL="106680" marR="106680" marT="60960" marB="60960" anchor="mid">
                    <a:lnL w="6350" cap="flat" cmpd="sng" algn="ctr">
                      <a:solidFill>
                        <a:srgbClr val="D7D7D7"/>
                      </a:solidFill>
                      <a:prstDash val="solid"/>
                      <a:round/>
                      <a:headEnd type="none" w="med" len="med"/>
                      <a:tailEnd type="none" w="med" len="med"/>
                    </a:lnL>
                    <a:lnR w="6350" cap="flat" cmpd="sng" algn="ctr">
                      <a:solidFill>
                        <a:srgbClr val="D7D7D7"/>
                      </a:solidFill>
                      <a:prstDash val="solid"/>
                      <a:round/>
                      <a:headEnd type="none" w="med" len="med"/>
                      <a:tailEnd type="none" w="med" len="med"/>
                    </a:lnR>
                    <a:lnT w="6350" cap="flat" cmpd="sng" algn="ctr">
                      <a:solidFill>
                        <a:srgbClr val="D7D7D7"/>
                      </a:solidFill>
                      <a:prstDash val="solid"/>
                      <a:round/>
                      <a:headEnd type="none" w="med" len="med"/>
                      <a:tailEnd type="none" w="med" len="med"/>
                    </a:lnT>
                    <a:lnB w="6350" cap="flat" cmpd="sng" algn="ctr">
                      <a:solidFill>
                        <a:srgbClr val="D7D7D7"/>
                      </a:solidFill>
                      <a:prstDash val="solid"/>
                      <a:round/>
                      <a:headEnd type="none" w="med" len="med"/>
                      <a:tailEnd type="none" w="med" len="med"/>
                    </a:lnB>
                    <a:solidFill>
                      <a:srgbClr val="F4F4F4"/>
                    </a:solidFill>
                  </a:tcPr>
                </a:tc>
              </a:tr>
            </a:tbl>
          </a:graphicData>
        </a:graphic>
      </p:graphicFrame>
      <p:sp>
        <p:nvSpPr>
          <p:cNvPr id="5" name="Text 1"/>
          <p:cNvSpPr/>
          <p:nvPr>
            <p:ph idx="102" type="body" hasCustomPrompt="1"/>
          </p:nvPr>
        </p:nvSpPr>
        <p:spPr>
          <a:xfrm>
            <a:off x="762000" y="2057400"/>
            <a:ext cx="10668000" cy="3886200"/>
          </a:xfrm>
          <a:prstGeom prst="rect">
            <a:avLst/>
          </a:prstGeom>
          <a:noFill/>
          <a:ln/>
        </p:spPr>
        <p:txBody>
          <a:bodyPr wrap="square" lIns="0" tIns="0" rIns="0" bIns="0" rtlCol="0" anchor="t"/>
          <a:lstStyle/>
          <a:p>
            <a:pPr indent="0" marL="0">
              <a:buNone/>
            </a:pPr>
            <a:endParaRPr lang="en-US" sz="168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Text 1"/>
          <p:cNvSpPr/>
          <p:nvPr>
            <p:ph idx="101" type="title" hasCustomPrompt="1"/>
          </p:nvPr>
        </p:nvSpPr>
        <p:spPr>
          <a:xfrm>
            <a:off x="381000" y="891540"/>
            <a:ext cx="11430000" cy="487680"/>
          </a:xfrm>
          <a:prstGeom prst="rect">
            <a:avLst/>
          </a:prstGeom>
          <a:noFill/>
          <a:ln/>
        </p:spPr>
        <p:txBody>
          <a:bodyPr wrap="square" lIns="0" tIns="0" rIns="0" bIns="0" rtlCol="0" anchor="t"/>
          <a:lstStyle/>
          <a:p>
            <a:pPr algn="l" indent="0" marL="0">
              <a:buNone/>
            </a:pPr>
            <a:r>
              <a:rPr lang="en-GB" altLang="en-US" sz="2400" b="1" spc="-84" kern="0" dirty="0">
                <a:solidFill>
                  <a:srgbClr val="000000"/>
                </a:solidFill>
                <a:latin typeface="Arial" pitchFamily="34" charset="0"/>
                <a:ea typeface="Arial" pitchFamily="34" charset="-122"/>
                <a:cs typeface="Arial" pitchFamily="34" charset="-120"/>
              </a:rPr>
              <a:t>Appendix A. Case evidence (continued)</a:t>
            </a:r>
            <a:endParaRPr lang="en-GB" sz="2400" dirty="0"/>
          </a:p>
        </p:txBody>
      </p:sp>
      <p:graphicFrame>
        <p:nvGraphicFramePr>
          <p:cNvPr id="41" name="body-15-3-item-0"/>
          <p:cNvGraphicFramePr>
            <a:graphicFrameLocks noGrp="1"/>
          </p:cNvGraphicFramePr>
          <p:nvPr>
            <p:extLst>
              <p:ext uri="{D42A27DB-BD31-4B8C-83A1-F6EECF244321}">
                <p14:modId xmlns:p14="http://schemas.microsoft.com/office/powerpoint/2010/main" val="1579011935"/>
              </p:ext>
            </p:extLst>
          </p:nvPr>
        </p:nvGraphicFramePr>
        <p:xfrm>
          <a:off x="609600" y="1600200"/>
          <a:ext cx="10972800" cy="3520440"/>
        </p:xfrm>
        <a:graphic>
          <a:graphicData uri="http://schemas.openxmlformats.org/drawingml/2006/table">
            <a:tbl>
              <a:tblPr/>
              <a:tblGrid>
                <a:gridCol w="3657600"/>
                <a:gridCol w="3657600"/>
                <a:gridCol w="3657600"/>
              </a:tblGrid>
              <a:tr h="1173480">
                <a:tc>
                  <a:txBody>
                    <a:bodyPr/>
                    <a:lstStyle/>
                    <a:p>
                      <a:pPr algn="l" indent="0" marL="0">
                        <a:buNone/>
                      </a:pPr>
                      <a:r>
                        <a:rPr lang="en-US" sz="1560" b="1" dirty="0">
                          <a:solidFill>
                            <a:srgbClr val="FFFFFF"/>
                          </a:solidFill>
                          <a:latin typeface="Arial" pitchFamily="34" charset="0"/>
                          <a:ea typeface="Arial" pitchFamily="34" charset="-122"/>
                          <a:cs typeface="Arial" pitchFamily="34" charset="-120"/>
                        </a:rPr>
                        <a:t>Item</a:t>
                      </a:r>
                      <a:endParaRPr lang="en-US" sz="1560" dirty="0">
                        <a:latin typeface="Arial" charset="0"/>
                        <a:ea typeface="Arial" charset="0"/>
                        <a:cs typeface="Arial" charset="0"/>
                      </a:endParaRPr>
                    </a:p>
                  </a:txBody>
                  <a:tcPr marL="106680" marR="106680" marT="60960" marB="60960" anchor="mid">
                    <a:lnL w="6350" cap="flat" cmpd="sng" algn="ctr">
                      <a:solidFill>
                        <a:srgbClr val="D7D7D7"/>
                      </a:solidFill>
                      <a:prstDash val="solid"/>
                      <a:round/>
                      <a:headEnd type="none" w="med" len="med"/>
                      <a:tailEnd type="none" w="med" len="med"/>
                    </a:lnL>
                    <a:lnR w="6350" cap="flat" cmpd="sng" algn="ctr">
                      <a:solidFill>
                        <a:srgbClr val="D7D7D7"/>
                      </a:solidFill>
                      <a:prstDash val="solid"/>
                      <a:round/>
                      <a:headEnd type="none" w="med" len="med"/>
                      <a:tailEnd type="none" w="med" len="med"/>
                    </a:lnR>
                    <a:lnT w="6350" cap="flat" cmpd="sng" algn="ctr">
                      <a:solidFill>
                        <a:srgbClr val="D7D7D7"/>
                      </a:solidFill>
                      <a:prstDash val="solid"/>
                      <a:round/>
                      <a:headEnd type="none" w="med" len="med"/>
                      <a:tailEnd type="none" w="med" len="med"/>
                    </a:lnT>
                    <a:lnB w="6350" cap="flat" cmpd="sng" algn="ctr">
                      <a:solidFill>
                        <a:srgbClr val="D7D7D7"/>
                      </a:solidFill>
                      <a:prstDash val="solid"/>
                      <a:round/>
                      <a:headEnd type="none" w="med" len="med"/>
                      <a:tailEnd type="none" w="med" len="med"/>
                    </a:lnB>
                    <a:solidFill>
                      <a:srgbClr val="DB0011"/>
                    </a:solidFill>
                  </a:tcPr>
                </a:tc>
                <a:tc>
                  <a:txBody>
                    <a:bodyPr/>
                    <a:lstStyle/>
                    <a:p>
                      <a:pPr algn="l" indent="0" marL="0">
                        <a:buNone/>
                      </a:pPr>
                      <a:r>
                        <a:rPr lang="en-US" sz="1560" b="1" dirty="0">
                          <a:solidFill>
                            <a:srgbClr val="FFFFFF"/>
                          </a:solidFill>
                          <a:latin typeface="Arial" pitchFamily="34" charset="0"/>
                          <a:ea typeface="Arial" pitchFamily="34" charset="-122"/>
                          <a:cs typeface="Arial" pitchFamily="34" charset="-120"/>
                        </a:rPr>
                        <a:t>Most direct evidence</a:t>
                      </a:r>
                      <a:endParaRPr lang="en-US" sz="1560" dirty="0">
                        <a:latin typeface="Arial" charset="0"/>
                        <a:ea typeface="Arial" charset="0"/>
                        <a:cs typeface="Arial" charset="0"/>
                      </a:endParaRPr>
                    </a:p>
                  </a:txBody>
                  <a:tcPr marL="106680" marR="106680" marT="60960" marB="60960" anchor="mid">
                    <a:lnL w="6350" cap="flat" cmpd="sng" algn="ctr">
                      <a:solidFill>
                        <a:srgbClr val="D7D7D7"/>
                      </a:solidFill>
                      <a:prstDash val="solid"/>
                      <a:round/>
                      <a:headEnd type="none" w="med" len="med"/>
                      <a:tailEnd type="none" w="med" len="med"/>
                    </a:lnL>
                    <a:lnR w="6350" cap="flat" cmpd="sng" algn="ctr">
                      <a:solidFill>
                        <a:srgbClr val="D7D7D7"/>
                      </a:solidFill>
                      <a:prstDash val="solid"/>
                      <a:round/>
                      <a:headEnd type="none" w="med" len="med"/>
                      <a:tailEnd type="none" w="med" len="med"/>
                    </a:lnR>
                    <a:lnT w="6350" cap="flat" cmpd="sng" algn="ctr">
                      <a:solidFill>
                        <a:srgbClr val="D7D7D7"/>
                      </a:solidFill>
                      <a:prstDash val="solid"/>
                      <a:round/>
                      <a:headEnd type="none" w="med" len="med"/>
                      <a:tailEnd type="none" w="med" len="med"/>
                    </a:lnT>
                    <a:lnB w="6350" cap="flat" cmpd="sng" algn="ctr">
                      <a:solidFill>
                        <a:srgbClr val="D7D7D7"/>
                      </a:solidFill>
                      <a:prstDash val="solid"/>
                      <a:round/>
                      <a:headEnd type="none" w="med" len="med"/>
                      <a:tailEnd type="none" w="med" len="med"/>
                    </a:lnB>
                    <a:solidFill>
                      <a:srgbClr val="DB0011"/>
                    </a:solidFill>
                  </a:tcPr>
                </a:tc>
                <a:tc>
                  <a:txBody>
                    <a:bodyPr/>
                    <a:lstStyle/>
                    <a:p>
                      <a:pPr algn="l" indent="0" marL="0">
                        <a:buNone/>
                      </a:pPr>
                      <a:r>
                        <a:rPr lang="en-US" sz="1560" b="1" dirty="0">
                          <a:solidFill>
                            <a:srgbClr val="FFFFFF"/>
                          </a:solidFill>
                          <a:latin typeface="Arial" pitchFamily="34" charset="0"/>
                          <a:ea typeface="Arial" pitchFamily="34" charset="-122"/>
                          <a:cs typeface="Arial" pitchFamily="34" charset="-120"/>
                        </a:rPr>
                        <a:t>Supported conclusion and limits</a:t>
                      </a:r>
                      <a:endParaRPr lang="en-US" sz="1560" dirty="0">
                        <a:latin typeface="Arial" charset="0"/>
                        <a:ea typeface="Arial" charset="0"/>
                        <a:cs typeface="Arial" charset="0"/>
                      </a:endParaRPr>
                    </a:p>
                  </a:txBody>
                  <a:tcPr marL="106680" marR="106680" marT="60960" marB="60960" anchor="mid">
                    <a:lnL w="6350" cap="flat" cmpd="sng" algn="ctr">
                      <a:solidFill>
                        <a:srgbClr val="D7D7D7"/>
                      </a:solidFill>
                      <a:prstDash val="solid"/>
                      <a:round/>
                      <a:headEnd type="none" w="med" len="med"/>
                      <a:tailEnd type="none" w="med" len="med"/>
                    </a:lnL>
                    <a:lnR w="6350" cap="flat" cmpd="sng" algn="ctr">
                      <a:solidFill>
                        <a:srgbClr val="D7D7D7"/>
                      </a:solidFill>
                      <a:prstDash val="solid"/>
                      <a:round/>
                      <a:headEnd type="none" w="med" len="med"/>
                      <a:tailEnd type="none" w="med" len="med"/>
                    </a:lnR>
                    <a:lnT w="6350" cap="flat" cmpd="sng" algn="ctr">
                      <a:solidFill>
                        <a:srgbClr val="D7D7D7"/>
                      </a:solidFill>
                      <a:prstDash val="solid"/>
                      <a:round/>
                      <a:headEnd type="none" w="med" len="med"/>
                      <a:tailEnd type="none" w="med" len="med"/>
                    </a:lnT>
                    <a:lnB w="6350" cap="flat" cmpd="sng" algn="ctr">
                      <a:solidFill>
                        <a:srgbClr val="D7D7D7"/>
                      </a:solidFill>
                      <a:prstDash val="solid"/>
                      <a:round/>
                      <a:headEnd type="none" w="med" len="med"/>
                      <a:tailEnd type="none" w="med" len="med"/>
                    </a:lnB>
                    <a:solidFill>
                      <a:srgbClr val="DB0011"/>
                    </a:solidFill>
                  </a:tcPr>
                </a:tc>
              </a:tr>
              <a:tr h="1173480">
                <a:tc>
                  <a:txBody>
                    <a:bodyPr/>
                    <a:lstStyle/>
                    <a:p>
                      <a:pPr algn="l" indent="0" marL="0">
                        <a:buNone/>
                      </a:pPr>
                      <a:r>
                        <a:rPr lang="en-US" sz="1560" dirty="0">
                          <a:solidFill>
                            <a:srgbClr val="000000"/>
                          </a:solidFill>
                          <a:latin typeface="Arial" pitchFamily="34" charset="0"/>
                          <a:ea typeface="Arial" pitchFamily="34" charset="-122"/>
                          <a:cs typeface="Arial" pitchFamily="34" charset="-120"/>
                        </a:rPr>
                        <a:t>Tracking and distribution</a:t>
                      </a:r>
                      <a:endParaRPr lang="en-US" sz="1560" dirty="0">
                        <a:latin typeface="Arial" charset="0"/>
                        <a:ea typeface="Arial" charset="0"/>
                        <a:cs typeface="Arial" charset="0"/>
                      </a:endParaRPr>
                    </a:p>
                  </a:txBody>
                  <a:tcPr marL="106680" marR="106680" marT="60960" marB="60960" anchor="mid">
                    <a:lnL w="6350" cap="flat" cmpd="sng" algn="ctr">
                      <a:solidFill>
                        <a:srgbClr val="D7D7D7"/>
                      </a:solidFill>
                      <a:prstDash val="solid"/>
                      <a:round/>
                      <a:headEnd type="none" w="med" len="med"/>
                      <a:tailEnd type="none" w="med" len="med"/>
                    </a:lnL>
                    <a:lnR w="6350" cap="flat" cmpd="sng" algn="ctr">
                      <a:solidFill>
                        <a:srgbClr val="D7D7D7"/>
                      </a:solidFill>
                      <a:prstDash val="solid"/>
                      <a:round/>
                      <a:headEnd type="none" w="med" len="med"/>
                      <a:tailEnd type="none" w="med" len="med"/>
                    </a:lnR>
                    <a:lnT w="6350" cap="flat" cmpd="sng" algn="ctr">
                      <a:solidFill>
                        <a:srgbClr val="D7D7D7"/>
                      </a:solidFill>
                      <a:prstDash val="solid"/>
                      <a:round/>
                      <a:headEnd type="none" w="med" len="med"/>
                      <a:tailEnd type="none" w="med" len="med"/>
                    </a:lnT>
                    <a:lnB w="6350" cap="flat" cmpd="sng" algn="ctr">
                      <a:solidFill>
                        <a:srgbClr val="D7D7D7"/>
                      </a:solidFill>
                      <a:prstDash val="solid"/>
                      <a:round/>
                      <a:headEnd type="none" w="med" len="med"/>
                      <a:tailEnd type="none" w="med" len="med"/>
                    </a:lnB>
                    <a:solidFill>
                      <a:srgbClr val="F4F4F4"/>
                    </a:solidFill>
                  </a:tcPr>
                </a:tc>
                <a:tc>
                  <a:txBody>
                    <a:bodyPr/>
                    <a:lstStyle/>
                    <a:p>
                      <a:pPr algn="l" indent="0" marL="0">
                        <a:buNone/>
                      </a:pPr>
                      <a:r>
                        <a:rPr lang="en-US" sz="1560" dirty="0">
                          <a:solidFill>
                            <a:srgbClr val="000000"/>
                          </a:solidFill>
                          <a:latin typeface="Arial" pitchFamily="34" charset="0"/>
                          <a:ea typeface="Arial" pitchFamily="34" charset="-122"/>
                          <a:cs typeface="Arial" pitchFamily="34" charset="-120"/>
                        </a:rPr>
                        <a:t>R1 lines 380, 387, 395, 438</a:t>
                      </a:r>
                      <a:endParaRPr lang="en-US" sz="1560" dirty="0">
                        <a:latin typeface="Arial" charset="0"/>
                        <a:ea typeface="Arial" charset="0"/>
                        <a:cs typeface="Arial" charset="0"/>
                      </a:endParaRPr>
                    </a:p>
                  </a:txBody>
                  <a:tcPr marL="106680" marR="106680" marT="60960" marB="60960" anchor="mid">
                    <a:lnL w="6350" cap="flat" cmpd="sng" algn="ctr">
                      <a:solidFill>
                        <a:srgbClr val="D7D7D7"/>
                      </a:solidFill>
                      <a:prstDash val="solid"/>
                      <a:round/>
                      <a:headEnd type="none" w="med" len="med"/>
                      <a:tailEnd type="none" w="med" len="med"/>
                    </a:lnL>
                    <a:lnR w="6350" cap="flat" cmpd="sng" algn="ctr">
                      <a:solidFill>
                        <a:srgbClr val="D7D7D7"/>
                      </a:solidFill>
                      <a:prstDash val="solid"/>
                      <a:round/>
                      <a:headEnd type="none" w="med" len="med"/>
                      <a:tailEnd type="none" w="med" len="med"/>
                    </a:lnR>
                    <a:lnT w="6350" cap="flat" cmpd="sng" algn="ctr">
                      <a:solidFill>
                        <a:srgbClr val="D7D7D7"/>
                      </a:solidFill>
                      <a:prstDash val="solid"/>
                      <a:round/>
                      <a:headEnd type="none" w="med" len="med"/>
                      <a:tailEnd type="none" w="med" len="med"/>
                    </a:lnT>
                    <a:lnB w="6350" cap="flat" cmpd="sng" algn="ctr">
                      <a:solidFill>
                        <a:srgbClr val="D7D7D7"/>
                      </a:solidFill>
                      <a:prstDash val="solid"/>
                      <a:round/>
                      <a:headEnd type="none" w="med" len="med"/>
                      <a:tailEnd type="none" w="med" len="med"/>
                    </a:lnB>
                    <a:solidFill>
                      <a:srgbClr val="F4F4F4"/>
                    </a:solidFill>
                  </a:tcPr>
                </a:tc>
                <a:tc>
                  <a:txBody>
                    <a:bodyPr/>
                    <a:lstStyle/>
                    <a:p>
                      <a:pPr algn="l" indent="0" marL="0">
                        <a:buNone/>
                      </a:pPr>
                      <a:r>
                        <a:rPr lang="en-US" sz="1560" dirty="0">
                          <a:solidFill>
                            <a:srgbClr val="000000"/>
                          </a:solidFill>
                          <a:latin typeface="Arial" pitchFamily="34" charset="0"/>
                          <a:ea typeface="Arial" pitchFamily="34" charset="-122"/>
                          <a:cs typeface="Arial" pitchFamily="34" charset="-120"/>
                        </a:rPr>
                        <a:t>Write, to-do creation and group-notice readback recorded; no multi-person acceptance or closure</a:t>
                      </a:r>
                      <a:endParaRPr lang="en-US" sz="1560" dirty="0">
                        <a:latin typeface="Arial" charset="0"/>
                        <a:ea typeface="Arial" charset="0"/>
                        <a:cs typeface="Arial" charset="0"/>
                      </a:endParaRPr>
                    </a:p>
                  </a:txBody>
                  <a:tcPr marL="106680" marR="106680" marT="60960" marB="60960" anchor="mid">
                    <a:lnL w="6350" cap="flat" cmpd="sng" algn="ctr">
                      <a:solidFill>
                        <a:srgbClr val="D7D7D7"/>
                      </a:solidFill>
                      <a:prstDash val="solid"/>
                      <a:round/>
                      <a:headEnd type="none" w="med" len="med"/>
                      <a:tailEnd type="none" w="med" len="med"/>
                    </a:lnL>
                    <a:lnR w="6350" cap="flat" cmpd="sng" algn="ctr">
                      <a:solidFill>
                        <a:srgbClr val="D7D7D7"/>
                      </a:solidFill>
                      <a:prstDash val="solid"/>
                      <a:round/>
                      <a:headEnd type="none" w="med" len="med"/>
                      <a:tailEnd type="none" w="med" len="med"/>
                    </a:lnR>
                    <a:lnT w="6350" cap="flat" cmpd="sng" algn="ctr">
                      <a:solidFill>
                        <a:srgbClr val="D7D7D7"/>
                      </a:solidFill>
                      <a:prstDash val="solid"/>
                      <a:round/>
                      <a:headEnd type="none" w="med" len="med"/>
                      <a:tailEnd type="none" w="med" len="med"/>
                    </a:lnT>
                    <a:lnB w="6350" cap="flat" cmpd="sng" algn="ctr">
                      <a:solidFill>
                        <a:srgbClr val="D7D7D7"/>
                      </a:solidFill>
                      <a:prstDash val="solid"/>
                      <a:round/>
                      <a:headEnd type="none" w="med" len="med"/>
                      <a:tailEnd type="none" w="med" len="med"/>
                    </a:lnB>
                    <a:solidFill>
                      <a:srgbClr val="F4F4F4"/>
                    </a:solidFill>
                  </a:tcPr>
                </a:tc>
              </a:tr>
              <a:tr h="1173480">
                <a:tc>
                  <a:txBody>
                    <a:bodyPr/>
                    <a:lstStyle/>
                    <a:p>
                      <a:pPr algn="l" indent="0" marL="0">
                        <a:buNone/>
                      </a:pPr>
                      <a:r>
                        <a:rPr lang="en-US" sz="1560" dirty="0">
                          <a:solidFill>
                            <a:srgbClr val="000000"/>
                          </a:solidFill>
                          <a:latin typeface="Arial" pitchFamily="34" charset="0"/>
                          <a:ea typeface="Arial" pitchFamily="34" charset="-122"/>
                          <a:cs typeface="Arial" pitchFamily="34" charset="-120"/>
                        </a:rPr>
                        <a:t>Tracking-state discrepancy</a:t>
                      </a:r>
                      <a:endParaRPr lang="en-US" sz="1560" dirty="0">
                        <a:latin typeface="Arial" charset="0"/>
                        <a:ea typeface="Arial" charset="0"/>
                        <a:cs typeface="Arial" charset="0"/>
                      </a:endParaRPr>
                    </a:p>
                  </a:txBody>
                  <a:tcPr marL="106680" marR="106680" marT="60960" marB="60960" anchor="mid">
                    <a:lnL w="6350" cap="flat" cmpd="sng" algn="ctr">
                      <a:solidFill>
                        <a:srgbClr val="D7D7D7"/>
                      </a:solidFill>
                      <a:prstDash val="solid"/>
                      <a:round/>
                      <a:headEnd type="none" w="med" len="med"/>
                      <a:tailEnd type="none" w="med" len="med"/>
                    </a:lnL>
                    <a:lnR w="6350" cap="flat" cmpd="sng" algn="ctr">
                      <a:solidFill>
                        <a:srgbClr val="D7D7D7"/>
                      </a:solidFill>
                      <a:prstDash val="solid"/>
                      <a:round/>
                      <a:headEnd type="none" w="med" len="med"/>
                      <a:tailEnd type="none" w="med" len="med"/>
                    </a:lnR>
                    <a:lnT w="6350" cap="flat" cmpd="sng" algn="ctr">
                      <a:solidFill>
                        <a:srgbClr val="D7D7D7"/>
                      </a:solidFill>
                      <a:prstDash val="solid"/>
                      <a:round/>
                      <a:headEnd type="none" w="med" len="med"/>
                      <a:tailEnd type="none" w="med" len="med"/>
                    </a:lnT>
                    <a:lnB w="6350" cap="flat" cmpd="sng" algn="ctr">
                      <a:solidFill>
                        <a:srgbClr val="D7D7D7"/>
                      </a:solidFill>
                      <a:prstDash val="solid"/>
                      <a:round/>
                      <a:headEnd type="none" w="med" len="med"/>
                      <a:tailEnd type="none" w="med" len="med"/>
                    </a:lnB>
                    <a:solidFill>
                      <a:srgbClr val="FFFFFF"/>
                    </a:solidFill>
                  </a:tcPr>
                </a:tc>
                <a:tc>
                  <a:txBody>
                    <a:bodyPr/>
                    <a:lstStyle/>
                    <a:p>
                      <a:pPr algn="l" indent="0" marL="0">
                        <a:buNone/>
                      </a:pPr>
                      <a:r>
                        <a:rPr lang="en-US" sz="1560" dirty="0">
                          <a:solidFill>
                            <a:srgbClr val="000000"/>
                          </a:solidFill>
                          <a:latin typeface="Arial" pitchFamily="34" charset="0"/>
                          <a:ea typeface="Arial" pitchFamily="34" charset="-122"/>
                          <a:cs typeface="Arial" pitchFamily="34" charset="-120"/>
                        </a:rPr>
                        <a:t>R1 line 438 versus R2 line 33</a:t>
                      </a:r>
                      <a:endParaRPr lang="en-US" sz="1560" dirty="0">
                        <a:latin typeface="Arial" charset="0"/>
                        <a:ea typeface="Arial" charset="0"/>
                        <a:cs typeface="Arial" charset="0"/>
                      </a:endParaRPr>
                    </a:p>
                  </a:txBody>
                  <a:tcPr marL="106680" marR="106680" marT="60960" marB="60960" anchor="mid">
                    <a:lnL w="6350" cap="flat" cmpd="sng" algn="ctr">
                      <a:solidFill>
                        <a:srgbClr val="D7D7D7"/>
                      </a:solidFill>
                      <a:prstDash val="solid"/>
                      <a:round/>
                      <a:headEnd type="none" w="med" len="med"/>
                      <a:tailEnd type="none" w="med" len="med"/>
                    </a:lnL>
                    <a:lnR w="6350" cap="flat" cmpd="sng" algn="ctr">
                      <a:solidFill>
                        <a:srgbClr val="D7D7D7"/>
                      </a:solidFill>
                      <a:prstDash val="solid"/>
                      <a:round/>
                      <a:headEnd type="none" w="med" len="med"/>
                      <a:tailEnd type="none" w="med" len="med"/>
                    </a:lnR>
                    <a:lnT w="6350" cap="flat" cmpd="sng" algn="ctr">
                      <a:solidFill>
                        <a:srgbClr val="D7D7D7"/>
                      </a:solidFill>
                      <a:prstDash val="solid"/>
                      <a:round/>
                      <a:headEnd type="none" w="med" len="med"/>
                      <a:tailEnd type="none" w="med" len="med"/>
                    </a:lnT>
                    <a:lnB w="6350" cap="flat" cmpd="sng" algn="ctr">
                      <a:solidFill>
                        <a:srgbClr val="D7D7D7"/>
                      </a:solidFill>
                      <a:prstDash val="solid"/>
                      <a:round/>
                      <a:headEnd type="none" w="med" len="med"/>
                      <a:tailEnd type="none" w="med" len="med"/>
                    </a:lnB>
                    <a:solidFill>
                      <a:srgbClr val="FFFFFF"/>
                    </a:solidFill>
                  </a:tcPr>
                </a:tc>
                <a:tc>
                  <a:txBody>
                    <a:bodyPr/>
                    <a:lstStyle/>
                    <a:p>
                      <a:pPr algn="l" indent="0" marL="0">
                        <a:buNone/>
                      </a:pPr>
                      <a:r>
                        <a:rPr lang="en-US" sz="1560" dirty="0">
                          <a:solidFill>
                            <a:srgbClr val="000000"/>
                          </a:solidFill>
                          <a:latin typeface="Arial" pitchFamily="34" charset="0"/>
                          <a:ea typeface="Arial" pitchFamily="34" charset="-122"/>
                          <a:cs typeface="Arial" pitchFamily="34" charset="-120"/>
                        </a:rPr>
                        <a:t>Same-day reads returned one then zero items; cause and connection context unknown</a:t>
                      </a:r>
                      <a:endParaRPr lang="en-US" sz="1560" dirty="0">
                        <a:latin typeface="Arial" charset="0"/>
                        <a:ea typeface="Arial" charset="0"/>
                        <a:cs typeface="Arial" charset="0"/>
                      </a:endParaRPr>
                    </a:p>
                  </a:txBody>
                  <a:tcPr marL="106680" marR="106680" marT="60960" marB="60960" anchor="mid">
                    <a:lnL w="6350" cap="flat" cmpd="sng" algn="ctr">
                      <a:solidFill>
                        <a:srgbClr val="D7D7D7"/>
                      </a:solidFill>
                      <a:prstDash val="solid"/>
                      <a:round/>
                      <a:headEnd type="none" w="med" len="med"/>
                      <a:tailEnd type="none" w="med" len="med"/>
                    </a:lnL>
                    <a:lnR w="6350" cap="flat" cmpd="sng" algn="ctr">
                      <a:solidFill>
                        <a:srgbClr val="D7D7D7"/>
                      </a:solidFill>
                      <a:prstDash val="solid"/>
                      <a:round/>
                      <a:headEnd type="none" w="med" len="med"/>
                      <a:tailEnd type="none" w="med" len="med"/>
                    </a:lnR>
                    <a:lnT w="6350" cap="flat" cmpd="sng" algn="ctr">
                      <a:solidFill>
                        <a:srgbClr val="D7D7D7"/>
                      </a:solidFill>
                      <a:prstDash val="solid"/>
                      <a:round/>
                      <a:headEnd type="none" w="med" len="med"/>
                      <a:tailEnd type="none" w="med" len="med"/>
                    </a:lnT>
                    <a:lnB w="6350" cap="flat" cmpd="sng" algn="ctr">
                      <a:solidFill>
                        <a:srgbClr val="D7D7D7"/>
                      </a:solidFill>
                      <a:prstDash val="solid"/>
                      <a:round/>
                      <a:headEnd type="none" w="med" len="med"/>
                      <a:tailEnd type="none" w="med" len="med"/>
                    </a:lnB>
                    <a:solidFill>
                      <a:srgbClr val="FFFFFF"/>
                    </a:solidFill>
                  </a:tcPr>
                </a:tc>
              </a:tr>
            </a:tbl>
          </a:graphicData>
        </a:graphic>
      </p:graphicFrame>
      <p:sp>
        <p:nvSpPr>
          <p:cNvPr id="5" name="Text 1"/>
          <p:cNvSpPr/>
          <p:nvPr>
            <p:ph idx="102" type="body" hasCustomPrompt="1"/>
          </p:nvPr>
        </p:nvSpPr>
        <p:spPr>
          <a:xfrm>
            <a:off x="762000" y="2057400"/>
            <a:ext cx="10668000" cy="3886200"/>
          </a:xfrm>
          <a:prstGeom prst="rect">
            <a:avLst/>
          </a:prstGeom>
          <a:noFill/>
          <a:ln/>
        </p:spPr>
        <p:txBody>
          <a:bodyPr wrap="square" lIns="0" tIns="0" rIns="0" bIns="0" rtlCol="0" anchor="t"/>
          <a:lstStyle/>
          <a:p>
            <a:pPr indent="0" marL="0">
              <a:buNone/>
            </a:pPr>
            <a:endParaRPr lang="en-US" sz="168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Text 1"/>
          <p:cNvSpPr/>
          <p:nvPr>
            <p:ph idx="101" type="title" hasCustomPrompt="1"/>
          </p:nvPr>
        </p:nvSpPr>
        <p:spPr>
          <a:xfrm>
            <a:off x="381000" y="891540"/>
            <a:ext cx="11430000" cy="487680"/>
          </a:xfrm>
          <a:prstGeom prst="rect">
            <a:avLst/>
          </a:prstGeom>
          <a:noFill/>
          <a:ln/>
        </p:spPr>
        <p:txBody>
          <a:bodyPr wrap="square" lIns="0" tIns="0" rIns="0" bIns="0" rtlCol="0" anchor="t"/>
          <a:lstStyle/>
          <a:p>
            <a:pPr algn="l" indent="0" marL="0">
              <a:buNone/>
            </a:pPr>
            <a:r>
              <a:rPr lang="en-GB" altLang="en-US" sz="2400" b="1" spc="-84" kern="0" dirty="0">
                <a:solidFill>
                  <a:srgbClr val="000000"/>
                </a:solidFill>
                <a:latin typeface="Arial" pitchFamily="34" charset="0"/>
                <a:ea typeface="Arial" pitchFamily="34" charset="-122"/>
                <a:cs typeface="Arial" pitchFamily="34" charset="-120"/>
              </a:rPr>
              <a:t>Appendix A. Case evidence (continued)</a:t>
            </a:r>
            <a:endParaRPr lang="en-GB" sz="2400" dirty="0"/>
          </a:p>
        </p:txBody>
      </p:sp>
      <p:graphicFrame>
        <p:nvGraphicFramePr>
          <p:cNvPr id="42" name="body-15-4-item-0"/>
          <p:cNvGraphicFramePr>
            <a:graphicFrameLocks noGrp="1"/>
          </p:cNvGraphicFramePr>
          <p:nvPr>
            <p:extLst>
              <p:ext uri="{D42A27DB-BD31-4B8C-83A1-F6EECF244321}">
                <p14:modId xmlns:p14="http://schemas.microsoft.com/office/powerpoint/2010/main" val="1579011935"/>
              </p:ext>
            </p:extLst>
          </p:nvPr>
        </p:nvGraphicFramePr>
        <p:xfrm>
          <a:off x="609600" y="1600200"/>
          <a:ext cx="10972800" cy="2788920"/>
        </p:xfrm>
        <a:graphic>
          <a:graphicData uri="http://schemas.openxmlformats.org/drawingml/2006/table">
            <a:tbl>
              <a:tblPr/>
              <a:tblGrid>
                <a:gridCol w="3657600"/>
                <a:gridCol w="3657600"/>
                <a:gridCol w="3657600"/>
              </a:tblGrid>
              <a:tr h="929640">
                <a:tc>
                  <a:txBody>
                    <a:bodyPr/>
                    <a:lstStyle/>
                    <a:p>
                      <a:pPr algn="l" indent="0" marL="0">
                        <a:buNone/>
                      </a:pPr>
                      <a:r>
                        <a:rPr lang="en-US" sz="1560" b="1" dirty="0">
                          <a:solidFill>
                            <a:srgbClr val="FFFFFF"/>
                          </a:solidFill>
                          <a:latin typeface="Arial" pitchFamily="34" charset="0"/>
                          <a:ea typeface="Arial" pitchFamily="34" charset="-122"/>
                          <a:cs typeface="Arial" pitchFamily="34" charset="-120"/>
                        </a:rPr>
                        <a:t>Item</a:t>
                      </a:r>
                      <a:endParaRPr lang="en-US" sz="1560" dirty="0">
                        <a:latin typeface="Arial" charset="0"/>
                        <a:ea typeface="Arial" charset="0"/>
                        <a:cs typeface="Arial" charset="0"/>
                      </a:endParaRPr>
                    </a:p>
                  </a:txBody>
                  <a:tcPr marL="106680" marR="106680" marT="60960" marB="60960" anchor="mid">
                    <a:lnL w="6350" cap="flat" cmpd="sng" algn="ctr">
                      <a:solidFill>
                        <a:srgbClr val="D7D7D7"/>
                      </a:solidFill>
                      <a:prstDash val="solid"/>
                      <a:round/>
                      <a:headEnd type="none" w="med" len="med"/>
                      <a:tailEnd type="none" w="med" len="med"/>
                    </a:lnL>
                    <a:lnR w="6350" cap="flat" cmpd="sng" algn="ctr">
                      <a:solidFill>
                        <a:srgbClr val="D7D7D7"/>
                      </a:solidFill>
                      <a:prstDash val="solid"/>
                      <a:round/>
                      <a:headEnd type="none" w="med" len="med"/>
                      <a:tailEnd type="none" w="med" len="med"/>
                    </a:lnR>
                    <a:lnT w="6350" cap="flat" cmpd="sng" algn="ctr">
                      <a:solidFill>
                        <a:srgbClr val="D7D7D7"/>
                      </a:solidFill>
                      <a:prstDash val="solid"/>
                      <a:round/>
                      <a:headEnd type="none" w="med" len="med"/>
                      <a:tailEnd type="none" w="med" len="med"/>
                    </a:lnT>
                    <a:lnB w="6350" cap="flat" cmpd="sng" algn="ctr">
                      <a:solidFill>
                        <a:srgbClr val="D7D7D7"/>
                      </a:solidFill>
                      <a:prstDash val="solid"/>
                      <a:round/>
                      <a:headEnd type="none" w="med" len="med"/>
                      <a:tailEnd type="none" w="med" len="med"/>
                    </a:lnB>
                    <a:solidFill>
                      <a:srgbClr val="DB0011"/>
                    </a:solidFill>
                  </a:tcPr>
                </a:tc>
                <a:tc>
                  <a:txBody>
                    <a:bodyPr/>
                    <a:lstStyle/>
                    <a:p>
                      <a:pPr algn="l" indent="0" marL="0">
                        <a:buNone/>
                      </a:pPr>
                      <a:r>
                        <a:rPr lang="en-US" sz="1560" b="1" dirty="0">
                          <a:solidFill>
                            <a:srgbClr val="FFFFFF"/>
                          </a:solidFill>
                          <a:latin typeface="Arial" pitchFamily="34" charset="0"/>
                          <a:ea typeface="Arial" pitchFamily="34" charset="-122"/>
                          <a:cs typeface="Arial" pitchFamily="34" charset="-120"/>
                        </a:rPr>
                        <a:t>Most direct evidence</a:t>
                      </a:r>
                      <a:endParaRPr lang="en-US" sz="1560" dirty="0">
                        <a:latin typeface="Arial" charset="0"/>
                        <a:ea typeface="Arial" charset="0"/>
                        <a:cs typeface="Arial" charset="0"/>
                      </a:endParaRPr>
                    </a:p>
                  </a:txBody>
                  <a:tcPr marL="106680" marR="106680" marT="60960" marB="60960" anchor="mid">
                    <a:lnL w="6350" cap="flat" cmpd="sng" algn="ctr">
                      <a:solidFill>
                        <a:srgbClr val="D7D7D7"/>
                      </a:solidFill>
                      <a:prstDash val="solid"/>
                      <a:round/>
                      <a:headEnd type="none" w="med" len="med"/>
                      <a:tailEnd type="none" w="med" len="med"/>
                    </a:lnL>
                    <a:lnR w="6350" cap="flat" cmpd="sng" algn="ctr">
                      <a:solidFill>
                        <a:srgbClr val="D7D7D7"/>
                      </a:solidFill>
                      <a:prstDash val="solid"/>
                      <a:round/>
                      <a:headEnd type="none" w="med" len="med"/>
                      <a:tailEnd type="none" w="med" len="med"/>
                    </a:lnR>
                    <a:lnT w="6350" cap="flat" cmpd="sng" algn="ctr">
                      <a:solidFill>
                        <a:srgbClr val="D7D7D7"/>
                      </a:solidFill>
                      <a:prstDash val="solid"/>
                      <a:round/>
                      <a:headEnd type="none" w="med" len="med"/>
                      <a:tailEnd type="none" w="med" len="med"/>
                    </a:lnT>
                    <a:lnB w="6350" cap="flat" cmpd="sng" algn="ctr">
                      <a:solidFill>
                        <a:srgbClr val="D7D7D7"/>
                      </a:solidFill>
                      <a:prstDash val="solid"/>
                      <a:round/>
                      <a:headEnd type="none" w="med" len="med"/>
                      <a:tailEnd type="none" w="med" len="med"/>
                    </a:lnB>
                    <a:solidFill>
                      <a:srgbClr val="DB0011"/>
                    </a:solidFill>
                  </a:tcPr>
                </a:tc>
                <a:tc>
                  <a:txBody>
                    <a:bodyPr/>
                    <a:lstStyle/>
                    <a:p>
                      <a:pPr algn="l" indent="0" marL="0">
                        <a:buNone/>
                      </a:pPr>
                      <a:r>
                        <a:rPr lang="en-US" sz="1560" b="1" dirty="0">
                          <a:solidFill>
                            <a:srgbClr val="FFFFFF"/>
                          </a:solidFill>
                          <a:latin typeface="Arial" pitchFamily="34" charset="0"/>
                          <a:ea typeface="Arial" pitchFamily="34" charset="-122"/>
                          <a:cs typeface="Arial" pitchFamily="34" charset="-120"/>
                        </a:rPr>
                        <a:t>Supported conclusion and limits</a:t>
                      </a:r>
                      <a:endParaRPr lang="en-US" sz="1560" dirty="0">
                        <a:latin typeface="Arial" charset="0"/>
                        <a:ea typeface="Arial" charset="0"/>
                        <a:cs typeface="Arial" charset="0"/>
                      </a:endParaRPr>
                    </a:p>
                  </a:txBody>
                  <a:tcPr marL="106680" marR="106680" marT="60960" marB="60960" anchor="mid">
                    <a:lnL w="6350" cap="flat" cmpd="sng" algn="ctr">
                      <a:solidFill>
                        <a:srgbClr val="D7D7D7"/>
                      </a:solidFill>
                      <a:prstDash val="solid"/>
                      <a:round/>
                      <a:headEnd type="none" w="med" len="med"/>
                      <a:tailEnd type="none" w="med" len="med"/>
                    </a:lnL>
                    <a:lnR w="6350" cap="flat" cmpd="sng" algn="ctr">
                      <a:solidFill>
                        <a:srgbClr val="D7D7D7"/>
                      </a:solidFill>
                      <a:prstDash val="solid"/>
                      <a:round/>
                      <a:headEnd type="none" w="med" len="med"/>
                      <a:tailEnd type="none" w="med" len="med"/>
                    </a:lnR>
                    <a:lnT w="6350" cap="flat" cmpd="sng" algn="ctr">
                      <a:solidFill>
                        <a:srgbClr val="D7D7D7"/>
                      </a:solidFill>
                      <a:prstDash val="solid"/>
                      <a:round/>
                      <a:headEnd type="none" w="med" len="med"/>
                      <a:tailEnd type="none" w="med" len="med"/>
                    </a:lnT>
                    <a:lnB w="6350" cap="flat" cmpd="sng" algn="ctr">
                      <a:solidFill>
                        <a:srgbClr val="D7D7D7"/>
                      </a:solidFill>
                      <a:prstDash val="solid"/>
                      <a:round/>
                      <a:headEnd type="none" w="med" len="med"/>
                      <a:tailEnd type="none" w="med" len="med"/>
                    </a:lnB>
                    <a:solidFill>
                      <a:srgbClr val="DB0011"/>
                    </a:solidFill>
                  </a:tcPr>
                </a:tc>
              </a:tr>
              <a:tr h="929640">
                <a:tc>
                  <a:txBody>
                    <a:bodyPr/>
                    <a:lstStyle/>
                    <a:p>
                      <a:pPr algn="l" indent="0" marL="0">
                        <a:buNone/>
                      </a:pPr>
                      <a:r>
                        <a:rPr lang="en-US" sz="1560" dirty="0">
                          <a:solidFill>
                            <a:srgbClr val="000000"/>
                          </a:solidFill>
                          <a:latin typeface="Arial" pitchFamily="34" charset="0"/>
                          <a:ea typeface="Arial" pitchFamily="34" charset="-122"/>
                          <a:cs typeface="Arial" pitchFamily="34" charset="-120"/>
                        </a:rPr>
                        <a:t>Prompt revision</a:t>
                      </a:r>
                      <a:endParaRPr lang="en-US" sz="1560" dirty="0">
                        <a:latin typeface="Arial" charset="0"/>
                        <a:ea typeface="Arial" charset="0"/>
                        <a:cs typeface="Arial" charset="0"/>
                      </a:endParaRPr>
                    </a:p>
                  </a:txBody>
                  <a:tcPr marL="106680" marR="106680" marT="60960" marB="60960" anchor="mid">
                    <a:lnL w="6350" cap="flat" cmpd="sng" algn="ctr">
                      <a:solidFill>
                        <a:srgbClr val="D7D7D7"/>
                      </a:solidFill>
                      <a:prstDash val="solid"/>
                      <a:round/>
                      <a:headEnd type="none" w="med" len="med"/>
                      <a:tailEnd type="none" w="med" len="med"/>
                    </a:lnL>
                    <a:lnR w="6350" cap="flat" cmpd="sng" algn="ctr">
                      <a:solidFill>
                        <a:srgbClr val="D7D7D7"/>
                      </a:solidFill>
                      <a:prstDash val="solid"/>
                      <a:round/>
                      <a:headEnd type="none" w="med" len="med"/>
                      <a:tailEnd type="none" w="med" len="med"/>
                    </a:lnR>
                    <a:lnT w="6350" cap="flat" cmpd="sng" algn="ctr">
                      <a:solidFill>
                        <a:srgbClr val="D7D7D7"/>
                      </a:solidFill>
                      <a:prstDash val="solid"/>
                      <a:round/>
                      <a:headEnd type="none" w="med" len="med"/>
                      <a:tailEnd type="none" w="med" len="med"/>
                    </a:lnT>
                    <a:lnB w="6350" cap="flat" cmpd="sng" algn="ctr">
                      <a:solidFill>
                        <a:srgbClr val="D7D7D7"/>
                      </a:solidFill>
                      <a:prstDash val="solid"/>
                      <a:round/>
                      <a:headEnd type="none" w="med" len="med"/>
                      <a:tailEnd type="none" w="med" len="med"/>
                    </a:lnB>
                    <a:solidFill>
                      <a:srgbClr val="F4F4F4"/>
                    </a:solidFill>
                  </a:tcPr>
                </a:tc>
                <a:tc>
                  <a:txBody>
                    <a:bodyPr/>
                    <a:lstStyle/>
                    <a:p>
                      <a:pPr algn="l" indent="0" marL="0">
                        <a:buNone/>
                      </a:pPr>
                      <a:r>
                        <a:rPr lang="en-US" sz="1560" dirty="0">
                          <a:solidFill>
                            <a:srgbClr val="000000"/>
                          </a:solidFill>
                          <a:latin typeface="Arial" pitchFamily="34" charset="0"/>
                          <a:ea typeface="Arial" pitchFamily="34" charset="-122"/>
                          <a:cs typeface="Arial" pitchFamily="34" charset="-120"/>
                        </a:rPr>
                        <a:t>R1 lines 513–525</a:t>
                      </a:r>
                      <a:endParaRPr lang="en-US" sz="1560" dirty="0">
                        <a:latin typeface="Arial" charset="0"/>
                        <a:ea typeface="Arial" charset="0"/>
                        <a:cs typeface="Arial" charset="0"/>
                      </a:endParaRPr>
                    </a:p>
                  </a:txBody>
                  <a:tcPr marL="106680" marR="106680" marT="60960" marB="60960" anchor="mid">
                    <a:lnL w="6350" cap="flat" cmpd="sng" algn="ctr">
                      <a:solidFill>
                        <a:srgbClr val="D7D7D7"/>
                      </a:solidFill>
                      <a:prstDash val="solid"/>
                      <a:round/>
                      <a:headEnd type="none" w="med" len="med"/>
                      <a:tailEnd type="none" w="med" len="med"/>
                    </a:lnL>
                    <a:lnR w="6350" cap="flat" cmpd="sng" algn="ctr">
                      <a:solidFill>
                        <a:srgbClr val="D7D7D7"/>
                      </a:solidFill>
                      <a:prstDash val="solid"/>
                      <a:round/>
                      <a:headEnd type="none" w="med" len="med"/>
                      <a:tailEnd type="none" w="med" len="med"/>
                    </a:lnR>
                    <a:lnT w="6350" cap="flat" cmpd="sng" algn="ctr">
                      <a:solidFill>
                        <a:srgbClr val="D7D7D7"/>
                      </a:solidFill>
                      <a:prstDash val="solid"/>
                      <a:round/>
                      <a:headEnd type="none" w="med" len="med"/>
                      <a:tailEnd type="none" w="med" len="med"/>
                    </a:lnT>
                    <a:lnB w="6350" cap="flat" cmpd="sng" algn="ctr">
                      <a:solidFill>
                        <a:srgbClr val="D7D7D7"/>
                      </a:solidFill>
                      <a:prstDash val="solid"/>
                      <a:round/>
                      <a:headEnd type="none" w="med" len="med"/>
                      <a:tailEnd type="none" w="med" len="med"/>
                    </a:lnB>
                    <a:solidFill>
                      <a:srgbClr val="F4F4F4"/>
                    </a:solidFill>
                  </a:tcPr>
                </a:tc>
                <a:tc>
                  <a:txBody>
                    <a:bodyPr/>
                    <a:lstStyle/>
                    <a:p>
                      <a:pPr algn="l" indent="0" marL="0">
                        <a:buNone/>
                      </a:pPr>
                      <a:r>
                        <a:rPr lang="en-US" sz="1560" dirty="0">
                          <a:solidFill>
                            <a:srgbClr val="000000"/>
                          </a:solidFill>
                          <a:latin typeface="Arial" pitchFamily="34" charset="0"/>
                          <a:ea typeface="Arial" pitchFamily="34" charset="-122"/>
                          <a:cs typeface="Arial" pitchFamily="34" charset="-120"/>
                        </a:rPr>
                        <a:t>Updated and found enabled; this does not establish the cause or a successful retest</a:t>
                      </a:r>
                      <a:endParaRPr lang="en-US" sz="1560" dirty="0">
                        <a:latin typeface="Arial" charset="0"/>
                        <a:ea typeface="Arial" charset="0"/>
                        <a:cs typeface="Arial" charset="0"/>
                      </a:endParaRPr>
                    </a:p>
                  </a:txBody>
                  <a:tcPr marL="106680" marR="106680" marT="60960" marB="60960" anchor="mid">
                    <a:lnL w="6350" cap="flat" cmpd="sng" algn="ctr">
                      <a:solidFill>
                        <a:srgbClr val="D7D7D7"/>
                      </a:solidFill>
                      <a:prstDash val="solid"/>
                      <a:round/>
                      <a:headEnd type="none" w="med" len="med"/>
                      <a:tailEnd type="none" w="med" len="med"/>
                    </a:lnL>
                    <a:lnR w="6350" cap="flat" cmpd="sng" algn="ctr">
                      <a:solidFill>
                        <a:srgbClr val="D7D7D7"/>
                      </a:solidFill>
                      <a:prstDash val="solid"/>
                      <a:round/>
                      <a:headEnd type="none" w="med" len="med"/>
                      <a:tailEnd type="none" w="med" len="med"/>
                    </a:lnR>
                    <a:lnT w="6350" cap="flat" cmpd="sng" algn="ctr">
                      <a:solidFill>
                        <a:srgbClr val="D7D7D7"/>
                      </a:solidFill>
                      <a:prstDash val="solid"/>
                      <a:round/>
                      <a:headEnd type="none" w="med" len="med"/>
                      <a:tailEnd type="none" w="med" len="med"/>
                    </a:lnT>
                    <a:lnB w="6350" cap="flat" cmpd="sng" algn="ctr">
                      <a:solidFill>
                        <a:srgbClr val="D7D7D7"/>
                      </a:solidFill>
                      <a:prstDash val="solid"/>
                      <a:round/>
                      <a:headEnd type="none" w="med" len="med"/>
                      <a:tailEnd type="none" w="med" len="med"/>
                    </a:lnB>
                    <a:solidFill>
                      <a:srgbClr val="F4F4F4"/>
                    </a:solidFill>
                  </a:tcPr>
                </a:tc>
              </a:tr>
              <a:tr h="929640">
                <a:tc>
                  <a:txBody>
                    <a:bodyPr/>
                    <a:lstStyle/>
                    <a:p>
                      <a:pPr algn="l" indent="0" marL="0">
                        <a:buNone/>
                      </a:pPr>
                      <a:r>
                        <a:rPr lang="en-US" sz="1560" dirty="0">
                          <a:solidFill>
                            <a:srgbClr val="000000"/>
                          </a:solidFill>
                          <a:latin typeface="Arial" pitchFamily="34" charset="0"/>
                          <a:ea typeface="Arial" pitchFamily="34" charset="-122"/>
                          <a:cs typeface="Arial" pitchFamily="34" charset="-120"/>
                        </a:rPr>
                        <a:t>Briefing and interpretation risk</a:t>
                      </a:r>
                      <a:endParaRPr lang="en-US" sz="1560" dirty="0">
                        <a:latin typeface="Arial" charset="0"/>
                        <a:ea typeface="Arial" charset="0"/>
                        <a:cs typeface="Arial" charset="0"/>
                      </a:endParaRPr>
                    </a:p>
                  </a:txBody>
                  <a:tcPr marL="106680" marR="106680" marT="60960" marB="60960" anchor="mid">
                    <a:lnL w="6350" cap="flat" cmpd="sng" algn="ctr">
                      <a:solidFill>
                        <a:srgbClr val="D7D7D7"/>
                      </a:solidFill>
                      <a:prstDash val="solid"/>
                      <a:round/>
                      <a:headEnd type="none" w="med" len="med"/>
                      <a:tailEnd type="none" w="med" len="med"/>
                    </a:lnL>
                    <a:lnR w="6350" cap="flat" cmpd="sng" algn="ctr">
                      <a:solidFill>
                        <a:srgbClr val="D7D7D7"/>
                      </a:solidFill>
                      <a:prstDash val="solid"/>
                      <a:round/>
                      <a:headEnd type="none" w="med" len="med"/>
                      <a:tailEnd type="none" w="med" len="med"/>
                    </a:lnR>
                    <a:lnT w="6350" cap="flat" cmpd="sng" algn="ctr">
                      <a:solidFill>
                        <a:srgbClr val="D7D7D7"/>
                      </a:solidFill>
                      <a:prstDash val="solid"/>
                      <a:round/>
                      <a:headEnd type="none" w="med" len="med"/>
                      <a:tailEnd type="none" w="med" len="med"/>
                    </a:lnT>
                    <a:lnB w="6350" cap="flat" cmpd="sng" algn="ctr">
                      <a:solidFill>
                        <a:srgbClr val="D7D7D7"/>
                      </a:solidFill>
                      <a:prstDash val="solid"/>
                      <a:round/>
                      <a:headEnd type="none" w="med" len="med"/>
                      <a:tailEnd type="none" w="med" len="med"/>
                    </a:lnB>
                    <a:solidFill>
                      <a:srgbClr val="FFFFFF"/>
                    </a:solidFill>
                  </a:tcPr>
                </a:tc>
                <a:tc>
                  <a:txBody>
                    <a:bodyPr/>
                    <a:lstStyle/>
                    <a:p>
                      <a:pPr algn="l" indent="0" marL="0">
                        <a:buNone/>
                      </a:pPr>
                      <a:r>
                        <a:rPr lang="en-US" sz="1560" dirty="0">
                          <a:solidFill>
                            <a:srgbClr val="000000"/>
                          </a:solidFill>
                          <a:latin typeface="Arial" pitchFamily="34" charset="0"/>
                          <a:ea typeface="Arial" pitchFamily="34" charset="-122"/>
                          <a:cs typeface="Arial" pitchFamily="34" charset="-120"/>
                        </a:rPr>
                        <a:t>R1 line 459; lines 415, 418</a:t>
                      </a:r>
                      <a:endParaRPr lang="en-US" sz="1560" dirty="0">
                        <a:latin typeface="Arial" charset="0"/>
                        <a:ea typeface="Arial" charset="0"/>
                        <a:cs typeface="Arial" charset="0"/>
                      </a:endParaRPr>
                    </a:p>
                  </a:txBody>
                  <a:tcPr marL="106680" marR="106680" marT="60960" marB="60960" anchor="mid">
                    <a:lnL w="6350" cap="flat" cmpd="sng" algn="ctr">
                      <a:solidFill>
                        <a:srgbClr val="D7D7D7"/>
                      </a:solidFill>
                      <a:prstDash val="solid"/>
                      <a:round/>
                      <a:headEnd type="none" w="med" len="med"/>
                      <a:tailEnd type="none" w="med" len="med"/>
                    </a:lnL>
                    <a:lnR w="6350" cap="flat" cmpd="sng" algn="ctr">
                      <a:solidFill>
                        <a:srgbClr val="D7D7D7"/>
                      </a:solidFill>
                      <a:prstDash val="solid"/>
                      <a:round/>
                      <a:headEnd type="none" w="med" len="med"/>
                      <a:tailEnd type="none" w="med" len="med"/>
                    </a:lnR>
                    <a:lnT w="6350" cap="flat" cmpd="sng" algn="ctr">
                      <a:solidFill>
                        <a:srgbClr val="D7D7D7"/>
                      </a:solidFill>
                      <a:prstDash val="solid"/>
                      <a:round/>
                      <a:headEnd type="none" w="med" len="med"/>
                      <a:tailEnd type="none" w="med" len="med"/>
                    </a:lnT>
                    <a:lnB w="6350" cap="flat" cmpd="sng" algn="ctr">
                      <a:solidFill>
                        <a:srgbClr val="D7D7D7"/>
                      </a:solidFill>
                      <a:prstDash val="solid"/>
                      <a:round/>
                      <a:headEnd type="none" w="med" len="med"/>
                      <a:tailEnd type="none" w="med" len="med"/>
                    </a:lnB>
                    <a:solidFill>
                      <a:srgbClr val="FFFFFF"/>
                    </a:solidFill>
                  </a:tcPr>
                </a:tc>
                <a:tc>
                  <a:txBody>
                    <a:bodyPr/>
                    <a:lstStyle/>
                    <a:p>
                      <a:pPr algn="l" indent="0" marL="0">
                        <a:buNone/>
                      </a:pPr>
                      <a:r>
                        <a:rPr lang="en-US" sz="1560" dirty="0">
                          <a:solidFill>
                            <a:srgbClr val="000000"/>
                          </a:solidFill>
                          <a:latin typeface="Arial" pitchFamily="34" charset="0"/>
                          <a:ea typeface="Arial" pitchFamily="34" charset="-122"/>
                          <a:cs typeface="Arial" pitchFamily="34" charset="-120"/>
                        </a:rPr>
                        <a:t>Briefing readable in the group; some customer-analysis judgements exceed the input</a:t>
                      </a:r>
                      <a:endParaRPr lang="en-US" sz="1560" dirty="0">
                        <a:latin typeface="Arial" charset="0"/>
                        <a:ea typeface="Arial" charset="0"/>
                        <a:cs typeface="Arial" charset="0"/>
                      </a:endParaRPr>
                    </a:p>
                  </a:txBody>
                  <a:tcPr marL="106680" marR="106680" marT="60960" marB="60960" anchor="mid">
                    <a:lnL w="6350" cap="flat" cmpd="sng" algn="ctr">
                      <a:solidFill>
                        <a:srgbClr val="D7D7D7"/>
                      </a:solidFill>
                      <a:prstDash val="solid"/>
                      <a:round/>
                      <a:headEnd type="none" w="med" len="med"/>
                      <a:tailEnd type="none" w="med" len="med"/>
                    </a:lnL>
                    <a:lnR w="6350" cap="flat" cmpd="sng" algn="ctr">
                      <a:solidFill>
                        <a:srgbClr val="D7D7D7"/>
                      </a:solidFill>
                      <a:prstDash val="solid"/>
                      <a:round/>
                      <a:headEnd type="none" w="med" len="med"/>
                      <a:tailEnd type="none" w="med" len="med"/>
                    </a:lnR>
                    <a:lnT w="6350" cap="flat" cmpd="sng" algn="ctr">
                      <a:solidFill>
                        <a:srgbClr val="D7D7D7"/>
                      </a:solidFill>
                      <a:prstDash val="solid"/>
                      <a:round/>
                      <a:headEnd type="none" w="med" len="med"/>
                      <a:tailEnd type="none" w="med" len="med"/>
                    </a:lnT>
                    <a:lnB w="6350" cap="flat" cmpd="sng" algn="ctr">
                      <a:solidFill>
                        <a:srgbClr val="D7D7D7"/>
                      </a:solidFill>
                      <a:prstDash val="solid"/>
                      <a:round/>
                      <a:headEnd type="none" w="med" len="med"/>
                      <a:tailEnd type="none" w="med" len="med"/>
                    </a:lnB>
                    <a:solidFill>
                      <a:srgbClr val="FFFFFF"/>
                    </a:solidFill>
                  </a:tcPr>
                </a:tc>
              </a:tr>
            </a:tbl>
          </a:graphicData>
        </a:graphic>
      </p:graphicFrame>
      <p:sp>
        <p:nvSpPr>
          <p:cNvPr id="5" name="Text 1"/>
          <p:cNvSpPr/>
          <p:nvPr>
            <p:ph idx="102" type="body" hasCustomPrompt="1"/>
          </p:nvPr>
        </p:nvSpPr>
        <p:spPr>
          <a:xfrm>
            <a:off x="762000" y="2057400"/>
            <a:ext cx="10668000" cy="3886200"/>
          </a:xfrm>
          <a:prstGeom prst="rect">
            <a:avLst/>
          </a:prstGeom>
          <a:noFill/>
          <a:ln/>
        </p:spPr>
        <p:txBody>
          <a:bodyPr wrap="square" lIns="0" tIns="0" rIns="0" bIns="0" rtlCol="0" anchor="t"/>
          <a:lstStyle/>
          <a:p>
            <a:pPr indent="0" marL="0">
              <a:buNone/>
            </a:pPr>
            <a:endParaRPr lang="en-US" sz="168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Text 1"/>
          <p:cNvSpPr/>
          <p:nvPr>
            <p:ph idx="101" type="title" hasCustomPrompt="1"/>
          </p:nvPr>
        </p:nvSpPr>
        <p:spPr>
          <a:xfrm>
            <a:off x="381000" y="891540"/>
            <a:ext cx="11430000" cy="487680"/>
          </a:xfrm>
          <a:prstGeom prst="rect">
            <a:avLst/>
          </a:prstGeom>
          <a:noFill/>
          <a:ln/>
        </p:spPr>
        <p:txBody>
          <a:bodyPr wrap="square" lIns="0" tIns="0" rIns="0" bIns="0" rtlCol="0" anchor="t"/>
          <a:lstStyle/>
          <a:p>
            <a:pPr algn="l" indent="0" marL="0">
              <a:buNone/>
            </a:pPr>
            <a:r>
              <a:rPr lang="en-GB" altLang="en-US" sz="2400" b="1" spc="-84" kern="0" dirty="0">
                <a:solidFill>
                  <a:srgbClr val="000000"/>
                </a:solidFill>
                <a:latin typeface="Arial" pitchFamily="34" charset="0"/>
                <a:ea typeface="Arial" pitchFamily="34" charset="-122"/>
                <a:cs typeface="Arial" pitchFamily="34" charset="-120"/>
              </a:rPr>
              <a:t>Appendix A. Case evidence (continued)</a:t>
            </a:r>
            <a:endParaRPr lang="en-GB" sz="2400" dirty="0"/>
          </a:p>
        </p:txBody>
      </p:sp>
      <p:graphicFrame>
        <p:nvGraphicFramePr>
          <p:cNvPr id="43" name="body-15-5-item-0"/>
          <p:cNvGraphicFramePr>
            <a:graphicFrameLocks noGrp="1"/>
          </p:cNvGraphicFramePr>
          <p:nvPr>
            <p:extLst>
              <p:ext uri="{D42A27DB-BD31-4B8C-83A1-F6EECF244321}">
                <p14:modId xmlns:p14="http://schemas.microsoft.com/office/powerpoint/2010/main" val="1579011935"/>
              </p:ext>
            </p:extLst>
          </p:nvPr>
        </p:nvGraphicFramePr>
        <p:xfrm>
          <a:off x="609600" y="1600200"/>
          <a:ext cx="10972800" cy="3520440"/>
        </p:xfrm>
        <a:graphic>
          <a:graphicData uri="http://schemas.openxmlformats.org/drawingml/2006/table">
            <a:tbl>
              <a:tblPr/>
              <a:tblGrid>
                <a:gridCol w="3657600"/>
                <a:gridCol w="3657600"/>
                <a:gridCol w="3657600"/>
              </a:tblGrid>
              <a:tr h="1173480">
                <a:tc>
                  <a:txBody>
                    <a:bodyPr/>
                    <a:lstStyle/>
                    <a:p>
                      <a:pPr algn="l" indent="0" marL="0">
                        <a:buNone/>
                      </a:pPr>
                      <a:r>
                        <a:rPr lang="en-US" sz="1560" b="1" dirty="0">
                          <a:solidFill>
                            <a:srgbClr val="FFFFFF"/>
                          </a:solidFill>
                          <a:latin typeface="Arial" pitchFamily="34" charset="0"/>
                          <a:ea typeface="Arial" pitchFamily="34" charset="-122"/>
                          <a:cs typeface="Arial" pitchFamily="34" charset="-120"/>
                        </a:rPr>
                        <a:t>Item</a:t>
                      </a:r>
                      <a:endParaRPr lang="en-US" sz="1560" dirty="0">
                        <a:latin typeface="Arial" charset="0"/>
                        <a:ea typeface="Arial" charset="0"/>
                        <a:cs typeface="Arial" charset="0"/>
                      </a:endParaRPr>
                    </a:p>
                  </a:txBody>
                  <a:tcPr marL="106680" marR="106680" marT="60960" marB="60960" anchor="mid">
                    <a:lnL w="6350" cap="flat" cmpd="sng" algn="ctr">
                      <a:solidFill>
                        <a:srgbClr val="D7D7D7"/>
                      </a:solidFill>
                      <a:prstDash val="solid"/>
                      <a:round/>
                      <a:headEnd type="none" w="med" len="med"/>
                      <a:tailEnd type="none" w="med" len="med"/>
                    </a:lnL>
                    <a:lnR w="6350" cap="flat" cmpd="sng" algn="ctr">
                      <a:solidFill>
                        <a:srgbClr val="D7D7D7"/>
                      </a:solidFill>
                      <a:prstDash val="solid"/>
                      <a:round/>
                      <a:headEnd type="none" w="med" len="med"/>
                      <a:tailEnd type="none" w="med" len="med"/>
                    </a:lnR>
                    <a:lnT w="6350" cap="flat" cmpd="sng" algn="ctr">
                      <a:solidFill>
                        <a:srgbClr val="D7D7D7"/>
                      </a:solidFill>
                      <a:prstDash val="solid"/>
                      <a:round/>
                      <a:headEnd type="none" w="med" len="med"/>
                      <a:tailEnd type="none" w="med" len="med"/>
                    </a:lnT>
                    <a:lnB w="6350" cap="flat" cmpd="sng" algn="ctr">
                      <a:solidFill>
                        <a:srgbClr val="D7D7D7"/>
                      </a:solidFill>
                      <a:prstDash val="solid"/>
                      <a:round/>
                      <a:headEnd type="none" w="med" len="med"/>
                      <a:tailEnd type="none" w="med" len="med"/>
                    </a:lnB>
                    <a:solidFill>
                      <a:srgbClr val="DB0011"/>
                    </a:solidFill>
                  </a:tcPr>
                </a:tc>
                <a:tc>
                  <a:txBody>
                    <a:bodyPr/>
                    <a:lstStyle/>
                    <a:p>
                      <a:pPr algn="l" indent="0" marL="0">
                        <a:buNone/>
                      </a:pPr>
                      <a:r>
                        <a:rPr lang="en-US" sz="1560" b="1" dirty="0">
                          <a:solidFill>
                            <a:srgbClr val="FFFFFF"/>
                          </a:solidFill>
                          <a:latin typeface="Arial" pitchFamily="34" charset="0"/>
                          <a:ea typeface="Arial" pitchFamily="34" charset="-122"/>
                          <a:cs typeface="Arial" pitchFamily="34" charset="-120"/>
                        </a:rPr>
                        <a:t>Most direct evidence</a:t>
                      </a:r>
                      <a:endParaRPr lang="en-US" sz="1560" dirty="0">
                        <a:latin typeface="Arial" charset="0"/>
                        <a:ea typeface="Arial" charset="0"/>
                        <a:cs typeface="Arial" charset="0"/>
                      </a:endParaRPr>
                    </a:p>
                  </a:txBody>
                  <a:tcPr marL="106680" marR="106680" marT="60960" marB="60960" anchor="mid">
                    <a:lnL w="6350" cap="flat" cmpd="sng" algn="ctr">
                      <a:solidFill>
                        <a:srgbClr val="D7D7D7"/>
                      </a:solidFill>
                      <a:prstDash val="solid"/>
                      <a:round/>
                      <a:headEnd type="none" w="med" len="med"/>
                      <a:tailEnd type="none" w="med" len="med"/>
                    </a:lnL>
                    <a:lnR w="6350" cap="flat" cmpd="sng" algn="ctr">
                      <a:solidFill>
                        <a:srgbClr val="D7D7D7"/>
                      </a:solidFill>
                      <a:prstDash val="solid"/>
                      <a:round/>
                      <a:headEnd type="none" w="med" len="med"/>
                      <a:tailEnd type="none" w="med" len="med"/>
                    </a:lnR>
                    <a:lnT w="6350" cap="flat" cmpd="sng" algn="ctr">
                      <a:solidFill>
                        <a:srgbClr val="D7D7D7"/>
                      </a:solidFill>
                      <a:prstDash val="solid"/>
                      <a:round/>
                      <a:headEnd type="none" w="med" len="med"/>
                      <a:tailEnd type="none" w="med" len="med"/>
                    </a:lnT>
                    <a:lnB w="6350" cap="flat" cmpd="sng" algn="ctr">
                      <a:solidFill>
                        <a:srgbClr val="D7D7D7"/>
                      </a:solidFill>
                      <a:prstDash val="solid"/>
                      <a:round/>
                      <a:headEnd type="none" w="med" len="med"/>
                      <a:tailEnd type="none" w="med" len="med"/>
                    </a:lnB>
                    <a:solidFill>
                      <a:srgbClr val="DB0011"/>
                    </a:solidFill>
                  </a:tcPr>
                </a:tc>
                <a:tc>
                  <a:txBody>
                    <a:bodyPr/>
                    <a:lstStyle/>
                    <a:p>
                      <a:pPr algn="l" indent="0" marL="0">
                        <a:buNone/>
                      </a:pPr>
                      <a:r>
                        <a:rPr lang="en-US" sz="1560" b="1" dirty="0">
                          <a:solidFill>
                            <a:srgbClr val="FFFFFF"/>
                          </a:solidFill>
                          <a:latin typeface="Arial" pitchFamily="34" charset="0"/>
                          <a:ea typeface="Arial" pitchFamily="34" charset="-122"/>
                          <a:cs typeface="Arial" pitchFamily="34" charset="-120"/>
                        </a:rPr>
                        <a:t>Supported conclusion and limits</a:t>
                      </a:r>
                      <a:endParaRPr lang="en-US" sz="1560" dirty="0">
                        <a:latin typeface="Arial" charset="0"/>
                        <a:ea typeface="Arial" charset="0"/>
                        <a:cs typeface="Arial" charset="0"/>
                      </a:endParaRPr>
                    </a:p>
                  </a:txBody>
                  <a:tcPr marL="106680" marR="106680" marT="60960" marB="60960" anchor="mid">
                    <a:lnL w="6350" cap="flat" cmpd="sng" algn="ctr">
                      <a:solidFill>
                        <a:srgbClr val="D7D7D7"/>
                      </a:solidFill>
                      <a:prstDash val="solid"/>
                      <a:round/>
                      <a:headEnd type="none" w="med" len="med"/>
                      <a:tailEnd type="none" w="med" len="med"/>
                    </a:lnL>
                    <a:lnR w="6350" cap="flat" cmpd="sng" algn="ctr">
                      <a:solidFill>
                        <a:srgbClr val="D7D7D7"/>
                      </a:solidFill>
                      <a:prstDash val="solid"/>
                      <a:round/>
                      <a:headEnd type="none" w="med" len="med"/>
                      <a:tailEnd type="none" w="med" len="med"/>
                    </a:lnR>
                    <a:lnT w="6350" cap="flat" cmpd="sng" algn="ctr">
                      <a:solidFill>
                        <a:srgbClr val="D7D7D7"/>
                      </a:solidFill>
                      <a:prstDash val="solid"/>
                      <a:round/>
                      <a:headEnd type="none" w="med" len="med"/>
                      <a:tailEnd type="none" w="med" len="med"/>
                    </a:lnT>
                    <a:lnB w="6350" cap="flat" cmpd="sng" algn="ctr">
                      <a:solidFill>
                        <a:srgbClr val="D7D7D7"/>
                      </a:solidFill>
                      <a:prstDash val="solid"/>
                      <a:round/>
                      <a:headEnd type="none" w="med" len="med"/>
                      <a:tailEnd type="none" w="med" len="med"/>
                    </a:lnB>
                    <a:solidFill>
                      <a:srgbClr val="DB0011"/>
                    </a:solidFill>
                  </a:tcPr>
                </a:tc>
              </a:tr>
              <a:tr h="1173480">
                <a:tc>
                  <a:txBody>
                    <a:bodyPr/>
                    <a:lstStyle/>
                    <a:p>
                      <a:pPr algn="l" indent="0" marL="0">
                        <a:buNone/>
                      </a:pPr>
                      <a:r>
                        <a:rPr lang="en-US" sz="1560" dirty="0">
                          <a:solidFill>
                            <a:srgbClr val="000000"/>
                          </a:solidFill>
                          <a:latin typeface="Arial" pitchFamily="34" charset="0"/>
                          <a:ea typeface="Arial" pitchFamily="34" charset="-122"/>
                          <a:cs typeface="Arial" pitchFamily="34" charset="-120"/>
                        </a:rPr>
                        <a:t>Inspection reliability</a:t>
                      </a:r>
                      <a:endParaRPr lang="en-US" sz="1560" dirty="0">
                        <a:latin typeface="Arial" charset="0"/>
                        <a:ea typeface="Arial" charset="0"/>
                        <a:cs typeface="Arial" charset="0"/>
                      </a:endParaRPr>
                    </a:p>
                  </a:txBody>
                  <a:tcPr marL="106680" marR="106680" marT="60960" marB="60960" anchor="mid">
                    <a:lnL w="6350" cap="flat" cmpd="sng" algn="ctr">
                      <a:solidFill>
                        <a:srgbClr val="D7D7D7"/>
                      </a:solidFill>
                      <a:prstDash val="solid"/>
                      <a:round/>
                      <a:headEnd type="none" w="med" len="med"/>
                      <a:tailEnd type="none" w="med" len="med"/>
                    </a:lnL>
                    <a:lnR w="6350" cap="flat" cmpd="sng" algn="ctr">
                      <a:solidFill>
                        <a:srgbClr val="D7D7D7"/>
                      </a:solidFill>
                      <a:prstDash val="solid"/>
                      <a:round/>
                      <a:headEnd type="none" w="med" len="med"/>
                      <a:tailEnd type="none" w="med" len="med"/>
                    </a:lnR>
                    <a:lnT w="6350" cap="flat" cmpd="sng" algn="ctr">
                      <a:solidFill>
                        <a:srgbClr val="D7D7D7"/>
                      </a:solidFill>
                      <a:prstDash val="solid"/>
                      <a:round/>
                      <a:headEnd type="none" w="med" len="med"/>
                      <a:tailEnd type="none" w="med" len="med"/>
                    </a:lnT>
                    <a:lnB w="6350" cap="flat" cmpd="sng" algn="ctr">
                      <a:solidFill>
                        <a:srgbClr val="D7D7D7"/>
                      </a:solidFill>
                      <a:prstDash val="solid"/>
                      <a:round/>
                      <a:headEnd type="none" w="med" len="med"/>
                      <a:tailEnd type="none" w="med" len="med"/>
                    </a:lnB>
                    <a:solidFill>
                      <a:srgbClr val="F4F4F4"/>
                    </a:solidFill>
                  </a:tcPr>
                </a:tc>
                <a:tc>
                  <a:txBody>
                    <a:bodyPr/>
                    <a:lstStyle/>
                    <a:p>
                      <a:pPr algn="l" indent="0" marL="0">
                        <a:buNone/>
                      </a:pPr>
                      <a:r>
                        <a:rPr lang="en-US" sz="1560" dirty="0">
                          <a:solidFill>
                            <a:srgbClr val="000000"/>
                          </a:solidFill>
                          <a:latin typeface="Arial" pitchFamily="34" charset="0"/>
                          <a:ea typeface="Arial" pitchFamily="34" charset="-122"/>
                          <a:cs typeface="Arial" pitchFamily="34" charset="-120"/>
                        </a:rPr>
                        <a:t>R5 lines 61, 69; R3, R4</a:t>
                      </a:r>
                      <a:endParaRPr lang="en-US" sz="1560" dirty="0">
                        <a:latin typeface="Arial" charset="0"/>
                        <a:ea typeface="Arial" charset="0"/>
                        <a:cs typeface="Arial" charset="0"/>
                      </a:endParaRPr>
                    </a:p>
                  </a:txBody>
                  <a:tcPr marL="106680" marR="106680" marT="60960" marB="60960" anchor="mid">
                    <a:lnL w="6350" cap="flat" cmpd="sng" algn="ctr">
                      <a:solidFill>
                        <a:srgbClr val="D7D7D7"/>
                      </a:solidFill>
                      <a:prstDash val="solid"/>
                      <a:round/>
                      <a:headEnd type="none" w="med" len="med"/>
                      <a:tailEnd type="none" w="med" len="med"/>
                    </a:lnL>
                    <a:lnR w="6350" cap="flat" cmpd="sng" algn="ctr">
                      <a:solidFill>
                        <a:srgbClr val="D7D7D7"/>
                      </a:solidFill>
                      <a:prstDash val="solid"/>
                      <a:round/>
                      <a:headEnd type="none" w="med" len="med"/>
                      <a:tailEnd type="none" w="med" len="med"/>
                    </a:lnR>
                    <a:lnT w="6350" cap="flat" cmpd="sng" algn="ctr">
                      <a:solidFill>
                        <a:srgbClr val="D7D7D7"/>
                      </a:solidFill>
                      <a:prstDash val="solid"/>
                      <a:round/>
                      <a:headEnd type="none" w="med" len="med"/>
                      <a:tailEnd type="none" w="med" len="med"/>
                    </a:lnT>
                    <a:lnB w="6350" cap="flat" cmpd="sng" algn="ctr">
                      <a:solidFill>
                        <a:srgbClr val="D7D7D7"/>
                      </a:solidFill>
                      <a:prstDash val="solid"/>
                      <a:round/>
                      <a:headEnd type="none" w="med" len="med"/>
                      <a:tailEnd type="none" w="med" len="med"/>
                    </a:lnB>
                    <a:solidFill>
                      <a:srgbClr val="F4F4F4"/>
                    </a:solidFill>
                  </a:tcPr>
                </a:tc>
                <a:tc>
                  <a:txBody>
                    <a:bodyPr/>
                    <a:lstStyle/>
                    <a:p>
                      <a:pPr algn="l" indent="0" marL="0">
                        <a:buNone/>
                      </a:pPr>
                      <a:r>
                        <a:rPr lang="en-US" sz="1560" dirty="0">
                          <a:solidFill>
                            <a:srgbClr val="000000"/>
                          </a:solidFill>
                          <a:latin typeface="Arial" pitchFamily="34" charset="0"/>
                          <a:ea typeface="Arial" pitchFamily="34" charset="-122"/>
                          <a:cs typeface="Arial" pitchFamily="34" charset="-120"/>
                        </a:rPr>
                        <a:t>Two errors and two completions in four scheduled runs; no estimate of overall product reliability</a:t>
                      </a:r>
                      <a:endParaRPr lang="en-US" sz="1560" dirty="0">
                        <a:latin typeface="Arial" charset="0"/>
                        <a:ea typeface="Arial" charset="0"/>
                        <a:cs typeface="Arial" charset="0"/>
                      </a:endParaRPr>
                    </a:p>
                  </a:txBody>
                  <a:tcPr marL="106680" marR="106680" marT="60960" marB="60960" anchor="mid">
                    <a:lnL w="6350" cap="flat" cmpd="sng" algn="ctr">
                      <a:solidFill>
                        <a:srgbClr val="D7D7D7"/>
                      </a:solidFill>
                      <a:prstDash val="solid"/>
                      <a:round/>
                      <a:headEnd type="none" w="med" len="med"/>
                      <a:tailEnd type="none" w="med" len="med"/>
                    </a:lnL>
                    <a:lnR w="6350" cap="flat" cmpd="sng" algn="ctr">
                      <a:solidFill>
                        <a:srgbClr val="D7D7D7"/>
                      </a:solidFill>
                      <a:prstDash val="solid"/>
                      <a:round/>
                      <a:headEnd type="none" w="med" len="med"/>
                      <a:tailEnd type="none" w="med" len="med"/>
                    </a:lnR>
                    <a:lnT w="6350" cap="flat" cmpd="sng" algn="ctr">
                      <a:solidFill>
                        <a:srgbClr val="D7D7D7"/>
                      </a:solidFill>
                      <a:prstDash val="solid"/>
                      <a:round/>
                      <a:headEnd type="none" w="med" len="med"/>
                      <a:tailEnd type="none" w="med" len="med"/>
                    </a:lnT>
                    <a:lnB w="6350" cap="flat" cmpd="sng" algn="ctr">
                      <a:solidFill>
                        <a:srgbClr val="D7D7D7"/>
                      </a:solidFill>
                      <a:prstDash val="solid"/>
                      <a:round/>
                      <a:headEnd type="none" w="med" len="med"/>
                      <a:tailEnd type="none" w="med" len="med"/>
                    </a:lnB>
                    <a:solidFill>
                      <a:srgbClr val="F4F4F4"/>
                    </a:solidFill>
                  </a:tcPr>
                </a:tc>
              </a:tr>
              <a:tr h="1173480">
                <a:tc>
                  <a:txBody>
                    <a:bodyPr/>
                    <a:lstStyle/>
                    <a:p>
                      <a:pPr algn="l" indent="0" marL="0">
                        <a:buNone/>
                      </a:pPr>
                      <a:r>
                        <a:rPr lang="en-US" sz="1560" dirty="0">
                          <a:solidFill>
                            <a:srgbClr val="000000"/>
                          </a:solidFill>
                          <a:latin typeface="Arial" pitchFamily="34" charset="0"/>
                          <a:ea typeface="Arial" pitchFamily="34" charset="-122"/>
                          <a:cs typeface="Arial" pitchFamily="34" charset="-120"/>
                        </a:rPr>
                        <a:t>Demo limits</a:t>
                      </a:r>
                      <a:endParaRPr lang="en-US" sz="1560" dirty="0">
                        <a:latin typeface="Arial" charset="0"/>
                        <a:ea typeface="Arial" charset="0"/>
                        <a:cs typeface="Arial" charset="0"/>
                      </a:endParaRPr>
                    </a:p>
                  </a:txBody>
                  <a:tcPr marL="106680" marR="106680" marT="60960" marB="60960" anchor="mid">
                    <a:lnL w="6350" cap="flat" cmpd="sng" algn="ctr">
                      <a:solidFill>
                        <a:srgbClr val="D7D7D7"/>
                      </a:solidFill>
                      <a:prstDash val="solid"/>
                      <a:round/>
                      <a:headEnd type="none" w="med" len="med"/>
                      <a:tailEnd type="none" w="med" len="med"/>
                    </a:lnL>
                    <a:lnR w="6350" cap="flat" cmpd="sng" algn="ctr">
                      <a:solidFill>
                        <a:srgbClr val="D7D7D7"/>
                      </a:solidFill>
                      <a:prstDash val="solid"/>
                      <a:round/>
                      <a:headEnd type="none" w="med" len="med"/>
                      <a:tailEnd type="none" w="med" len="med"/>
                    </a:lnR>
                    <a:lnT w="6350" cap="flat" cmpd="sng" algn="ctr">
                      <a:solidFill>
                        <a:srgbClr val="D7D7D7"/>
                      </a:solidFill>
                      <a:prstDash val="solid"/>
                      <a:round/>
                      <a:headEnd type="none" w="med" len="med"/>
                      <a:tailEnd type="none" w="med" len="med"/>
                    </a:lnT>
                    <a:lnB w="6350" cap="flat" cmpd="sng" algn="ctr">
                      <a:solidFill>
                        <a:srgbClr val="D7D7D7"/>
                      </a:solidFill>
                      <a:prstDash val="solid"/>
                      <a:round/>
                      <a:headEnd type="none" w="med" len="med"/>
                      <a:tailEnd type="none" w="med" len="med"/>
                    </a:lnB>
                    <a:solidFill>
                      <a:srgbClr val="FFFFFF"/>
                    </a:solidFill>
                  </a:tcPr>
                </a:tc>
                <a:tc>
                  <a:txBody>
                    <a:bodyPr/>
                    <a:lstStyle/>
                    <a:p>
                      <a:pPr algn="l" indent="0" marL="0">
                        <a:buNone/>
                      </a:pPr>
                      <a:r>
                        <a:rPr lang="en-US" sz="1560" dirty="0">
                          <a:solidFill>
                            <a:srgbClr val="000000"/>
                          </a:solidFill>
                          <a:latin typeface="Arial" pitchFamily="34" charset="0"/>
                          <a:ea typeface="Arial" pitchFamily="34" charset="-122"/>
                          <a:cs typeface="Arial" pitchFamily="34" charset="-120"/>
                        </a:rPr>
                        <a:t>U2; K1–K7; M7</a:t>
                      </a:r>
                      <a:endParaRPr lang="en-US" sz="1560" dirty="0">
                        <a:latin typeface="Arial" charset="0"/>
                        <a:ea typeface="Arial" charset="0"/>
                        <a:cs typeface="Arial" charset="0"/>
                      </a:endParaRPr>
                    </a:p>
                  </a:txBody>
                  <a:tcPr marL="106680" marR="106680" marT="60960" marB="60960" anchor="mid">
                    <a:lnL w="6350" cap="flat" cmpd="sng" algn="ctr">
                      <a:solidFill>
                        <a:srgbClr val="D7D7D7"/>
                      </a:solidFill>
                      <a:prstDash val="solid"/>
                      <a:round/>
                      <a:headEnd type="none" w="med" len="med"/>
                      <a:tailEnd type="none" w="med" len="med"/>
                    </a:lnL>
                    <a:lnR w="6350" cap="flat" cmpd="sng" algn="ctr">
                      <a:solidFill>
                        <a:srgbClr val="D7D7D7"/>
                      </a:solidFill>
                      <a:prstDash val="solid"/>
                      <a:round/>
                      <a:headEnd type="none" w="med" len="med"/>
                      <a:tailEnd type="none" w="med" len="med"/>
                    </a:lnR>
                    <a:lnT w="6350" cap="flat" cmpd="sng" algn="ctr">
                      <a:solidFill>
                        <a:srgbClr val="D7D7D7"/>
                      </a:solidFill>
                      <a:prstDash val="solid"/>
                      <a:round/>
                      <a:headEnd type="none" w="med" len="med"/>
                      <a:tailEnd type="none" w="med" len="med"/>
                    </a:lnT>
                    <a:lnB w="6350" cap="flat" cmpd="sng" algn="ctr">
                      <a:solidFill>
                        <a:srgbClr val="D7D7D7"/>
                      </a:solidFill>
                      <a:prstDash val="solid"/>
                      <a:round/>
                      <a:headEnd type="none" w="med" len="med"/>
                      <a:tailEnd type="none" w="med" len="med"/>
                    </a:lnB>
                    <a:solidFill>
                      <a:srgbClr val="FFFFFF"/>
                    </a:solidFill>
                  </a:tcPr>
                </a:tc>
                <a:tc>
                  <a:txBody>
                    <a:bodyPr/>
                    <a:lstStyle/>
                    <a:p>
                      <a:pPr algn="l" indent="0" marL="0">
                        <a:buNone/>
                      </a:pPr>
                      <a:r>
                        <a:rPr lang="en-US" sz="1560" dirty="0">
                          <a:solidFill>
                            <a:srgbClr val="000000"/>
                          </a:solidFill>
                          <a:latin typeface="Arial" pitchFamily="34" charset="0"/>
                          <a:ea typeface="Arial" pitchFamily="34" charset="-122"/>
                          <a:cs typeface="Arial" pitchFamily="34" charset="-120"/>
                        </a:rPr>
                        <a:t>One person, demo environment, seven skills; M7 shows an entry point to material, not operation results</a:t>
                      </a:r>
                      <a:endParaRPr lang="en-US" sz="1560" dirty="0">
                        <a:latin typeface="Arial" charset="0"/>
                        <a:ea typeface="Arial" charset="0"/>
                        <a:cs typeface="Arial" charset="0"/>
                      </a:endParaRPr>
                    </a:p>
                  </a:txBody>
                  <a:tcPr marL="106680" marR="106680" marT="60960" marB="60960" anchor="mid">
                    <a:lnL w="6350" cap="flat" cmpd="sng" algn="ctr">
                      <a:solidFill>
                        <a:srgbClr val="D7D7D7"/>
                      </a:solidFill>
                      <a:prstDash val="solid"/>
                      <a:round/>
                      <a:headEnd type="none" w="med" len="med"/>
                      <a:tailEnd type="none" w="med" len="med"/>
                    </a:lnL>
                    <a:lnR w="6350" cap="flat" cmpd="sng" algn="ctr">
                      <a:solidFill>
                        <a:srgbClr val="D7D7D7"/>
                      </a:solidFill>
                      <a:prstDash val="solid"/>
                      <a:round/>
                      <a:headEnd type="none" w="med" len="med"/>
                      <a:tailEnd type="none" w="med" len="med"/>
                    </a:lnR>
                    <a:lnT w="6350" cap="flat" cmpd="sng" algn="ctr">
                      <a:solidFill>
                        <a:srgbClr val="D7D7D7"/>
                      </a:solidFill>
                      <a:prstDash val="solid"/>
                      <a:round/>
                      <a:headEnd type="none" w="med" len="med"/>
                      <a:tailEnd type="none" w="med" len="med"/>
                    </a:lnT>
                    <a:lnB w="6350" cap="flat" cmpd="sng" algn="ctr">
                      <a:solidFill>
                        <a:srgbClr val="D7D7D7"/>
                      </a:solidFill>
                      <a:prstDash val="solid"/>
                      <a:round/>
                      <a:headEnd type="none" w="med" len="med"/>
                      <a:tailEnd type="none" w="med" len="med"/>
                    </a:lnB>
                    <a:solidFill>
                      <a:srgbClr val="FFFFFF"/>
                    </a:solidFill>
                  </a:tcPr>
                </a:tc>
              </a:tr>
            </a:tbl>
          </a:graphicData>
        </a:graphic>
      </p:graphicFrame>
      <p:sp>
        <p:nvSpPr>
          <p:cNvPr id="5" name="Text 1"/>
          <p:cNvSpPr/>
          <p:nvPr>
            <p:ph idx="102" type="body" hasCustomPrompt="1"/>
          </p:nvPr>
        </p:nvSpPr>
        <p:spPr>
          <a:xfrm>
            <a:off x="762000" y="2057400"/>
            <a:ext cx="10668000" cy="3886200"/>
          </a:xfrm>
          <a:prstGeom prst="rect">
            <a:avLst/>
          </a:prstGeom>
          <a:noFill/>
          <a:ln/>
        </p:spPr>
        <p:txBody>
          <a:bodyPr wrap="square" lIns="0" tIns="0" rIns="0" bIns="0" rtlCol="0" anchor="t"/>
          <a:lstStyle/>
          <a:p>
            <a:pPr indent="0" marL="0">
              <a:buNone/>
            </a:pPr>
            <a:endParaRPr lang="en-US" sz="168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Text 1"/>
          <p:cNvSpPr/>
          <p:nvPr>
            <p:ph idx="101" type="title" hasCustomPrompt="1"/>
          </p:nvPr>
        </p:nvSpPr>
        <p:spPr>
          <a:xfrm>
            <a:off x="381000" y="891540"/>
            <a:ext cx="11430000" cy="487680"/>
          </a:xfrm>
          <a:prstGeom prst="rect">
            <a:avLst/>
          </a:prstGeom>
          <a:noFill/>
          <a:ln/>
        </p:spPr>
        <p:txBody>
          <a:bodyPr wrap="square" lIns="0" tIns="0" rIns="0" bIns="0" rtlCol="0" anchor="t"/>
          <a:lstStyle/>
          <a:p>
            <a:pPr algn="l" indent="0" marL="0">
              <a:buNone/>
            </a:pPr>
            <a:r>
              <a:rPr lang="en-GB" altLang="en-US" sz="2400" b="1" spc="-84" kern="0" dirty="0">
                <a:solidFill>
                  <a:srgbClr val="000000"/>
                </a:solidFill>
                <a:latin typeface="Arial" pitchFamily="34" charset="0"/>
                <a:ea typeface="Arial" pitchFamily="34" charset="-122"/>
                <a:cs typeface="Arial" pitchFamily="34" charset="-120"/>
              </a:rPr>
              <a:t>Appendix B. Priority open questions</a:t>
            </a:r>
            <a:endParaRPr lang="en-GB" sz="2400" dirty="0"/>
          </a:p>
        </p:txBody>
      </p:sp>
      <p:sp>
        <p:nvSpPr>
          <p:cNvPr id="3" name="body-16-1-item-0"/>
          <p:cNvSpPr/>
          <p:nvPr/>
        </p:nvSpPr>
        <p:spPr>
          <a:xfrm>
            <a:off x="609600" y="1600200"/>
            <a:ext cx="10972800" cy="739140"/>
          </a:xfrm>
          <a:prstGeom prst="rect">
            <a:avLst/>
          </a:prstGeom>
          <a:noFill/>
          <a:ln/>
        </p:spPr>
        <p:txBody>
          <a:bodyPr wrap="square" lIns="0" tIns="0" rIns="0" bIns="0" rtlCol="0" anchor="t"/>
          <a:lstStyle/>
          <a:p>
            <a:pPr algn="l" indent="0" marL="0">
              <a:lnSpc>
                <a:spcPct val="128000"/>
              </a:lnSpc>
              <a:buNone/>
            </a:pPr>
            <a:r>
              <a:rPr lang="en-GB" altLang="en-US" sz="1920" dirty="0">
                <a:solidFill>
                  <a:srgbClr val="222222"/>
                </a:solidFill>
                <a:latin typeface="Arial" pitchFamily="34" charset="0"/>
                <a:ea typeface="Arial" pitchFamily="34" charset="-122"/>
                <a:cs typeface="Arial" pitchFamily="34" charset="-120"/>
              </a:rPr>
              <a:t>1. Why did reads of RT-001 differ? Match tenant, connection context and server-side change records; prompt adjustments alone are insufficient.</a:t>
            </a:r>
            <a:endParaRPr lang="en-GB" sz="1920" dirty="0"/>
          </a:p>
        </p:txBody>
      </p:sp>
      <p:sp>
        <p:nvSpPr>
          <p:cNvPr id="4" name="body-16-1-item-1"/>
          <p:cNvSpPr/>
          <p:nvPr/>
        </p:nvSpPr>
        <p:spPr>
          <a:xfrm>
            <a:off x="609600" y="2491740"/>
            <a:ext cx="10972800" cy="1059180"/>
          </a:xfrm>
          <a:prstGeom prst="rect">
            <a:avLst/>
          </a:prstGeom>
          <a:noFill/>
          <a:ln/>
        </p:spPr>
        <p:txBody>
          <a:bodyPr wrap="square" lIns="0" tIns="0" rIns="0" bIns="0" rtlCol="0" anchor="t"/>
          <a:lstStyle/>
          <a:p>
            <a:pPr algn="l" indent="0" marL="0">
              <a:lnSpc>
                <a:spcPct val="128000"/>
              </a:lnSpc>
              <a:buNone/>
            </a:pPr>
            <a:r>
              <a:rPr lang="en-GB" altLang="en-US" sz="1920" dirty="0">
                <a:solidFill>
                  <a:srgbClr val="222222"/>
                </a:solidFill>
                <a:latin typeface="Arial" pitchFamily="34" charset="0"/>
                <a:ea typeface="Arial" pitchFamily="34" charset="-122"/>
                <a:cs typeface="Arial" pitchFamily="34" charset="-120"/>
              </a:rPr>
              <a:t>2. Which call entered the supplementary agreement, with what confirmation and receipt? I have confirmed watching the AI enter it; execution records still need to be matched to the ledger.</a:t>
            </a:r>
            <a:endParaRPr lang="en-GB" sz="1920" dirty="0"/>
          </a:p>
        </p:txBody>
      </p:sp>
      <p:sp>
        <p:nvSpPr>
          <p:cNvPr id="5" name="body-16-1-item-2"/>
          <p:cNvSpPr/>
          <p:nvPr/>
        </p:nvSpPr>
        <p:spPr>
          <a:xfrm>
            <a:off x="609600" y="3703320"/>
            <a:ext cx="10972800" cy="739140"/>
          </a:xfrm>
          <a:prstGeom prst="rect">
            <a:avLst/>
          </a:prstGeom>
          <a:noFill/>
          <a:ln/>
        </p:spPr>
        <p:txBody>
          <a:bodyPr wrap="square" lIns="0" tIns="0" rIns="0" bIns="0" rtlCol="0" anchor="t"/>
          <a:lstStyle/>
          <a:p>
            <a:pPr algn="l" indent="0" marL="0">
              <a:lnSpc>
                <a:spcPct val="128000"/>
              </a:lnSpc>
              <a:buNone/>
            </a:pPr>
            <a:r>
              <a:rPr lang="en-GB" altLang="en-US" sz="1920" dirty="0">
                <a:solidFill>
                  <a:srgbClr val="222222"/>
                </a:solidFill>
                <a:latin typeface="Arial" pitchFamily="34" charset="0"/>
                <a:ea typeface="Arial" pitchFamily="34" charset="-122"/>
                <a:cs typeface="Arial" pitchFamily="34" charset="-120"/>
              </a:rPr>
              <a:t>3. Were due-date reminders actually delivered, and do missed runs have other alert channels? Neither creation nor silence in the group establishes delivery.</a:t>
            </a:r>
            <a:endParaRPr lang="en-GB" sz="1920" dirty="0"/>
          </a:p>
        </p:txBody>
      </p:sp>
      <p:sp>
        <p:nvSpPr>
          <p:cNvPr id="6" name="body-16-1-item-3"/>
          <p:cNvSpPr/>
          <p:nvPr/>
        </p:nvSpPr>
        <p:spPr>
          <a:xfrm>
            <a:off x="609600" y="4594860"/>
            <a:ext cx="10972800" cy="739140"/>
          </a:xfrm>
          <a:prstGeom prst="rect">
            <a:avLst/>
          </a:prstGeom>
          <a:noFill/>
          <a:ln/>
        </p:spPr>
        <p:txBody>
          <a:bodyPr wrap="square" lIns="0" tIns="0" rIns="0" bIns="0" rtlCol="0" anchor="t"/>
          <a:lstStyle/>
          <a:p>
            <a:pPr algn="l" indent="0" marL="0">
              <a:lnSpc>
                <a:spcPct val="128000"/>
              </a:lnSpc>
              <a:buNone/>
            </a:pPr>
            <a:r>
              <a:rPr lang="en-GB" altLang="en-US" sz="1920" dirty="0">
                <a:solidFill>
                  <a:srgbClr val="222222"/>
                </a:solidFill>
                <a:latin typeface="Arial" pitchFamily="34" charset="0"/>
                <a:ea typeface="Arial" pitchFamily="34" charset="-122"/>
                <a:cs typeface="Arial" pitchFamily="34" charset="-120"/>
              </a:rPr>
              <a:t>4. Which two actual tasks merit a trial, who accepts the results, and which tools and material are permitted? The manager and relevant owners must decide.</a:t>
            </a:r>
            <a:endParaRPr lang="en-GB" sz="1920" dirty="0"/>
          </a:p>
        </p:txBody>
      </p:sp>
      <p:sp>
        <p:nvSpPr>
          <p:cNvPr id="8" name="Text 1"/>
          <p:cNvSpPr/>
          <p:nvPr>
            <p:ph idx="102" type="body" hasCustomPrompt="1"/>
          </p:nvPr>
        </p:nvSpPr>
        <p:spPr>
          <a:xfrm>
            <a:off x="762000" y="2057400"/>
            <a:ext cx="10668000" cy="3886200"/>
          </a:xfrm>
          <a:prstGeom prst="rect">
            <a:avLst/>
          </a:prstGeom>
          <a:noFill/>
          <a:ln/>
        </p:spPr>
        <p:txBody>
          <a:bodyPr wrap="square" lIns="0" tIns="0" rIns="0" bIns="0" rtlCol="0" anchor="t"/>
          <a:lstStyle/>
          <a:p>
            <a:pPr indent="0" marL="0">
              <a:buNone/>
            </a:pPr>
            <a:endParaRPr lang="en-US" sz="168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Text 1"/>
          <p:cNvSpPr/>
          <p:nvPr>
            <p:ph idx="101" type="title" hasCustomPrompt="1"/>
          </p:nvPr>
        </p:nvSpPr>
        <p:spPr>
          <a:xfrm>
            <a:off x="381000" y="891540"/>
            <a:ext cx="11430000" cy="487680"/>
          </a:xfrm>
          <a:prstGeom prst="rect">
            <a:avLst/>
          </a:prstGeom>
          <a:noFill/>
          <a:ln/>
        </p:spPr>
        <p:txBody>
          <a:bodyPr wrap="square" lIns="0" tIns="0" rIns="0" bIns="0" rtlCol="0" anchor="t"/>
          <a:lstStyle/>
          <a:p>
            <a:pPr algn="l" indent="0" marL="0">
              <a:buNone/>
            </a:pPr>
            <a:r>
              <a:rPr lang="en-GB" altLang="en-US" sz="2400" b="1" spc="-84" kern="0" dirty="0">
                <a:solidFill>
                  <a:srgbClr val="000000"/>
                </a:solidFill>
                <a:latin typeface="Arial" pitchFamily="34" charset="0"/>
                <a:ea typeface="Arial" pitchFamily="34" charset="-122"/>
                <a:cs typeface="Arial" pitchFamily="34" charset="-120"/>
              </a:rPr>
              <a:t>Appendix B. Priority open questions (cont.)</a:t>
            </a:r>
            <a:endParaRPr lang="en-GB" sz="2400" dirty="0"/>
          </a:p>
        </p:txBody>
      </p:sp>
      <p:sp>
        <p:nvSpPr>
          <p:cNvPr id="3" name="body-16-2-item-0"/>
          <p:cNvSpPr/>
          <p:nvPr/>
        </p:nvSpPr>
        <p:spPr>
          <a:xfrm>
            <a:off x="609600" y="1600200"/>
            <a:ext cx="10972800" cy="1059180"/>
          </a:xfrm>
          <a:prstGeom prst="rect">
            <a:avLst/>
          </a:prstGeom>
          <a:noFill/>
          <a:ln/>
        </p:spPr>
        <p:txBody>
          <a:bodyPr wrap="square" lIns="0" tIns="0" rIns="0" bIns="0" rtlCol="0" anchor="t"/>
          <a:lstStyle/>
          <a:p>
            <a:pPr algn="l" indent="0" marL="0">
              <a:lnSpc>
                <a:spcPct val="128000"/>
              </a:lnSpc>
              <a:buNone/>
            </a:pPr>
            <a:r>
              <a:rPr lang="en-GB" altLang="en-US" sz="1920" dirty="0">
                <a:solidFill>
                  <a:srgbClr val="222222"/>
                </a:solidFill>
                <a:latin typeface="Arial" pitchFamily="34" charset="0"/>
                <a:ea typeface="Arial" pitchFamily="34" charset="-122"/>
                <a:cs typeface="Arial" pitchFamily="34" charset="-120"/>
              </a:rPr>
              <a:t>5. What are the event's exact official name and organiser? The group display name differs from an existing article; this does not affect the scenario analysis.</a:t>
            </a:r>
            <a:endParaRPr lang="en-GB" sz="1920" dirty="0"/>
          </a:p>
        </p:txBody>
      </p:sp>
      <p:sp>
        <p:nvSpPr>
          <p:cNvPr id="5" name="Text 1"/>
          <p:cNvSpPr/>
          <p:nvPr>
            <p:ph idx="102" type="body" hasCustomPrompt="1"/>
          </p:nvPr>
        </p:nvSpPr>
        <p:spPr>
          <a:xfrm>
            <a:off x="762000" y="2057400"/>
            <a:ext cx="10668000" cy="3886200"/>
          </a:xfrm>
          <a:prstGeom prst="rect">
            <a:avLst/>
          </a:prstGeom>
          <a:noFill/>
          <a:ln/>
        </p:spPr>
        <p:txBody>
          <a:bodyPr wrap="square" lIns="0" tIns="0" rIns="0" bIns="0" rtlCol="0" anchor="t"/>
          <a:lstStyle/>
          <a:p>
            <a:pPr indent="0" marL="0">
              <a:buNone/>
            </a:pPr>
            <a:endParaRPr lang="en-US" sz="168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Text 1"/>
          <p:cNvSpPr/>
          <p:nvPr>
            <p:ph idx="101" type="title" hasCustomPrompt="1"/>
          </p:nvPr>
        </p:nvSpPr>
        <p:spPr>
          <a:xfrm>
            <a:off x="381000" y="891540"/>
            <a:ext cx="11430000" cy="487680"/>
          </a:xfrm>
          <a:prstGeom prst="rect">
            <a:avLst/>
          </a:prstGeom>
          <a:noFill/>
          <a:ln/>
        </p:spPr>
        <p:txBody>
          <a:bodyPr wrap="square" lIns="0" tIns="0" rIns="0" bIns="0" rtlCol="0" anchor="t"/>
          <a:lstStyle/>
          <a:p>
            <a:pPr algn="l" indent="0" marL="0">
              <a:buNone/>
            </a:pPr>
            <a:r>
              <a:rPr lang="en-GB" altLang="en-US" sz="2400" b="1" spc="-84" kern="0" dirty="0">
                <a:solidFill>
                  <a:srgbClr val="000000"/>
                </a:solidFill>
                <a:latin typeface="Arial" pitchFamily="34" charset="0"/>
                <a:ea typeface="Arial" pitchFamily="34" charset="-122"/>
                <a:cs typeface="Arial" pitchFamily="34" charset="-120"/>
              </a:rPr>
              <a:t>Appendix C. Suggested evaluation records</a:t>
            </a:r>
            <a:endParaRPr lang="en-GB" sz="2400" dirty="0"/>
          </a:p>
        </p:txBody>
      </p:sp>
      <p:graphicFrame>
        <p:nvGraphicFramePr>
          <p:cNvPr id="46" name="body-17-1-item-0"/>
          <p:cNvGraphicFramePr>
            <a:graphicFrameLocks noGrp="1"/>
          </p:cNvGraphicFramePr>
          <p:nvPr>
            <p:extLst>
              <p:ext uri="{D42A27DB-BD31-4B8C-83A1-F6EECF244321}">
                <p14:modId xmlns:p14="http://schemas.microsoft.com/office/powerpoint/2010/main" val="1579011935"/>
              </p:ext>
            </p:extLst>
          </p:nvPr>
        </p:nvGraphicFramePr>
        <p:xfrm>
          <a:off x="609600" y="1600200"/>
          <a:ext cx="10972800" cy="2788920"/>
        </p:xfrm>
        <a:graphic>
          <a:graphicData uri="http://schemas.openxmlformats.org/drawingml/2006/table">
            <a:tbl>
              <a:tblPr/>
              <a:tblGrid>
                <a:gridCol w="3657600"/>
                <a:gridCol w="3657600"/>
                <a:gridCol w="3657600"/>
              </a:tblGrid>
              <a:tr h="929640">
                <a:tc>
                  <a:txBody>
                    <a:bodyPr/>
                    <a:lstStyle/>
                    <a:p>
                      <a:pPr algn="l" indent="0" marL="0">
                        <a:buNone/>
                      </a:pPr>
                      <a:r>
                        <a:rPr lang="en-US" sz="1560" b="1" dirty="0">
                          <a:solidFill>
                            <a:srgbClr val="FFFFFF"/>
                          </a:solidFill>
                          <a:latin typeface="Arial" pitchFamily="34" charset="0"/>
                          <a:ea typeface="Arial" pitchFamily="34" charset="-122"/>
                          <a:cs typeface="Arial" pitchFamily="34" charset="-120"/>
                        </a:rPr>
                        <a:t>Measure</a:t>
                      </a:r>
                      <a:endParaRPr lang="en-US" sz="1560" dirty="0">
                        <a:latin typeface="Arial" charset="0"/>
                        <a:ea typeface="Arial" charset="0"/>
                        <a:cs typeface="Arial" charset="0"/>
                      </a:endParaRPr>
                    </a:p>
                  </a:txBody>
                  <a:tcPr marL="106680" marR="106680" marT="60960" marB="60960" anchor="mid">
                    <a:lnL w="6350" cap="flat" cmpd="sng" algn="ctr">
                      <a:solidFill>
                        <a:srgbClr val="D7D7D7"/>
                      </a:solidFill>
                      <a:prstDash val="solid"/>
                      <a:round/>
                      <a:headEnd type="none" w="med" len="med"/>
                      <a:tailEnd type="none" w="med" len="med"/>
                    </a:lnL>
                    <a:lnR w="6350" cap="flat" cmpd="sng" algn="ctr">
                      <a:solidFill>
                        <a:srgbClr val="D7D7D7"/>
                      </a:solidFill>
                      <a:prstDash val="solid"/>
                      <a:round/>
                      <a:headEnd type="none" w="med" len="med"/>
                      <a:tailEnd type="none" w="med" len="med"/>
                    </a:lnR>
                    <a:lnT w="6350" cap="flat" cmpd="sng" algn="ctr">
                      <a:solidFill>
                        <a:srgbClr val="D7D7D7"/>
                      </a:solidFill>
                      <a:prstDash val="solid"/>
                      <a:round/>
                      <a:headEnd type="none" w="med" len="med"/>
                      <a:tailEnd type="none" w="med" len="med"/>
                    </a:lnT>
                    <a:lnB w="6350" cap="flat" cmpd="sng" algn="ctr">
                      <a:solidFill>
                        <a:srgbClr val="D7D7D7"/>
                      </a:solidFill>
                      <a:prstDash val="solid"/>
                      <a:round/>
                      <a:headEnd type="none" w="med" len="med"/>
                      <a:tailEnd type="none" w="med" len="med"/>
                    </a:lnB>
                    <a:solidFill>
                      <a:srgbClr val="DB0011"/>
                    </a:solidFill>
                  </a:tcPr>
                </a:tc>
                <a:tc>
                  <a:txBody>
                    <a:bodyPr/>
                    <a:lstStyle/>
                    <a:p>
                      <a:pPr algn="l" indent="0" marL="0">
                        <a:buNone/>
                      </a:pPr>
                      <a:r>
                        <a:rPr lang="en-US" sz="1560" b="1" dirty="0">
                          <a:solidFill>
                            <a:srgbClr val="FFFFFF"/>
                          </a:solidFill>
                          <a:latin typeface="Arial" pitchFamily="34" charset="0"/>
                          <a:ea typeface="Arial" pitchFamily="34" charset="-122"/>
                          <a:cs typeface="Arial" pitchFamily="34" charset="-120"/>
                        </a:rPr>
                        <a:t>What to record</a:t>
                      </a:r>
                      <a:endParaRPr lang="en-US" sz="1560" dirty="0">
                        <a:latin typeface="Arial" charset="0"/>
                        <a:ea typeface="Arial" charset="0"/>
                        <a:cs typeface="Arial" charset="0"/>
                      </a:endParaRPr>
                    </a:p>
                  </a:txBody>
                  <a:tcPr marL="106680" marR="106680" marT="60960" marB="60960" anchor="mid">
                    <a:lnL w="6350" cap="flat" cmpd="sng" algn="ctr">
                      <a:solidFill>
                        <a:srgbClr val="D7D7D7"/>
                      </a:solidFill>
                      <a:prstDash val="solid"/>
                      <a:round/>
                      <a:headEnd type="none" w="med" len="med"/>
                      <a:tailEnd type="none" w="med" len="med"/>
                    </a:lnL>
                    <a:lnR w="6350" cap="flat" cmpd="sng" algn="ctr">
                      <a:solidFill>
                        <a:srgbClr val="D7D7D7"/>
                      </a:solidFill>
                      <a:prstDash val="solid"/>
                      <a:round/>
                      <a:headEnd type="none" w="med" len="med"/>
                      <a:tailEnd type="none" w="med" len="med"/>
                    </a:lnR>
                    <a:lnT w="6350" cap="flat" cmpd="sng" algn="ctr">
                      <a:solidFill>
                        <a:srgbClr val="D7D7D7"/>
                      </a:solidFill>
                      <a:prstDash val="solid"/>
                      <a:round/>
                      <a:headEnd type="none" w="med" len="med"/>
                      <a:tailEnd type="none" w="med" len="med"/>
                    </a:lnT>
                    <a:lnB w="6350" cap="flat" cmpd="sng" algn="ctr">
                      <a:solidFill>
                        <a:srgbClr val="D7D7D7"/>
                      </a:solidFill>
                      <a:prstDash val="solid"/>
                      <a:round/>
                      <a:headEnd type="none" w="med" len="med"/>
                      <a:tailEnd type="none" w="med" len="med"/>
                    </a:lnB>
                    <a:solidFill>
                      <a:srgbClr val="DB0011"/>
                    </a:solidFill>
                  </a:tcPr>
                </a:tc>
                <a:tc>
                  <a:txBody>
                    <a:bodyPr/>
                    <a:lstStyle/>
                    <a:p>
                      <a:pPr algn="l" indent="0" marL="0">
                        <a:buNone/>
                      </a:pPr>
                      <a:r>
                        <a:rPr lang="en-US" sz="1560" b="1" dirty="0">
                          <a:solidFill>
                            <a:srgbClr val="FFFFFF"/>
                          </a:solidFill>
                          <a:latin typeface="Arial" pitchFamily="34" charset="0"/>
                          <a:ea typeface="Arial" pitchFamily="34" charset="-122"/>
                          <a:cs typeface="Arial" pitchFamily="34" charset="-120"/>
                        </a:rPr>
                        <a:t>Current status</a:t>
                      </a:r>
                      <a:endParaRPr lang="en-US" sz="1560" dirty="0">
                        <a:latin typeface="Arial" charset="0"/>
                        <a:ea typeface="Arial" charset="0"/>
                        <a:cs typeface="Arial" charset="0"/>
                      </a:endParaRPr>
                    </a:p>
                  </a:txBody>
                  <a:tcPr marL="106680" marR="106680" marT="60960" marB="60960" anchor="mid">
                    <a:lnL w="6350" cap="flat" cmpd="sng" algn="ctr">
                      <a:solidFill>
                        <a:srgbClr val="D7D7D7"/>
                      </a:solidFill>
                      <a:prstDash val="solid"/>
                      <a:round/>
                      <a:headEnd type="none" w="med" len="med"/>
                      <a:tailEnd type="none" w="med" len="med"/>
                    </a:lnL>
                    <a:lnR w="6350" cap="flat" cmpd="sng" algn="ctr">
                      <a:solidFill>
                        <a:srgbClr val="D7D7D7"/>
                      </a:solidFill>
                      <a:prstDash val="solid"/>
                      <a:round/>
                      <a:headEnd type="none" w="med" len="med"/>
                      <a:tailEnd type="none" w="med" len="med"/>
                    </a:lnR>
                    <a:lnT w="6350" cap="flat" cmpd="sng" algn="ctr">
                      <a:solidFill>
                        <a:srgbClr val="D7D7D7"/>
                      </a:solidFill>
                      <a:prstDash val="solid"/>
                      <a:round/>
                      <a:headEnd type="none" w="med" len="med"/>
                      <a:tailEnd type="none" w="med" len="med"/>
                    </a:lnT>
                    <a:lnB w="6350" cap="flat" cmpd="sng" algn="ctr">
                      <a:solidFill>
                        <a:srgbClr val="D7D7D7"/>
                      </a:solidFill>
                      <a:prstDash val="solid"/>
                      <a:round/>
                      <a:headEnd type="none" w="med" len="med"/>
                      <a:tailEnd type="none" w="med" len="med"/>
                    </a:lnB>
                    <a:solidFill>
                      <a:srgbClr val="DB0011"/>
                    </a:solidFill>
                  </a:tcPr>
                </a:tc>
              </a:tr>
              <a:tr h="929640">
                <a:tc>
                  <a:txBody>
                    <a:bodyPr/>
                    <a:lstStyle/>
                    <a:p>
                      <a:pPr algn="l" indent="0" marL="0">
                        <a:buNone/>
                      </a:pPr>
                      <a:r>
                        <a:rPr lang="en-US" sz="1560" dirty="0">
                          <a:solidFill>
                            <a:srgbClr val="000000"/>
                          </a:solidFill>
                          <a:latin typeface="Arial" pitchFamily="34" charset="0"/>
                          <a:ea typeface="Arial" pitchFamily="34" charset="-122"/>
                          <a:cs typeface="Arial" pitchFamily="34" charset="-120"/>
                        </a:rPr>
                        <a:t>Human effort</a:t>
                      </a:r>
                      <a:endParaRPr lang="en-US" sz="1560" dirty="0">
                        <a:latin typeface="Arial" charset="0"/>
                        <a:ea typeface="Arial" charset="0"/>
                        <a:cs typeface="Arial" charset="0"/>
                      </a:endParaRPr>
                    </a:p>
                  </a:txBody>
                  <a:tcPr marL="106680" marR="106680" marT="60960" marB="60960" anchor="mid">
                    <a:lnL w="6350" cap="flat" cmpd="sng" algn="ctr">
                      <a:solidFill>
                        <a:srgbClr val="D7D7D7"/>
                      </a:solidFill>
                      <a:prstDash val="solid"/>
                      <a:round/>
                      <a:headEnd type="none" w="med" len="med"/>
                      <a:tailEnd type="none" w="med" len="med"/>
                    </a:lnL>
                    <a:lnR w="6350" cap="flat" cmpd="sng" algn="ctr">
                      <a:solidFill>
                        <a:srgbClr val="D7D7D7"/>
                      </a:solidFill>
                      <a:prstDash val="solid"/>
                      <a:round/>
                      <a:headEnd type="none" w="med" len="med"/>
                      <a:tailEnd type="none" w="med" len="med"/>
                    </a:lnR>
                    <a:lnT w="6350" cap="flat" cmpd="sng" algn="ctr">
                      <a:solidFill>
                        <a:srgbClr val="D7D7D7"/>
                      </a:solidFill>
                      <a:prstDash val="solid"/>
                      <a:round/>
                      <a:headEnd type="none" w="med" len="med"/>
                      <a:tailEnd type="none" w="med" len="med"/>
                    </a:lnT>
                    <a:lnB w="6350" cap="flat" cmpd="sng" algn="ctr">
                      <a:solidFill>
                        <a:srgbClr val="D7D7D7"/>
                      </a:solidFill>
                      <a:prstDash val="solid"/>
                      <a:round/>
                      <a:headEnd type="none" w="med" len="med"/>
                      <a:tailEnd type="none" w="med" len="med"/>
                    </a:lnB>
                    <a:solidFill>
                      <a:srgbClr val="F4F4F4"/>
                    </a:solidFill>
                  </a:tcPr>
                </a:tc>
                <a:tc>
                  <a:txBody>
                    <a:bodyPr/>
                    <a:lstStyle/>
                    <a:p>
                      <a:pPr algn="l" indent="0" marL="0">
                        <a:buNone/>
                      </a:pPr>
                      <a:r>
                        <a:rPr lang="en-US" sz="1560" dirty="0">
                          <a:solidFill>
                            <a:srgbClr val="000000"/>
                          </a:solidFill>
                          <a:latin typeface="Arial" pitchFamily="34" charset="0"/>
                          <a:ea typeface="Arial" pitchFamily="34" charset="-122"/>
                          <a:cs typeface="Arial" pitchFamily="34" charset="-120"/>
                        </a:rPr>
                        <a:t>Minutes spent preparing, operating, reviewing, revising, copying and recovering</a:t>
                      </a:r>
                      <a:endParaRPr lang="en-US" sz="1560" dirty="0">
                        <a:latin typeface="Arial" charset="0"/>
                        <a:ea typeface="Arial" charset="0"/>
                        <a:cs typeface="Arial" charset="0"/>
                      </a:endParaRPr>
                    </a:p>
                  </a:txBody>
                  <a:tcPr marL="106680" marR="106680" marT="60960" marB="60960" anchor="mid">
                    <a:lnL w="6350" cap="flat" cmpd="sng" algn="ctr">
                      <a:solidFill>
                        <a:srgbClr val="D7D7D7"/>
                      </a:solidFill>
                      <a:prstDash val="solid"/>
                      <a:round/>
                      <a:headEnd type="none" w="med" len="med"/>
                      <a:tailEnd type="none" w="med" len="med"/>
                    </a:lnL>
                    <a:lnR w="6350" cap="flat" cmpd="sng" algn="ctr">
                      <a:solidFill>
                        <a:srgbClr val="D7D7D7"/>
                      </a:solidFill>
                      <a:prstDash val="solid"/>
                      <a:round/>
                      <a:headEnd type="none" w="med" len="med"/>
                      <a:tailEnd type="none" w="med" len="med"/>
                    </a:lnR>
                    <a:lnT w="6350" cap="flat" cmpd="sng" algn="ctr">
                      <a:solidFill>
                        <a:srgbClr val="D7D7D7"/>
                      </a:solidFill>
                      <a:prstDash val="solid"/>
                      <a:round/>
                      <a:headEnd type="none" w="med" len="med"/>
                      <a:tailEnd type="none" w="med" len="med"/>
                    </a:lnT>
                    <a:lnB w="6350" cap="flat" cmpd="sng" algn="ctr">
                      <a:solidFill>
                        <a:srgbClr val="D7D7D7"/>
                      </a:solidFill>
                      <a:prstDash val="solid"/>
                      <a:round/>
                      <a:headEnd type="none" w="med" len="med"/>
                      <a:tailEnd type="none" w="med" len="med"/>
                    </a:lnB>
                    <a:solidFill>
                      <a:srgbClr val="F4F4F4"/>
                    </a:solidFill>
                  </a:tcPr>
                </a:tc>
                <a:tc>
                  <a:txBody>
                    <a:bodyPr/>
                    <a:lstStyle/>
                    <a:p>
                      <a:pPr algn="l" indent="0" marL="0">
                        <a:buNone/>
                      </a:pPr>
                      <a:r>
                        <a:rPr lang="en-US" sz="1560" dirty="0">
                          <a:solidFill>
                            <a:srgbClr val="000000"/>
                          </a:solidFill>
                          <a:latin typeface="Arial" pitchFamily="34" charset="0"/>
                          <a:ea typeface="Arial" pitchFamily="34" charset="-122"/>
                          <a:cs typeface="Arial" pitchFamily="34" charset="-120"/>
                        </a:rPr>
                        <a:t>Not measured</a:t>
                      </a:r>
                      <a:endParaRPr lang="en-US" sz="1560" dirty="0">
                        <a:latin typeface="Arial" charset="0"/>
                        <a:ea typeface="Arial" charset="0"/>
                        <a:cs typeface="Arial" charset="0"/>
                      </a:endParaRPr>
                    </a:p>
                  </a:txBody>
                  <a:tcPr marL="106680" marR="106680" marT="60960" marB="60960" anchor="mid">
                    <a:lnL w="6350" cap="flat" cmpd="sng" algn="ctr">
                      <a:solidFill>
                        <a:srgbClr val="D7D7D7"/>
                      </a:solidFill>
                      <a:prstDash val="solid"/>
                      <a:round/>
                      <a:headEnd type="none" w="med" len="med"/>
                      <a:tailEnd type="none" w="med" len="med"/>
                    </a:lnL>
                    <a:lnR w="6350" cap="flat" cmpd="sng" algn="ctr">
                      <a:solidFill>
                        <a:srgbClr val="D7D7D7"/>
                      </a:solidFill>
                      <a:prstDash val="solid"/>
                      <a:round/>
                      <a:headEnd type="none" w="med" len="med"/>
                      <a:tailEnd type="none" w="med" len="med"/>
                    </a:lnR>
                    <a:lnT w="6350" cap="flat" cmpd="sng" algn="ctr">
                      <a:solidFill>
                        <a:srgbClr val="D7D7D7"/>
                      </a:solidFill>
                      <a:prstDash val="solid"/>
                      <a:round/>
                      <a:headEnd type="none" w="med" len="med"/>
                      <a:tailEnd type="none" w="med" len="med"/>
                    </a:lnT>
                    <a:lnB w="6350" cap="flat" cmpd="sng" algn="ctr">
                      <a:solidFill>
                        <a:srgbClr val="D7D7D7"/>
                      </a:solidFill>
                      <a:prstDash val="solid"/>
                      <a:round/>
                      <a:headEnd type="none" w="med" len="med"/>
                      <a:tailEnd type="none" w="med" len="med"/>
                    </a:lnB>
                    <a:solidFill>
                      <a:srgbClr val="F4F4F4"/>
                    </a:solidFill>
                  </a:tcPr>
                </a:tc>
              </a:tr>
              <a:tr h="929640">
                <a:tc>
                  <a:txBody>
                    <a:bodyPr/>
                    <a:lstStyle/>
                    <a:p>
                      <a:pPr algn="l" indent="0" marL="0">
                        <a:buNone/>
                      </a:pPr>
                      <a:r>
                        <a:rPr lang="en-US" sz="1560" dirty="0">
                          <a:solidFill>
                            <a:srgbClr val="000000"/>
                          </a:solidFill>
                          <a:latin typeface="Arial" pitchFamily="34" charset="0"/>
                          <a:ea typeface="Arial" pitchFamily="34" charset="-122"/>
                          <a:cs typeface="Arial" pitchFamily="34" charset="-120"/>
                        </a:rPr>
                        <a:t>Elapsed time</a:t>
                      </a:r>
                      <a:endParaRPr lang="en-US" sz="1560" dirty="0">
                        <a:latin typeface="Arial" charset="0"/>
                        <a:ea typeface="Arial" charset="0"/>
                        <a:cs typeface="Arial" charset="0"/>
                      </a:endParaRPr>
                    </a:p>
                  </a:txBody>
                  <a:tcPr marL="106680" marR="106680" marT="60960" marB="60960" anchor="mid">
                    <a:lnL w="6350" cap="flat" cmpd="sng" algn="ctr">
                      <a:solidFill>
                        <a:srgbClr val="D7D7D7"/>
                      </a:solidFill>
                      <a:prstDash val="solid"/>
                      <a:round/>
                      <a:headEnd type="none" w="med" len="med"/>
                      <a:tailEnd type="none" w="med" len="med"/>
                    </a:lnL>
                    <a:lnR w="6350" cap="flat" cmpd="sng" algn="ctr">
                      <a:solidFill>
                        <a:srgbClr val="D7D7D7"/>
                      </a:solidFill>
                      <a:prstDash val="solid"/>
                      <a:round/>
                      <a:headEnd type="none" w="med" len="med"/>
                      <a:tailEnd type="none" w="med" len="med"/>
                    </a:lnR>
                    <a:lnT w="6350" cap="flat" cmpd="sng" algn="ctr">
                      <a:solidFill>
                        <a:srgbClr val="D7D7D7"/>
                      </a:solidFill>
                      <a:prstDash val="solid"/>
                      <a:round/>
                      <a:headEnd type="none" w="med" len="med"/>
                      <a:tailEnd type="none" w="med" len="med"/>
                    </a:lnT>
                    <a:lnB w="6350" cap="flat" cmpd="sng" algn="ctr">
                      <a:solidFill>
                        <a:srgbClr val="D7D7D7"/>
                      </a:solidFill>
                      <a:prstDash val="solid"/>
                      <a:round/>
                      <a:headEnd type="none" w="med" len="med"/>
                      <a:tailEnd type="none" w="med" len="med"/>
                    </a:lnB>
                    <a:solidFill>
                      <a:srgbClr val="FFFFFF"/>
                    </a:solidFill>
                  </a:tcPr>
                </a:tc>
                <a:tc>
                  <a:txBody>
                    <a:bodyPr/>
                    <a:lstStyle/>
                    <a:p>
                      <a:pPr algn="l" indent="0" marL="0">
                        <a:buNone/>
                      </a:pPr>
                      <a:r>
                        <a:rPr lang="en-US" sz="1560" dirty="0">
                          <a:solidFill>
                            <a:srgbClr val="000000"/>
                          </a:solidFill>
                          <a:latin typeface="Arial" pitchFamily="34" charset="0"/>
                          <a:ea typeface="Arial" pitchFamily="34" charset="-122"/>
                          <a:cs typeface="Arial" pitchFamily="34" charset="-120"/>
                        </a:rPr>
                        <a:t>From complete inputs to final acceptance, identifying system and human waiting separately</a:t>
                      </a:r>
                      <a:endParaRPr lang="en-US" sz="1560" dirty="0">
                        <a:latin typeface="Arial" charset="0"/>
                        <a:ea typeface="Arial" charset="0"/>
                        <a:cs typeface="Arial" charset="0"/>
                      </a:endParaRPr>
                    </a:p>
                  </a:txBody>
                  <a:tcPr marL="106680" marR="106680" marT="60960" marB="60960" anchor="mid">
                    <a:lnL w="6350" cap="flat" cmpd="sng" algn="ctr">
                      <a:solidFill>
                        <a:srgbClr val="D7D7D7"/>
                      </a:solidFill>
                      <a:prstDash val="solid"/>
                      <a:round/>
                      <a:headEnd type="none" w="med" len="med"/>
                      <a:tailEnd type="none" w="med" len="med"/>
                    </a:lnL>
                    <a:lnR w="6350" cap="flat" cmpd="sng" algn="ctr">
                      <a:solidFill>
                        <a:srgbClr val="D7D7D7"/>
                      </a:solidFill>
                      <a:prstDash val="solid"/>
                      <a:round/>
                      <a:headEnd type="none" w="med" len="med"/>
                      <a:tailEnd type="none" w="med" len="med"/>
                    </a:lnR>
                    <a:lnT w="6350" cap="flat" cmpd="sng" algn="ctr">
                      <a:solidFill>
                        <a:srgbClr val="D7D7D7"/>
                      </a:solidFill>
                      <a:prstDash val="solid"/>
                      <a:round/>
                      <a:headEnd type="none" w="med" len="med"/>
                      <a:tailEnd type="none" w="med" len="med"/>
                    </a:lnT>
                    <a:lnB w="6350" cap="flat" cmpd="sng" algn="ctr">
                      <a:solidFill>
                        <a:srgbClr val="D7D7D7"/>
                      </a:solidFill>
                      <a:prstDash val="solid"/>
                      <a:round/>
                      <a:headEnd type="none" w="med" len="med"/>
                      <a:tailEnd type="none" w="med" len="med"/>
                    </a:lnB>
                    <a:solidFill>
                      <a:srgbClr val="FFFFFF"/>
                    </a:solidFill>
                  </a:tcPr>
                </a:tc>
                <a:tc>
                  <a:txBody>
                    <a:bodyPr/>
                    <a:lstStyle/>
                    <a:p>
                      <a:pPr algn="l" indent="0" marL="0">
                        <a:buNone/>
                      </a:pPr>
                      <a:r>
                        <a:rPr lang="en-US" sz="1560" dirty="0">
                          <a:solidFill>
                            <a:srgbClr val="000000"/>
                          </a:solidFill>
                          <a:latin typeface="Arial" pitchFamily="34" charset="0"/>
                          <a:ea typeface="Arial" pitchFamily="34" charset="-122"/>
                          <a:cs typeface="Arial" pitchFamily="34" charset="-120"/>
                        </a:rPr>
                        <a:t>No measured comparator</a:t>
                      </a:r>
                      <a:endParaRPr lang="en-US" sz="1560" dirty="0">
                        <a:latin typeface="Arial" charset="0"/>
                        <a:ea typeface="Arial" charset="0"/>
                        <a:cs typeface="Arial" charset="0"/>
                      </a:endParaRPr>
                    </a:p>
                  </a:txBody>
                  <a:tcPr marL="106680" marR="106680" marT="60960" marB="60960" anchor="mid">
                    <a:lnL w="6350" cap="flat" cmpd="sng" algn="ctr">
                      <a:solidFill>
                        <a:srgbClr val="D7D7D7"/>
                      </a:solidFill>
                      <a:prstDash val="solid"/>
                      <a:round/>
                      <a:headEnd type="none" w="med" len="med"/>
                      <a:tailEnd type="none" w="med" len="med"/>
                    </a:lnL>
                    <a:lnR w="6350" cap="flat" cmpd="sng" algn="ctr">
                      <a:solidFill>
                        <a:srgbClr val="D7D7D7"/>
                      </a:solidFill>
                      <a:prstDash val="solid"/>
                      <a:round/>
                      <a:headEnd type="none" w="med" len="med"/>
                      <a:tailEnd type="none" w="med" len="med"/>
                    </a:lnR>
                    <a:lnT w="6350" cap="flat" cmpd="sng" algn="ctr">
                      <a:solidFill>
                        <a:srgbClr val="D7D7D7"/>
                      </a:solidFill>
                      <a:prstDash val="solid"/>
                      <a:round/>
                      <a:headEnd type="none" w="med" len="med"/>
                      <a:tailEnd type="none" w="med" len="med"/>
                    </a:lnT>
                    <a:lnB w="6350" cap="flat" cmpd="sng" algn="ctr">
                      <a:solidFill>
                        <a:srgbClr val="D7D7D7"/>
                      </a:solidFill>
                      <a:prstDash val="solid"/>
                      <a:round/>
                      <a:headEnd type="none" w="med" len="med"/>
                      <a:tailEnd type="none" w="med" len="med"/>
                    </a:lnB>
                    <a:solidFill>
                      <a:srgbClr val="FFFFFF"/>
                    </a:solidFill>
                  </a:tcPr>
                </a:tc>
              </a:tr>
            </a:tbl>
          </a:graphicData>
        </a:graphic>
      </p:graphicFrame>
      <p:sp>
        <p:nvSpPr>
          <p:cNvPr id="5" name="Text 1"/>
          <p:cNvSpPr/>
          <p:nvPr>
            <p:ph idx="102" type="body" hasCustomPrompt="1"/>
          </p:nvPr>
        </p:nvSpPr>
        <p:spPr>
          <a:xfrm>
            <a:off x="762000" y="2057400"/>
            <a:ext cx="10668000" cy="3886200"/>
          </a:xfrm>
          <a:prstGeom prst="rect">
            <a:avLst/>
          </a:prstGeom>
          <a:noFill/>
          <a:ln/>
        </p:spPr>
        <p:txBody>
          <a:bodyPr wrap="square" lIns="0" tIns="0" rIns="0" bIns="0" rtlCol="0" anchor="t"/>
          <a:lstStyle/>
          <a:p>
            <a:pPr indent="0" marL="0">
              <a:buNone/>
            </a:pPr>
            <a:endParaRPr lang="en-US" sz="168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Text 1"/>
          <p:cNvSpPr/>
          <p:nvPr>
            <p:ph idx="101" type="title" hasCustomPrompt="1"/>
          </p:nvPr>
        </p:nvSpPr>
        <p:spPr>
          <a:xfrm>
            <a:off x="381000" y="891540"/>
            <a:ext cx="11430000" cy="487680"/>
          </a:xfrm>
          <a:prstGeom prst="rect">
            <a:avLst/>
          </a:prstGeom>
          <a:noFill/>
          <a:ln/>
        </p:spPr>
        <p:txBody>
          <a:bodyPr wrap="square" lIns="0" tIns="0" rIns="0" bIns="0" rtlCol="0" anchor="t"/>
          <a:lstStyle/>
          <a:p>
            <a:pPr algn="l" indent="0" marL="0">
              <a:buNone/>
            </a:pPr>
            <a:r>
              <a:rPr lang="en-GB" altLang="en-US" sz="2400" b="1" spc="-84" kern="0" dirty="0">
                <a:solidFill>
                  <a:srgbClr val="000000"/>
                </a:solidFill>
                <a:latin typeface="Arial" pitchFamily="34" charset="0"/>
                <a:ea typeface="Arial" pitchFamily="34" charset="-122"/>
                <a:cs typeface="Arial" pitchFamily="34" charset="-120"/>
              </a:rPr>
              <a:t>Appendix C. Evaluation records (continued)</a:t>
            </a:r>
            <a:endParaRPr lang="en-GB" sz="2400" dirty="0"/>
          </a:p>
        </p:txBody>
      </p:sp>
      <p:graphicFrame>
        <p:nvGraphicFramePr>
          <p:cNvPr id="47" name="body-17-2-item-0"/>
          <p:cNvGraphicFramePr>
            <a:graphicFrameLocks noGrp="1"/>
          </p:cNvGraphicFramePr>
          <p:nvPr>
            <p:extLst>
              <p:ext uri="{D42A27DB-BD31-4B8C-83A1-F6EECF244321}">
                <p14:modId xmlns:p14="http://schemas.microsoft.com/office/powerpoint/2010/main" val="1579011935"/>
              </p:ext>
            </p:extLst>
          </p:nvPr>
        </p:nvGraphicFramePr>
        <p:xfrm>
          <a:off x="609600" y="1600200"/>
          <a:ext cx="10972800" cy="3520440"/>
        </p:xfrm>
        <a:graphic>
          <a:graphicData uri="http://schemas.openxmlformats.org/drawingml/2006/table">
            <a:tbl>
              <a:tblPr/>
              <a:tblGrid>
                <a:gridCol w="3657600"/>
                <a:gridCol w="3657600"/>
                <a:gridCol w="3657600"/>
              </a:tblGrid>
              <a:tr h="1173480">
                <a:tc>
                  <a:txBody>
                    <a:bodyPr/>
                    <a:lstStyle/>
                    <a:p>
                      <a:pPr algn="l" indent="0" marL="0">
                        <a:buNone/>
                      </a:pPr>
                      <a:r>
                        <a:rPr lang="en-US" sz="1560" b="1" dirty="0">
                          <a:solidFill>
                            <a:srgbClr val="FFFFFF"/>
                          </a:solidFill>
                          <a:latin typeface="Arial" pitchFamily="34" charset="0"/>
                          <a:ea typeface="Arial" pitchFamily="34" charset="-122"/>
                          <a:cs typeface="Arial" pitchFamily="34" charset="-120"/>
                        </a:rPr>
                        <a:t>Measure</a:t>
                      </a:r>
                      <a:endParaRPr lang="en-US" sz="1560" dirty="0">
                        <a:latin typeface="Arial" charset="0"/>
                        <a:ea typeface="Arial" charset="0"/>
                        <a:cs typeface="Arial" charset="0"/>
                      </a:endParaRPr>
                    </a:p>
                  </a:txBody>
                  <a:tcPr marL="106680" marR="106680" marT="60960" marB="60960" anchor="mid">
                    <a:lnL w="6350" cap="flat" cmpd="sng" algn="ctr">
                      <a:solidFill>
                        <a:srgbClr val="D7D7D7"/>
                      </a:solidFill>
                      <a:prstDash val="solid"/>
                      <a:round/>
                      <a:headEnd type="none" w="med" len="med"/>
                      <a:tailEnd type="none" w="med" len="med"/>
                    </a:lnL>
                    <a:lnR w="6350" cap="flat" cmpd="sng" algn="ctr">
                      <a:solidFill>
                        <a:srgbClr val="D7D7D7"/>
                      </a:solidFill>
                      <a:prstDash val="solid"/>
                      <a:round/>
                      <a:headEnd type="none" w="med" len="med"/>
                      <a:tailEnd type="none" w="med" len="med"/>
                    </a:lnR>
                    <a:lnT w="6350" cap="flat" cmpd="sng" algn="ctr">
                      <a:solidFill>
                        <a:srgbClr val="D7D7D7"/>
                      </a:solidFill>
                      <a:prstDash val="solid"/>
                      <a:round/>
                      <a:headEnd type="none" w="med" len="med"/>
                      <a:tailEnd type="none" w="med" len="med"/>
                    </a:lnT>
                    <a:lnB w="6350" cap="flat" cmpd="sng" algn="ctr">
                      <a:solidFill>
                        <a:srgbClr val="D7D7D7"/>
                      </a:solidFill>
                      <a:prstDash val="solid"/>
                      <a:round/>
                      <a:headEnd type="none" w="med" len="med"/>
                      <a:tailEnd type="none" w="med" len="med"/>
                    </a:lnB>
                    <a:solidFill>
                      <a:srgbClr val="DB0011"/>
                    </a:solidFill>
                  </a:tcPr>
                </a:tc>
                <a:tc>
                  <a:txBody>
                    <a:bodyPr/>
                    <a:lstStyle/>
                    <a:p>
                      <a:pPr algn="l" indent="0" marL="0">
                        <a:buNone/>
                      </a:pPr>
                      <a:r>
                        <a:rPr lang="en-US" sz="1560" b="1" dirty="0">
                          <a:solidFill>
                            <a:srgbClr val="FFFFFF"/>
                          </a:solidFill>
                          <a:latin typeface="Arial" pitchFamily="34" charset="0"/>
                          <a:ea typeface="Arial" pitchFamily="34" charset="-122"/>
                          <a:cs typeface="Arial" pitchFamily="34" charset="-120"/>
                        </a:rPr>
                        <a:t>What to record</a:t>
                      </a:r>
                      <a:endParaRPr lang="en-US" sz="1560" dirty="0">
                        <a:latin typeface="Arial" charset="0"/>
                        <a:ea typeface="Arial" charset="0"/>
                        <a:cs typeface="Arial" charset="0"/>
                      </a:endParaRPr>
                    </a:p>
                  </a:txBody>
                  <a:tcPr marL="106680" marR="106680" marT="60960" marB="60960" anchor="mid">
                    <a:lnL w="6350" cap="flat" cmpd="sng" algn="ctr">
                      <a:solidFill>
                        <a:srgbClr val="D7D7D7"/>
                      </a:solidFill>
                      <a:prstDash val="solid"/>
                      <a:round/>
                      <a:headEnd type="none" w="med" len="med"/>
                      <a:tailEnd type="none" w="med" len="med"/>
                    </a:lnL>
                    <a:lnR w="6350" cap="flat" cmpd="sng" algn="ctr">
                      <a:solidFill>
                        <a:srgbClr val="D7D7D7"/>
                      </a:solidFill>
                      <a:prstDash val="solid"/>
                      <a:round/>
                      <a:headEnd type="none" w="med" len="med"/>
                      <a:tailEnd type="none" w="med" len="med"/>
                    </a:lnR>
                    <a:lnT w="6350" cap="flat" cmpd="sng" algn="ctr">
                      <a:solidFill>
                        <a:srgbClr val="D7D7D7"/>
                      </a:solidFill>
                      <a:prstDash val="solid"/>
                      <a:round/>
                      <a:headEnd type="none" w="med" len="med"/>
                      <a:tailEnd type="none" w="med" len="med"/>
                    </a:lnT>
                    <a:lnB w="6350" cap="flat" cmpd="sng" algn="ctr">
                      <a:solidFill>
                        <a:srgbClr val="D7D7D7"/>
                      </a:solidFill>
                      <a:prstDash val="solid"/>
                      <a:round/>
                      <a:headEnd type="none" w="med" len="med"/>
                      <a:tailEnd type="none" w="med" len="med"/>
                    </a:lnB>
                    <a:solidFill>
                      <a:srgbClr val="DB0011"/>
                    </a:solidFill>
                  </a:tcPr>
                </a:tc>
                <a:tc>
                  <a:txBody>
                    <a:bodyPr/>
                    <a:lstStyle/>
                    <a:p>
                      <a:pPr algn="l" indent="0" marL="0">
                        <a:buNone/>
                      </a:pPr>
                      <a:r>
                        <a:rPr lang="en-US" sz="1560" b="1" dirty="0">
                          <a:solidFill>
                            <a:srgbClr val="FFFFFF"/>
                          </a:solidFill>
                          <a:latin typeface="Arial" pitchFamily="34" charset="0"/>
                          <a:ea typeface="Arial" pitchFamily="34" charset="-122"/>
                          <a:cs typeface="Arial" pitchFamily="34" charset="-120"/>
                        </a:rPr>
                        <a:t>Current status</a:t>
                      </a:r>
                      <a:endParaRPr lang="en-US" sz="1560" dirty="0">
                        <a:latin typeface="Arial" charset="0"/>
                        <a:ea typeface="Arial" charset="0"/>
                        <a:cs typeface="Arial" charset="0"/>
                      </a:endParaRPr>
                    </a:p>
                  </a:txBody>
                  <a:tcPr marL="106680" marR="106680" marT="60960" marB="60960" anchor="mid">
                    <a:lnL w="6350" cap="flat" cmpd="sng" algn="ctr">
                      <a:solidFill>
                        <a:srgbClr val="D7D7D7"/>
                      </a:solidFill>
                      <a:prstDash val="solid"/>
                      <a:round/>
                      <a:headEnd type="none" w="med" len="med"/>
                      <a:tailEnd type="none" w="med" len="med"/>
                    </a:lnL>
                    <a:lnR w="6350" cap="flat" cmpd="sng" algn="ctr">
                      <a:solidFill>
                        <a:srgbClr val="D7D7D7"/>
                      </a:solidFill>
                      <a:prstDash val="solid"/>
                      <a:round/>
                      <a:headEnd type="none" w="med" len="med"/>
                      <a:tailEnd type="none" w="med" len="med"/>
                    </a:lnR>
                    <a:lnT w="6350" cap="flat" cmpd="sng" algn="ctr">
                      <a:solidFill>
                        <a:srgbClr val="D7D7D7"/>
                      </a:solidFill>
                      <a:prstDash val="solid"/>
                      <a:round/>
                      <a:headEnd type="none" w="med" len="med"/>
                      <a:tailEnd type="none" w="med" len="med"/>
                    </a:lnT>
                    <a:lnB w="6350" cap="flat" cmpd="sng" algn="ctr">
                      <a:solidFill>
                        <a:srgbClr val="D7D7D7"/>
                      </a:solidFill>
                      <a:prstDash val="solid"/>
                      <a:round/>
                      <a:headEnd type="none" w="med" len="med"/>
                      <a:tailEnd type="none" w="med" len="med"/>
                    </a:lnB>
                    <a:solidFill>
                      <a:srgbClr val="DB0011"/>
                    </a:solidFill>
                  </a:tcPr>
                </a:tc>
              </a:tr>
              <a:tr h="1173480">
                <a:tc>
                  <a:txBody>
                    <a:bodyPr/>
                    <a:lstStyle/>
                    <a:p>
                      <a:pPr algn="l" indent="0" marL="0">
                        <a:buNone/>
                      </a:pPr>
                      <a:r>
                        <a:rPr lang="en-US" sz="1560" dirty="0">
                          <a:solidFill>
                            <a:srgbClr val="000000"/>
                          </a:solidFill>
                          <a:latin typeface="Arial" pitchFamily="34" charset="0"/>
                          <a:ea typeface="Arial" pitchFamily="34" charset="-122"/>
                          <a:cs typeface="Arial" pitchFamily="34" charset="-120"/>
                        </a:rPr>
                        <a:t>Quality</a:t>
                      </a:r>
                      <a:endParaRPr lang="en-US" sz="1560" dirty="0">
                        <a:latin typeface="Arial" charset="0"/>
                        <a:ea typeface="Arial" charset="0"/>
                        <a:cs typeface="Arial" charset="0"/>
                      </a:endParaRPr>
                    </a:p>
                  </a:txBody>
                  <a:tcPr marL="106680" marR="106680" marT="60960" marB="60960" anchor="mid">
                    <a:lnL w="6350" cap="flat" cmpd="sng" algn="ctr">
                      <a:solidFill>
                        <a:srgbClr val="D7D7D7"/>
                      </a:solidFill>
                      <a:prstDash val="solid"/>
                      <a:round/>
                      <a:headEnd type="none" w="med" len="med"/>
                      <a:tailEnd type="none" w="med" len="med"/>
                    </a:lnL>
                    <a:lnR w="6350" cap="flat" cmpd="sng" algn="ctr">
                      <a:solidFill>
                        <a:srgbClr val="D7D7D7"/>
                      </a:solidFill>
                      <a:prstDash val="solid"/>
                      <a:round/>
                      <a:headEnd type="none" w="med" len="med"/>
                      <a:tailEnd type="none" w="med" len="med"/>
                    </a:lnR>
                    <a:lnT w="6350" cap="flat" cmpd="sng" algn="ctr">
                      <a:solidFill>
                        <a:srgbClr val="D7D7D7"/>
                      </a:solidFill>
                      <a:prstDash val="solid"/>
                      <a:round/>
                      <a:headEnd type="none" w="med" len="med"/>
                      <a:tailEnd type="none" w="med" len="med"/>
                    </a:lnT>
                    <a:lnB w="6350" cap="flat" cmpd="sng" algn="ctr">
                      <a:solidFill>
                        <a:srgbClr val="D7D7D7"/>
                      </a:solidFill>
                      <a:prstDash val="solid"/>
                      <a:round/>
                      <a:headEnd type="none" w="med" len="med"/>
                      <a:tailEnd type="none" w="med" len="med"/>
                    </a:lnB>
                    <a:solidFill>
                      <a:srgbClr val="F4F4F4"/>
                    </a:solidFill>
                  </a:tcPr>
                </a:tc>
                <a:tc>
                  <a:txBody>
                    <a:bodyPr/>
                    <a:lstStyle/>
                    <a:p>
                      <a:pPr algn="l" indent="0" marL="0">
                        <a:buNone/>
                      </a:pPr>
                      <a:r>
                        <a:rPr lang="en-US" sz="1560" dirty="0">
                          <a:solidFill>
                            <a:srgbClr val="000000"/>
                          </a:solidFill>
                          <a:latin typeface="Arial" pitchFamily="34" charset="0"/>
                          <a:ea typeface="Arial" pitchFamily="34" charset="-122"/>
                          <a:cs typeface="Arial" pitchFamily="34" charset="-120"/>
                        </a:rPr>
                        <a:t>Field/fact coverage, critical errors and unsupported judgements; draft and final scored separately</a:t>
                      </a:r>
                      <a:endParaRPr lang="en-US" sz="1560" dirty="0">
                        <a:latin typeface="Arial" charset="0"/>
                        <a:ea typeface="Arial" charset="0"/>
                        <a:cs typeface="Arial" charset="0"/>
                      </a:endParaRPr>
                    </a:p>
                  </a:txBody>
                  <a:tcPr marL="106680" marR="106680" marT="60960" marB="60960" anchor="mid">
                    <a:lnL w="6350" cap="flat" cmpd="sng" algn="ctr">
                      <a:solidFill>
                        <a:srgbClr val="D7D7D7"/>
                      </a:solidFill>
                      <a:prstDash val="solid"/>
                      <a:round/>
                      <a:headEnd type="none" w="med" len="med"/>
                      <a:tailEnd type="none" w="med" len="med"/>
                    </a:lnL>
                    <a:lnR w="6350" cap="flat" cmpd="sng" algn="ctr">
                      <a:solidFill>
                        <a:srgbClr val="D7D7D7"/>
                      </a:solidFill>
                      <a:prstDash val="solid"/>
                      <a:round/>
                      <a:headEnd type="none" w="med" len="med"/>
                      <a:tailEnd type="none" w="med" len="med"/>
                    </a:lnR>
                    <a:lnT w="6350" cap="flat" cmpd="sng" algn="ctr">
                      <a:solidFill>
                        <a:srgbClr val="D7D7D7"/>
                      </a:solidFill>
                      <a:prstDash val="solid"/>
                      <a:round/>
                      <a:headEnd type="none" w="med" len="med"/>
                      <a:tailEnd type="none" w="med" len="med"/>
                    </a:lnT>
                    <a:lnB w="6350" cap="flat" cmpd="sng" algn="ctr">
                      <a:solidFill>
                        <a:srgbClr val="D7D7D7"/>
                      </a:solidFill>
                      <a:prstDash val="solid"/>
                      <a:round/>
                      <a:headEnd type="none" w="med" len="med"/>
                      <a:tailEnd type="none" w="med" len="med"/>
                    </a:lnB>
                    <a:solidFill>
                      <a:srgbClr val="F4F4F4"/>
                    </a:solidFill>
                  </a:tcPr>
                </a:tc>
                <a:tc>
                  <a:txBody>
                    <a:bodyPr/>
                    <a:lstStyle/>
                    <a:p>
                      <a:pPr algn="l" indent="0" marL="0">
                        <a:buNone/>
                      </a:pPr>
                      <a:r>
                        <a:rPr lang="en-US" sz="1560" dirty="0">
                          <a:solidFill>
                            <a:srgbClr val="000000"/>
                          </a:solidFill>
                          <a:latin typeface="Arial" pitchFamily="34" charset="0"/>
                          <a:ea typeface="Arial" pitchFamily="34" charset="-122"/>
                          <a:cs typeface="Arial" pitchFamily="34" charset="-120"/>
                        </a:rPr>
                        <a:t>No common scoring</a:t>
                      </a:r>
                      <a:endParaRPr lang="en-US" sz="1560" dirty="0">
                        <a:latin typeface="Arial" charset="0"/>
                        <a:ea typeface="Arial" charset="0"/>
                        <a:cs typeface="Arial" charset="0"/>
                      </a:endParaRPr>
                    </a:p>
                  </a:txBody>
                  <a:tcPr marL="106680" marR="106680" marT="60960" marB="60960" anchor="mid">
                    <a:lnL w="6350" cap="flat" cmpd="sng" algn="ctr">
                      <a:solidFill>
                        <a:srgbClr val="D7D7D7"/>
                      </a:solidFill>
                      <a:prstDash val="solid"/>
                      <a:round/>
                      <a:headEnd type="none" w="med" len="med"/>
                      <a:tailEnd type="none" w="med" len="med"/>
                    </a:lnL>
                    <a:lnR w="6350" cap="flat" cmpd="sng" algn="ctr">
                      <a:solidFill>
                        <a:srgbClr val="D7D7D7"/>
                      </a:solidFill>
                      <a:prstDash val="solid"/>
                      <a:round/>
                      <a:headEnd type="none" w="med" len="med"/>
                      <a:tailEnd type="none" w="med" len="med"/>
                    </a:lnR>
                    <a:lnT w="6350" cap="flat" cmpd="sng" algn="ctr">
                      <a:solidFill>
                        <a:srgbClr val="D7D7D7"/>
                      </a:solidFill>
                      <a:prstDash val="solid"/>
                      <a:round/>
                      <a:headEnd type="none" w="med" len="med"/>
                      <a:tailEnd type="none" w="med" len="med"/>
                    </a:lnT>
                    <a:lnB w="6350" cap="flat" cmpd="sng" algn="ctr">
                      <a:solidFill>
                        <a:srgbClr val="D7D7D7"/>
                      </a:solidFill>
                      <a:prstDash val="solid"/>
                      <a:round/>
                      <a:headEnd type="none" w="med" len="med"/>
                      <a:tailEnd type="none" w="med" len="med"/>
                    </a:lnB>
                    <a:solidFill>
                      <a:srgbClr val="F4F4F4"/>
                    </a:solidFill>
                  </a:tcPr>
                </a:tc>
              </a:tr>
              <a:tr h="1173480">
                <a:tc>
                  <a:txBody>
                    <a:bodyPr/>
                    <a:lstStyle/>
                    <a:p>
                      <a:pPr algn="l" indent="0" marL="0">
                        <a:buNone/>
                      </a:pPr>
                      <a:r>
                        <a:rPr lang="en-US" sz="1560" dirty="0">
                          <a:solidFill>
                            <a:srgbClr val="000000"/>
                          </a:solidFill>
                          <a:latin typeface="Arial" pitchFamily="34" charset="0"/>
                          <a:ea typeface="Arial" pitchFamily="34" charset="-122"/>
                          <a:cs typeface="Arial" pitchFamily="34" charset="-120"/>
                        </a:rPr>
                        <a:t>Rework</a:t>
                      </a:r>
                      <a:endParaRPr lang="en-US" sz="1560" dirty="0">
                        <a:latin typeface="Arial" charset="0"/>
                        <a:ea typeface="Arial" charset="0"/>
                        <a:cs typeface="Arial" charset="0"/>
                      </a:endParaRPr>
                    </a:p>
                  </a:txBody>
                  <a:tcPr marL="106680" marR="106680" marT="60960" marB="60960" anchor="mid">
                    <a:lnL w="6350" cap="flat" cmpd="sng" algn="ctr">
                      <a:solidFill>
                        <a:srgbClr val="D7D7D7"/>
                      </a:solidFill>
                      <a:prstDash val="solid"/>
                      <a:round/>
                      <a:headEnd type="none" w="med" len="med"/>
                      <a:tailEnd type="none" w="med" len="med"/>
                    </a:lnL>
                    <a:lnR w="6350" cap="flat" cmpd="sng" algn="ctr">
                      <a:solidFill>
                        <a:srgbClr val="D7D7D7"/>
                      </a:solidFill>
                      <a:prstDash val="solid"/>
                      <a:round/>
                      <a:headEnd type="none" w="med" len="med"/>
                      <a:tailEnd type="none" w="med" len="med"/>
                    </a:lnR>
                    <a:lnT w="6350" cap="flat" cmpd="sng" algn="ctr">
                      <a:solidFill>
                        <a:srgbClr val="D7D7D7"/>
                      </a:solidFill>
                      <a:prstDash val="solid"/>
                      <a:round/>
                      <a:headEnd type="none" w="med" len="med"/>
                      <a:tailEnd type="none" w="med" len="med"/>
                    </a:lnT>
                    <a:lnB w="6350" cap="flat" cmpd="sng" algn="ctr">
                      <a:solidFill>
                        <a:srgbClr val="D7D7D7"/>
                      </a:solidFill>
                      <a:prstDash val="solid"/>
                      <a:round/>
                      <a:headEnd type="none" w="med" len="med"/>
                      <a:tailEnd type="none" w="med" len="med"/>
                    </a:lnB>
                    <a:solidFill>
                      <a:srgbClr val="FFFFFF"/>
                    </a:solidFill>
                  </a:tcPr>
                </a:tc>
                <a:tc>
                  <a:txBody>
                    <a:bodyPr/>
                    <a:lstStyle/>
                    <a:p>
                      <a:pPr algn="l" indent="0" marL="0">
                        <a:buNone/>
                      </a:pPr>
                      <a:r>
                        <a:rPr lang="en-US" sz="1560" dirty="0">
                          <a:solidFill>
                            <a:srgbClr val="000000"/>
                          </a:solidFill>
                          <a:latin typeface="Arial" pitchFamily="34" charset="0"/>
                          <a:ea typeface="Arial" pitchFamily="34" charset="-122"/>
                          <a:cs typeface="Arial" pitchFamily="34" charset="-120"/>
                        </a:rPr>
                        <a:t>Revision rounds, failures, manual recovery and maintenance effort</a:t>
                      </a:r>
                      <a:endParaRPr lang="en-US" sz="1560" dirty="0">
                        <a:latin typeface="Arial" charset="0"/>
                        <a:ea typeface="Arial" charset="0"/>
                        <a:cs typeface="Arial" charset="0"/>
                      </a:endParaRPr>
                    </a:p>
                  </a:txBody>
                  <a:tcPr marL="106680" marR="106680" marT="60960" marB="60960" anchor="mid">
                    <a:lnL w="6350" cap="flat" cmpd="sng" algn="ctr">
                      <a:solidFill>
                        <a:srgbClr val="D7D7D7"/>
                      </a:solidFill>
                      <a:prstDash val="solid"/>
                      <a:round/>
                      <a:headEnd type="none" w="med" len="med"/>
                      <a:tailEnd type="none" w="med" len="med"/>
                    </a:lnL>
                    <a:lnR w="6350" cap="flat" cmpd="sng" algn="ctr">
                      <a:solidFill>
                        <a:srgbClr val="D7D7D7"/>
                      </a:solidFill>
                      <a:prstDash val="solid"/>
                      <a:round/>
                      <a:headEnd type="none" w="med" len="med"/>
                      <a:tailEnd type="none" w="med" len="med"/>
                    </a:lnR>
                    <a:lnT w="6350" cap="flat" cmpd="sng" algn="ctr">
                      <a:solidFill>
                        <a:srgbClr val="D7D7D7"/>
                      </a:solidFill>
                      <a:prstDash val="solid"/>
                      <a:round/>
                      <a:headEnd type="none" w="med" len="med"/>
                      <a:tailEnd type="none" w="med" len="med"/>
                    </a:lnT>
                    <a:lnB w="6350" cap="flat" cmpd="sng" algn="ctr">
                      <a:solidFill>
                        <a:srgbClr val="D7D7D7"/>
                      </a:solidFill>
                      <a:prstDash val="solid"/>
                      <a:round/>
                      <a:headEnd type="none" w="med" len="med"/>
                      <a:tailEnd type="none" w="med" len="med"/>
                    </a:lnB>
                    <a:solidFill>
                      <a:srgbClr val="FFFFFF"/>
                    </a:solidFill>
                  </a:tcPr>
                </a:tc>
                <a:tc>
                  <a:txBody>
                    <a:bodyPr/>
                    <a:lstStyle/>
                    <a:p>
                      <a:pPr algn="l" indent="0" marL="0">
                        <a:buNone/>
                      </a:pPr>
                      <a:r>
                        <a:rPr lang="en-US" sz="1560" dirty="0">
                          <a:solidFill>
                            <a:srgbClr val="000000"/>
                          </a:solidFill>
                          <a:latin typeface="Arial" pitchFamily="34" charset="0"/>
                          <a:ea typeface="Arial" pitchFamily="34" charset="-122"/>
                          <a:cs typeface="Arial" pitchFamily="34" charset="-120"/>
                        </a:rPr>
                        <a:t>Not systematically recorded</a:t>
                      </a:r>
                      <a:endParaRPr lang="en-US" sz="1560" dirty="0">
                        <a:latin typeface="Arial" charset="0"/>
                        <a:ea typeface="Arial" charset="0"/>
                        <a:cs typeface="Arial" charset="0"/>
                      </a:endParaRPr>
                    </a:p>
                  </a:txBody>
                  <a:tcPr marL="106680" marR="106680" marT="60960" marB="60960" anchor="mid">
                    <a:lnL w="6350" cap="flat" cmpd="sng" algn="ctr">
                      <a:solidFill>
                        <a:srgbClr val="D7D7D7"/>
                      </a:solidFill>
                      <a:prstDash val="solid"/>
                      <a:round/>
                      <a:headEnd type="none" w="med" len="med"/>
                      <a:tailEnd type="none" w="med" len="med"/>
                    </a:lnL>
                    <a:lnR w="6350" cap="flat" cmpd="sng" algn="ctr">
                      <a:solidFill>
                        <a:srgbClr val="D7D7D7"/>
                      </a:solidFill>
                      <a:prstDash val="solid"/>
                      <a:round/>
                      <a:headEnd type="none" w="med" len="med"/>
                      <a:tailEnd type="none" w="med" len="med"/>
                    </a:lnR>
                    <a:lnT w="6350" cap="flat" cmpd="sng" algn="ctr">
                      <a:solidFill>
                        <a:srgbClr val="D7D7D7"/>
                      </a:solidFill>
                      <a:prstDash val="solid"/>
                      <a:round/>
                      <a:headEnd type="none" w="med" len="med"/>
                      <a:tailEnd type="none" w="med" len="med"/>
                    </a:lnT>
                    <a:lnB w="6350" cap="flat" cmpd="sng" algn="ctr">
                      <a:solidFill>
                        <a:srgbClr val="D7D7D7"/>
                      </a:solidFill>
                      <a:prstDash val="solid"/>
                      <a:round/>
                      <a:headEnd type="none" w="med" len="med"/>
                      <a:tailEnd type="none" w="med" len="med"/>
                    </a:lnB>
                    <a:solidFill>
                      <a:srgbClr val="FFFFFF"/>
                    </a:solidFill>
                  </a:tcPr>
                </a:tc>
              </a:tr>
            </a:tbl>
          </a:graphicData>
        </a:graphic>
      </p:graphicFrame>
      <p:sp>
        <p:nvSpPr>
          <p:cNvPr id="5" name="Text 1"/>
          <p:cNvSpPr/>
          <p:nvPr>
            <p:ph idx="102" type="body" hasCustomPrompt="1"/>
          </p:nvPr>
        </p:nvSpPr>
        <p:spPr>
          <a:xfrm>
            <a:off x="762000" y="2057400"/>
            <a:ext cx="10668000" cy="3886200"/>
          </a:xfrm>
          <a:prstGeom prst="rect">
            <a:avLst/>
          </a:prstGeom>
          <a:noFill/>
          <a:ln/>
        </p:spPr>
        <p:txBody>
          <a:bodyPr wrap="square" lIns="0" tIns="0" rIns="0" bIns="0" rtlCol="0" anchor="t"/>
          <a:lstStyle/>
          <a:p>
            <a:pPr indent="0" marL="0">
              <a:buNone/>
            </a:pPr>
            <a:endParaRPr lang="en-US" sz="168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p:bgPr>
    </p:bg>
    <p:spTree>
      <p:nvGrpSpPr>
        <p:cNvPr id="1" name=""/>
        <p:cNvGrpSpPr/>
        <p:nvPr/>
      </p:nvGrpSpPr>
      <p:grpSpPr>
        <a:xfrm>
          <a:off x="0" y="0"/>
          <a:ext cx="0" cy="0"/>
          <a:chOff x="0" y="0"/>
          <a:chExt cx="0" cy="0"/>
        </a:xfrm>
      </p:grpSpPr>
      <p:sp>
        <p:nvSpPr>
          <p:cNvPr id="2" name="Text 1"/>
          <p:cNvSpPr/>
          <p:nvPr>
            <p:ph idx="101" type="title" hasCustomPrompt="1"/>
          </p:nvPr>
        </p:nvSpPr>
        <p:spPr>
          <a:xfrm>
            <a:off x="381000" y="891540"/>
            <a:ext cx="11430000" cy="487680"/>
          </a:xfrm>
          <a:prstGeom prst="rect">
            <a:avLst/>
          </a:prstGeom>
          <a:noFill/>
          <a:ln/>
        </p:spPr>
        <p:txBody>
          <a:bodyPr wrap="square" lIns="0" tIns="0" rIns="0" bIns="0" rtlCol="0" anchor="t"/>
          <a:lstStyle/>
          <a:p>
            <a:pPr algn="l" indent="0" marL="0">
              <a:buNone/>
            </a:pPr>
            <a:r>
              <a:rPr lang="en-GB" altLang="en-US" sz="2400" b="1" spc="-84" kern="0" dirty="0">
                <a:solidFill>
                  <a:srgbClr val="000000"/>
                </a:solidFill>
                <a:latin typeface="Arial" pitchFamily="34" charset="0"/>
                <a:ea typeface="Arial" pitchFamily="34" charset="-122"/>
                <a:cs typeface="Arial" pitchFamily="34" charset="-120"/>
              </a:rPr>
              <a:t>Appendix C. Evaluation records (continued)</a:t>
            </a:r>
            <a:endParaRPr lang="en-GB" sz="2400" dirty="0"/>
          </a:p>
        </p:txBody>
      </p:sp>
      <p:graphicFrame>
        <p:nvGraphicFramePr>
          <p:cNvPr id="48" name="body-17-3-item-0"/>
          <p:cNvGraphicFramePr>
            <a:graphicFrameLocks noGrp="1"/>
          </p:cNvGraphicFramePr>
          <p:nvPr>
            <p:extLst>
              <p:ext uri="{D42A27DB-BD31-4B8C-83A1-F6EECF244321}">
                <p14:modId xmlns:p14="http://schemas.microsoft.com/office/powerpoint/2010/main" val="1579011935"/>
              </p:ext>
            </p:extLst>
          </p:nvPr>
        </p:nvGraphicFramePr>
        <p:xfrm>
          <a:off x="609600" y="1600200"/>
          <a:ext cx="10972800" cy="1859280"/>
        </p:xfrm>
        <a:graphic>
          <a:graphicData uri="http://schemas.openxmlformats.org/drawingml/2006/table">
            <a:tbl>
              <a:tblPr/>
              <a:tblGrid>
                <a:gridCol w="3657600"/>
                <a:gridCol w="3657600"/>
                <a:gridCol w="3657600"/>
              </a:tblGrid>
              <a:tr h="929640">
                <a:tc>
                  <a:txBody>
                    <a:bodyPr/>
                    <a:lstStyle/>
                    <a:p>
                      <a:pPr algn="l" indent="0" marL="0">
                        <a:buNone/>
                      </a:pPr>
                      <a:r>
                        <a:rPr lang="en-US" sz="1560" b="1" dirty="0">
                          <a:solidFill>
                            <a:srgbClr val="FFFFFF"/>
                          </a:solidFill>
                          <a:latin typeface="Arial" pitchFamily="34" charset="0"/>
                          <a:ea typeface="Arial" pitchFamily="34" charset="-122"/>
                          <a:cs typeface="Arial" pitchFamily="34" charset="-120"/>
                        </a:rPr>
                        <a:t>Measure</a:t>
                      </a:r>
                      <a:endParaRPr lang="en-US" sz="1560" dirty="0">
                        <a:latin typeface="Arial" charset="0"/>
                        <a:ea typeface="Arial" charset="0"/>
                        <a:cs typeface="Arial" charset="0"/>
                      </a:endParaRPr>
                    </a:p>
                  </a:txBody>
                  <a:tcPr marL="106680" marR="106680" marT="60960" marB="60960" anchor="mid">
                    <a:lnL w="6350" cap="flat" cmpd="sng" algn="ctr">
                      <a:solidFill>
                        <a:srgbClr val="D7D7D7"/>
                      </a:solidFill>
                      <a:prstDash val="solid"/>
                      <a:round/>
                      <a:headEnd type="none" w="med" len="med"/>
                      <a:tailEnd type="none" w="med" len="med"/>
                    </a:lnL>
                    <a:lnR w="6350" cap="flat" cmpd="sng" algn="ctr">
                      <a:solidFill>
                        <a:srgbClr val="D7D7D7"/>
                      </a:solidFill>
                      <a:prstDash val="solid"/>
                      <a:round/>
                      <a:headEnd type="none" w="med" len="med"/>
                      <a:tailEnd type="none" w="med" len="med"/>
                    </a:lnR>
                    <a:lnT w="6350" cap="flat" cmpd="sng" algn="ctr">
                      <a:solidFill>
                        <a:srgbClr val="D7D7D7"/>
                      </a:solidFill>
                      <a:prstDash val="solid"/>
                      <a:round/>
                      <a:headEnd type="none" w="med" len="med"/>
                      <a:tailEnd type="none" w="med" len="med"/>
                    </a:lnT>
                    <a:lnB w="6350" cap="flat" cmpd="sng" algn="ctr">
                      <a:solidFill>
                        <a:srgbClr val="D7D7D7"/>
                      </a:solidFill>
                      <a:prstDash val="solid"/>
                      <a:round/>
                      <a:headEnd type="none" w="med" len="med"/>
                      <a:tailEnd type="none" w="med" len="med"/>
                    </a:lnB>
                    <a:solidFill>
                      <a:srgbClr val="DB0011"/>
                    </a:solidFill>
                  </a:tcPr>
                </a:tc>
                <a:tc>
                  <a:txBody>
                    <a:bodyPr/>
                    <a:lstStyle/>
                    <a:p>
                      <a:pPr algn="l" indent="0" marL="0">
                        <a:buNone/>
                      </a:pPr>
                      <a:r>
                        <a:rPr lang="en-US" sz="1560" b="1" dirty="0">
                          <a:solidFill>
                            <a:srgbClr val="FFFFFF"/>
                          </a:solidFill>
                          <a:latin typeface="Arial" pitchFamily="34" charset="0"/>
                          <a:ea typeface="Arial" pitchFamily="34" charset="-122"/>
                          <a:cs typeface="Arial" pitchFamily="34" charset="-120"/>
                        </a:rPr>
                        <a:t>What to record</a:t>
                      </a:r>
                      <a:endParaRPr lang="en-US" sz="1560" dirty="0">
                        <a:latin typeface="Arial" charset="0"/>
                        <a:ea typeface="Arial" charset="0"/>
                        <a:cs typeface="Arial" charset="0"/>
                      </a:endParaRPr>
                    </a:p>
                  </a:txBody>
                  <a:tcPr marL="106680" marR="106680" marT="60960" marB="60960" anchor="mid">
                    <a:lnL w="6350" cap="flat" cmpd="sng" algn="ctr">
                      <a:solidFill>
                        <a:srgbClr val="D7D7D7"/>
                      </a:solidFill>
                      <a:prstDash val="solid"/>
                      <a:round/>
                      <a:headEnd type="none" w="med" len="med"/>
                      <a:tailEnd type="none" w="med" len="med"/>
                    </a:lnL>
                    <a:lnR w="6350" cap="flat" cmpd="sng" algn="ctr">
                      <a:solidFill>
                        <a:srgbClr val="D7D7D7"/>
                      </a:solidFill>
                      <a:prstDash val="solid"/>
                      <a:round/>
                      <a:headEnd type="none" w="med" len="med"/>
                      <a:tailEnd type="none" w="med" len="med"/>
                    </a:lnR>
                    <a:lnT w="6350" cap="flat" cmpd="sng" algn="ctr">
                      <a:solidFill>
                        <a:srgbClr val="D7D7D7"/>
                      </a:solidFill>
                      <a:prstDash val="solid"/>
                      <a:round/>
                      <a:headEnd type="none" w="med" len="med"/>
                      <a:tailEnd type="none" w="med" len="med"/>
                    </a:lnT>
                    <a:lnB w="6350" cap="flat" cmpd="sng" algn="ctr">
                      <a:solidFill>
                        <a:srgbClr val="D7D7D7"/>
                      </a:solidFill>
                      <a:prstDash val="solid"/>
                      <a:round/>
                      <a:headEnd type="none" w="med" len="med"/>
                      <a:tailEnd type="none" w="med" len="med"/>
                    </a:lnB>
                    <a:solidFill>
                      <a:srgbClr val="DB0011"/>
                    </a:solidFill>
                  </a:tcPr>
                </a:tc>
                <a:tc>
                  <a:txBody>
                    <a:bodyPr/>
                    <a:lstStyle/>
                    <a:p>
                      <a:pPr algn="l" indent="0" marL="0">
                        <a:buNone/>
                      </a:pPr>
                      <a:r>
                        <a:rPr lang="en-US" sz="1560" b="1" dirty="0">
                          <a:solidFill>
                            <a:srgbClr val="FFFFFF"/>
                          </a:solidFill>
                          <a:latin typeface="Arial" pitchFamily="34" charset="0"/>
                          <a:ea typeface="Arial" pitchFamily="34" charset="-122"/>
                          <a:cs typeface="Arial" pitchFamily="34" charset="-120"/>
                        </a:rPr>
                        <a:t>Current status</a:t>
                      </a:r>
                      <a:endParaRPr lang="en-US" sz="1560" dirty="0">
                        <a:latin typeface="Arial" charset="0"/>
                        <a:ea typeface="Arial" charset="0"/>
                        <a:cs typeface="Arial" charset="0"/>
                      </a:endParaRPr>
                    </a:p>
                  </a:txBody>
                  <a:tcPr marL="106680" marR="106680" marT="60960" marB="60960" anchor="mid">
                    <a:lnL w="6350" cap="flat" cmpd="sng" algn="ctr">
                      <a:solidFill>
                        <a:srgbClr val="D7D7D7"/>
                      </a:solidFill>
                      <a:prstDash val="solid"/>
                      <a:round/>
                      <a:headEnd type="none" w="med" len="med"/>
                      <a:tailEnd type="none" w="med" len="med"/>
                    </a:lnL>
                    <a:lnR w="6350" cap="flat" cmpd="sng" algn="ctr">
                      <a:solidFill>
                        <a:srgbClr val="D7D7D7"/>
                      </a:solidFill>
                      <a:prstDash val="solid"/>
                      <a:round/>
                      <a:headEnd type="none" w="med" len="med"/>
                      <a:tailEnd type="none" w="med" len="med"/>
                    </a:lnR>
                    <a:lnT w="6350" cap="flat" cmpd="sng" algn="ctr">
                      <a:solidFill>
                        <a:srgbClr val="D7D7D7"/>
                      </a:solidFill>
                      <a:prstDash val="solid"/>
                      <a:round/>
                      <a:headEnd type="none" w="med" len="med"/>
                      <a:tailEnd type="none" w="med" len="med"/>
                    </a:lnT>
                    <a:lnB w="6350" cap="flat" cmpd="sng" algn="ctr">
                      <a:solidFill>
                        <a:srgbClr val="D7D7D7"/>
                      </a:solidFill>
                      <a:prstDash val="solid"/>
                      <a:round/>
                      <a:headEnd type="none" w="med" len="med"/>
                      <a:tailEnd type="none" w="med" len="med"/>
                    </a:lnB>
                    <a:solidFill>
                      <a:srgbClr val="DB0011"/>
                    </a:solidFill>
                  </a:tcPr>
                </a:tc>
              </a:tr>
              <a:tr h="929640">
                <a:tc>
                  <a:txBody>
                    <a:bodyPr/>
                    <a:lstStyle/>
                    <a:p>
                      <a:pPr algn="l" indent="0" marL="0">
                        <a:buNone/>
                      </a:pPr>
                      <a:r>
                        <a:rPr lang="en-US" sz="1560" dirty="0">
                          <a:solidFill>
                            <a:srgbClr val="000000"/>
                          </a:solidFill>
                          <a:latin typeface="Arial" pitchFamily="34" charset="0"/>
                          <a:ea typeface="Arial" pitchFamily="34" charset="-122"/>
                          <a:cs typeface="Arial" pitchFamily="34" charset="-120"/>
                        </a:rPr>
                        <a:t>Handoff</a:t>
                      </a:r>
                      <a:endParaRPr lang="en-US" sz="1560" dirty="0">
                        <a:latin typeface="Arial" charset="0"/>
                        <a:ea typeface="Arial" charset="0"/>
                        <a:cs typeface="Arial" charset="0"/>
                      </a:endParaRPr>
                    </a:p>
                  </a:txBody>
                  <a:tcPr marL="106680" marR="106680" marT="60960" marB="60960" anchor="mid">
                    <a:lnL w="6350" cap="flat" cmpd="sng" algn="ctr">
                      <a:solidFill>
                        <a:srgbClr val="D7D7D7"/>
                      </a:solidFill>
                      <a:prstDash val="solid"/>
                      <a:round/>
                      <a:headEnd type="none" w="med" len="med"/>
                      <a:tailEnd type="none" w="med" len="med"/>
                    </a:lnL>
                    <a:lnR w="6350" cap="flat" cmpd="sng" algn="ctr">
                      <a:solidFill>
                        <a:srgbClr val="D7D7D7"/>
                      </a:solidFill>
                      <a:prstDash val="solid"/>
                      <a:round/>
                      <a:headEnd type="none" w="med" len="med"/>
                      <a:tailEnd type="none" w="med" len="med"/>
                    </a:lnR>
                    <a:lnT w="6350" cap="flat" cmpd="sng" algn="ctr">
                      <a:solidFill>
                        <a:srgbClr val="D7D7D7"/>
                      </a:solidFill>
                      <a:prstDash val="solid"/>
                      <a:round/>
                      <a:headEnd type="none" w="med" len="med"/>
                      <a:tailEnd type="none" w="med" len="med"/>
                    </a:lnT>
                    <a:lnB w="6350" cap="flat" cmpd="sng" algn="ctr">
                      <a:solidFill>
                        <a:srgbClr val="D7D7D7"/>
                      </a:solidFill>
                      <a:prstDash val="solid"/>
                      <a:round/>
                      <a:headEnd type="none" w="med" len="med"/>
                      <a:tailEnd type="none" w="med" len="med"/>
                    </a:lnB>
                    <a:solidFill>
                      <a:srgbClr val="F4F4F4"/>
                    </a:solidFill>
                  </a:tcPr>
                </a:tc>
                <a:tc>
                  <a:txBody>
                    <a:bodyPr/>
                    <a:lstStyle/>
                    <a:p>
                      <a:pPr algn="l" indent="0" marL="0">
                        <a:buNone/>
                      </a:pPr>
                      <a:r>
                        <a:rPr lang="en-US" sz="1560" dirty="0">
                          <a:solidFill>
                            <a:srgbClr val="000000"/>
                          </a:solidFill>
                          <a:latin typeface="Arial" pitchFamily="34" charset="0"/>
                          <a:ea typeface="Arial" pitchFamily="34" charset="-122"/>
                          <a:cs typeface="Arial" pitchFamily="34" charset="-120"/>
                        </a:rPr>
                        <a:t>Item ID, owner, deadline, consistent status and receipt confirmation</a:t>
                      </a:r>
                      <a:endParaRPr lang="en-US" sz="1560" dirty="0">
                        <a:latin typeface="Arial" charset="0"/>
                        <a:ea typeface="Arial" charset="0"/>
                        <a:cs typeface="Arial" charset="0"/>
                      </a:endParaRPr>
                    </a:p>
                  </a:txBody>
                  <a:tcPr marL="106680" marR="106680" marT="60960" marB="60960" anchor="mid">
                    <a:lnL w="6350" cap="flat" cmpd="sng" algn="ctr">
                      <a:solidFill>
                        <a:srgbClr val="D7D7D7"/>
                      </a:solidFill>
                      <a:prstDash val="solid"/>
                      <a:round/>
                      <a:headEnd type="none" w="med" len="med"/>
                      <a:tailEnd type="none" w="med" len="med"/>
                    </a:lnL>
                    <a:lnR w="6350" cap="flat" cmpd="sng" algn="ctr">
                      <a:solidFill>
                        <a:srgbClr val="D7D7D7"/>
                      </a:solidFill>
                      <a:prstDash val="solid"/>
                      <a:round/>
                      <a:headEnd type="none" w="med" len="med"/>
                      <a:tailEnd type="none" w="med" len="med"/>
                    </a:lnR>
                    <a:lnT w="6350" cap="flat" cmpd="sng" algn="ctr">
                      <a:solidFill>
                        <a:srgbClr val="D7D7D7"/>
                      </a:solidFill>
                      <a:prstDash val="solid"/>
                      <a:round/>
                      <a:headEnd type="none" w="med" len="med"/>
                      <a:tailEnd type="none" w="med" len="med"/>
                    </a:lnT>
                    <a:lnB w="6350" cap="flat" cmpd="sng" algn="ctr">
                      <a:solidFill>
                        <a:srgbClr val="D7D7D7"/>
                      </a:solidFill>
                      <a:prstDash val="solid"/>
                      <a:round/>
                      <a:headEnd type="none" w="med" len="med"/>
                      <a:tailEnd type="none" w="med" len="med"/>
                    </a:lnB>
                    <a:solidFill>
                      <a:srgbClr val="F4F4F4"/>
                    </a:solidFill>
                  </a:tcPr>
                </a:tc>
                <a:tc>
                  <a:txBody>
                    <a:bodyPr/>
                    <a:lstStyle/>
                    <a:p>
                      <a:pPr algn="l" indent="0" marL="0">
                        <a:buNone/>
                      </a:pPr>
                      <a:r>
                        <a:rPr lang="en-US" sz="1560" dirty="0">
                          <a:solidFill>
                            <a:srgbClr val="000000"/>
                          </a:solidFill>
                          <a:latin typeface="Arial" pitchFamily="34" charset="0"/>
                          <a:ea typeface="Arial" pitchFamily="34" charset="-122"/>
                          <a:cs typeface="Arial" pitchFamily="34" charset="-120"/>
                        </a:rPr>
                        <a:t>One person; multi-person use not tested</a:t>
                      </a:r>
                      <a:endParaRPr lang="en-US" sz="1560" dirty="0">
                        <a:latin typeface="Arial" charset="0"/>
                        <a:ea typeface="Arial" charset="0"/>
                        <a:cs typeface="Arial" charset="0"/>
                      </a:endParaRPr>
                    </a:p>
                  </a:txBody>
                  <a:tcPr marL="106680" marR="106680" marT="60960" marB="60960" anchor="mid">
                    <a:lnL w="6350" cap="flat" cmpd="sng" algn="ctr">
                      <a:solidFill>
                        <a:srgbClr val="D7D7D7"/>
                      </a:solidFill>
                      <a:prstDash val="solid"/>
                      <a:round/>
                      <a:headEnd type="none" w="med" len="med"/>
                      <a:tailEnd type="none" w="med" len="med"/>
                    </a:lnL>
                    <a:lnR w="6350" cap="flat" cmpd="sng" algn="ctr">
                      <a:solidFill>
                        <a:srgbClr val="D7D7D7"/>
                      </a:solidFill>
                      <a:prstDash val="solid"/>
                      <a:round/>
                      <a:headEnd type="none" w="med" len="med"/>
                      <a:tailEnd type="none" w="med" len="med"/>
                    </a:lnR>
                    <a:lnT w="6350" cap="flat" cmpd="sng" algn="ctr">
                      <a:solidFill>
                        <a:srgbClr val="D7D7D7"/>
                      </a:solidFill>
                      <a:prstDash val="solid"/>
                      <a:round/>
                      <a:headEnd type="none" w="med" len="med"/>
                      <a:tailEnd type="none" w="med" len="med"/>
                    </a:lnT>
                    <a:lnB w="6350" cap="flat" cmpd="sng" algn="ctr">
                      <a:solidFill>
                        <a:srgbClr val="D7D7D7"/>
                      </a:solidFill>
                      <a:prstDash val="solid"/>
                      <a:round/>
                      <a:headEnd type="none" w="med" len="med"/>
                      <a:tailEnd type="none" w="med" len="med"/>
                    </a:lnB>
                    <a:solidFill>
                      <a:srgbClr val="F4F4F4"/>
                    </a:solidFill>
                  </a:tcPr>
                </a:tc>
              </a:tr>
            </a:tbl>
          </a:graphicData>
        </a:graphic>
      </p:graphicFrame>
      <p:sp>
        <p:nvSpPr>
          <p:cNvPr id="5" name="Text 1"/>
          <p:cNvSpPr/>
          <p:nvPr>
            <p:ph idx="102" type="body" hasCustomPrompt="1"/>
          </p:nvPr>
        </p:nvSpPr>
        <p:spPr>
          <a:xfrm>
            <a:off x="762000" y="2057400"/>
            <a:ext cx="10668000" cy="3886200"/>
          </a:xfrm>
          <a:prstGeom prst="rect">
            <a:avLst/>
          </a:prstGeom>
          <a:noFill/>
          <a:ln/>
        </p:spPr>
        <p:txBody>
          <a:bodyPr wrap="square" lIns="0" tIns="0" rIns="0" bIns="0" rtlCol="0" anchor="t"/>
          <a:lstStyle/>
          <a:p>
            <a:pPr indent="0" marL="0">
              <a:buNone/>
            </a:pPr>
            <a:endParaRPr lang="en-US" sz="168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p:bgPr>
    </p:bg>
    <p:spTree>
      <p:nvGrpSpPr>
        <p:cNvPr id="1" name=""/>
        <p:cNvGrpSpPr/>
        <p:nvPr/>
      </p:nvGrpSpPr>
      <p:grpSpPr>
        <a:xfrm>
          <a:off x="0" y="0"/>
          <a:ext cx="0" cy="0"/>
          <a:chOff x="0" y="0"/>
          <a:chExt cx="0" cy="0"/>
        </a:xfrm>
      </p:grpSpPr>
      <p:sp>
        <p:nvSpPr>
          <p:cNvPr id="2" name="Text 1"/>
          <p:cNvSpPr/>
          <p:nvPr>
            <p:ph idx="101" type="title" hasCustomPrompt="1"/>
          </p:nvPr>
        </p:nvSpPr>
        <p:spPr>
          <a:xfrm>
            <a:off x="381000" y="891540"/>
            <a:ext cx="11430000" cy="487680"/>
          </a:xfrm>
          <a:prstGeom prst="rect">
            <a:avLst/>
          </a:prstGeom>
          <a:noFill/>
          <a:ln/>
        </p:spPr>
        <p:txBody>
          <a:bodyPr wrap="square" lIns="0" tIns="0" rIns="0" bIns="0" rtlCol="0" anchor="t"/>
          <a:lstStyle/>
          <a:p>
            <a:pPr algn="l" indent="0" marL="0">
              <a:buNone/>
            </a:pPr>
            <a:r>
              <a:rPr lang="en-GB" altLang="en-US" sz="2400" b="1" spc="-84" kern="0" dirty="0">
                <a:solidFill>
                  <a:srgbClr val="000000"/>
                </a:solidFill>
                <a:latin typeface="Arial" pitchFamily="34" charset="0"/>
                <a:ea typeface="Arial" pitchFamily="34" charset="-122"/>
                <a:cs typeface="Arial" pitchFamily="34" charset="-120"/>
              </a:rPr>
              <a:t>Appendix C. Evaluation records (continued)</a:t>
            </a:r>
            <a:endParaRPr lang="en-GB" sz="2400" dirty="0"/>
          </a:p>
        </p:txBody>
      </p:sp>
      <p:sp>
        <p:nvSpPr>
          <p:cNvPr id="3" name="body-17-4-item-0"/>
          <p:cNvSpPr/>
          <p:nvPr/>
        </p:nvSpPr>
        <p:spPr>
          <a:xfrm>
            <a:off x="609600" y="1600200"/>
            <a:ext cx="10972800" cy="1379220"/>
          </a:xfrm>
          <a:prstGeom prst="rect">
            <a:avLst/>
          </a:prstGeom>
          <a:noFill/>
          <a:ln/>
        </p:spPr>
        <p:txBody>
          <a:bodyPr wrap="square" lIns="0" tIns="0" rIns="0" bIns="0" rtlCol="0" anchor="t"/>
          <a:lstStyle/>
          <a:p>
            <a:pPr algn="l" indent="0" marL="0">
              <a:lnSpc>
                <a:spcPct val="128000"/>
              </a:lnSpc>
              <a:buNone/>
            </a:pPr>
            <a:r>
              <a:rPr lang="en-GB" altLang="en-US" sz="1920" dirty="0">
                <a:solidFill>
                  <a:srgbClr val="222222"/>
                </a:solidFill>
                <a:latin typeface="Arial" pitchFamily="34" charset="0"/>
                <a:ea typeface="Arial" pitchFamily="34" charset="-122"/>
                <a:cs typeface="Arial" pitchFamily="34" charset="-120"/>
              </a:rPr>
              <a:t>Create separate cases for date boundaries, empty data, read failures, wrong groups, duplicate submissions and changes after confirmation. Report paired task differences, overall median and range, with failure cases. The proposed sample size and timebox are not measured results.</a:t>
            </a:r>
            <a:endParaRPr lang="en-GB" sz="1920" dirty="0"/>
          </a:p>
        </p:txBody>
      </p:sp>
      <p:sp>
        <p:nvSpPr>
          <p:cNvPr id="5" name="Text 1"/>
          <p:cNvSpPr/>
          <p:nvPr>
            <p:ph idx="102" type="body" hasCustomPrompt="1"/>
          </p:nvPr>
        </p:nvSpPr>
        <p:spPr>
          <a:xfrm>
            <a:off x="762000" y="2057400"/>
            <a:ext cx="10668000" cy="3886200"/>
          </a:xfrm>
          <a:prstGeom prst="rect">
            <a:avLst/>
          </a:prstGeom>
          <a:noFill/>
          <a:ln/>
        </p:spPr>
        <p:txBody>
          <a:bodyPr wrap="square" lIns="0" tIns="0" rIns="0" bIns="0" rtlCol="0" anchor="t"/>
          <a:lstStyle/>
          <a:p>
            <a:pPr indent="0" marL="0">
              <a:buNone/>
            </a:pPr>
            <a:endParaRPr lang="en-US" sz="168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p:bgPr>
    </p:bg>
    <p:spTree>
      <p:nvGrpSpPr>
        <p:cNvPr id="1" name=""/>
        <p:cNvGrpSpPr/>
        <p:nvPr/>
      </p:nvGrpSpPr>
      <p:grpSpPr>
        <a:xfrm>
          <a:off x="0" y="0"/>
          <a:ext cx="0" cy="0"/>
          <a:chOff x="0" y="0"/>
          <a:chExt cx="0" cy="0"/>
        </a:xfrm>
      </p:grpSpPr>
      <p:sp>
        <p:nvSpPr>
          <p:cNvPr id="2" name="Text 1"/>
          <p:cNvSpPr/>
          <p:nvPr>
            <p:ph idx="101" type="title" hasCustomPrompt="1"/>
          </p:nvPr>
        </p:nvSpPr>
        <p:spPr>
          <a:xfrm>
            <a:off x="381000" y="891540"/>
            <a:ext cx="11430000" cy="487680"/>
          </a:xfrm>
          <a:prstGeom prst="rect">
            <a:avLst/>
          </a:prstGeom>
          <a:noFill/>
          <a:ln/>
        </p:spPr>
        <p:txBody>
          <a:bodyPr wrap="square" lIns="0" tIns="0" rIns="0" bIns="0" rtlCol="0" anchor="t"/>
          <a:lstStyle/>
          <a:p>
            <a:pPr algn="l" indent="0" marL="0">
              <a:buNone/>
            </a:pPr>
            <a:r>
              <a:rPr lang="en-GB" altLang="en-US" sz="2400" b="1" spc="-84" kern="0" dirty="0">
                <a:solidFill>
                  <a:srgbClr val="000000"/>
                </a:solidFill>
                <a:latin typeface="Arial" pitchFamily="34" charset="0"/>
                <a:ea typeface="Arial" pitchFamily="34" charset="-122"/>
                <a:cs typeface="Arial" pitchFamily="34" charset="-120"/>
              </a:rPr>
              <a:t>Appendix D. Sources and traceability</a:t>
            </a:r>
            <a:endParaRPr lang="en-GB" sz="2400" dirty="0"/>
          </a:p>
        </p:txBody>
      </p:sp>
      <p:sp>
        <p:nvSpPr>
          <p:cNvPr id="3" name="sources-1-item-0"/>
          <p:cNvSpPr/>
          <p:nvPr/>
        </p:nvSpPr>
        <p:spPr>
          <a:xfrm>
            <a:off x="609600" y="1600200"/>
            <a:ext cx="10972800" cy="2667000"/>
          </a:xfrm>
          <a:prstGeom prst="rect">
            <a:avLst/>
          </a:prstGeom>
          <a:noFill/>
          <a:ln/>
        </p:spPr>
        <p:txBody>
          <a:bodyPr wrap="square" lIns="0" tIns="0" rIns="0" bIns="0" rtlCol="0" anchor="t"/>
          <a:lstStyle/>
          <a:p>
            <a:pPr algn="l" indent="0" marL="0">
              <a:lnSpc>
                <a:spcPct val="128000"/>
              </a:lnSpc>
              <a:buNone/>
            </a:pPr>
            <a:r>
              <a:rPr lang="en-GB" altLang="en-US" sz="1920" dirty="0">
                <a:solidFill>
                  <a:srgbClr val="222222"/>
                </a:solidFill>
                <a:latin typeface="Arial" pitchFamily="34" charset="0"/>
                <a:ea typeface="Arial" pitchFamily="34" charset="-122"/>
                <a:cs typeface="Arial" pitchFamily="34" charset="-120"/>
              </a:rPr>
              <a:t>M1–M3: Qwen-generated report draft, practice-material and fact list, and key findings and management implications dated 2026-10-14. M4: 'Shanqin Three-End Collaboration Demo Retrospective', 2026-10-10. M5: 'Supplementary Agreement' in the demo working directory. M7: screenshot of a handbook card in the group. K1–K7: seven Shanqin skill packages.</a:t>
            </a:r>
            <a:pPr algn="l" indent="0" marL="0">
              <a:lnSpc>
                <a:spcPct val="128000"/>
              </a:lnSpc>
              <a:buNone/>
            </a:pPr>
            <a:r>
              <a:rPr lang="en-GB" altLang="en-US" sz="1920" u="sng" dirty="0">
                <a:solidFill>
                  <a:srgbClr val="B80010"/>
                </a:solidFill>
                <a:latin typeface="Arial" pitchFamily="34" charset="0"/>
                <a:ea typeface="Arial" pitchFamily="34" charset="-122"/>
                <a:cs typeface="Arial" pitchFamily="34" charset="-120"/>
                <a:hlinkClick r:id="rId1" action="ppaction://hlinksldjump" tooltip="">
                  <a:extLst>
                    <a:ext uri="{A12FA001-AC4F-418D-AE19-62706E023703}">
                      <ahyp:hlinkClr xmlns:ahyp="http://schemas.microsoft.com/office/drawing/2018/hyperlinkcolor" val="tx"/>
                    </a:ext>
                  </a:extLst>
                </a:hlinkClick>
              </a:rPr>
              <a:t>U1</a:t>
            </a:r>
            <a:pPr algn="l" indent="0" marL="0">
              <a:lnSpc>
                <a:spcPct val="128000"/>
              </a:lnSpc>
              <a:buNone/>
            </a:pPr>
            <a:r>
              <a:rPr lang="en-GB" altLang="en-US" sz="1920" dirty="0">
                <a:solidFill>
                  <a:srgbClr val="222222"/>
                </a:solidFill>
                <a:latin typeface="Arial" pitchFamily="34" charset="0"/>
                <a:ea typeface="Arial" pitchFamily="34" charset="-122"/>
                <a:cs typeface="Arial" pitchFamily="34" charset="-120"/>
              </a:rPr>
              <a:t>: my requirements for this report; </a:t>
            </a:r>
            <a:pPr algn="l" indent="0" marL="0">
              <a:lnSpc>
                <a:spcPct val="128000"/>
              </a:lnSpc>
              <a:buNone/>
            </a:pPr>
            <a:r>
              <a:rPr lang="en-GB" altLang="en-US" sz="1920" u="sng" dirty="0">
                <a:solidFill>
                  <a:srgbClr val="B80010"/>
                </a:solidFill>
                <a:latin typeface="Arial" pitchFamily="34" charset="0"/>
                <a:ea typeface="Arial" pitchFamily="34" charset="-122"/>
                <a:cs typeface="Arial" pitchFamily="34" charset="-120"/>
                <a:hlinkClick r:id="rId2" action="ppaction://hlinksldjump" tooltip="">
                  <a:extLst>
                    <a:ext uri="{A12FA001-AC4F-418D-AE19-62706E023703}">
                      <ahyp:hlinkClr xmlns:ahyp="http://schemas.microsoft.com/office/drawing/2018/hyperlinkcolor" val="tx"/>
                    </a:ext>
                  </a:extLst>
                </a:hlinkClick>
              </a:rPr>
              <a:t>U2</a:t>
            </a:r>
            <a:pPr algn="l" indent="0" marL="0">
              <a:lnSpc>
                <a:spcPct val="128000"/>
              </a:lnSpc>
              <a:buNone/>
            </a:pPr>
            <a:r>
              <a:rPr lang="en-GB" altLang="en-US" sz="1920" dirty="0">
                <a:solidFill>
                  <a:srgbClr val="222222"/>
                </a:solidFill>
                <a:latin typeface="Arial" pitchFamily="34" charset="0"/>
                <a:ea typeface="Arial" pitchFamily="34" charset="-122"/>
                <a:cs typeface="Arial" pitchFamily="34" charset="-120"/>
              </a:rPr>
              <a:t>: clarification that this was a one-person demonstration; </a:t>
            </a:r>
            <a:pPr algn="l" indent="0" marL="0">
              <a:lnSpc>
                <a:spcPct val="128000"/>
              </a:lnSpc>
              <a:buNone/>
            </a:pPr>
            <a:r>
              <a:rPr lang="en-GB" altLang="en-US" sz="1920" u="sng" dirty="0">
                <a:solidFill>
                  <a:srgbClr val="B80010"/>
                </a:solidFill>
                <a:latin typeface="Arial" pitchFamily="34" charset="0"/>
                <a:ea typeface="Arial" pitchFamily="34" charset="-122"/>
                <a:cs typeface="Arial" pitchFamily="34" charset="-120"/>
                <a:hlinkClick r:id="rId3" action="ppaction://hlinksldjump" tooltip="">
                  <a:extLst>
                    <a:ext uri="{A12FA001-AC4F-418D-AE19-62706E023703}">
                      <ahyp:hlinkClr xmlns:ahyp="http://schemas.microsoft.com/office/drawing/2018/hyperlinkcolor" val="tx"/>
                    </a:ext>
                  </a:extLst>
                </a:hlinkClick>
              </a:rPr>
              <a:t>U3</a:t>
            </a:r>
            <a:pPr algn="l" indent="0" marL="0">
              <a:lnSpc>
                <a:spcPct val="128000"/>
              </a:lnSpc>
              <a:buNone/>
            </a:pPr>
            <a:r>
              <a:rPr lang="en-GB" altLang="en-US" sz="1920" dirty="0">
                <a:solidFill>
                  <a:srgbClr val="222222"/>
                </a:solidFill>
                <a:latin typeface="Arial" pitchFamily="34" charset="0"/>
                <a:ea typeface="Arial" pitchFamily="34" charset="-122"/>
                <a:cs typeface="Arial" pitchFamily="34" charset="-120"/>
              </a:rPr>
              <a:t>: my explicit correction: 'I did not click the supplementary agreement. The AI entered the contract, and I watched Qwen Office throughout.'</a:t>
            </a:r>
            <a:endParaRPr lang="en-GB" sz="1920" dirty="0"/>
          </a:p>
        </p:txBody>
      </p:sp>
      <p:sp>
        <p:nvSpPr>
          <p:cNvPr id="5" name="Text 1"/>
          <p:cNvSpPr/>
          <p:nvPr>
            <p:ph idx="102" type="body" hasCustomPrompt="1"/>
          </p:nvPr>
        </p:nvSpPr>
        <p:spPr>
          <a:xfrm>
            <a:off x="762000" y="2057400"/>
            <a:ext cx="10668000" cy="3886200"/>
          </a:xfrm>
          <a:prstGeom prst="rect">
            <a:avLst/>
          </a:prstGeom>
          <a:noFill/>
          <a:ln/>
        </p:spPr>
        <p:txBody>
          <a:bodyPr wrap="square" lIns="0" tIns="0" rIns="0" bIns="0" rtlCol="0" anchor="t"/>
          <a:lstStyle/>
          <a:p>
            <a:pPr indent="0" marL="0">
              <a:buNone/>
            </a:pPr>
            <a:endParaRPr lang="en-US" sz="168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p:bgPr>
    </p:bg>
    <p:spTree>
      <p:nvGrpSpPr>
        <p:cNvPr id="1" name=""/>
        <p:cNvGrpSpPr/>
        <p:nvPr/>
      </p:nvGrpSpPr>
      <p:grpSpPr>
        <a:xfrm>
          <a:off x="0" y="0"/>
          <a:ext cx="0" cy="0"/>
          <a:chOff x="0" y="0"/>
          <a:chExt cx="0" cy="0"/>
        </a:xfrm>
      </p:grpSpPr>
      <p:sp>
        <p:nvSpPr>
          <p:cNvPr id="2" name="Text 1"/>
          <p:cNvSpPr/>
          <p:nvPr>
            <p:ph idx="101" type="title" hasCustomPrompt="1"/>
          </p:nvPr>
        </p:nvSpPr>
        <p:spPr>
          <a:xfrm>
            <a:off x="381000" y="891540"/>
            <a:ext cx="11430000" cy="487680"/>
          </a:xfrm>
          <a:prstGeom prst="rect">
            <a:avLst/>
          </a:prstGeom>
          <a:noFill/>
          <a:ln/>
        </p:spPr>
        <p:txBody>
          <a:bodyPr wrap="square" lIns="0" tIns="0" rIns="0" bIns="0" rtlCol="0" anchor="t"/>
          <a:lstStyle/>
          <a:p>
            <a:pPr algn="l" indent="0" marL="0">
              <a:buNone/>
            </a:pPr>
            <a:r>
              <a:rPr lang="en-GB" altLang="en-US" sz="2400" b="1" spc="-84" kern="0" dirty="0">
                <a:solidFill>
                  <a:srgbClr val="000000"/>
                </a:solidFill>
                <a:latin typeface="Arial" pitchFamily="34" charset="0"/>
                <a:ea typeface="Arial" pitchFamily="34" charset="-122"/>
                <a:cs typeface="Arial" pitchFamily="34" charset="-120"/>
              </a:rPr>
              <a:t>Appendix D. Sources (continued)</a:t>
            </a:r>
            <a:endParaRPr lang="en-GB" sz="2400" dirty="0"/>
          </a:p>
        </p:txBody>
      </p:sp>
      <p:sp>
        <p:nvSpPr>
          <p:cNvPr id="3" name="sources-2-item-0"/>
          <p:cNvSpPr/>
          <p:nvPr/>
        </p:nvSpPr>
        <p:spPr>
          <a:xfrm>
            <a:off x="609600" y="1600200"/>
            <a:ext cx="10972800" cy="1706880"/>
          </a:xfrm>
          <a:prstGeom prst="rect">
            <a:avLst/>
          </a:prstGeom>
          <a:noFill/>
          <a:ln/>
        </p:spPr>
        <p:txBody>
          <a:bodyPr wrap="square" lIns="0" tIns="0" rIns="0" bIns="0" rtlCol="0" anchor="t"/>
          <a:lstStyle/>
          <a:p>
            <a:pPr algn="l" indent="0" marL="0">
              <a:lnSpc>
                <a:spcPct val="128000"/>
              </a:lnSpc>
              <a:buNone/>
            </a:pPr>
            <a:r>
              <a:rPr lang="en-GB" altLang="en-US" sz="1920" dirty="0">
                <a:solidFill>
                  <a:srgbClr val="222222"/>
                </a:solidFill>
                <a:latin typeface="Arial" pitchFamily="34" charset="0"/>
                <a:ea typeface="Arial" pitchFamily="34" charset="-122"/>
                <a:cs typeface="Arial" pitchFamily="34" charset="-120"/>
              </a:rPr>
              <a:t>R1: local main-conversation record, 3348c252-83d0-43c6-a838-030e53705d0c.jsonl; R2: immediate inspection on 10-10, b55b6d62-aae9-4b47-8e0d-7bef9bdc2355.jsonl; R3: inspection on 10-13, 81da9cc9-9185-4183-8d8d-76e720f8802e.jsonl; R4: inspection on 10-14, e22eafc5-9da8-4339-9bcc-2903cbcf2384.jsonl; R5: material review on 10-14, bda09640-0b4e-4605-97e6-208a3b86c468.jsonl.</a:t>
            </a:r>
            <a:endParaRPr lang="en-GB" sz="1920" dirty="0"/>
          </a:p>
        </p:txBody>
      </p:sp>
      <p:sp>
        <p:nvSpPr>
          <p:cNvPr id="4" name="sources-2-item-1"/>
          <p:cNvSpPr/>
          <p:nvPr/>
        </p:nvSpPr>
        <p:spPr>
          <a:xfrm>
            <a:off x="609600" y="3459480"/>
            <a:ext cx="10972800" cy="2026920"/>
          </a:xfrm>
          <a:prstGeom prst="rect">
            <a:avLst/>
          </a:prstGeom>
          <a:noFill/>
          <a:ln/>
        </p:spPr>
        <p:txBody>
          <a:bodyPr wrap="square" lIns="0" tIns="0" rIns="0" bIns="0" rtlCol="0" anchor="t"/>
          <a:lstStyle/>
          <a:p>
            <a:pPr algn="l" indent="0" marL="0">
              <a:lnSpc>
                <a:spcPct val="128000"/>
              </a:lnSpc>
              <a:buNone/>
            </a:pPr>
            <a:r>
              <a:rPr lang="en-GB" altLang="en-US" sz="1920" dirty="0">
                <a:solidFill>
                  <a:srgbClr val="222222"/>
                </a:solidFill>
                <a:latin typeface="Arial" pitchFamily="34" charset="0"/>
                <a:ea typeface="Arial" pitchFamily="34" charset="-122"/>
                <a:cs typeface="Arial" pitchFamily="34" charset="-120"/>
              </a:rPr>
              <a:t>E numbers refer to the accompanying Evidence Matrix and Key Findings (02_evidence_matrix.md). Full paths, review scope and file fingerprints are in the Material Inventory (01_material_inventory.md) and evidence directory. See 03_management_analysis.md for independent analysis and the measurement proposal, and 05_open_questions.md for the complete open-question list. Original materials are unchanged.</a:t>
            </a:r>
            <a:endParaRPr lang="en-GB" sz="1920" dirty="0"/>
          </a:p>
        </p:txBody>
      </p:sp>
      <p:sp>
        <p:nvSpPr>
          <p:cNvPr id="6" name="Text 1"/>
          <p:cNvSpPr/>
          <p:nvPr>
            <p:ph idx="102" type="body" hasCustomPrompt="1"/>
          </p:nvPr>
        </p:nvSpPr>
        <p:spPr>
          <a:xfrm>
            <a:off x="762000" y="2057400"/>
            <a:ext cx="10668000" cy="3886200"/>
          </a:xfrm>
          <a:prstGeom prst="rect">
            <a:avLst/>
          </a:prstGeom>
          <a:noFill/>
          <a:ln/>
        </p:spPr>
        <p:txBody>
          <a:bodyPr wrap="square" lIns="0" tIns="0" rIns="0" bIns="0" rtlCol="0" anchor="t"/>
          <a:lstStyle/>
          <a:p>
            <a:pPr indent="0" marL="0">
              <a:buNone/>
            </a:pPr>
            <a:endParaRPr lang="en-US" sz="168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p:bgPr>
    </p:bg>
    <p:spTree>
      <p:nvGrpSpPr>
        <p:cNvPr id="1" name=""/>
        <p:cNvGrpSpPr/>
        <p:nvPr/>
      </p:nvGrpSpPr>
      <p:grpSpPr>
        <a:xfrm>
          <a:off x="0" y="0"/>
          <a:ext cx="0" cy="0"/>
          <a:chOff x="0" y="0"/>
          <a:chExt cx="0" cy="0"/>
        </a:xfrm>
      </p:grpSpPr>
      <p:sp>
        <p:nvSpPr>
          <p:cNvPr id="2" name="Text 1"/>
          <p:cNvSpPr/>
          <p:nvPr>
            <p:ph idx="101" type="title" hasCustomPrompt="1"/>
          </p:nvPr>
        </p:nvSpPr>
        <p:spPr>
          <a:xfrm>
            <a:off x="381000" y="891540"/>
            <a:ext cx="11430000" cy="487680"/>
          </a:xfrm>
          <a:prstGeom prst="rect">
            <a:avLst/>
          </a:prstGeom>
          <a:noFill/>
          <a:ln/>
        </p:spPr>
        <p:txBody>
          <a:bodyPr wrap="square" lIns="0" tIns="0" rIns="0" bIns="0" rtlCol="0" anchor="t"/>
          <a:lstStyle/>
          <a:p>
            <a:pPr algn="l" indent="0" marL="0">
              <a:buNone/>
            </a:pPr>
            <a:r>
              <a:rPr lang="en-GB" altLang="en-US" sz="2400" b="1" spc="-84" kern="0" dirty="0">
                <a:solidFill>
                  <a:srgbClr val="000000"/>
                </a:solidFill>
                <a:latin typeface="Arial" pitchFamily="34" charset="0"/>
                <a:ea typeface="Arial" pitchFamily="34" charset="-122"/>
                <a:cs typeface="Arial" pitchFamily="34" charset="-120"/>
              </a:rPr>
              <a:t>E01 · Demonstration scope</a:t>
            </a:r>
            <a:endParaRPr lang="en-GB" sz="2400" dirty="0"/>
          </a:p>
        </p:txBody>
      </p:sp>
      <p:sp>
        <p:nvSpPr>
          <p:cNvPr id="3" name="e01-0"/>
          <p:cNvSpPr/>
          <p:nvPr/>
        </p:nvSpPr>
        <p:spPr>
          <a:xfrm>
            <a:off x="609600" y="1600200"/>
            <a:ext cx="10972800" cy="640080"/>
          </a:xfrm>
          <a:prstGeom prst="rect">
            <a:avLst/>
          </a:prstGeom>
          <a:noFill/>
          <a:ln/>
        </p:spPr>
        <p:txBody>
          <a:bodyPr wrap="square" lIns="0" tIns="0" rIns="0" bIns="0" rtlCol="0" anchor="t"/>
          <a:lstStyle/>
          <a:p>
            <a:pPr algn="l" indent="0" marL="0">
              <a:lnSpc>
                <a:spcPct val="128000"/>
              </a:lnSpc>
              <a:buNone/>
            </a:pPr>
            <a:r>
              <a:rPr lang="en-GB" altLang="en-US" sz="1620" b="1" dirty="0">
                <a:solidFill>
                  <a:srgbClr val="222222"/>
                </a:solidFill>
                <a:latin typeface="Arial" pitchFamily="34" charset="0"/>
                <a:ea typeface="Arial" pitchFamily="34" charset="-122"/>
                <a:cs typeface="Arial" pitchFamily="34" charset="-120"/>
              </a:rPr>
              <a:t>Key finding: </a:t>
            </a:r>
            <a:pPr algn="l" indent="0" marL="0">
              <a:lnSpc>
                <a:spcPct val="128000"/>
              </a:lnSpc>
              <a:buNone/>
            </a:pPr>
            <a:r>
              <a:rPr lang="en-GB" altLang="en-US" sz="1620" dirty="0">
                <a:solidFill>
                  <a:srgbClr val="222222"/>
                </a:solidFill>
                <a:latin typeface="Arial" pitchFamily="34" charset="0"/>
                <a:ea typeface="Arial" pitchFamily="34" charset="-122"/>
                <a:cs typeface="Arial" pitchFamily="34" charset="-120"/>
              </a:rPr>
              <a:t>Attended the event on 10-10, later demonstrated results to a manager and was asked to report; a one-person demonstration</a:t>
            </a:r>
            <a:endParaRPr lang="en-GB" sz="1620" dirty="0"/>
          </a:p>
        </p:txBody>
      </p:sp>
      <p:sp>
        <p:nvSpPr>
          <p:cNvPr id="4" name="e01-1"/>
          <p:cNvSpPr/>
          <p:nvPr/>
        </p:nvSpPr>
        <p:spPr>
          <a:xfrm>
            <a:off x="609600" y="2316480"/>
            <a:ext cx="10972800" cy="365760"/>
          </a:xfrm>
          <a:prstGeom prst="rect">
            <a:avLst/>
          </a:prstGeom>
          <a:noFill/>
          <a:ln/>
        </p:spPr>
        <p:txBody>
          <a:bodyPr wrap="square" lIns="0" tIns="0" rIns="0" bIns="0" rtlCol="0" anchor="t"/>
          <a:lstStyle/>
          <a:p>
            <a:pPr algn="l" indent="0" marL="0">
              <a:lnSpc>
                <a:spcPct val="128000"/>
              </a:lnSpc>
              <a:buNone/>
            </a:pPr>
            <a:r>
              <a:rPr lang="en-GB" altLang="en-US" sz="1620" b="1" dirty="0">
                <a:solidFill>
                  <a:srgbClr val="222222"/>
                </a:solidFill>
                <a:latin typeface="Arial" pitchFamily="34" charset="0"/>
                <a:ea typeface="Arial" pitchFamily="34" charset="-122"/>
                <a:cs typeface="Arial" pitchFamily="34" charset="-120"/>
              </a:rPr>
              <a:t>Evidence sources: </a:t>
            </a:r>
            <a:pPr algn="l" indent="0" marL="0">
              <a:lnSpc>
                <a:spcPct val="128000"/>
              </a:lnSpc>
              <a:buNone/>
            </a:pPr>
            <a:r>
              <a:rPr lang="en-GB" altLang="en-US" sz="1620" u="sng" dirty="0">
                <a:solidFill>
                  <a:srgbClr val="B80010"/>
                </a:solidFill>
                <a:latin typeface="Arial" pitchFamily="34" charset="0"/>
                <a:ea typeface="Arial" pitchFamily="34" charset="-122"/>
                <a:cs typeface="Arial" pitchFamily="34" charset="-120"/>
                <a:hlinkClick r:id="rId1" action="ppaction://hlinksldjump" tooltip="">
                  <a:extLst>
                    <a:ext uri="{A12FA001-AC4F-418D-AE19-62706E023703}">
                      <ahyp:hlinkClr xmlns:ahyp="http://schemas.microsoft.com/office/drawing/2018/hyperlinkcolor" val="tx"/>
                    </a:ext>
                  </a:extLst>
                </a:hlinkClick>
              </a:rPr>
              <a:t>U1</a:t>
            </a:r>
            <a:pPr algn="l" indent="0" marL="0">
              <a:lnSpc>
                <a:spcPct val="128000"/>
              </a:lnSpc>
              <a:buNone/>
            </a:pPr>
            <a:r>
              <a:rPr lang="en-GB" altLang="en-US" sz="1620" dirty="0">
                <a:solidFill>
                  <a:srgbClr val="222222"/>
                </a:solidFill>
                <a:latin typeface="Arial" pitchFamily="34" charset="0"/>
                <a:ea typeface="Arial" pitchFamily="34" charset="-122"/>
                <a:cs typeface="Arial" pitchFamily="34" charset="-120"/>
              </a:rPr>
              <a:t>, </a:t>
            </a:r>
            <a:pPr algn="l" indent="0" marL="0">
              <a:lnSpc>
                <a:spcPct val="128000"/>
              </a:lnSpc>
              <a:buNone/>
            </a:pPr>
            <a:r>
              <a:rPr lang="en-GB" altLang="en-US" sz="1620" u="sng" dirty="0">
                <a:solidFill>
                  <a:srgbClr val="B80010"/>
                </a:solidFill>
                <a:latin typeface="Arial" pitchFamily="34" charset="0"/>
                <a:ea typeface="Arial" pitchFamily="34" charset="-122"/>
                <a:cs typeface="Arial" pitchFamily="34" charset="-120"/>
                <a:hlinkClick r:id="rId2" action="ppaction://hlinksldjump" tooltip="">
                  <a:extLst>
                    <a:ext uri="{A12FA001-AC4F-418D-AE19-62706E023703}">
                      <ahyp:hlinkClr xmlns:ahyp="http://schemas.microsoft.com/office/drawing/2018/hyperlinkcolor" val="tx"/>
                    </a:ext>
                  </a:extLst>
                </a:hlinkClick>
              </a:rPr>
              <a:t>U2</a:t>
            </a:r>
            <a:pPr algn="l" indent="0" marL="0">
              <a:lnSpc>
                <a:spcPct val="128000"/>
              </a:lnSpc>
              <a:buNone/>
            </a:pPr>
            <a:r>
              <a:rPr lang="en-GB" altLang="en-US" sz="1620" dirty="0">
                <a:solidFill>
                  <a:srgbClr val="222222"/>
                </a:solidFill>
                <a:latin typeface="Arial" pitchFamily="34" charset="0"/>
                <a:ea typeface="Arial" pitchFamily="34" charset="-122"/>
                <a:cs typeface="Arial" pitchFamily="34" charset="-120"/>
              </a:rPr>
              <a:t>; R1 L257: group creation supplied only the current user</a:t>
            </a:r>
            <a:endParaRPr lang="en-GB" sz="1620" dirty="0"/>
          </a:p>
        </p:txBody>
      </p:sp>
      <p:sp>
        <p:nvSpPr>
          <p:cNvPr id="5" name="e01-2"/>
          <p:cNvSpPr/>
          <p:nvPr/>
        </p:nvSpPr>
        <p:spPr>
          <a:xfrm>
            <a:off x="609600" y="2758440"/>
            <a:ext cx="10972800" cy="365760"/>
          </a:xfrm>
          <a:prstGeom prst="rect">
            <a:avLst/>
          </a:prstGeom>
          <a:noFill/>
          <a:ln/>
        </p:spPr>
        <p:txBody>
          <a:bodyPr wrap="square" lIns="0" tIns="0" rIns="0" bIns="0" rtlCol="0" anchor="t"/>
          <a:lstStyle/>
          <a:p>
            <a:pPr algn="l" indent="0" marL="0">
              <a:lnSpc>
                <a:spcPct val="128000"/>
              </a:lnSpc>
              <a:buNone/>
            </a:pPr>
            <a:r>
              <a:rPr lang="en-GB" altLang="en-US" sz="1620" b="1" dirty="0">
                <a:solidFill>
                  <a:srgbClr val="222222"/>
                </a:solidFill>
                <a:latin typeface="Arial" pitchFamily="34" charset="0"/>
                <a:ea typeface="Arial" pitchFamily="34" charset="-122"/>
                <a:cs typeface="Arial" pitchFamily="34" charset="-120"/>
              </a:rPr>
              <a:t>Fact or inference: </a:t>
            </a:r>
            <a:pPr algn="l" indent="0" marL="0">
              <a:lnSpc>
                <a:spcPct val="128000"/>
              </a:lnSpc>
              <a:buNone/>
            </a:pPr>
            <a:r>
              <a:rPr lang="en-GB" altLang="en-US" sz="1620" dirty="0">
                <a:solidFill>
                  <a:srgbClr val="222222"/>
                </a:solidFill>
                <a:latin typeface="Arial" pitchFamily="34" charset="0"/>
                <a:ea typeface="Arial" pitchFamily="34" charset="-122"/>
                <a:cs typeface="Arial" pitchFamily="34" charset="-120"/>
              </a:rPr>
              <a:t>A: personal account; tool calls corroborate the demo setup</a:t>
            </a:r>
            <a:endParaRPr lang="en-GB" sz="1620" dirty="0"/>
          </a:p>
        </p:txBody>
      </p:sp>
      <p:sp>
        <p:nvSpPr>
          <p:cNvPr id="6" name="e01-3"/>
          <p:cNvSpPr/>
          <p:nvPr/>
        </p:nvSpPr>
        <p:spPr>
          <a:xfrm>
            <a:off x="609600" y="3200400"/>
            <a:ext cx="10972800" cy="365760"/>
          </a:xfrm>
          <a:prstGeom prst="rect">
            <a:avLst/>
          </a:prstGeom>
          <a:noFill/>
          <a:ln/>
        </p:spPr>
        <p:txBody>
          <a:bodyPr wrap="square" lIns="0" tIns="0" rIns="0" bIns="0" rtlCol="0" anchor="t"/>
          <a:lstStyle/>
          <a:p>
            <a:pPr algn="l" indent="0" marL="0">
              <a:lnSpc>
                <a:spcPct val="128000"/>
              </a:lnSpc>
              <a:buNone/>
            </a:pPr>
            <a:r>
              <a:rPr lang="en-GB" altLang="en-US" sz="1620" b="1" dirty="0">
                <a:solidFill>
                  <a:srgbClr val="222222"/>
                </a:solidFill>
                <a:latin typeface="Arial" pitchFamily="34" charset="0"/>
                <a:ea typeface="Arial" pitchFamily="34" charset="-122"/>
                <a:cs typeface="Arial" pitchFamily="34" charset="-120"/>
              </a:rPr>
              <a:t>Evidence strength: </a:t>
            </a:r>
            <a:pPr algn="l" indent="0" marL="0">
              <a:lnSpc>
                <a:spcPct val="128000"/>
              </a:lnSpc>
              <a:buNone/>
            </a:pPr>
            <a:r>
              <a:rPr lang="en-GB" altLang="en-US" sz="1620" dirty="0">
                <a:solidFill>
                  <a:srgbClr val="222222"/>
                </a:solidFill>
                <a:latin typeface="Arial" pitchFamily="34" charset="0"/>
                <a:ea typeface="Arial" pitchFamily="34" charset="-122"/>
                <a:cs typeface="Arial" pitchFamily="34" charset="-120"/>
              </a:rPr>
              <a:t>High, limited to personal experience</a:t>
            </a:r>
            <a:endParaRPr lang="en-GB" sz="1620" dirty="0"/>
          </a:p>
        </p:txBody>
      </p:sp>
      <p:sp>
        <p:nvSpPr>
          <p:cNvPr id="7" name="e01-4"/>
          <p:cNvSpPr/>
          <p:nvPr/>
        </p:nvSpPr>
        <p:spPr>
          <a:xfrm>
            <a:off x="609600" y="3642360"/>
            <a:ext cx="10972800" cy="365760"/>
          </a:xfrm>
          <a:prstGeom prst="rect">
            <a:avLst/>
          </a:prstGeom>
          <a:noFill/>
          <a:ln/>
        </p:spPr>
        <p:txBody>
          <a:bodyPr wrap="square" lIns="0" tIns="0" rIns="0" bIns="0" rtlCol="0" anchor="t"/>
          <a:lstStyle/>
          <a:p>
            <a:pPr algn="l" indent="0" marL="0">
              <a:lnSpc>
                <a:spcPct val="128000"/>
              </a:lnSpc>
              <a:buNone/>
            </a:pPr>
            <a:r>
              <a:rPr lang="en-GB" altLang="en-US" sz="1620" b="1" dirty="0">
                <a:solidFill>
                  <a:srgbClr val="222222"/>
                </a:solidFill>
                <a:latin typeface="Arial" pitchFamily="34" charset="0"/>
                <a:ea typeface="Arial" pitchFamily="34" charset="-122"/>
                <a:cs typeface="Arial" pitchFamily="34" charset="-120"/>
              </a:rPr>
              <a:t>Open question: </a:t>
            </a:r>
            <a:pPr algn="l" indent="0" marL="0">
              <a:lnSpc>
                <a:spcPct val="128000"/>
              </a:lnSpc>
              <a:buNone/>
            </a:pPr>
            <a:r>
              <a:rPr lang="en-GB" altLang="en-US" sz="1620" dirty="0">
                <a:solidFill>
                  <a:srgbClr val="222222"/>
                </a:solidFill>
                <a:latin typeface="Arial" pitchFamily="34" charset="0"/>
                <a:ea typeface="Arial" pitchFamily="34" charset="-122"/>
                <a:cs typeface="Arial" pitchFamily="34" charset="-120"/>
              </a:rPr>
              <a:t>Official event name and demonstration scope</a:t>
            </a:r>
            <a:endParaRPr lang="en-GB" sz="1620" dirty="0"/>
          </a:p>
        </p:txBody>
      </p:sp>
      <p:sp>
        <p:nvSpPr>
          <p:cNvPr id="8" name="e01-5"/>
          <p:cNvSpPr/>
          <p:nvPr/>
        </p:nvSpPr>
        <p:spPr>
          <a:xfrm>
            <a:off x="609600" y="4084320"/>
            <a:ext cx="10972800" cy="640080"/>
          </a:xfrm>
          <a:prstGeom prst="rect">
            <a:avLst/>
          </a:prstGeom>
          <a:noFill/>
          <a:ln/>
        </p:spPr>
        <p:txBody>
          <a:bodyPr wrap="square" lIns="0" tIns="0" rIns="0" bIns="0" rtlCol="0" anchor="t"/>
          <a:lstStyle/>
          <a:p>
            <a:pPr algn="l" indent="0" marL="0">
              <a:lnSpc>
                <a:spcPct val="128000"/>
              </a:lnSpc>
              <a:buNone/>
            </a:pPr>
            <a:r>
              <a:rPr lang="en-GB" altLang="en-US" sz="1620" b="1" dirty="0">
                <a:solidFill>
                  <a:srgbClr val="222222"/>
                </a:solidFill>
                <a:latin typeface="Arial" pitchFamily="34" charset="0"/>
                <a:ea typeface="Arial" pitchFamily="34" charset="-122"/>
                <a:cs typeface="Arial" pitchFamily="34" charset="-120"/>
              </a:rPr>
              <a:t>Implication for this report: </a:t>
            </a:r>
            <a:pPr algn="l" indent="0" marL="0">
              <a:lnSpc>
                <a:spcPct val="128000"/>
              </a:lnSpc>
              <a:buNone/>
            </a:pPr>
            <a:r>
              <a:rPr lang="en-GB" altLang="en-US" sz="1620" dirty="0">
                <a:solidFill>
                  <a:srgbClr val="222222"/>
                </a:solidFill>
                <a:latin typeface="Arial" pitchFamily="34" charset="0"/>
                <a:ea typeface="Arial" pitchFamily="34" charset="-122"/>
                <a:cs typeface="Arial" pitchFamily="34" charset="-120"/>
              </a:rPr>
              <a:t>Establishes an internal management purpose, not acceptance of multi-person collaboration</a:t>
            </a:r>
            <a:endParaRPr lang="en-GB" sz="1620" dirty="0"/>
          </a:p>
        </p:txBody>
      </p:sp>
      <p:sp>
        <p:nvSpPr>
          <p:cNvPr id="10" name="Text 1"/>
          <p:cNvSpPr/>
          <p:nvPr>
            <p:ph idx="102" type="body" hasCustomPrompt="1"/>
          </p:nvPr>
        </p:nvSpPr>
        <p:spPr>
          <a:xfrm>
            <a:off x="762000" y="2057400"/>
            <a:ext cx="10668000" cy="3886200"/>
          </a:xfrm>
          <a:prstGeom prst="rect">
            <a:avLst/>
          </a:prstGeom>
          <a:noFill/>
          <a:ln/>
        </p:spPr>
        <p:txBody>
          <a:bodyPr wrap="square" lIns="0" tIns="0" rIns="0" bIns="0" rtlCol="0" anchor="t"/>
          <a:lstStyle/>
          <a:p>
            <a:pPr indent="0" marL="0">
              <a:buNone/>
            </a:pPr>
            <a:endParaRPr lang="en-US" sz="168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p:bgPr>
    </p:bg>
    <p:spTree>
      <p:nvGrpSpPr>
        <p:cNvPr id="1" name=""/>
        <p:cNvGrpSpPr/>
        <p:nvPr/>
      </p:nvGrpSpPr>
      <p:grpSpPr>
        <a:xfrm>
          <a:off x="0" y="0"/>
          <a:ext cx="0" cy="0"/>
          <a:chOff x="0" y="0"/>
          <a:chExt cx="0" cy="0"/>
        </a:xfrm>
      </p:grpSpPr>
      <p:sp>
        <p:nvSpPr>
          <p:cNvPr id="2" name="Text 1"/>
          <p:cNvSpPr/>
          <p:nvPr>
            <p:ph idx="101" type="title" hasCustomPrompt="1"/>
          </p:nvPr>
        </p:nvSpPr>
        <p:spPr>
          <a:xfrm>
            <a:off x="381000" y="891540"/>
            <a:ext cx="11430000" cy="487680"/>
          </a:xfrm>
          <a:prstGeom prst="rect">
            <a:avLst/>
          </a:prstGeom>
          <a:noFill/>
          <a:ln/>
        </p:spPr>
        <p:txBody>
          <a:bodyPr wrap="square" lIns="0" tIns="0" rIns="0" bIns="0" rtlCol="0" anchor="t"/>
          <a:lstStyle/>
          <a:p>
            <a:pPr algn="l" indent="0" marL="0">
              <a:buNone/>
            </a:pPr>
            <a:r>
              <a:rPr lang="en-GB" altLang="en-US" sz="2400" b="1" spc="-84" kern="0" dirty="0">
                <a:solidFill>
                  <a:srgbClr val="000000"/>
                </a:solidFill>
                <a:latin typeface="Arial" pitchFamily="34" charset="0"/>
                <a:ea typeface="Arial" pitchFamily="34" charset="-122"/>
                <a:cs typeface="Arial" pitchFamily="34" charset="-120"/>
              </a:rPr>
              <a:t>E02 · Skill packages and preparation</a:t>
            </a:r>
            <a:endParaRPr lang="en-GB" sz="2400" dirty="0"/>
          </a:p>
        </p:txBody>
      </p:sp>
      <p:sp>
        <p:nvSpPr>
          <p:cNvPr id="3" name="e02-0"/>
          <p:cNvSpPr/>
          <p:nvPr/>
        </p:nvSpPr>
        <p:spPr>
          <a:xfrm>
            <a:off x="609600" y="1600200"/>
            <a:ext cx="10972800" cy="640080"/>
          </a:xfrm>
          <a:prstGeom prst="rect">
            <a:avLst/>
          </a:prstGeom>
          <a:noFill/>
          <a:ln/>
        </p:spPr>
        <p:txBody>
          <a:bodyPr wrap="square" lIns="0" tIns="0" rIns="0" bIns="0" rtlCol="0" anchor="t"/>
          <a:lstStyle/>
          <a:p>
            <a:pPr algn="l" indent="0" marL="0">
              <a:lnSpc>
                <a:spcPct val="128000"/>
              </a:lnSpc>
              <a:buNone/>
            </a:pPr>
            <a:r>
              <a:rPr lang="en-GB" altLang="en-US" sz="1620" b="1" dirty="0">
                <a:solidFill>
                  <a:srgbClr val="222222"/>
                </a:solidFill>
                <a:latin typeface="Arial" pitchFamily="34" charset="0"/>
                <a:ea typeface="Arial" pitchFamily="34" charset="-122"/>
                <a:cs typeface="Arial" pitchFamily="34" charset="-120"/>
              </a:rPr>
              <a:t>Key finding: </a:t>
            </a:r>
            <a:pPr algn="l" indent="0" marL="0">
              <a:lnSpc>
                <a:spcPct val="128000"/>
              </a:lnSpc>
              <a:buNone/>
            </a:pPr>
            <a:r>
              <a:rPr lang="en-GB" altLang="en-US" sz="1620" dirty="0">
                <a:solidFill>
                  <a:srgbClr val="222222"/>
                </a:solidFill>
                <a:latin typeface="Arial" pitchFamily="34" charset="0"/>
                <a:ea typeface="Arial" pitchFamily="34" charset="-122"/>
                <a:cs typeface="Arial" pitchFamily="34" charset="-120"/>
              </a:rPr>
              <a:t>Seven skills: environment preparation plus six business skills; original ZIP, extracted and installed copies have identical contents</a:t>
            </a:r>
            <a:endParaRPr lang="en-GB" sz="1620" dirty="0"/>
          </a:p>
        </p:txBody>
      </p:sp>
      <p:sp>
        <p:nvSpPr>
          <p:cNvPr id="4" name="e02-1"/>
          <p:cNvSpPr/>
          <p:nvPr/>
        </p:nvSpPr>
        <p:spPr>
          <a:xfrm>
            <a:off x="609600" y="2316480"/>
            <a:ext cx="10972800" cy="365760"/>
          </a:xfrm>
          <a:prstGeom prst="rect">
            <a:avLst/>
          </a:prstGeom>
          <a:noFill/>
          <a:ln/>
        </p:spPr>
        <p:txBody>
          <a:bodyPr wrap="square" lIns="0" tIns="0" rIns="0" bIns="0" rtlCol="0" anchor="t"/>
          <a:lstStyle/>
          <a:p>
            <a:pPr algn="l" indent="0" marL="0">
              <a:lnSpc>
                <a:spcPct val="128000"/>
              </a:lnSpc>
              <a:buNone/>
            </a:pPr>
            <a:r>
              <a:rPr lang="en-GB" altLang="en-US" sz="1620" b="1" dirty="0">
                <a:solidFill>
                  <a:srgbClr val="222222"/>
                </a:solidFill>
                <a:latin typeface="Arial" pitchFamily="34" charset="0"/>
                <a:ea typeface="Arial" pitchFamily="34" charset="-122"/>
                <a:cs typeface="Arial" pitchFamily="34" charset="-120"/>
              </a:rPr>
              <a:t>Evidence sources: </a:t>
            </a:r>
            <a:pPr algn="l" indent="0" marL="0">
              <a:lnSpc>
                <a:spcPct val="128000"/>
              </a:lnSpc>
              <a:buNone/>
            </a:pPr>
            <a:r>
              <a:rPr lang="en-GB" altLang="en-US" sz="1620" dirty="0">
                <a:solidFill>
                  <a:srgbClr val="222222"/>
                </a:solidFill>
                <a:latin typeface="Arial" pitchFamily="34" charset="0"/>
                <a:ea typeface="Arial" pitchFamily="34" charset="-122"/>
                <a:cs typeface="Arial" pitchFamily="34" charset="-120"/>
              </a:rPr>
              <a:t>M6, M8, K1–K7; R1 L164, 187, 193, 205</a:t>
            </a:r>
            <a:endParaRPr lang="en-GB" sz="1620" dirty="0"/>
          </a:p>
        </p:txBody>
      </p:sp>
      <p:sp>
        <p:nvSpPr>
          <p:cNvPr id="5" name="e02-2"/>
          <p:cNvSpPr/>
          <p:nvPr/>
        </p:nvSpPr>
        <p:spPr>
          <a:xfrm>
            <a:off x="609600" y="2758440"/>
            <a:ext cx="10972800" cy="365760"/>
          </a:xfrm>
          <a:prstGeom prst="rect">
            <a:avLst/>
          </a:prstGeom>
          <a:noFill/>
          <a:ln/>
        </p:spPr>
        <p:txBody>
          <a:bodyPr wrap="square" lIns="0" tIns="0" rIns="0" bIns="0" rtlCol="0" anchor="t"/>
          <a:lstStyle/>
          <a:p>
            <a:pPr algn="l" indent="0" marL="0">
              <a:lnSpc>
                <a:spcPct val="128000"/>
              </a:lnSpc>
              <a:buNone/>
            </a:pPr>
            <a:r>
              <a:rPr lang="en-GB" altLang="en-US" sz="1620" b="1" dirty="0">
                <a:solidFill>
                  <a:srgbClr val="222222"/>
                </a:solidFill>
                <a:latin typeface="Arial" pitchFamily="34" charset="0"/>
                <a:ea typeface="Arial" pitchFamily="34" charset="-122"/>
                <a:cs typeface="Arial" pitchFamily="34" charset="-120"/>
              </a:rPr>
              <a:t>Fact or inference: </a:t>
            </a:r>
            <a:pPr algn="l" indent="0" marL="0">
              <a:lnSpc>
                <a:spcPct val="128000"/>
              </a:lnSpc>
              <a:buNone/>
            </a:pPr>
            <a:r>
              <a:rPr lang="en-GB" altLang="en-US" sz="1620" dirty="0">
                <a:solidFill>
                  <a:srgbClr val="222222"/>
                </a:solidFill>
                <a:latin typeface="Arial" pitchFamily="34" charset="0"/>
                <a:ea typeface="Arial" pitchFamily="34" charset="-122"/>
                <a:cs typeface="Arial" pitchFamily="34" charset="-120"/>
              </a:rPr>
              <a:t>A: files and installation records</a:t>
            </a:r>
            <a:endParaRPr lang="en-GB" sz="1620" dirty="0"/>
          </a:p>
        </p:txBody>
      </p:sp>
      <p:sp>
        <p:nvSpPr>
          <p:cNvPr id="6" name="e02-3"/>
          <p:cNvSpPr/>
          <p:nvPr/>
        </p:nvSpPr>
        <p:spPr>
          <a:xfrm>
            <a:off x="609600" y="3200400"/>
            <a:ext cx="10972800" cy="365760"/>
          </a:xfrm>
          <a:prstGeom prst="rect">
            <a:avLst/>
          </a:prstGeom>
          <a:noFill/>
          <a:ln/>
        </p:spPr>
        <p:txBody>
          <a:bodyPr wrap="square" lIns="0" tIns="0" rIns="0" bIns="0" rtlCol="0" anchor="t"/>
          <a:lstStyle/>
          <a:p>
            <a:pPr algn="l" indent="0" marL="0">
              <a:lnSpc>
                <a:spcPct val="128000"/>
              </a:lnSpc>
              <a:buNone/>
            </a:pPr>
            <a:r>
              <a:rPr lang="en-GB" altLang="en-US" sz="1620" b="1" dirty="0">
                <a:solidFill>
                  <a:srgbClr val="222222"/>
                </a:solidFill>
                <a:latin typeface="Arial" pitchFamily="34" charset="0"/>
                <a:ea typeface="Arial" pitchFamily="34" charset="-122"/>
                <a:cs typeface="Arial" pitchFamily="34" charset="-120"/>
              </a:rPr>
              <a:t>Evidence strength: </a:t>
            </a:r>
            <a:pPr algn="l" indent="0" marL="0">
              <a:lnSpc>
                <a:spcPct val="128000"/>
              </a:lnSpc>
              <a:buNone/>
            </a:pPr>
            <a:r>
              <a:rPr lang="en-GB" altLang="en-US" sz="1620" dirty="0">
                <a:solidFill>
                  <a:srgbClr val="222222"/>
                </a:solidFill>
                <a:latin typeface="Arial" pitchFamily="34" charset="0"/>
                <a:ea typeface="Arial" pitchFamily="34" charset="-122"/>
                <a:cs typeface="Arial" pitchFamily="34" charset="-120"/>
              </a:rPr>
              <a:t>High</a:t>
            </a:r>
            <a:endParaRPr lang="en-GB" sz="1620" dirty="0"/>
          </a:p>
        </p:txBody>
      </p:sp>
      <p:sp>
        <p:nvSpPr>
          <p:cNvPr id="7" name="e02-4"/>
          <p:cNvSpPr/>
          <p:nvPr/>
        </p:nvSpPr>
        <p:spPr>
          <a:xfrm>
            <a:off x="609600" y="3642360"/>
            <a:ext cx="10972800" cy="365760"/>
          </a:xfrm>
          <a:prstGeom prst="rect">
            <a:avLst/>
          </a:prstGeom>
          <a:noFill/>
          <a:ln/>
        </p:spPr>
        <p:txBody>
          <a:bodyPr wrap="square" lIns="0" tIns="0" rIns="0" bIns="0" rtlCol="0" anchor="t"/>
          <a:lstStyle/>
          <a:p>
            <a:pPr algn="l" indent="0" marL="0">
              <a:lnSpc>
                <a:spcPct val="128000"/>
              </a:lnSpc>
              <a:buNone/>
            </a:pPr>
            <a:r>
              <a:rPr lang="en-GB" altLang="en-US" sz="1620" b="1" dirty="0">
                <a:solidFill>
                  <a:srgbClr val="222222"/>
                </a:solidFill>
                <a:latin typeface="Arial" pitchFamily="34" charset="0"/>
                <a:ea typeface="Arial" pitchFamily="34" charset="-122"/>
                <a:cs typeface="Arial" pitchFamily="34" charset="-120"/>
              </a:rPr>
              <a:t>Open question: </a:t>
            </a:r>
            <a:pPr algn="l" indent="0" marL="0">
              <a:lnSpc>
                <a:spcPct val="128000"/>
              </a:lnSpc>
              <a:buNone/>
            </a:pPr>
            <a:r>
              <a:rPr lang="en-GB" altLang="en-US" sz="1620" dirty="0">
                <a:solidFill>
                  <a:srgbClr val="222222"/>
                </a:solidFill>
                <a:latin typeface="Arial" pitchFamily="34" charset="0"/>
                <a:ea typeface="Arial" pitchFamily="34" charset="-122"/>
                <a:cs typeface="Arial" pitchFamily="34" charset="-120"/>
              </a:rPr>
              <a:t>Cost of independent setup by a new user</a:t>
            </a:r>
            <a:endParaRPr lang="en-GB" sz="1620" dirty="0"/>
          </a:p>
        </p:txBody>
      </p:sp>
      <p:sp>
        <p:nvSpPr>
          <p:cNvPr id="8" name="e02-5"/>
          <p:cNvSpPr/>
          <p:nvPr/>
        </p:nvSpPr>
        <p:spPr>
          <a:xfrm>
            <a:off x="609600" y="4084320"/>
            <a:ext cx="10972800" cy="640080"/>
          </a:xfrm>
          <a:prstGeom prst="rect">
            <a:avLst/>
          </a:prstGeom>
          <a:noFill/>
          <a:ln/>
        </p:spPr>
        <p:txBody>
          <a:bodyPr wrap="square" lIns="0" tIns="0" rIns="0" bIns="0" rtlCol="0" anchor="t"/>
          <a:lstStyle/>
          <a:p>
            <a:pPr algn="l" indent="0" marL="0">
              <a:lnSpc>
                <a:spcPct val="128000"/>
              </a:lnSpc>
              <a:buNone/>
            </a:pPr>
            <a:r>
              <a:rPr lang="en-GB" altLang="en-US" sz="1620" b="1" dirty="0">
                <a:solidFill>
                  <a:srgbClr val="222222"/>
                </a:solidFill>
                <a:latin typeface="Arial" pitchFamily="34" charset="0"/>
                <a:ea typeface="Arial" pitchFamily="34" charset="-122"/>
                <a:cs typeface="Arial" pitchFamily="34" charset="-120"/>
              </a:rPr>
              <a:t>Implication for this report: </a:t>
            </a:r>
            <a:pPr algn="l" indent="0" marL="0">
              <a:lnSpc>
                <a:spcPct val="128000"/>
              </a:lnSpc>
              <a:buNone/>
            </a:pPr>
            <a:r>
              <a:rPr lang="en-GB" altLang="en-US" sz="1620" dirty="0">
                <a:solidFill>
                  <a:srgbClr val="222222"/>
                </a:solidFill>
                <a:latin typeface="Arial" pitchFamily="34" charset="0"/>
                <a:ea typeface="Arial" pitchFamily="34" charset="-122"/>
                <a:cs typeface="Arial" pitchFamily="34" charset="-120"/>
              </a:rPr>
              <a:t>Reusable workflow material, not proof that seven business scenarios all passed</a:t>
            </a:r>
            <a:endParaRPr lang="en-GB" sz="1620" dirty="0"/>
          </a:p>
        </p:txBody>
      </p:sp>
      <p:sp>
        <p:nvSpPr>
          <p:cNvPr id="10" name="Text 1"/>
          <p:cNvSpPr/>
          <p:nvPr>
            <p:ph idx="102" type="body" hasCustomPrompt="1"/>
          </p:nvPr>
        </p:nvSpPr>
        <p:spPr>
          <a:xfrm>
            <a:off x="762000" y="2057400"/>
            <a:ext cx="10668000" cy="3886200"/>
          </a:xfrm>
          <a:prstGeom prst="rect">
            <a:avLst/>
          </a:prstGeom>
          <a:noFill/>
          <a:ln/>
        </p:spPr>
        <p:txBody>
          <a:bodyPr wrap="square" lIns="0" tIns="0" rIns="0" bIns="0" rtlCol="0" anchor="t"/>
          <a:lstStyle/>
          <a:p>
            <a:pPr indent="0" marL="0">
              <a:buNone/>
            </a:pPr>
            <a:endParaRPr lang="en-US" sz="168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FFFFF"/>
        </a:solidFill>
      </p:bgPr>
    </p:bg>
    <p:spTree>
      <p:nvGrpSpPr>
        <p:cNvPr id="1" name=""/>
        <p:cNvGrpSpPr/>
        <p:nvPr/>
      </p:nvGrpSpPr>
      <p:grpSpPr>
        <a:xfrm>
          <a:off x="0" y="0"/>
          <a:ext cx="0" cy="0"/>
          <a:chOff x="0" y="0"/>
          <a:chExt cx="0" cy="0"/>
        </a:xfrm>
      </p:grpSpPr>
      <p:sp>
        <p:nvSpPr>
          <p:cNvPr id="2" name="Text 1"/>
          <p:cNvSpPr/>
          <p:nvPr>
            <p:ph idx="101" type="title" hasCustomPrompt="1"/>
          </p:nvPr>
        </p:nvSpPr>
        <p:spPr>
          <a:xfrm>
            <a:off x="381000" y="891540"/>
            <a:ext cx="11430000" cy="487680"/>
          </a:xfrm>
          <a:prstGeom prst="rect">
            <a:avLst/>
          </a:prstGeom>
          <a:noFill/>
          <a:ln/>
        </p:spPr>
        <p:txBody>
          <a:bodyPr wrap="square" lIns="0" tIns="0" rIns="0" bIns="0" rtlCol="0" anchor="t"/>
          <a:lstStyle/>
          <a:p>
            <a:pPr algn="l" indent="0" marL="0">
              <a:buNone/>
            </a:pPr>
            <a:r>
              <a:rPr lang="en-GB" altLang="en-US" sz="2400" b="1" spc="-84" kern="0" dirty="0">
                <a:solidFill>
                  <a:srgbClr val="000000"/>
                </a:solidFill>
                <a:latin typeface="Arial" pitchFamily="34" charset="0"/>
                <a:ea typeface="Arial" pitchFamily="34" charset="-122"/>
                <a:cs typeface="Arial" pitchFamily="34" charset="-120"/>
              </a:rPr>
              <a:t>E03 · Organisation access control</a:t>
            </a:r>
            <a:endParaRPr lang="en-GB" sz="2400" dirty="0"/>
          </a:p>
        </p:txBody>
      </p:sp>
      <p:sp>
        <p:nvSpPr>
          <p:cNvPr id="3" name="e03-0"/>
          <p:cNvSpPr/>
          <p:nvPr/>
        </p:nvSpPr>
        <p:spPr>
          <a:xfrm>
            <a:off x="609600" y="1600200"/>
            <a:ext cx="10972800" cy="640080"/>
          </a:xfrm>
          <a:prstGeom prst="rect">
            <a:avLst/>
          </a:prstGeom>
          <a:noFill/>
          <a:ln/>
        </p:spPr>
        <p:txBody>
          <a:bodyPr wrap="square" lIns="0" tIns="0" rIns="0" bIns="0" rtlCol="0" anchor="t"/>
          <a:lstStyle/>
          <a:p>
            <a:pPr algn="l" indent="0" marL="0">
              <a:lnSpc>
                <a:spcPct val="128000"/>
              </a:lnSpc>
              <a:buNone/>
            </a:pPr>
            <a:r>
              <a:rPr lang="en-GB" altLang="en-US" sz="1620" b="1" dirty="0">
                <a:solidFill>
                  <a:srgbClr val="222222"/>
                </a:solidFill>
                <a:latin typeface="Arial" pitchFamily="34" charset="0"/>
                <a:ea typeface="Arial" pitchFamily="34" charset="-122"/>
                <a:cs typeface="Arial" pitchFamily="34" charset="-120"/>
              </a:rPr>
              <a:t>Key finding: </a:t>
            </a:r>
            <a:pPr algn="l" indent="0" marL="0">
              <a:lnSpc>
                <a:spcPct val="128000"/>
              </a:lnSpc>
              <a:buNone/>
            </a:pPr>
            <a:r>
              <a:rPr lang="en-GB" altLang="en-US" sz="1620" dirty="0">
                <a:solidFill>
                  <a:srgbClr val="222222"/>
                </a:solidFill>
                <a:latin typeface="Arial" pitchFamily="34" charset="0"/>
                <a:ea typeface="Arial" pitchFamily="34" charset="-122"/>
                <a:cs typeface="Arial" pitchFamily="34" charset="-120"/>
              </a:rPr>
              <a:t>Organisation access control denied reading the handbook body; the record contains forbidden.accessDenied</a:t>
            </a:r>
            <a:endParaRPr lang="en-GB" sz="1620" dirty="0"/>
          </a:p>
        </p:txBody>
      </p:sp>
      <p:sp>
        <p:nvSpPr>
          <p:cNvPr id="4" name="e03-1"/>
          <p:cNvSpPr/>
          <p:nvPr/>
        </p:nvSpPr>
        <p:spPr>
          <a:xfrm>
            <a:off x="609600" y="2316480"/>
            <a:ext cx="10972800" cy="365760"/>
          </a:xfrm>
          <a:prstGeom prst="rect">
            <a:avLst/>
          </a:prstGeom>
          <a:noFill/>
          <a:ln/>
        </p:spPr>
        <p:txBody>
          <a:bodyPr wrap="square" lIns="0" tIns="0" rIns="0" bIns="0" rtlCol="0" anchor="t"/>
          <a:lstStyle/>
          <a:p>
            <a:pPr algn="l" indent="0" marL="0">
              <a:lnSpc>
                <a:spcPct val="128000"/>
              </a:lnSpc>
              <a:buNone/>
            </a:pPr>
            <a:r>
              <a:rPr lang="en-GB" altLang="en-US" sz="1620" b="1" dirty="0">
                <a:solidFill>
                  <a:srgbClr val="222222"/>
                </a:solidFill>
                <a:latin typeface="Arial" pitchFamily="34" charset="0"/>
                <a:ea typeface="Arial" pitchFamily="34" charset="-122"/>
                <a:cs typeface="Arial" pitchFamily="34" charset="-120"/>
              </a:rPr>
              <a:t>Evidence sources: </a:t>
            </a:r>
            <a:pPr algn="l" indent="0" marL="0">
              <a:lnSpc>
                <a:spcPct val="128000"/>
              </a:lnSpc>
              <a:buNone/>
            </a:pPr>
            <a:r>
              <a:rPr lang="en-GB" altLang="en-US" sz="1620" dirty="0">
                <a:solidFill>
                  <a:srgbClr val="222222"/>
                </a:solidFill>
                <a:latin typeface="Arial" pitchFamily="34" charset="0"/>
                <a:ea typeface="Arial" pitchFamily="34" charset="-122"/>
                <a:cs typeface="Arial" pitchFamily="34" charset="-120"/>
              </a:rPr>
              <a:t>M7; R1 L68, 74</a:t>
            </a:r>
            <a:endParaRPr lang="en-GB" sz="1620" dirty="0"/>
          </a:p>
        </p:txBody>
      </p:sp>
      <p:sp>
        <p:nvSpPr>
          <p:cNvPr id="5" name="e03-2"/>
          <p:cNvSpPr/>
          <p:nvPr/>
        </p:nvSpPr>
        <p:spPr>
          <a:xfrm>
            <a:off x="609600" y="2758440"/>
            <a:ext cx="10972800" cy="365760"/>
          </a:xfrm>
          <a:prstGeom prst="rect">
            <a:avLst/>
          </a:prstGeom>
          <a:noFill/>
          <a:ln/>
        </p:spPr>
        <p:txBody>
          <a:bodyPr wrap="square" lIns="0" tIns="0" rIns="0" bIns="0" rtlCol="0" anchor="t"/>
          <a:lstStyle/>
          <a:p>
            <a:pPr algn="l" indent="0" marL="0">
              <a:lnSpc>
                <a:spcPct val="128000"/>
              </a:lnSpc>
              <a:buNone/>
            </a:pPr>
            <a:r>
              <a:rPr lang="en-GB" altLang="en-US" sz="1620" b="1" dirty="0">
                <a:solidFill>
                  <a:srgbClr val="222222"/>
                </a:solidFill>
                <a:latin typeface="Arial" pitchFamily="34" charset="0"/>
                <a:ea typeface="Arial" pitchFamily="34" charset="-122"/>
                <a:cs typeface="Arial" pitchFamily="34" charset="-120"/>
              </a:rPr>
              <a:t>Fact or inference: </a:t>
            </a:r>
            <a:pPr algn="l" indent="0" marL="0">
              <a:lnSpc>
                <a:spcPct val="128000"/>
              </a:lnSpc>
              <a:buNone/>
            </a:pPr>
            <a:r>
              <a:rPr lang="en-GB" altLang="en-US" sz="1620" dirty="0">
                <a:solidFill>
                  <a:srgbClr val="222222"/>
                </a:solidFill>
                <a:latin typeface="Arial" pitchFamily="34" charset="0"/>
                <a:ea typeface="Arial" pitchFamily="34" charset="-122"/>
                <a:cs typeface="Arial" pitchFamily="34" charset="-120"/>
              </a:rPr>
              <a:t>A; the single blocking observation is B</a:t>
            </a:r>
            <a:endParaRPr lang="en-GB" sz="1620" dirty="0"/>
          </a:p>
        </p:txBody>
      </p:sp>
      <p:sp>
        <p:nvSpPr>
          <p:cNvPr id="6" name="e03-3"/>
          <p:cNvSpPr/>
          <p:nvPr/>
        </p:nvSpPr>
        <p:spPr>
          <a:xfrm>
            <a:off x="609600" y="3200400"/>
            <a:ext cx="10972800" cy="365760"/>
          </a:xfrm>
          <a:prstGeom prst="rect">
            <a:avLst/>
          </a:prstGeom>
          <a:noFill/>
          <a:ln/>
        </p:spPr>
        <p:txBody>
          <a:bodyPr wrap="square" lIns="0" tIns="0" rIns="0" bIns="0" rtlCol="0" anchor="t"/>
          <a:lstStyle/>
          <a:p>
            <a:pPr algn="l" indent="0" marL="0">
              <a:lnSpc>
                <a:spcPct val="128000"/>
              </a:lnSpc>
              <a:buNone/>
            </a:pPr>
            <a:r>
              <a:rPr lang="en-GB" altLang="en-US" sz="1620" b="1" dirty="0">
                <a:solidFill>
                  <a:srgbClr val="222222"/>
                </a:solidFill>
                <a:latin typeface="Arial" pitchFamily="34" charset="0"/>
                <a:ea typeface="Arial" pitchFamily="34" charset="-122"/>
                <a:cs typeface="Arial" pitchFamily="34" charset="-120"/>
              </a:rPr>
              <a:t>Evidence strength: </a:t>
            </a:r>
            <a:pPr algn="l" indent="0" marL="0">
              <a:lnSpc>
                <a:spcPct val="128000"/>
              </a:lnSpc>
              <a:buNone/>
            </a:pPr>
            <a:r>
              <a:rPr lang="en-GB" altLang="en-US" sz="1620" dirty="0">
                <a:solidFill>
                  <a:srgbClr val="222222"/>
                </a:solidFill>
                <a:latin typeface="Arial" pitchFamily="34" charset="0"/>
                <a:ea typeface="Arial" pitchFamily="34" charset="-122"/>
                <a:cs typeface="Arial" pitchFamily="34" charset="-120"/>
              </a:rPr>
              <a:t>High, limited to this request</a:t>
            </a:r>
            <a:endParaRPr lang="en-GB" sz="1620" dirty="0"/>
          </a:p>
        </p:txBody>
      </p:sp>
      <p:sp>
        <p:nvSpPr>
          <p:cNvPr id="7" name="e03-4"/>
          <p:cNvSpPr/>
          <p:nvPr/>
        </p:nvSpPr>
        <p:spPr>
          <a:xfrm>
            <a:off x="609600" y="3642360"/>
            <a:ext cx="10972800" cy="365760"/>
          </a:xfrm>
          <a:prstGeom prst="rect">
            <a:avLst/>
          </a:prstGeom>
          <a:noFill/>
          <a:ln/>
        </p:spPr>
        <p:txBody>
          <a:bodyPr wrap="square" lIns="0" tIns="0" rIns="0" bIns="0" rtlCol="0" anchor="t"/>
          <a:lstStyle/>
          <a:p>
            <a:pPr algn="l" indent="0" marL="0">
              <a:lnSpc>
                <a:spcPct val="128000"/>
              </a:lnSpc>
              <a:buNone/>
            </a:pPr>
            <a:r>
              <a:rPr lang="en-GB" altLang="en-US" sz="1620" b="1" dirty="0">
                <a:solidFill>
                  <a:srgbClr val="222222"/>
                </a:solidFill>
                <a:latin typeface="Arial" pitchFamily="34" charset="0"/>
                <a:ea typeface="Arial" pitchFamily="34" charset="-122"/>
                <a:cs typeface="Arial" pitchFamily="34" charset="-120"/>
              </a:rPr>
              <a:t>Open question: </a:t>
            </a:r>
            <a:pPr algn="l" indent="0" marL="0">
              <a:lnSpc>
                <a:spcPct val="128000"/>
              </a:lnSpc>
              <a:buNone/>
            </a:pPr>
            <a:r>
              <a:rPr lang="en-GB" altLang="en-US" sz="1620" dirty="0">
                <a:solidFill>
                  <a:srgbClr val="222222"/>
                </a:solidFill>
                <a:latin typeface="Arial" pitchFamily="34" charset="0"/>
                <a:ea typeface="Arial" pitchFamily="34" charset="-122"/>
                <a:cs typeface="Arial" pitchFamily="34" charset="-120"/>
              </a:rPr>
              <a:t>Other permission paths and internal identity matching not tested</a:t>
            </a:r>
            <a:endParaRPr lang="en-GB" sz="1620" dirty="0"/>
          </a:p>
        </p:txBody>
      </p:sp>
      <p:sp>
        <p:nvSpPr>
          <p:cNvPr id="8" name="e03-5"/>
          <p:cNvSpPr/>
          <p:nvPr/>
        </p:nvSpPr>
        <p:spPr>
          <a:xfrm>
            <a:off x="609600" y="4084320"/>
            <a:ext cx="10972800" cy="640080"/>
          </a:xfrm>
          <a:prstGeom prst="rect">
            <a:avLst/>
          </a:prstGeom>
          <a:noFill/>
          <a:ln/>
        </p:spPr>
        <p:txBody>
          <a:bodyPr wrap="square" lIns="0" tIns="0" rIns="0" bIns="0" rtlCol="0" anchor="t"/>
          <a:lstStyle/>
          <a:p>
            <a:pPr algn="l" indent="0" marL="0">
              <a:lnSpc>
                <a:spcPct val="128000"/>
              </a:lnSpc>
              <a:buNone/>
            </a:pPr>
            <a:r>
              <a:rPr lang="en-GB" altLang="en-US" sz="1620" b="1" dirty="0">
                <a:solidFill>
                  <a:srgbClr val="222222"/>
                </a:solidFill>
                <a:latin typeface="Arial" pitchFamily="34" charset="0"/>
                <a:ea typeface="Arial" pitchFamily="34" charset="-122"/>
                <a:cs typeface="Arial" pitchFamily="34" charset="-120"/>
              </a:rPr>
              <a:t>Implication for this report: </a:t>
            </a:r>
            <a:pPr algn="l" indent="0" marL="0">
              <a:lnSpc>
                <a:spcPct val="128000"/>
              </a:lnSpc>
              <a:buNone/>
            </a:pPr>
            <a:r>
              <a:rPr lang="en-GB" altLang="en-US" sz="1620" dirty="0">
                <a:solidFill>
                  <a:srgbClr val="222222"/>
                </a:solidFill>
                <a:latin typeface="Arial" pitchFamily="34" charset="0"/>
                <a:ea typeface="Arial" pitchFamily="34" charset="-122"/>
                <a:cs typeface="Arial" pitchFamily="34" charset="-120"/>
              </a:rPr>
              <a:t>Positive observation of an access boundary; not proof that bank access requirements are met</a:t>
            </a:r>
            <a:endParaRPr lang="en-GB" sz="1620" dirty="0"/>
          </a:p>
        </p:txBody>
      </p:sp>
      <p:sp>
        <p:nvSpPr>
          <p:cNvPr id="10" name="Text 1"/>
          <p:cNvSpPr/>
          <p:nvPr>
            <p:ph idx="102" type="body" hasCustomPrompt="1"/>
          </p:nvPr>
        </p:nvSpPr>
        <p:spPr>
          <a:xfrm>
            <a:off x="762000" y="2057400"/>
            <a:ext cx="10668000" cy="3886200"/>
          </a:xfrm>
          <a:prstGeom prst="rect">
            <a:avLst/>
          </a:prstGeom>
          <a:noFill/>
          <a:ln/>
        </p:spPr>
        <p:txBody>
          <a:bodyPr wrap="square" lIns="0" tIns="0" rIns="0" bIns="0" rtlCol="0" anchor="t"/>
          <a:lstStyle/>
          <a:p>
            <a:pPr indent="0" marL="0">
              <a:buNone/>
            </a:pPr>
            <a:endParaRPr lang="en-US" sz="168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FFFFF"/>
        </a:solidFill>
      </p:bgPr>
    </p:bg>
    <p:spTree>
      <p:nvGrpSpPr>
        <p:cNvPr id="1" name=""/>
        <p:cNvGrpSpPr/>
        <p:nvPr/>
      </p:nvGrpSpPr>
      <p:grpSpPr>
        <a:xfrm>
          <a:off x="0" y="0"/>
          <a:ext cx="0" cy="0"/>
          <a:chOff x="0" y="0"/>
          <a:chExt cx="0" cy="0"/>
        </a:xfrm>
      </p:grpSpPr>
      <p:sp>
        <p:nvSpPr>
          <p:cNvPr id="2" name="Text 1"/>
          <p:cNvSpPr/>
          <p:nvPr>
            <p:ph idx="101" type="title" hasCustomPrompt="1"/>
          </p:nvPr>
        </p:nvSpPr>
        <p:spPr>
          <a:xfrm>
            <a:off x="381000" y="891540"/>
            <a:ext cx="11430000" cy="487680"/>
          </a:xfrm>
          <a:prstGeom prst="rect">
            <a:avLst/>
          </a:prstGeom>
          <a:noFill/>
          <a:ln/>
        </p:spPr>
        <p:txBody>
          <a:bodyPr wrap="square" lIns="0" tIns="0" rIns="0" bIns="0" rtlCol="0" anchor="t"/>
          <a:lstStyle/>
          <a:p>
            <a:pPr algn="l" indent="0" marL="0">
              <a:buNone/>
            </a:pPr>
            <a:r>
              <a:rPr lang="en-GB" altLang="en-US" sz="2400" b="1" spc="-84" kern="0" dirty="0">
                <a:solidFill>
                  <a:srgbClr val="000000"/>
                </a:solidFill>
                <a:latin typeface="Arial" pitchFamily="34" charset="0"/>
                <a:ea typeface="Arial" pitchFamily="34" charset="-122"/>
                <a:cs typeface="Arial" pitchFamily="34" charset="-120"/>
              </a:rPr>
              <a:t>E04 · Contract extraction</a:t>
            </a:r>
            <a:endParaRPr lang="en-GB" sz="2400" dirty="0"/>
          </a:p>
        </p:txBody>
      </p:sp>
      <p:sp>
        <p:nvSpPr>
          <p:cNvPr id="3" name="e04-0"/>
          <p:cNvSpPr/>
          <p:nvPr/>
        </p:nvSpPr>
        <p:spPr>
          <a:xfrm>
            <a:off x="609600" y="1600200"/>
            <a:ext cx="10972800" cy="640080"/>
          </a:xfrm>
          <a:prstGeom prst="rect">
            <a:avLst/>
          </a:prstGeom>
          <a:noFill/>
          <a:ln/>
        </p:spPr>
        <p:txBody>
          <a:bodyPr wrap="square" lIns="0" tIns="0" rIns="0" bIns="0" rtlCol="0" anchor="t"/>
          <a:lstStyle/>
          <a:p>
            <a:pPr algn="l" indent="0" marL="0">
              <a:lnSpc>
                <a:spcPct val="128000"/>
              </a:lnSpc>
              <a:buNone/>
            </a:pPr>
            <a:r>
              <a:rPr lang="en-GB" altLang="en-US" sz="1620" b="1" dirty="0">
                <a:solidFill>
                  <a:srgbClr val="222222"/>
                </a:solidFill>
                <a:latin typeface="Arial" pitchFamily="34" charset="0"/>
                <a:ea typeface="Arial" pitchFamily="34" charset="-122"/>
                <a:cs typeface="Arial" pitchFamily="34" charset="-120"/>
              </a:rPr>
              <a:t>Key finding: </a:t>
            </a:r>
            <a:pPr algn="l" indent="0" marL="0">
              <a:lnSpc>
                <a:spcPct val="128000"/>
              </a:lnSpc>
              <a:buNone/>
            </a:pPr>
            <a:r>
              <a:rPr lang="en-GB" altLang="en-US" sz="1620" dirty="0">
                <a:solidFill>
                  <a:srgbClr val="222222"/>
                </a:solidFill>
                <a:latin typeface="Arial" pitchFamily="34" charset="0"/>
                <a:ea typeface="Arial" pitchFamily="34" charset="-122"/>
                <a:cs typeface="Arial" pitchFamily="34" charset="-120"/>
              </a:rPr>
              <a:t>Input came from a template embedded in the preparation skill. The online document was read, five core values shown, status separately explained and confirmation requested</a:t>
            </a:r>
            <a:endParaRPr lang="en-GB" sz="1620" dirty="0"/>
          </a:p>
        </p:txBody>
      </p:sp>
      <p:sp>
        <p:nvSpPr>
          <p:cNvPr id="4" name="e04-1"/>
          <p:cNvSpPr/>
          <p:nvPr/>
        </p:nvSpPr>
        <p:spPr>
          <a:xfrm>
            <a:off x="609600" y="2316480"/>
            <a:ext cx="10972800" cy="365760"/>
          </a:xfrm>
          <a:prstGeom prst="rect">
            <a:avLst/>
          </a:prstGeom>
          <a:noFill/>
          <a:ln/>
        </p:spPr>
        <p:txBody>
          <a:bodyPr wrap="square" lIns="0" tIns="0" rIns="0" bIns="0" rtlCol="0" anchor="t"/>
          <a:lstStyle/>
          <a:p>
            <a:pPr algn="l" indent="0" marL="0">
              <a:lnSpc>
                <a:spcPct val="128000"/>
              </a:lnSpc>
              <a:buNone/>
            </a:pPr>
            <a:r>
              <a:rPr lang="en-GB" altLang="en-US" sz="1620" b="1" dirty="0">
                <a:solidFill>
                  <a:srgbClr val="222222"/>
                </a:solidFill>
                <a:latin typeface="Arial" pitchFamily="34" charset="0"/>
                <a:ea typeface="Arial" pitchFamily="34" charset="-122"/>
                <a:cs typeface="Arial" pitchFamily="34" charset="-120"/>
              </a:rPr>
              <a:t>Evidence sources: </a:t>
            </a:r>
            <a:pPr algn="l" indent="0" marL="0">
              <a:lnSpc>
                <a:spcPct val="128000"/>
              </a:lnSpc>
              <a:buNone/>
            </a:pPr>
            <a:r>
              <a:rPr lang="en-GB" altLang="en-US" sz="1620" dirty="0">
                <a:solidFill>
                  <a:srgbClr val="222222"/>
                </a:solidFill>
                <a:latin typeface="Arial" pitchFamily="34" charset="0"/>
                <a:ea typeface="Arial" pitchFamily="34" charset="-122"/>
                <a:cs typeface="Arial" pitchFamily="34" charset="-120"/>
              </a:rPr>
              <a:t>M5; K1, K2; R1 L272, 280, 320, 325</a:t>
            </a:r>
            <a:endParaRPr lang="en-GB" sz="1620" dirty="0"/>
          </a:p>
        </p:txBody>
      </p:sp>
      <p:sp>
        <p:nvSpPr>
          <p:cNvPr id="5" name="e04-2"/>
          <p:cNvSpPr/>
          <p:nvPr/>
        </p:nvSpPr>
        <p:spPr>
          <a:xfrm>
            <a:off x="609600" y="2758440"/>
            <a:ext cx="10972800" cy="365760"/>
          </a:xfrm>
          <a:prstGeom prst="rect">
            <a:avLst/>
          </a:prstGeom>
          <a:noFill/>
          <a:ln/>
        </p:spPr>
        <p:txBody>
          <a:bodyPr wrap="square" lIns="0" tIns="0" rIns="0" bIns="0" rtlCol="0" anchor="t"/>
          <a:lstStyle/>
          <a:p>
            <a:pPr algn="l" indent="0" marL="0">
              <a:lnSpc>
                <a:spcPct val="128000"/>
              </a:lnSpc>
              <a:buNone/>
            </a:pPr>
            <a:r>
              <a:rPr lang="en-GB" altLang="en-US" sz="1620" b="1" dirty="0">
                <a:solidFill>
                  <a:srgbClr val="222222"/>
                </a:solidFill>
                <a:latin typeface="Arial" pitchFamily="34" charset="0"/>
                <a:ea typeface="Arial" pitchFamily="34" charset="-122"/>
                <a:cs typeface="Arial" pitchFamily="34" charset="-120"/>
              </a:rPr>
              <a:t>Fact or inference: </a:t>
            </a:r>
            <a:pPr algn="l" indent="0" marL="0">
              <a:lnSpc>
                <a:spcPct val="128000"/>
              </a:lnSpc>
              <a:buNone/>
            </a:pPr>
            <a:r>
              <a:rPr lang="en-GB" altLang="en-US" sz="1620" dirty="0">
                <a:solidFill>
                  <a:srgbClr val="222222"/>
                </a:solidFill>
                <a:latin typeface="Arial" pitchFamily="34" charset="0"/>
                <a:ea typeface="Arial" pitchFamily="34" charset="-122"/>
                <a:cs typeface="Arial" pitchFamily="34" charset="-120"/>
              </a:rPr>
              <a:t>A; extraction feasibility is B</a:t>
            </a:r>
            <a:endParaRPr lang="en-GB" sz="1620" dirty="0"/>
          </a:p>
        </p:txBody>
      </p:sp>
      <p:sp>
        <p:nvSpPr>
          <p:cNvPr id="6" name="e04-3"/>
          <p:cNvSpPr/>
          <p:nvPr/>
        </p:nvSpPr>
        <p:spPr>
          <a:xfrm>
            <a:off x="609600" y="3200400"/>
            <a:ext cx="10972800" cy="365760"/>
          </a:xfrm>
          <a:prstGeom prst="rect">
            <a:avLst/>
          </a:prstGeom>
          <a:noFill/>
          <a:ln/>
        </p:spPr>
        <p:txBody>
          <a:bodyPr wrap="square" lIns="0" tIns="0" rIns="0" bIns="0" rtlCol="0" anchor="t"/>
          <a:lstStyle/>
          <a:p>
            <a:pPr algn="l" indent="0" marL="0">
              <a:lnSpc>
                <a:spcPct val="128000"/>
              </a:lnSpc>
              <a:buNone/>
            </a:pPr>
            <a:r>
              <a:rPr lang="en-GB" altLang="en-US" sz="1620" b="1" dirty="0">
                <a:solidFill>
                  <a:srgbClr val="222222"/>
                </a:solidFill>
                <a:latin typeface="Arial" pitchFamily="34" charset="0"/>
                <a:ea typeface="Arial" pitchFamily="34" charset="-122"/>
                <a:cs typeface="Arial" pitchFamily="34" charset="-120"/>
              </a:rPr>
              <a:t>Evidence strength: </a:t>
            </a:r>
            <a:pPr algn="l" indent="0" marL="0">
              <a:lnSpc>
                <a:spcPct val="128000"/>
              </a:lnSpc>
              <a:buNone/>
            </a:pPr>
            <a:r>
              <a:rPr lang="en-GB" altLang="en-US" sz="1620" dirty="0">
                <a:solidFill>
                  <a:srgbClr val="222222"/>
                </a:solidFill>
                <a:latin typeface="Arial" pitchFamily="34" charset="0"/>
                <a:ea typeface="Arial" pitchFamily="34" charset="-122"/>
                <a:cs typeface="Arial" pitchFamily="34" charset="-120"/>
              </a:rPr>
              <a:t>High, limited to one template document</a:t>
            </a:r>
            <a:endParaRPr lang="en-GB" sz="1620" dirty="0"/>
          </a:p>
        </p:txBody>
      </p:sp>
      <p:sp>
        <p:nvSpPr>
          <p:cNvPr id="7" name="e04-4"/>
          <p:cNvSpPr/>
          <p:nvPr/>
        </p:nvSpPr>
        <p:spPr>
          <a:xfrm>
            <a:off x="609600" y="3642360"/>
            <a:ext cx="10972800" cy="365760"/>
          </a:xfrm>
          <a:prstGeom prst="rect">
            <a:avLst/>
          </a:prstGeom>
          <a:noFill/>
          <a:ln/>
        </p:spPr>
        <p:txBody>
          <a:bodyPr wrap="square" lIns="0" tIns="0" rIns="0" bIns="0" rtlCol="0" anchor="t"/>
          <a:lstStyle/>
          <a:p>
            <a:pPr algn="l" indent="0" marL="0">
              <a:lnSpc>
                <a:spcPct val="128000"/>
              </a:lnSpc>
              <a:buNone/>
            </a:pPr>
            <a:r>
              <a:rPr lang="en-GB" altLang="en-US" sz="1620" b="1" dirty="0">
                <a:solidFill>
                  <a:srgbClr val="222222"/>
                </a:solidFill>
                <a:latin typeface="Arial" pitchFamily="34" charset="0"/>
                <a:ea typeface="Arial" pitchFamily="34" charset="-122"/>
                <a:cs typeface="Arial" pitchFamily="34" charset="-120"/>
              </a:rPr>
              <a:t>Open question: </a:t>
            </a:r>
            <a:pPr algn="l" indent="0" marL="0">
              <a:lnSpc>
                <a:spcPct val="128000"/>
              </a:lnSpc>
              <a:buNone/>
            </a:pPr>
            <a:r>
              <a:rPr lang="en-GB" altLang="en-US" sz="1620" dirty="0">
                <a:solidFill>
                  <a:srgbClr val="222222"/>
                </a:solidFill>
                <a:latin typeface="Arial" pitchFamily="34" charset="0"/>
                <a:ea typeface="Arial" pitchFamily="34" charset="-122"/>
                <a:cs typeface="Arial" pitchFamily="34" charset="-120"/>
              </a:rPr>
              <a:t>Accuracy on new contracts, scans, multiple versions and missing fields</a:t>
            </a:r>
            <a:endParaRPr lang="en-GB" sz="1620" dirty="0"/>
          </a:p>
        </p:txBody>
      </p:sp>
      <p:sp>
        <p:nvSpPr>
          <p:cNvPr id="8" name="e04-5"/>
          <p:cNvSpPr/>
          <p:nvPr/>
        </p:nvSpPr>
        <p:spPr>
          <a:xfrm>
            <a:off x="609600" y="4084320"/>
            <a:ext cx="10972800" cy="640080"/>
          </a:xfrm>
          <a:prstGeom prst="rect">
            <a:avLst/>
          </a:prstGeom>
          <a:noFill/>
          <a:ln/>
        </p:spPr>
        <p:txBody>
          <a:bodyPr wrap="square" lIns="0" tIns="0" rIns="0" bIns="0" rtlCol="0" anchor="t"/>
          <a:lstStyle/>
          <a:p>
            <a:pPr algn="l" indent="0" marL="0">
              <a:lnSpc>
                <a:spcPct val="128000"/>
              </a:lnSpc>
              <a:buNone/>
            </a:pPr>
            <a:r>
              <a:rPr lang="en-GB" altLang="en-US" sz="1620" b="1" dirty="0">
                <a:solidFill>
                  <a:srgbClr val="222222"/>
                </a:solidFill>
                <a:latin typeface="Arial" pitchFamily="34" charset="0"/>
                <a:ea typeface="Arial" pitchFamily="34" charset="-122"/>
                <a:cs typeface="Arial" pitchFamily="34" charset="-120"/>
              </a:rPr>
              <a:t>Implication for this report: </a:t>
            </a:r>
            <a:pPr algn="l" indent="0" marL="0">
              <a:lnSpc>
                <a:spcPct val="128000"/>
              </a:lnSpc>
              <a:buNone/>
            </a:pPr>
            <a:r>
              <a:rPr lang="en-GB" altLang="en-US" sz="1620" dirty="0">
                <a:solidFill>
                  <a:srgbClr val="222222"/>
                </a:solidFill>
                <a:latin typeface="Arial" pitchFamily="34" charset="0"/>
                <a:ea typeface="Arial" pitchFamily="34" charset="-122"/>
                <a:cs typeface="Arial" pitchFamily="34" charset="-120"/>
              </a:rPr>
              <a:t>Limited evidence of extraction feasibility, not an evaluation of real-world contract recognition</a:t>
            </a:r>
            <a:endParaRPr lang="en-GB" sz="1620" dirty="0"/>
          </a:p>
        </p:txBody>
      </p:sp>
      <p:sp>
        <p:nvSpPr>
          <p:cNvPr id="10" name="Text 1"/>
          <p:cNvSpPr/>
          <p:nvPr>
            <p:ph idx="102" type="body" hasCustomPrompt="1"/>
          </p:nvPr>
        </p:nvSpPr>
        <p:spPr>
          <a:xfrm>
            <a:off x="762000" y="2057400"/>
            <a:ext cx="10668000" cy="3886200"/>
          </a:xfrm>
          <a:prstGeom prst="rect">
            <a:avLst/>
          </a:prstGeom>
          <a:noFill/>
          <a:ln/>
        </p:spPr>
        <p:txBody>
          <a:bodyPr wrap="square" lIns="0" tIns="0" rIns="0" bIns="0" rtlCol="0" anchor="t"/>
          <a:lstStyle/>
          <a:p>
            <a:pPr indent="0" marL="0">
              <a:buNone/>
            </a:pPr>
            <a:endParaRPr lang="en-US" sz="168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FFFFF"/>
        </a:solidFill>
      </p:bgPr>
    </p:bg>
    <p:spTree>
      <p:nvGrpSpPr>
        <p:cNvPr id="1" name=""/>
        <p:cNvGrpSpPr/>
        <p:nvPr/>
      </p:nvGrpSpPr>
      <p:grpSpPr>
        <a:xfrm>
          <a:off x="0" y="0"/>
          <a:ext cx="0" cy="0"/>
          <a:chOff x="0" y="0"/>
          <a:chExt cx="0" cy="0"/>
        </a:xfrm>
      </p:grpSpPr>
      <p:sp>
        <p:nvSpPr>
          <p:cNvPr id="2" name="Text 1"/>
          <p:cNvSpPr/>
          <p:nvPr>
            <p:ph idx="101" type="title" hasCustomPrompt="1"/>
          </p:nvPr>
        </p:nvSpPr>
        <p:spPr>
          <a:xfrm>
            <a:off x="381000" y="891540"/>
            <a:ext cx="11430000" cy="487680"/>
          </a:xfrm>
          <a:prstGeom prst="rect">
            <a:avLst/>
          </a:prstGeom>
          <a:noFill/>
          <a:ln/>
        </p:spPr>
        <p:txBody>
          <a:bodyPr wrap="square" lIns="0" tIns="0" rIns="0" bIns="0" rtlCol="0" anchor="t"/>
          <a:lstStyle/>
          <a:p>
            <a:pPr algn="l" indent="0" marL="0">
              <a:buNone/>
            </a:pPr>
            <a:r>
              <a:rPr lang="en-GB" altLang="en-US" sz="2400" b="1" spc="-84" kern="0" dirty="0">
                <a:solidFill>
                  <a:srgbClr val="000000"/>
                </a:solidFill>
                <a:latin typeface="Arial" pitchFamily="34" charset="0"/>
                <a:ea typeface="Arial" pitchFamily="34" charset="-122"/>
                <a:cs typeface="Arial" pitchFamily="34" charset="-120"/>
              </a:rPr>
              <a:t>E05 · AI contract entry and my correction</a:t>
            </a:r>
            <a:endParaRPr lang="en-GB" sz="2400" dirty="0"/>
          </a:p>
        </p:txBody>
      </p:sp>
      <p:sp>
        <p:nvSpPr>
          <p:cNvPr id="3" name="e05-0"/>
          <p:cNvSpPr/>
          <p:nvPr/>
        </p:nvSpPr>
        <p:spPr>
          <a:xfrm>
            <a:off x="609600" y="1600200"/>
            <a:ext cx="10972800" cy="906780"/>
          </a:xfrm>
          <a:prstGeom prst="rect">
            <a:avLst/>
          </a:prstGeom>
          <a:noFill/>
          <a:ln/>
        </p:spPr>
        <p:txBody>
          <a:bodyPr wrap="square" lIns="0" tIns="0" rIns="0" bIns="0" rtlCol="0" anchor="t"/>
          <a:lstStyle/>
          <a:p>
            <a:pPr algn="l" indent="0" marL="0">
              <a:lnSpc>
                <a:spcPct val="128000"/>
              </a:lnSpc>
              <a:buNone/>
            </a:pPr>
            <a:r>
              <a:rPr lang="en-GB" altLang="en-US" sz="1620" b="1" dirty="0">
                <a:solidFill>
                  <a:srgbClr val="222222"/>
                </a:solidFill>
                <a:latin typeface="Arial" pitchFamily="34" charset="0"/>
                <a:ea typeface="Arial" pitchFamily="34" charset="-122"/>
                <a:cs typeface="Arial" pitchFamily="34" charset="-120"/>
              </a:rPr>
              <a:t>Key finding: </a:t>
            </a:r>
            <a:pPr algn="l" indent="0" marL="0">
              <a:lnSpc>
                <a:spcPct val="128000"/>
              </a:lnSpc>
              <a:buNone/>
            </a:pPr>
            <a:r>
              <a:rPr lang="en-GB" altLang="en-US" sz="1620" dirty="0">
                <a:solidFill>
                  <a:srgbClr val="222222"/>
                </a:solidFill>
                <a:latin typeface="Arial" pitchFamily="34" charset="0"/>
                <a:ea typeface="Arial" pitchFamily="34" charset="-122"/>
                <a:cs typeface="Arial" pitchFamily="34" charset="-120"/>
              </a:rPr>
              <a:t>I explicitly did not click the supplementary agreement and watched AI entry throughout in Qwen Office. A later ledger record was created at 16:13:39; the reviewed main conversation has no located contract_write call</a:t>
            </a:r>
            <a:endParaRPr lang="en-GB" sz="1620" dirty="0"/>
          </a:p>
        </p:txBody>
      </p:sp>
      <p:sp>
        <p:nvSpPr>
          <p:cNvPr id="4" name="e05-1"/>
          <p:cNvSpPr/>
          <p:nvPr/>
        </p:nvSpPr>
        <p:spPr>
          <a:xfrm>
            <a:off x="609600" y="2583180"/>
            <a:ext cx="10972800" cy="365760"/>
          </a:xfrm>
          <a:prstGeom prst="rect">
            <a:avLst/>
          </a:prstGeom>
          <a:noFill/>
          <a:ln/>
        </p:spPr>
        <p:txBody>
          <a:bodyPr wrap="square" lIns="0" tIns="0" rIns="0" bIns="0" rtlCol="0" anchor="t"/>
          <a:lstStyle/>
          <a:p>
            <a:pPr algn="l" indent="0" marL="0">
              <a:lnSpc>
                <a:spcPct val="128000"/>
              </a:lnSpc>
              <a:buNone/>
            </a:pPr>
            <a:r>
              <a:rPr lang="en-GB" altLang="en-US" sz="1620" b="1" dirty="0">
                <a:solidFill>
                  <a:srgbClr val="222222"/>
                </a:solidFill>
                <a:latin typeface="Arial" pitchFamily="34" charset="0"/>
                <a:ea typeface="Arial" pitchFamily="34" charset="-122"/>
                <a:cs typeface="Arial" pitchFamily="34" charset="-120"/>
              </a:rPr>
              <a:t>Evidence sources: </a:t>
            </a:r>
            <a:pPr algn="l" indent="0" marL="0">
              <a:lnSpc>
                <a:spcPct val="128000"/>
              </a:lnSpc>
              <a:buNone/>
            </a:pPr>
            <a:r>
              <a:rPr lang="en-GB" altLang="en-US" sz="1620" u="sng" dirty="0">
                <a:solidFill>
                  <a:srgbClr val="B80010"/>
                </a:solidFill>
                <a:latin typeface="Arial" pitchFamily="34" charset="0"/>
                <a:ea typeface="Arial" pitchFamily="34" charset="-122"/>
                <a:cs typeface="Arial" pitchFamily="34" charset="-120"/>
                <a:hlinkClick r:id="rId1" action="ppaction://hlinksldjump" tooltip="">
                  <a:extLst>
                    <a:ext uri="{A12FA001-AC4F-418D-AE19-62706E023703}">
                      <ahyp:hlinkClr xmlns:ahyp="http://schemas.microsoft.com/office/drawing/2018/hyperlinkcolor" val="tx"/>
                    </a:ext>
                  </a:extLst>
                </a:hlinkClick>
              </a:rPr>
              <a:t>U3</a:t>
            </a:r>
            <a:pPr algn="l" indent="0" marL="0">
              <a:lnSpc>
                <a:spcPct val="128000"/>
              </a:lnSpc>
              <a:buNone/>
            </a:pPr>
            <a:r>
              <a:rPr lang="en-GB" altLang="en-US" sz="1620" dirty="0">
                <a:solidFill>
                  <a:srgbClr val="222222"/>
                </a:solidFill>
                <a:latin typeface="Arial" pitchFamily="34" charset="0"/>
                <a:ea typeface="Arial" pitchFamily="34" charset="-122"/>
                <a:cs typeface="Arial" pitchFamily="34" charset="-120"/>
              </a:rPr>
              <a:t> (clarifying </a:t>
            </a:r>
            <a:pPr algn="l" indent="0" marL="0">
              <a:lnSpc>
                <a:spcPct val="128000"/>
              </a:lnSpc>
              <a:buNone/>
            </a:pPr>
            <a:r>
              <a:rPr lang="en-GB" altLang="en-US" sz="1620" u="sng" dirty="0">
                <a:solidFill>
                  <a:srgbClr val="B80010"/>
                </a:solidFill>
                <a:latin typeface="Arial" pitchFamily="34" charset="0"/>
                <a:ea typeface="Arial" pitchFamily="34" charset="-122"/>
                <a:cs typeface="Arial" pitchFamily="34" charset="-120"/>
                <a:hlinkClick r:id="rId2" action="ppaction://hlinksldjump" tooltip="">
                  <a:extLst>
                    <a:ext uri="{A12FA001-AC4F-418D-AE19-62706E023703}">
                      <ahyp:hlinkClr xmlns:ahyp="http://schemas.microsoft.com/office/drawing/2018/hyperlinkcolor" val="tx"/>
                    </a:ext>
                  </a:extLst>
                </a:hlinkClick>
              </a:rPr>
              <a:t>U2</a:t>
            </a:r>
            <a:pPr algn="l" indent="0" marL="0">
              <a:lnSpc>
                <a:spcPct val="128000"/>
              </a:lnSpc>
              <a:buNone/>
            </a:pPr>
            <a:r>
              <a:rPr lang="en-GB" altLang="en-US" sz="1620" dirty="0">
                <a:solidFill>
                  <a:srgbClr val="222222"/>
                </a:solidFill>
                <a:latin typeface="Arial" pitchFamily="34" charset="0"/>
                <a:ea typeface="Arial" pitchFamily="34" charset="-122"/>
                <a:cs typeface="Arial" pitchFamily="34" charset="-120"/>
              </a:rPr>
              <a:t>); R3 L16, R5 L73; R1 call index</a:t>
            </a:r>
            <a:endParaRPr lang="en-GB" sz="1620" dirty="0"/>
          </a:p>
        </p:txBody>
      </p:sp>
      <p:sp>
        <p:nvSpPr>
          <p:cNvPr id="5" name="e05-2"/>
          <p:cNvSpPr/>
          <p:nvPr/>
        </p:nvSpPr>
        <p:spPr>
          <a:xfrm>
            <a:off x="609600" y="3025140"/>
            <a:ext cx="10972800" cy="365760"/>
          </a:xfrm>
          <a:prstGeom prst="rect">
            <a:avLst/>
          </a:prstGeom>
          <a:noFill/>
          <a:ln/>
        </p:spPr>
        <p:txBody>
          <a:bodyPr wrap="square" lIns="0" tIns="0" rIns="0" bIns="0" rtlCol="0" anchor="t"/>
          <a:lstStyle/>
          <a:p>
            <a:pPr algn="l" indent="0" marL="0">
              <a:lnSpc>
                <a:spcPct val="128000"/>
              </a:lnSpc>
              <a:buNone/>
            </a:pPr>
            <a:r>
              <a:rPr lang="en-GB" altLang="en-US" sz="1620" b="1" dirty="0">
                <a:solidFill>
                  <a:srgbClr val="222222"/>
                </a:solidFill>
                <a:latin typeface="Arial" pitchFamily="34" charset="0"/>
                <a:ea typeface="Arial" pitchFamily="34" charset="-122"/>
                <a:cs typeface="Arial" pitchFamily="34" charset="-120"/>
              </a:rPr>
              <a:t>Fact or inference: </a:t>
            </a:r>
            <a:pPr algn="l" indent="0" marL="0">
              <a:lnSpc>
                <a:spcPct val="128000"/>
              </a:lnSpc>
              <a:buNone/>
            </a:pPr>
            <a:r>
              <a:rPr lang="en-GB" altLang="en-US" sz="1620" dirty="0">
                <a:solidFill>
                  <a:srgbClr val="222222"/>
                </a:solidFill>
                <a:latin typeface="Arial" pitchFamily="34" charset="0"/>
                <a:ea typeface="Arial" pitchFamily="34" charset="-122"/>
                <a:cs typeface="Arial" pitchFamily="34" charset="-120"/>
              </a:rPr>
              <a:t>A: personal account and ledger; B: observed AI entry</a:t>
            </a:r>
            <a:endParaRPr lang="en-GB" sz="1620" dirty="0"/>
          </a:p>
        </p:txBody>
      </p:sp>
      <p:sp>
        <p:nvSpPr>
          <p:cNvPr id="6" name="e05-3"/>
          <p:cNvSpPr/>
          <p:nvPr/>
        </p:nvSpPr>
        <p:spPr>
          <a:xfrm>
            <a:off x="609600" y="3467100"/>
            <a:ext cx="10972800" cy="640080"/>
          </a:xfrm>
          <a:prstGeom prst="rect">
            <a:avLst/>
          </a:prstGeom>
          <a:noFill/>
          <a:ln/>
        </p:spPr>
        <p:txBody>
          <a:bodyPr wrap="square" lIns="0" tIns="0" rIns="0" bIns="0" rtlCol="0" anchor="t"/>
          <a:lstStyle/>
          <a:p>
            <a:pPr algn="l" indent="0" marL="0">
              <a:lnSpc>
                <a:spcPct val="128000"/>
              </a:lnSpc>
              <a:buNone/>
            </a:pPr>
            <a:r>
              <a:rPr lang="en-GB" altLang="en-US" sz="1620" b="1" dirty="0">
                <a:solidFill>
                  <a:srgbClr val="222222"/>
                </a:solidFill>
                <a:latin typeface="Arial" pitchFamily="34" charset="0"/>
                <a:ea typeface="Arial" pitchFamily="34" charset="-122"/>
                <a:cs typeface="Arial" pitchFamily="34" charset="-120"/>
              </a:rPr>
              <a:t>Evidence strength: </a:t>
            </a:r>
            <a:pPr algn="l" indent="0" marL="0">
              <a:lnSpc>
                <a:spcPct val="128000"/>
              </a:lnSpc>
              <a:buNone/>
            </a:pPr>
            <a:r>
              <a:rPr lang="en-GB" altLang="en-US" sz="1620" dirty="0">
                <a:solidFill>
                  <a:srgbClr val="222222"/>
                </a:solidFill>
                <a:latin typeface="Arial" pitchFamily="34" charset="0"/>
                <a:ea typeface="Arial" pitchFamily="34" charset="-122"/>
                <a:cs typeface="Arial" pitchFamily="34" charset="-120"/>
              </a:rPr>
              <a:t>Personal observation and ledger existence supported; specific execution chain unresolved</a:t>
            </a:r>
            <a:endParaRPr lang="en-GB" sz="1620" dirty="0"/>
          </a:p>
        </p:txBody>
      </p:sp>
      <p:sp>
        <p:nvSpPr>
          <p:cNvPr id="7" name="e05-4"/>
          <p:cNvSpPr/>
          <p:nvPr/>
        </p:nvSpPr>
        <p:spPr>
          <a:xfrm>
            <a:off x="609600" y="4183380"/>
            <a:ext cx="10972800" cy="640080"/>
          </a:xfrm>
          <a:prstGeom prst="rect">
            <a:avLst/>
          </a:prstGeom>
          <a:noFill/>
          <a:ln/>
        </p:spPr>
        <p:txBody>
          <a:bodyPr wrap="square" lIns="0" tIns="0" rIns="0" bIns="0" rtlCol="0" anchor="t"/>
          <a:lstStyle/>
          <a:p>
            <a:pPr algn="l" indent="0" marL="0">
              <a:lnSpc>
                <a:spcPct val="128000"/>
              </a:lnSpc>
              <a:buNone/>
            </a:pPr>
            <a:r>
              <a:rPr lang="en-GB" altLang="en-US" sz="1620" b="1" dirty="0">
                <a:solidFill>
                  <a:srgbClr val="222222"/>
                </a:solidFill>
                <a:latin typeface="Arial" pitchFamily="34" charset="0"/>
                <a:ea typeface="Arial" pitchFamily="34" charset="-122"/>
                <a:cs typeface="Arial" pitchFamily="34" charset="-120"/>
              </a:rPr>
              <a:t>Open question: </a:t>
            </a:r>
            <a:pPr algn="l" indent="0" marL="0">
              <a:lnSpc>
                <a:spcPct val="128000"/>
              </a:lnSpc>
              <a:buNone/>
            </a:pPr>
            <a:r>
              <a:rPr lang="en-GB" altLang="en-US" sz="1620" dirty="0">
                <a:solidFill>
                  <a:srgbClr val="222222"/>
                </a:solidFill>
                <a:latin typeface="Arial" pitchFamily="34" charset="0"/>
                <a:ea typeface="Arial" pitchFamily="34" charset="-122"/>
                <a:cs typeface="Arial" pitchFamily="34" charset="-120"/>
              </a:rPr>
              <a:t>Which call performed the write, and how do confirmation context and ledger record correspond?</a:t>
            </a:r>
            <a:endParaRPr lang="en-GB" sz="1620" dirty="0"/>
          </a:p>
        </p:txBody>
      </p:sp>
      <p:sp>
        <p:nvSpPr>
          <p:cNvPr id="8" name="e05-5"/>
          <p:cNvSpPr/>
          <p:nvPr/>
        </p:nvSpPr>
        <p:spPr>
          <a:xfrm>
            <a:off x="609600" y="4899660"/>
            <a:ext cx="10972800" cy="906780"/>
          </a:xfrm>
          <a:prstGeom prst="rect">
            <a:avLst/>
          </a:prstGeom>
          <a:noFill/>
          <a:ln/>
        </p:spPr>
        <p:txBody>
          <a:bodyPr wrap="square" lIns="0" tIns="0" rIns="0" bIns="0" rtlCol="0" anchor="t"/>
          <a:lstStyle/>
          <a:p>
            <a:pPr algn="l" indent="0" marL="0">
              <a:lnSpc>
                <a:spcPct val="128000"/>
              </a:lnSpc>
              <a:buNone/>
            </a:pPr>
            <a:r>
              <a:rPr lang="en-GB" altLang="en-US" sz="1620" b="1" dirty="0">
                <a:solidFill>
                  <a:srgbClr val="222222"/>
                </a:solidFill>
                <a:latin typeface="Arial" pitchFamily="34" charset="0"/>
                <a:ea typeface="Arial" pitchFamily="34" charset="-122"/>
                <a:cs typeface="Arial" pitchFamily="34" charset="-120"/>
              </a:rPr>
              <a:t>Implication for this report: </a:t>
            </a:r>
            <a:pPr algn="l" indent="0" marL="0">
              <a:lnSpc>
                <a:spcPct val="128000"/>
              </a:lnSpc>
              <a:buNone/>
            </a:pPr>
            <a:r>
              <a:rPr lang="en-GB" altLang="en-US" sz="1620" dirty="0">
                <a:solidFill>
                  <a:srgbClr val="222222"/>
                </a:solidFill>
                <a:latin typeface="Arial" pitchFamily="34" charset="0"/>
                <a:ea typeface="Arial" pitchFamily="34" charset="-122"/>
                <a:cs typeface="Arial" pitchFamily="34" charset="-120"/>
              </a:rPr>
              <a:t>Withdraw the manual-web-entry explanation and retain the AI-entry observation. A missing call does not prove unauthorised action or full validation of write controls</a:t>
            </a:r>
            <a:endParaRPr lang="en-GB" sz="1620" dirty="0"/>
          </a:p>
        </p:txBody>
      </p:sp>
      <p:sp>
        <p:nvSpPr>
          <p:cNvPr id="10" name="Text 1"/>
          <p:cNvSpPr/>
          <p:nvPr>
            <p:ph idx="102" type="body" hasCustomPrompt="1"/>
          </p:nvPr>
        </p:nvSpPr>
        <p:spPr>
          <a:xfrm>
            <a:off x="762000" y="2057400"/>
            <a:ext cx="10668000" cy="3886200"/>
          </a:xfrm>
          <a:prstGeom prst="rect">
            <a:avLst/>
          </a:prstGeom>
          <a:noFill/>
          <a:ln/>
        </p:spPr>
        <p:txBody>
          <a:bodyPr wrap="square" lIns="0" tIns="0" rIns="0" bIns="0" rtlCol="0" anchor="t"/>
          <a:lstStyle/>
          <a:p>
            <a:pPr indent="0" marL="0">
              <a:buNone/>
            </a:pPr>
            <a:endParaRPr lang="en-US" sz="168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FFFFF"/>
        </a:solidFill>
      </p:bgPr>
    </p:bg>
    <p:spTree>
      <p:nvGrpSpPr>
        <p:cNvPr id="1" name=""/>
        <p:cNvGrpSpPr/>
        <p:nvPr/>
      </p:nvGrpSpPr>
      <p:grpSpPr>
        <a:xfrm>
          <a:off x="0" y="0"/>
          <a:ext cx="0" cy="0"/>
          <a:chOff x="0" y="0"/>
          <a:chExt cx="0" cy="0"/>
        </a:xfrm>
      </p:grpSpPr>
      <p:sp>
        <p:nvSpPr>
          <p:cNvPr id="2" name="Text 1"/>
          <p:cNvSpPr/>
          <p:nvPr>
            <p:ph idx="101" type="title" hasCustomPrompt="1"/>
          </p:nvPr>
        </p:nvSpPr>
        <p:spPr>
          <a:xfrm>
            <a:off x="381000" y="891540"/>
            <a:ext cx="11430000" cy="487680"/>
          </a:xfrm>
          <a:prstGeom prst="rect">
            <a:avLst/>
          </a:prstGeom>
          <a:noFill/>
          <a:ln/>
        </p:spPr>
        <p:txBody>
          <a:bodyPr wrap="square" lIns="0" tIns="0" rIns="0" bIns="0" rtlCol="0" anchor="t"/>
          <a:lstStyle/>
          <a:p>
            <a:pPr algn="l" indent="0" marL="0">
              <a:buNone/>
            </a:pPr>
            <a:r>
              <a:rPr lang="en-GB" altLang="en-US" sz="2400" b="1" spc="-84" kern="0" dirty="0">
                <a:solidFill>
                  <a:srgbClr val="000000"/>
                </a:solidFill>
                <a:latin typeface="Arial" pitchFamily="34" charset="0"/>
                <a:ea typeface="Arial" pitchFamily="34" charset="-122"/>
                <a:cs typeface="Arial" pitchFamily="34" charset="-120"/>
              </a:rPr>
              <a:t>E06 · Risk data and calculation ownership</a:t>
            </a:r>
            <a:endParaRPr lang="en-GB" sz="2400" dirty="0"/>
          </a:p>
        </p:txBody>
      </p:sp>
      <p:sp>
        <p:nvSpPr>
          <p:cNvPr id="3" name="e06-0"/>
          <p:cNvSpPr/>
          <p:nvPr/>
        </p:nvSpPr>
        <p:spPr>
          <a:xfrm>
            <a:off x="609600" y="1600200"/>
            <a:ext cx="10972800" cy="640080"/>
          </a:xfrm>
          <a:prstGeom prst="rect">
            <a:avLst/>
          </a:prstGeom>
          <a:noFill/>
          <a:ln/>
        </p:spPr>
        <p:txBody>
          <a:bodyPr wrap="square" lIns="0" tIns="0" rIns="0" bIns="0" rtlCol="0" anchor="t"/>
          <a:lstStyle/>
          <a:p>
            <a:pPr algn="l" indent="0" marL="0">
              <a:lnSpc>
                <a:spcPct val="128000"/>
              </a:lnSpc>
              <a:buNone/>
            </a:pPr>
            <a:r>
              <a:rPr lang="en-GB" altLang="en-US" sz="1620" b="1" dirty="0">
                <a:solidFill>
                  <a:srgbClr val="222222"/>
                </a:solidFill>
                <a:latin typeface="Arial" pitchFamily="34" charset="0"/>
                <a:ea typeface="Arial" pitchFamily="34" charset="-122"/>
                <a:cs typeface="Arial" pitchFamily="34" charset="-120"/>
              </a:rPr>
              <a:t>Key finding: </a:t>
            </a:r>
            <a:pPr algn="l" indent="0" marL="0">
              <a:lnSpc>
                <a:spcPct val="128000"/>
              </a:lnSpc>
              <a:buNone/>
            </a:pPr>
            <a:r>
              <a:rPr lang="en-GB" altLang="en-US" sz="1620" dirty="0">
                <a:solidFill>
                  <a:srgbClr val="222222"/>
                </a:solidFill>
                <a:latin typeface="Arial" pitchFamily="34" charset="0"/>
                <a:ea typeface="Arial" pitchFamily="34" charset="-122"/>
                <a:cs typeface="Arial" pitchFamily="34" charset="-120"/>
              </a:rPr>
              <a:t>Ledger tools already returned days overdue, overspend and progress gaps; at-risk projects came from rule-based queries</a:t>
            </a:r>
            <a:endParaRPr lang="en-GB" sz="1620" dirty="0"/>
          </a:p>
        </p:txBody>
      </p:sp>
      <p:sp>
        <p:nvSpPr>
          <p:cNvPr id="4" name="e06-1"/>
          <p:cNvSpPr/>
          <p:nvPr/>
        </p:nvSpPr>
        <p:spPr>
          <a:xfrm>
            <a:off x="609600" y="2316480"/>
            <a:ext cx="10972800" cy="365760"/>
          </a:xfrm>
          <a:prstGeom prst="rect">
            <a:avLst/>
          </a:prstGeom>
          <a:noFill/>
          <a:ln/>
        </p:spPr>
        <p:txBody>
          <a:bodyPr wrap="square" lIns="0" tIns="0" rIns="0" bIns="0" rtlCol="0" anchor="t"/>
          <a:lstStyle/>
          <a:p>
            <a:pPr algn="l" indent="0" marL="0">
              <a:lnSpc>
                <a:spcPct val="128000"/>
              </a:lnSpc>
              <a:buNone/>
            </a:pPr>
            <a:r>
              <a:rPr lang="en-GB" altLang="en-US" sz="1620" b="1" dirty="0">
                <a:solidFill>
                  <a:srgbClr val="222222"/>
                </a:solidFill>
                <a:latin typeface="Arial" pitchFamily="34" charset="0"/>
                <a:ea typeface="Arial" pitchFamily="34" charset="-122"/>
                <a:cs typeface="Arial" pitchFamily="34" charset="-120"/>
              </a:rPr>
              <a:t>Evidence sources: </a:t>
            </a:r>
            <a:pPr algn="l" indent="0" marL="0">
              <a:lnSpc>
                <a:spcPct val="128000"/>
              </a:lnSpc>
              <a:buNone/>
            </a:pPr>
            <a:r>
              <a:rPr lang="en-GB" altLang="en-US" sz="1620" dirty="0">
                <a:solidFill>
                  <a:srgbClr val="222222"/>
                </a:solidFill>
                <a:latin typeface="Arial" pitchFamily="34" charset="0"/>
                <a:ea typeface="Arial" pitchFamily="34" charset="-122"/>
                <a:cs typeface="Arial" pitchFamily="34" charset="-120"/>
              </a:rPr>
              <a:t>R1 L341–355; R2 L18–31</a:t>
            </a:r>
            <a:endParaRPr lang="en-GB" sz="1620" dirty="0"/>
          </a:p>
        </p:txBody>
      </p:sp>
      <p:sp>
        <p:nvSpPr>
          <p:cNvPr id="5" name="e06-2"/>
          <p:cNvSpPr/>
          <p:nvPr/>
        </p:nvSpPr>
        <p:spPr>
          <a:xfrm>
            <a:off x="609600" y="2758440"/>
            <a:ext cx="10972800" cy="365760"/>
          </a:xfrm>
          <a:prstGeom prst="rect">
            <a:avLst/>
          </a:prstGeom>
          <a:noFill/>
          <a:ln/>
        </p:spPr>
        <p:txBody>
          <a:bodyPr wrap="square" lIns="0" tIns="0" rIns="0" bIns="0" rtlCol="0" anchor="t"/>
          <a:lstStyle/>
          <a:p>
            <a:pPr algn="l" indent="0" marL="0">
              <a:lnSpc>
                <a:spcPct val="128000"/>
              </a:lnSpc>
              <a:buNone/>
            </a:pPr>
            <a:r>
              <a:rPr lang="en-GB" altLang="en-US" sz="1620" b="1" dirty="0">
                <a:solidFill>
                  <a:srgbClr val="222222"/>
                </a:solidFill>
                <a:latin typeface="Arial" pitchFamily="34" charset="0"/>
                <a:ea typeface="Arial" pitchFamily="34" charset="-122"/>
                <a:cs typeface="Arial" pitchFamily="34" charset="-120"/>
              </a:rPr>
              <a:t>Fact or inference: </a:t>
            </a:r>
            <a:pPr algn="l" indent="0" marL="0">
              <a:lnSpc>
                <a:spcPct val="128000"/>
              </a:lnSpc>
              <a:buNone/>
            </a:pPr>
            <a:r>
              <a:rPr lang="en-GB" altLang="en-US" sz="1620" dirty="0">
                <a:solidFill>
                  <a:srgbClr val="222222"/>
                </a:solidFill>
                <a:latin typeface="Arial" pitchFamily="34" charset="0"/>
                <a:ea typeface="Arial" pitchFamily="34" charset="-122"/>
                <a:cs typeface="Arial" pitchFamily="34" charset="-120"/>
              </a:rPr>
              <a:t>A</a:t>
            </a:r>
            <a:endParaRPr lang="en-GB" sz="1620" dirty="0"/>
          </a:p>
        </p:txBody>
      </p:sp>
      <p:sp>
        <p:nvSpPr>
          <p:cNvPr id="6" name="e06-3"/>
          <p:cNvSpPr/>
          <p:nvPr/>
        </p:nvSpPr>
        <p:spPr>
          <a:xfrm>
            <a:off x="609600" y="3200400"/>
            <a:ext cx="10972800" cy="365760"/>
          </a:xfrm>
          <a:prstGeom prst="rect">
            <a:avLst/>
          </a:prstGeom>
          <a:noFill/>
          <a:ln/>
        </p:spPr>
        <p:txBody>
          <a:bodyPr wrap="square" lIns="0" tIns="0" rIns="0" bIns="0" rtlCol="0" anchor="t"/>
          <a:lstStyle/>
          <a:p>
            <a:pPr algn="l" indent="0" marL="0">
              <a:lnSpc>
                <a:spcPct val="128000"/>
              </a:lnSpc>
              <a:buNone/>
            </a:pPr>
            <a:r>
              <a:rPr lang="en-GB" altLang="en-US" sz="1620" b="1" dirty="0">
                <a:solidFill>
                  <a:srgbClr val="222222"/>
                </a:solidFill>
                <a:latin typeface="Arial" pitchFamily="34" charset="0"/>
                <a:ea typeface="Arial" pitchFamily="34" charset="-122"/>
                <a:cs typeface="Arial" pitchFamily="34" charset="-120"/>
              </a:rPr>
              <a:t>Evidence strength: </a:t>
            </a:r>
            <a:pPr algn="l" indent="0" marL="0">
              <a:lnSpc>
                <a:spcPct val="128000"/>
              </a:lnSpc>
              <a:buNone/>
            </a:pPr>
            <a:r>
              <a:rPr lang="en-GB" altLang="en-US" sz="1620" dirty="0">
                <a:solidFill>
                  <a:srgbClr val="222222"/>
                </a:solidFill>
                <a:latin typeface="Arial" pitchFamily="34" charset="0"/>
                <a:ea typeface="Arial" pitchFamily="34" charset="-122"/>
                <a:cs typeface="Arial" pitchFamily="34" charset="-120"/>
              </a:rPr>
              <a:t>High</a:t>
            </a:r>
            <a:endParaRPr lang="en-GB" sz="1620" dirty="0"/>
          </a:p>
        </p:txBody>
      </p:sp>
      <p:sp>
        <p:nvSpPr>
          <p:cNvPr id="7" name="e06-4"/>
          <p:cNvSpPr/>
          <p:nvPr/>
        </p:nvSpPr>
        <p:spPr>
          <a:xfrm>
            <a:off x="609600" y="3642360"/>
            <a:ext cx="10972800" cy="365760"/>
          </a:xfrm>
          <a:prstGeom prst="rect">
            <a:avLst/>
          </a:prstGeom>
          <a:noFill/>
          <a:ln/>
        </p:spPr>
        <p:txBody>
          <a:bodyPr wrap="square" lIns="0" tIns="0" rIns="0" bIns="0" rtlCol="0" anchor="t"/>
          <a:lstStyle/>
          <a:p>
            <a:pPr algn="l" indent="0" marL="0">
              <a:lnSpc>
                <a:spcPct val="128000"/>
              </a:lnSpc>
              <a:buNone/>
            </a:pPr>
            <a:r>
              <a:rPr lang="en-GB" altLang="en-US" sz="1620" b="1" dirty="0">
                <a:solidFill>
                  <a:srgbClr val="222222"/>
                </a:solidFill>
                <a:latin typeface="Arial" pitchFamily="34" charset="0"/>
                <a:ea typeface="Arial" pitchFamily="34" charset="-122"/>
                <a:cs typeface="Arial" pitchFamily="34" charset="-120"/>
              </a:rPr>
              <a:t>Open question: </a:t>
            </a:r>
            <a:pPr algn="l" indent="0" marL="0">
              <a:lnSpc>
                <a:spcPct val="128000"/>
              </a:lnSpc>
              <a:buNone/>
            </a:pPr>
            <a:r>
              <a:rPr lang="en-GB" altLang="en-US" sz="1620" dirty="0">
                <a:solidFill>
                  <a:srgbClr val="222222"/>
                </a:solidFill>
                <a:latin typeface="Arial" pitchFamily="34" charset="0"/>
                <a:ea typeface="Arial" pitchFamily="34" charset="-122"/>
                <a:cs typeface="Arial" pitchFamily="34" charset="-120"/>
              </a:rPr>
              <a:t>Query completeness, business definitions and data freshness</a:t>
            </a:r>
            <a:endParaRPr lang="en-GB" sz="1620" dirty="0"/>
          </a:p>
        </p:txBody>
      </p:sp>
      <p:sp>
        <p:nvSpPr>
          <p:cNvPr id="8" name="e06-5"/>
          <p:cNvSpPr/>
          <p:nvPr/>
        </p:nvSpPr>
        <p:spPr>
          <a:xfrm>
            <a:off x="609600" y="4084320"/>
            <a:ext cx="10972800" cy="640080"/>
          </a:xfrm>
          <a:prstGeom prst="rect">
            <a:avLst/>
          </a:prstGeom>
          <a:noFill/>
          <a:ln/>
        </p:spPr>
        <p:txBody>
          <a:bodyPr wrap="square" lIns="0" tIns="0" rIns="0" bIns="0" rtlCol="0" anchor="t"/>
          <a:lstStyle/>
          <a:p>
            <a:pPr algn="l" indent="0" marL="0">
              <a:lnSpc>
                <a:spcPct val="128000"/>
              </a:lnSpc>
              <a:buNone/>
            </a:pPr>
            <a:r>
              <a:rPr lang="en-GB" altLang="en-US" sz="1620" b="1" dirty="0">
                <a:solidFill>
                  <a:srgbClr val="222222"/>
                </a:solidFill>
                <a:latin typeface="Arial" pitchFamily="34" charset="0"/>
                <a:ea typeface="Arial" pitchFamily="34" charset="-122"/>
                <a:cs typeface="Arial" pitchFamily="34" charset="-120"/>
              </a:rPr>
              <a:t>Implication for this report: </a:t>
            </a:r>
            <a:pPr algn="l" indent="0" marL="0">
              <a:lnSpc>
                <a:spcPct val="128000"/>
              </a:lnSpc>
              <a:buNone/>
            </a:pPr>
            <a:r>
              <a:rPr lang="en-GB" altLang="en-US" sz="1620" dirty="0">
                <a:solidFill>
                  <a:srgbClr val="222222"/>
                </a:solidFill>
                <a:latin typeface="Arial" pitchFamily="34" charset="0"/>
                <a:ea typeface="Arial" pitchFamily="34" charset="-122"/>
                <a:cs typeface="Arial" pitchFamily="34" charset="-120"/>
              </a:rPr>
              <a:t>Mainly demonstrates information organisation and tool calling, not independent discovery of business risk by the model</a:t>
            </a:r>
            <a:endParaRPr lang="en-GB" sz="1620" dirty="0"/>
          </a:p>
        </p:txBody>
      </p:sp>
      <p:sp>
        <p:nvSpPr>
          <p:cNvPr id="10" name="Text 1"/>
          <p:cNvSpPr/>
          <p:nvPr>
            <p:ph idx="102" type="body" hasCustomPrompt="1"/>
          </p:nvPr>
        </p:nvSpPr>
        <p:spPr>
          <a:xfrm>
            <a:off x="762000" y="2057400"/>
            <a:ext cx="10668000" cy="3886200"/>
          </a:xfrm>
          <a:prstGeom prst="rect">
            <a:avLst/>
          </a:prstGeom>
          <a:noFill/>
          <a:ln/>
        </p:spPr>
        <p:txBody>
          <a:bodyPr wrap="square" lIns="0" tIns="0" rIns="0" bIns="0" rtlCol="0" anchor="t"/>
          <a:lstStyle/>
          <a:p>
            <a:pPr indent="0" marL="0">
              <a:buNone/>
            </a:pPr>
            <a:endParaRPr lang="en-US" sz="168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FFFFF"/>
        </a:solidFill>
      </p:bgPr>
    </p:bg>
    <p:spTree>
      <p:nvGrpSpPr>
        <p:cNvPr id="1" name=""/>
        <p:cNvGrpSpPr/>
        <p:nvPr/>
      </p:nvGrpSpPr>
      <p:grpSpPr>
        <a:xfrm>
          <a:off x="0" y="0"/>
          <a:ext cx="0" cy="0"/>
          <a:chOff x="0" y="0"/>
          <a:chExt cx="0" cy="0"/>
        </a:xfrm>
      </p:grpSpPr>
      <p:sp>
        <p:nvSpPr>
          <p:cNvPr id="2" name="Text 1"/>
          <p:cNvSpPr/>
          <p:nvPr>
            <p:ph idx="101" type="title" hasCustomPrompt="1"/>
          </p:nvPr>
        </p:nvSpPr>
        <p:spPr>
          <a:xfrm>
            <a:off x="381000" y="891540"/>
            <a:ext cx="11430000" cy="487680"/>
          </a:xfrm>
          <a:prstGeom prst="rect">
            <a:avLst/>
          </a:prstGeom>
          <a:noFill/>
          <a:ln/>
        </p:spPr>
        <p:txBody>
          <a:bodyPr wrap="square" lIns="0" tIns="0" rIns="0" bIns="0" rtlCol="0" anchor="t"/>
          <a:lstStyle/>
          <a:p>
            <a:pPr algn="l" indent="0" marL="0">
              <a:buNone/>
            </a:pPr>
            <a:r>
              <a:rPr lang="en-GB" altLang="en-US" sz="2400" b="1" spc="-84" kern="0" dirty="0">
                <a:solidFill>
                  <a:srgbClr val="000000"/>
                </a:solidFill>
                <a:latin typeface="Arial" pitchFamily="34" charset="0"/>
                <a:ea typeface="Arial" pitchFamily="34" charset="-122"/>
                <a:cs typeface="Arial" pitchFamily="34" charset="-120"/>
              </a:rPr>
              <a:t>E07 · Tracking registration and distribution</a:t>
            </a:r>
            <a:endParaRPr lang="en-GB" sz="2400" dirty="0"/>
          </a:p>
        </p:txBody>
      </p:sp>
      <p:sp>
        <p:nvSpPr>
          <p:cNvPr id="3" name="e07-0"/>
          <p:cNvSpPr/>
          <p:nvPr/>
        </p:nvSpPr>
        <p:spPr>
          <a:xfrm>
            <a:off x="609600" y="1600200"/>
            <a:ext cx="10972800" cy="640080"/>
          </a:xfrm>
          <a:prstGeom prst="rect">
            <a:avLst/>
          </a:prstGeom>
          <a:noFill/>
          <a:ln/>
        </p:spPr>
        <p:txBody>
          <a:bodyPr wrap="square" lIns="0" tIns="0" rIns="0" bIns="0" rtlCol="0" anchor="t"/>
          <a:lstStyle/>
          <a:p>
            <a:pPr algn="l" indent="0" marL="0">
              <a:lnSpc>
                <a:spcPct val="128000"/>
              </a:lnSpc>
              <a:buNone/>
            </a:pPr>
            <a:r>
              <a:rPr lang="en-GB" altLang="en-US" sz="1620" b="1" dirty="0">
                <a:solidFill>
                  <a:srgbClr val="222222"/>
                </a:solidFill>
                <a:latin typeface="Arial" pitchFamily="34" charset="0"/>
                <a:ea typeface="Arial" pitchFamily="34" charset="-122"/>
                <a:cs typeface="Arial" pitchFamily="34" charset="-120"/>
              </a:rPr>
              <a:t>Key finding: </a:t>
            </a:r>
            <a:pPr algn="l" indent="0" marL="0">
              <a:lnSpc>
                <a:spcPct val="128000"/>
              </a:lnSpc>
              <a:buNone/>
            </a:pPr>
            <a:r>
              <a:rPr lang="en-GB" altLang="en-US" sz="1620" dirty="0">
                <a:solidFill>
                  <a:srgbClr val="222222"/>
                </a:solidFill>
                <a:latin typeface="Arial" pitchFamily="34" charset="0"/>
                <a:ea typeface="Arial" pitchFamily="34" charset="-122"/>
                <a:cs typeface="Arial" pitchFamily="34" charset="-120"/>
              </a:rPr>
              <a:t>RT-001 was created and present in the 16:02 read. To-do creation returned success and the group notice was read back</a:t>
            </a:r>
            <a:endParaRPr lang="en-GB" sz="1620" dirty="0"/>
          </a:p>
        </p:txBody>
      </p:sp>
      <p:sp>
        <p:nvSpPr>
          <p:cNvPr id="4" name="e07-1"/>
          <p:cNvSpPr/>
          <p:nvPr/>
        </p:nvSpPr>
        <p:spPr>
          <a:xfrm>
            <a:off x="609600" y="2316480"/>
            <a:ext cx="10972800" cy="365760"/>
          </a:xfrm>
          <a:prstGeom prst="rect">
            <a:avLst/>
          </a:prstGeom>
          <a:noFill/>
          <a:ln/>
        </p:spPr>
        <p:txBody>
          <a:bodyPr wrap="square" lIns="0" tIns="0" rIns="0" bIns="0" rtlCol="0" anchor="t"/>
          <a:lstStyle/>
          <a:p>
            <a:pPr algn="l" indent="0" marL="0">
              <a:lnSpc>
                <a:spcPct val="128000"/>
              </a:lnSpc>
              <a:buNone/>
            </a:pPr>
            <a:r>
              <a:rPr lang="en-GB" altLang="en-US" sz="1620" b="1" dirty="0">
                <a:solidFill>
                  <a:srgbClr val="222222"/>
                </a:solidFill>
                <a:latin typeface="Arial" pitchFamily="34" charset="0"/>
                <a:ea typeface="Arial" pitchFamily="34" charset="-122"/>
                <a:cs typeface="Arial" pitchFamily="34" charset="-120"/>
              </a:rPr>
              <a:t>Evidence sources: </a:t>
            </a:r>
            <a:pPr algn="l" indent="0" marL="0">
              <a:lnSpc>
                <a:spcPct val="128000"/>
              </a:lnSpc>
              <a:buNone/>
            </a:pPr>
            <a:r>
              <a:rPr lang="en-GB" altLang="en-US" sz="1620" dirty="0">
                <a:solidFill>
                  <a:srgbClr val="222222"/>
                </a:solidFill>
                <a:latin typeface="Arial" pitchFamily="34" charset="0"/>
                <a:ea typeface="Arial" pitchFamily="34" charset="-122"/>
                <a:cs typeface="Arial" pitchFamily="34" charset="-120"/>
              </a:rPr>
              <a:t>R1 L367, 378–395, 438</a:t>
            </a:r>
            <a:endParaRPr lang="en-GB" sz="1620" dirty="0"/>
          </a:p>
        </p:txBody>
      </p:sp>
      <p:sp>
        <p:nvSpPr>
          <p:cNvPr id="5" name="e07-2"/>
          <p:cNvSpPr/>
          <p:nvPr/>
        </p:nvSpPr>
        <p:spPr>
          <a:xfrm>
            <a:off x="609600" y="2758440"/>
            <a:ext cx="10972800" cy="365760"/>
          </a:xfrm>
          <a:prstGeom prst="rect">
            <a:avLst/>
          </a:prstGeom>
          <a:noFill/>
          <a:ln/>
        </p:spPr>
        <p:txBody>
          <a:bodyPr wrap="square" lIns="0" tIns="0" rIns="0" bIns="0" rtlCol="0" anchor="t"/>
          <a:lstStyle/>
          <a:p>
            <a:pPr algn="l" indent="0" marL="0">
              <a:lnSpc>
                <a:spcPct val="128000"/>
              </a:lnSpc>
              <a:buNone/>
            </a:pPr>
            <a:r>
              <a:rPr lang="en-GB" altLang="en-US" sz="1620" b="1" dirty="0">
                <a:solidFill>
                  <a:srgbClr val="222222"/>
                </a:solidFill>
                <a:latin typeface="Arial" pitchFamily="34" charset="0"/>
                <a:ea typeface="Arial" pitchFamily="34" charset="-122"/>
                <a:cs typeface="Arial" pitchFamily="34" charset="-120"/>
              </a:rPr>
              <a:t>Fact or inference: </a:t>
            </a:r>
            <a:pPr algn="l" indent="0" marL="0">
              <a:lnSpc>
                <a:spcPct val="128000"/>
              </a:lnSpc>
              <a:buNone/>
            </a:pPr>
            <a:r>
              <a:rPr lang="en-GB" altLang="en-US" sz="1620" dirty="0">
                <a:solidFill>
                  <a:srgbClr val="222222"/>
                </a:solidFill>
                <a:latin typeface="Arial" pitchFamily="34" charset="0"/>
                <a:ea typeface="Arial" pitchFamily="34" charset="-122"/>
                <a:cs typeface="Arial" pitchFamily="34" charset="-120"/>
              </a:rPr>
              <a:t>A; the one-time connection between steps is B</a:t>
            </a:r>
            <a:endParaRPr lang="en-GB" sz="1620" dirty="0"/>
          </a:p>
        </p:txBody>
      </p:sp>
      <p:sp>
        <p:nvSpPr>
          <p:cNvPr id="6" name="e07-3"/>
          <p:cNvSpPr/>
          <p:nvPr/>
        </p:nvSpPr>
        <p:spPr>
          <a:xfrm>
            <a:off x="609600" y="3200400"/>
            <a:ext cx="10972800" cy="365760"/>
          </a:xfrm>
          <a:prstGeom prst="rect">
            <a:avLst/>
          </a:prstGeom>
          <a:noFill/>
          <a:ln/>
        </p:spPr>
        <p:txBody>
          <a:bodyPr wrap="square" lIns="0" tIns="0" rIns="0" bIns="0" rtlCol="0" anchor="t"/>
          <a:lstStyle/>
          <a:p>
            <a:pPr algn="l" indent="0" marL="0">
              <a:lnSpc>
                <a:spcPct val="128000"/>
              </a:lnSpc>
              <a:buNone/>
            </a:pPr>
            <a:r>
              <a:rPr lang="en-GB" altLang="en-US" sz="1620" b="1" dirty="0">
                <a:solidFill>
                  <a:srgbClr val="222222"/>
                </a:solidFill>
                <a:latin typeface="Arial" pitchFamily="34" charset="0"/>
                <a:ea typeface="Arial" pitchFamily="34" charset="-122"/>
                <a:cs typeface="Arial" pitchFamily="34" charset="-120"/>
              </a:rPr>
              <a:t>Evidence strength: </a:t>
            </a:r>
            <a:pPr algn="l" indent="0" marL="0">
              <a:lnSpc>
                <a:spcPct val="128000"/>
              </a:lnSpc>
              <a:buNone/>
            </a:pPr>
            <a:r>
              <a:rPr lang="en-GB" altLang="en-US" sz="1620" dirty="0">
                <a:solidFill>
                  <a:srgbClr val="222222"/>
                </a:solidFill>
                <a:latin typeface="Arial" pitchFamily="34" charset="0"/>
                <a:ea typeface="Arial" pitchFamily="34" charset="-122"/>
                <a:cs typeface="Arial" pitchFamily="34" charset="-120"/>
              </a:rPr>
              <a:t>High</a:t>
            </a:r>
            <a:endParaRPr lang="en-GB" sz="1620" dirty="0"/>
          </a:p>
        </p:txBody>
      </p:sp>
      <p:sp>
        <p:nvSpPr>
          <p:cNvPr id="7" name="e07-4"/>
          <p:cNvSpPr/>
          <p:nvPr/>
        </p:nvSpPr>
        <p:spPr>
          <a:xfrm>
            <a:off x="609600" y="3642360"/>
            <a:ext cx="10972800" cy="365760"/>
          </a:xfrm>
          <a:prstGeom prst="rect">
            <a:avLst/>
          </a:prstGeom>
          <a:noFill/>
          <a:ln/>
        </p:spPr>
        <p:txBody>
          <a:bodyPr wrap="square" lIns="0" tIns="0" rIns="0" bIns="0" rtlCol="0" anchor="t"/>
          <a:lstStyle/>
          <a:p>
            <a:pPr algn="l" indent="0" marL="0">
              <a:lnSpc>
                <a:spcPct val="128000"/>
              </a:lnSpc>
              <a:buNone/>
            </a:pPr>
            <a:r>
              <a:rPr lang="en-GB" altLang="en-US" sz="1620" b="1" dirty="0">
                <a:solidFill>
                  <a:srgbClr val="222222"/>
                </a:solidFill>
                <a:latin typeface="Arial" pitchFamily="34" charset="0"/>
                <a:ea typeface="Arial" pitchFamily="34" charset="-122"/>
                <a:cs typeface="Arial" pitchFamily="34" charset="-120"/>
              </a:rPr>
              <a:t>Open question: </a:t>
            </a:r>
            <a:pPr algn="l" indent="0" marL="0">
              <a:lnSpc>
                <a:spcPct val="128000"/>
              </a:lnSpc>
              <a:buNone/>
            </a:pPr>
            <a:r>
              <a:rPr lang="en-GB" altLang="en-US" sz="1620" dirty="0">
                <a:solidFill>
                  <a:srgbClr val="222222"/>
                </a:solidFill>
                <a:latin typeface="Arial" pitchFamily="34" charset="0"/>
                <a:ea typeface="Arial" pitchFamily="34" charset="-122"/>
                <a:cs typeface="Arial" pitchFamily="34" charset="-120"/>
              </a:rPr>
              <a:t>No evidence of a named accountable owner, acceptance, execution or closure</a:t>
            </a:r>
            <a:endParaRPr lang="en-GB" sz="1620" dirty="0"/>
          </a:p>
        </p:txBody>
      </p:sp>
      <p:sp>
        <p:nvSpPr>
          <p:cNvPr id="8" name="e07-5"/>
          <p:cNvSpPr/>
          <p:nvPr/>
        </p:nvSpPr>
        <p:spPr>
          <a:xfrm>
            <a:off x="609600" y="4084320"/>
            <a:ext cx="10972800" cy="640080"/>
          </a:xfrm>
          <a:prstGeom prst="rect">
            <a:avLst/>
          </a:prstGeom>
          <a:noFill/>
          <a:ln/>
        </p:spPr>
        <p:txBody>
          <a:bodyPr wrap="square" lIns="0" tIns="0" rIns="0" bIns="0" rtlCol="0" anchor="t"/>
          <a:lstStyle/>
          <a:p>
            <a:pPr algn="l" indent="0" marL="0">
              <a:lnSpc>
                <a:spcPct val="128000"/>
              </a:lnSpc>
              <a:buNone/>
            </a:pPr>
            <a:r>
              <a:rPr lang="en-GB" altLang="en-US" sz="1620" b="1" dirty="0">
                <a:solidFill>
                  <a:srgbClr val="222222"/>
                </a:solidFill>
                <a:latin typeface="Arial" pitchFamily="34" charset="0"/>
                <a:ea typeface="Arial" pitchFamily="34" charset="-122"/>
                <a:cs typeface="Arial" pitchFamily="34" charset="-120"/>
              </a:rPr>
              <a:t>Implication for this report: </a:t>
            </a:r>
            <a:pPr algn="l" indent="0" marL="0">
              <a:lnSpc>
                <a:spcPct val="128000"/>
              </a:lnSpc>
              <a:buNone/>
            </a:pPr>
            <a:r>
              <a:rPr lang="en-GB" altLang="en-US" sz="1620" dirty="0">
                <a:solidFill>
                  <a:srgbClr val="222222"/>
                </a:solidFill>
                <a:latin typeface="Arial" pitchFamily="34" charset="0"/>
                <a:ea typeface="Arial" pitchFamily="34" charset="-122"/>
                <a:cs typeface="Arial" pitchFamily="34" charset="-120"/>
              </a:rPr>
              <a:t>Registration, notification and a personal to-do were demonstrated; the management workflow through to closure was not validated</a:t>
            </a:r>
            <a:endParaRPr lang="en-GB" sz="1620" dirty="0"/>
          </a:p>
        </p:txBody>
      </p:sp>
      <p:sp>
        <p:nvSpPr>
          <p:cNvPr id="10" name="Text 1"/>
          <p:cNvSpPr/>
          <p:nvPr>
            <p:ph idx="102" type="body" hasCustomPrompt="1"/>
          </p:nvPr>
        </p:nvSpPr>
        <p:spPr>
          <a:xfrm>
            <a:off x="762000" y="2057400"/>
            <a:ext cx="10668000" cy="3886200"/>
          </a:xfrm>
          <a:prstGeom prst="rect">
            <a:avLst/>
          </a:prstGeom>
          <a:noFill/>
          <a:ln/>
        </p:spPr>
        <p:txBody>
          <a:bodyPr wrap="square" lIns="0" tIns="0" rIns="0" bIns="0" rtlCol="0" anchor="t"/>
          <a:lstStyle/>
          <a:p>
            <a:pPr indent="0" marL="0">
              <a:buNone/>
            </a:pPr>
            <a:endParaRPr lang="en-US" sz="168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FFFFF"/>
        </a:solidFill>
      </p:bgPr>
    </p:bg>
    <p:spTree>
      <p:nvGrpSpPr>
        <p:cNvPr id="1" name=""/>
        <p:cNvGrpSpPr/>
        <p:nvPr/>
      </p:nvGrpSpPr>
      <p:grpSpPr>
        <a:xfrm>
          <a:off x="0" y="0"/>
          <a:ext cx="0" cy="0"/>
          <a:chOff x="0" y="0"/>
          <a:chExt cx="0" cy="0"/>
        </a:xfrm>
      </p:grpSpPr>
      <p:sp>
        <p:nvSpPr>
          <p:cNvPr id="2" name="Text 1"/>
          <p:cNvSpPr/>
          <p:nvPr>
            <p:ph idx="101" type="title" hasCustomPrompt="1"/>
          </p:nvPr>
        </p:nvSpPr>
        <p:spPr>
          <a:xfrm>
            <a:off x="381000" y="891540"/>
            <a:ext cx="11430000" cy="487680"/>
          </a:xfrm>
          <a:prstGeom prst="rect">
            <a:avLst/>
          </a:prstGeom>
          <a:noFill/>
          <a:ln/>
        </p:spPr>
        <p:txBody>
          <a:bodyPr wrap="square" lIns="0" tIns="0" rIns="0" bIns="0" rtlCol="0" anchor="t"/>
          <a:lstStyle/>
          <a:p>
            <a:pPr algn="l" indent="0" marL="0">
              <a:buNone/>
            </a:pPr>
            <a:r>
              <a:rPr lang="en-GB" altLang="en-US" sz="2400" b="1" spc="-84" kern="0" dirty="0">
                <a:solidFill>
                  <a:srgbClr val="000000"/>
                </a:solidFill>
                <a:latin typeface="Arial" pitchFamily="34" charset="0"/>
                <a:ea typeface="Arial" pitchFamily="34" charset="-122"/>
                <a:cs typeface="Arial" pitchFamily="34" charset="-120"/>
              </a:rPr>
              <a:t>E08 · To-dos and reminder delivery</a:t>
            </a:r>
            <a:endParaRPr lang="en-GB" sz="2400" dirty="0"/>
          </a:p>
        </p:txBody>
      </p:sp>
      <p:sp>
        <p:nvSpPr>
          <p:cNvPr id="3" name="e08-0"/>
          <p:cNvSpPr/>
          <p:nvPr/>
        </p:nvSpPr>
        <p:spPr>
          <a:xfrm>
            <a:off x="609600" y="1600200"/>
            <a:ext cx="10972800" cy="640080"/>
          </a:xfrm>
          <a:prstGeom prst="rect">
            <a:avLst/>
          </a:prstGeom>
          <a:noFill/>
          <a:ln/>
        </p:spPr>
        <p:txBody>
          <a:bodyPr wrap="square" lIns="0" tIns="0" rIns="0" bIns="0" rtlCol="0" anchor="t"/>
          <a:lstStyle/>
          <a:p>
            <a:pPr algn="l" indent="0" marL="0">
              <a:lnSpc>
                <a:spcPct val="128000"/>
              </a:lnSpc>
              <a:buNone/>
            </a:pPr>
            <a:r>
              <a:rPr lang="en-GB" altLang="en-US" sz="1620" b="1" dirty="0">
                <a:solidFill>
                  <a:srgbClr val="222222"/>
                </a:solidFill>
                <a:latin typeface="Arial" pitchFamily="34" charset="0"/>
                <a:ea typeface="Arial" pitchFamily="34" charset="-122"/>
                <a:cs typeface="Arial" pitchFamily="34" charset="-120"/>
              </a:rPr>
              <a:t>Key finding: </a:t>
            </a:r>
            <a:pPr algn="l" indent="0" marL="0">
              <a:lnSpc>
                <a:spcPct val="128000"/>
              </a:lnSpc>
              <a:buNone/>
            </a:pPr>
            <a:r>
              <a:rPr lang="en-GB" altLang="en-US" sz="1620" dirty="0">
                <a:solidFill>
                  <a:srgbClr val="222222"/>
                </a:solidFill>
                <a:latin typeface="Arial" pitchFamily="34" charset="0"/>
                <a:ea typeface="Arial" pitchFamily="34" charset="-122"/>
                <a:cs typeface="Arial" pitchFamily="34" charset="-120"/>
              </a:rPr>
              <a:t>The risk-tracking to-do was assigned to the demonstrator. The materials explicitly distinguish dueTime from a separate reminder rule</a:t>
            </a:r>
            <a:endParaRPr lang="en-GB" sz="1620" dirty="0"/>
          </a:p>
        </p:txBody>
      </p:sp>
      <p:sp>
        <p:nvSpPr>
          <p:cNvPr id="4" name="e08-1"/>
          <p:cNvSpPr/>
          <p:nvPr/>
        </p:nvSpPr>
        <p:spPr>
          <a:xfrm>
            <a:off x="609600" y="2316480"/>
            <a:ext cx="10972800" cy="365760"/>
          </a:xfrm>
          <a:prstGeom prst="rect">
            <a:avLst/>
          </a:prstGeom>
          <a:noFill/>
          <a:ln/>
        </p:spPr>
        <p:txBody>
          <a:bodyPr wrap="square" lIns="0" tIns="0" rIns="0" bIns="0" rtlCol="0" anchor="t"/>
          <a:lstStyle/>
          <a:p>
            <a:pPr algn="l" indent="0" marL="0">
              <a:lnSpc>
                <a:spcPct val="128000"/>
              </a:lnSpc>
              <a:buNone/>
            </a:pPr>
            <a:r>
              <a:rPr lang="en-GB" altLang="en-US" sz="1620" b="1" dirty="0">
                <a:solidFill>
                  <a:srgbClr val="222222"/>
                </a:solidFill>
                <a:latin typeface="Arial" pitchFamily="34" charset="0"/>
                <a:ea typeface="Arial" pitchFamily="34" charset="-122"/>
                <a:cs typeface="Arial" pitchFamily="34" charset="-120"/>
              </a:rPr>
              <a:t>Evidence sources: </a:t>
            </a:r>
            <a:pPr algn="l" indent="0" marL="0">
              <a:lnSpc>
                <a:spcPct val="128000"/>
              </a:lnSpc>
              <a:buNone/>
            </a:pPr>
            <a:r>
              <a:rPr lang="en-GB" altLang="en-US" sz="1620" dirty="0">
                <a:solidFill>
                  <a:srgbClr val="222222"/>
                </a:solidFill>
                <a:latin typeface="Arial" pitchFamily="34" charset="0"/>
                <a:ea typeface="Arial" pitchFamily="34" charset="-122"/>
                <a:cs typeface="Arial" pitchFamily="34" charset="-120"/>
              </a:rPr>
              <a:t>K2 step 5, K4 step 3; R1 L384, 387; </a:t>
            </a:r>
            <a:pPr algn="l" indent="0" marL="0">
              <a:lnSpc>
                <a:spcPct val="128000"/>
              </a:lnSpc>
              <a:buNone/>
            </a:pPr>
            <a:r>
              <a:rPr lang="en-GB" altLang="en-US" sz="1620" u="sng" dirty="0">
                <a:solidFill>
                  <a:srgbClr val="B80010"/>
                </a:solidFill>
                <a:latin typeface="Arial" pitchFamily="34" charset="0"/>
                <a:ea typeface="Arial" pitchFamily="34" charset="-122"/>
                <a:cs typeface="Arial" pitchFamily="34" charset="-120"/>
                <a:hlinkClick r:id="rId1" action="ppaction://hlinksldjump" tooltip="">
                  <a:extLst>
                    <a:ext uri="{A12FA001-AC4F-418D-AE19-62706E023703}">
                      <ahyp:hlinkClr xmlns:ahyp="http://schemas.microsoft.com/office/drawing/2018/hyperlinkcolor" val="tx"/>
                    </a:ext>
                  </a:extLst>
                </a:hlinkClick>
              </a:rPr>
              <a:t>U2</a:t>
            </a:r>
            <a:endParaRPr lang="en-GB" sz="1620" dirty="0"/>
          </a:p>
        </p:txBody>
      </p:sp>
      <p:sp>
        <p:nvSpPr>
          <p:cNvPr id="5" name="e08-2"/>
          <p:cNvSpPr/>
          <p:nvPr/>
        </p:nvSpPr>
        <p:spPr>
          <a:xfrm>
            <a:off x="609600" y="2758440"/>
            <a:ext cx="10972800" cy="365760"/>
          </a:xfrm>
          <a:prstGeom prst="rect">
            <a:avLst/>
          </a:prstGeom>
          <a:noFill/>
          <a:ln/>
        </p:spPr>
        <p:txBody>
          <a:bodyPr wrap="square" lIns="0" tIns="0" rIns="0" bIns="0" rtlCol="0" anchor="t"/>
          <a:lstStyle/>
          <a:p>
            <a:pPr algn="l" indent="0" marL="0">
              <a:lnSpc>
                <a:spcPct val="128000"/>
              </a:lnSpc>
              <a:buNone/>
            </a:pPr>
            <a:r>
              <a:rPr lang="en-GB" altLang="en-US" sz="1620" b="1" dirty="0">
                <a:solidFill>
                  <a:srgbClr val="222222"/>
                </a:solidFill>
                <a:latin typeface="Arial" pitchFamily="34" charset="0"/>
                <a:ea typeface="Arial" pitchFamily="34" charset="-122"/>
                <a:cs typeface="Arial" pitchFamily="34" charset="-120"/>
              </a:rPr>
              <a:t>Fact or inference: </a:t>
            </a:r>
            <a:pPr algn="l" indent="0" marL="0">
              <a:lnSpc>
                <a:spcPct val="128000"/>
              </a:lnSpc>
              <a:buNone/>
            </a:pPr>
            <a:r>
              <a:rPr lang="en-GB" altLang="en-US" sz="1620" dirty="0">
                <a:solidFill>
                  <a:srgbClr val="222222"/>
                </a:solidFill>
                <a:latin typeface="Arial" pitchFamily="34" charset="0"/>
                <a:ea typeface="Arial" pitchFamily="34" charset="-122"/>
                <a:cs typeface="Arial" pitchFamily="34" charset="-120"/>
              </a:rPr>
              <a:t>A: configuration instructions and calls; actual reminder delivery is D</a:t>
            </a:r>
            <a:endParaRPr lang="en-GB" sz="1620" dirty="0"/>
          </a:p>
        </p:txBody>
      </p:sp>
      <p:sp>
        <p:nvSpPr>
          <p:cNvPr id="6" name="e08-3"/>
          <p:cNvSpPr/>
          <p:nvPr/>
        </p:nvSpPr>
        <p:spPr>
          <a:xfrm>
            <a:off x="609600" y="3200400"/>
            <a:ext cx="10972800" cy="365760"/>
          </a:xfrm>
          <a:prstGeom prst="rect">
            <a:avLst/>
          </a:prstGeom>
          <a:noFill/>
          <a:ln/>
        </p:spPr>
        <p:txBody>
          <a:bodyPr wrap="square" lIns="0" tIns="0" rIns="0" bIns="0" rtlCol="0" anchor="t"/>
          <a:lstStyle/>
          <a:p>
            <a:pPr algn="l" indent="0" marL="0">
              <a:lnSpc>
                <a:spcPct val="128000"/>
              </a:lnSpc>
              <a:buNone/>
            </a:pPr>
            <a:r>
              <a:rPr lang="en-GB" altLang="en-US" sz="1620" b="1" dirty="0">
                <a:solidFill>
                  <a:srgbClr val="222222"/>
                </a:solidFill>
                <a:latin typeface="Arial" pitchFamily="34" charset="0"/>
                <a:ea typeface="Arial" pitchFamily="34" charset="-122"/>
                <a:cs typeface="Arial" pitchFamily="34" charset="-120"/>
              </a:rPr>
              <a:t>Evidence strength: </a:t>
            </a:r>
            <a:pPr algn="l" indent="0" marL="0">
              <a:lnSpc>
                <a:spcPct val="128000"/>
              </a:lnSpc>
              <a:buNone/>
            </a:pPr>
            <a:r>
              <a:rPr lang="en-GB" altLang="en-US" sz="1620" dirty="0">
                <a:solidFill>
                  <a:srgbClr val="222222"/>
                </a:solidFill>
                <a:latin typeface="Arial" pitchFamily="34" charset="0"/>
                <a:ea typeface="Arial" pitchFamily="34" charset="-122"/>
                <a:cs typeface="Arial" pitchFamily="34" charset="-120"/>
              </a:rPr>
              <a:t>High for to-do creation; delivery unverified</a:t>
            </a:r>
            <a:endParaRPr lang="en-GB" sz="1620" dirty="0"/>
          </a:p>
        </p:txBody>
      </p:sp>
      <p:sp>
        <p:nvSpPr>
          <p:cNvPr id="7" name="e08-4"/>
          <p:cNvSpPr/>
          <p:nvPr/>
        </p:nvSpPr>
        <p:spPr>
          <a:xfrm>
            <a:off x="609600" y="3642360"/>
            <a:ext cx="10972800" cy="365760"/>
          </a:xfrm>
          <a:prstGeom prst="rect">
            <a:avLst/>
          </a:prstGeom>
          <a:noFill/>
          <a:ln/>
        </p:spPr>
        <p:txBody>
          <a:bodyPr wrap="square" lIns="0" tIns="0" rIns="0" bIns="0" rtlCol="0" anchor="t"/>
          <a:lstStyle/>
          <a:p>
            <a:pPr algn="l" indent="0" marL="0">
              <a:lnSpc>
                <a:spcPct val="128000"/>
              </a:lnSpc>
              <a:buNone/>
            </a:pPr>
            <a:r>
              <a:rPr lang="en-GB" altLang="en-US" sz="1620" b="1" dirty="0">
                <a:solidFill>
                  <a:srgbClr val="222222"/>
                </a:solidFill>
                <a:latin typeface="Arial" pitchFamily="34" charset="0"/>
                <a:ea typeface="Arial" pitchFamily="34" charset="-122"/>
                <a:cs typeface="Arial" pitchFamily="34" charset="-120"/>
              </a:rPr>
              <a:t>Open question: </a:t>
            </a:r>
            <a:pPr algn="l" indent="0" marL="0">
              <a:lnSpc>
                <a:spcPct val="128000"/>
              </a:lnSpc>
              <a:buNone/>
            </a:pPr>
            <a:r>
              <a:rPr lang="en-GB" altLang="en-US" sz="1620" dirty="0">
                <a:solidFill>
                  <a:srgbClr val="222222"/>
                </a:solidFill>
                <a:latin typeface="Arial" pitchFamily="34" charset="0"/>
                <a:ea typeface="Arial" pitchFamily="34" charset="-122"/>
                <a:cs typeface="Arial" pitchFamily="34" charset="-120"/>
              </a:rPr>
              <a:t>Final dueTime readback, reminder rules and client notification records</a:t>
            </a:r>
            <a:endParaRPr lang="en-GB" sz="1620" dirty="0"/>
          </a:p>
        </p:txBody>
      </p:sp>
      <p:sp>
        <p:nvSpPr>
          <p:cNvPr id="8" name="e08-5"/>
          <p:cNvSpPr/>
          <p:nvPr/>
        </p:nvSpPr>
        <p:spPr>
          <a:xfrm>
            <a:off x="609600" y="4084320"/>
            <a:ext cx="10972800" cy="640080"/>
          </a:xfrm>
          <a:prstGeom prst="rect">
            <a:avLst/>
          </a:prstGeom>
          <a:noFill/>
          <a:ln/>
        </p:spPr>
        <p:txBody>
          <a:bodyPr wrap="square" lIns="0" tIns="0" rIns="0" bIns="0" rtlCol="0" anchor="t"/>
          <a:lstStyle/>
          <a:p>
            <a:pPr algn="l" indent="0" marL="0">
              <a:lnSpc>
                <a:spcPct val="128000"/>
              </a:lnSpc>
              <a:buNone/>
            </a:pPr>
            <a:r>
              <a:rPr lang="en-GB" altLang="en-US" sz="1620" b="1" dirty="0">
                <a:solidFill>
                  <a:srgbClr val="222222"/>
                </a:solidFill>
                <a:latin typeface="Arial" pitchFamily="34" charset="0"/>
                <a:ea typeface="Arial" pitchFamily="34" charset="-122"/>
                <a:cs typeface="Arial" pitchFamily="34" charset="-120"/>
              </a:rPr>
              <a:t>Implication for this report: </a:t>
            </a:r>
            <a:pPr algn="l" indent="0" marL="0">
              <a:lnSpc>
                <a:spcPct val="128000"/>
              </a:lnSpc>
              <a:buNone/>
            </a:pPr>
            <a:r>
              <a:rPr lang="en-GB" altLang="en-US" sz="1620" dirty="0">
                <a:solidFill>
                  <a:srgbClr val="222222"/>
                </a:solidFill>
                <a:latin typeface="Arial" pitchFamily="34" charset="0"/>
                <a:ea typeface="Arial" pitchFamily="34" charset="-122"/>
                <a:cs typeface="Arial" pitchFamily="34" charset="-120"/>
              </a:rPr>
              <a:t>Replace 'will remind at the due time' with 'a to-do with a deadline was created; delivery needs testing'</a:t>
            </a:r>
            <a:endParaRPr lang="en-GB" sz="1620" dirty="0"/>
          </a:p>
        </p:txBody>
      </p:sp>
      <p:sp>
        <p:nvSpPr>
          <p:cNvPr id="10" name="Text 1"/>
          <p:cNvSpPr/>
          <p:nvPr>
            <p:ph idx="102" type="body" hasCustomPrompt="1"/>
          </p:nvPr>
        </p:nvSpPr>
        <p:spPr>
          <a:xfrm>
            <a:off x="762000" y="2057400"/>
            <a:ext cx="10668000" cy="3886200"/>
          </a:xfrm>
          <a:prstGeom prst="rect">
            <a:avLst/>
          </a:prstGeom>
          <a:noFill/>
          <a:ln/>
        </p:spPr>
        <p:txBody>
          <a:bodyPr wrap="square" lIns="0" tIns="0" rIns="0" bIns="0" rtlCol="0" anchor="t"/>
          <a:lstStyle/>
          <a:p>
            <a:pPr indent="0" marL="0">
              <a:buNone/>
            </a:pPr>
            <a:endParaRPr lang="en-US" sz="168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FFFFF"/>
        </a:solidFill>
      </p:bgPr>
    </p:bg>
    <p:spTree>
      <p:nvGrpSpPr>
        <p:cNvPr id="1" name=""/>
        <p:cNvGrpSpPr/>
        <p:nvPr/>
      </p:nvGrpSpPr>
      <p:grpSpPr>
        <a:xfrm>
          <a:off x="0" y="0"/>
          <a:ext cx="0" cy="0"/>
          <a:chOff x="0" y="0"/>
          <a:chExt cx="0" cy="0"/>
        </a:xfrm>
      </p:grpSpPr>
      <p:sp>
        <p:nvSpPr>
          <p:cNvPr id="2" name="Text 1"/>
          <p:cNvSpPr/>
          <p:nvPr>
            <p:ph idx="101" type="title" hasCustomPrompt="1"/>
          </p:nvPr>
        </p:nvSpPr>
        <p:spPr>
          <a:xfrm>
            <a:off x="381000" y="891540"/>
            <a:ext cx="11430000" cy="487680"/>
          </a:xfrm>
          <a:prstGeom prst="rect">
            <a:avLst/>
          </a:prstGeom>
          <a:noFill/>
          <a:ln/>
        </p:spPr>
        <p:txBody>
          <a:bodyPr wrap="square" lIns="0" tIns="0" rIns="0" bIns="0" rtlCol="0" anchor="t"/>
          <a:lstStyle/>
          <a:p>
            <a:pPr algn="l" indent="0" marL="0">
              <a:buNone/>
            </a:pPr>
            <a:r>
              <a:rPr lang="en-GB" altLang="en-US" sz="2400" b="1" spc="-84" kern="0" dirty="0">
                <a:solidFill>
                  <a:srgbClr val="000000"/>
                </a:solidFill>
                <a:latin typeface="Arial" pitchFamily="34" charset="0"/>
                <a:ea typeface="Arial" pitchFamily="34" charset="-122"/>
                <a:cs typeface="Arial" pitchFamily="34" charset="-120"/>
              </a:rPr>
              <a:t>E09 · Different results across reads</a:t>
            </a:r>
            <a:endParaRPr lang="en-GB" sz="2400" dirty="0"/>
          </a:p>
        </p:txBody>
      </p:sp>
      <p:sp>
        <p:nvSpPr>
          <p:cNvPr id="3" name="e09-0"/>
          <p:cNvSpPr/>
          <p:nvPr/>
        </p:nvSpPr>
        <p:spPr>
          <a:xfrm>
            <a:off x="609600" y="1600200"/>
            <a:ext cx="10972800" cy="640080"/>
          </a:xfrm>
          <a:prstGeom prst="rect">
            <a:avLst/>
          </a:prstGeom>
          <a:noFill/>
          <a:ln/>
        </p:spPr>
        <p:txBody>
          <a:bodyPr wrap="square" lIns="0" tIns="0" rIns="0" bIns="0" rtlCol="0" anchor="t"/>
          <a:lstStyle/>
          <a:p>
            <a:pPr algn="l" indent="0" marL="0">
              <a:lnSpc>
                <a:spcPct val="128000"/>
              </a:lnSpc>
              <a:buNone/>
            </a:pPr>
            <a:r>
              <a:rPr lang="en-GB" altLang="en-US" sz="1620" b="1" dirty="0">
                <a:solidFill>
                  <a:srgbClr val="222222"/>
                </a:solidFill>
                <a:latin typeface="Arial" pitchFamily="34" charset="0"/>
                <a:ea typeface="Arial" pitchFamily="34" charset="-122"/>
                <a:cs typeface="Arial" pitchFamily="34" charset="-120"/>
              </a:rPr>
              <a:t>Key finding: </a:t>
            </a:r>
            <a:pPr algn="l" indent="0" marL="0">
              <a:lnSpc>
                <a:spcPct val="128000"/>
              </a:lnSpc>
              <a:buNone/>
            </a:pPr>
            <a:r>
              <a:rPr lang="en-GB" altLang="en-US" sz="1620" dirty="0">
                <a:solidFill>
                  <a:srgbClr val="222222"/>
                </a:solidFill>
                <a:latin typeface="Arial" pitchFamily="34" charset="0"/>
                <a:ea typeface="Arial" pitchFamily="34" charset="-122"/>
                <a:cs typeface="Arial" pitchFamily="34" charset="-120"/>
              </a:rPr>
              <a:t>The main conversation returned one RT-001 at 16:02:09; the inspection subtask returned zero at 16:11:36</a:t>
            </a:r>
            <a:endParaRPr lang="en-GB" sz="1620" dirty="0"/>
          </a:p>
        </p:txBody>
      </p:sp>
      <p:sp>
        <p:nvSpPr>
          <p:cNvPr id="4" name="e09-1"/>
          <p:cNvSpPr/>
          <p:nvPr/>
        </p:nvSpPr>
        <p:spPr>
          <a:xfrm>
            <a:off x="609600" y="2316480"/>
            <a:ext cx="10972800" cy="365760"/>
          </a:xfrm>
          <a:prstGeom prst="rect">
            <a:avLst/>
          </a:prstGeom>
          <a:noFill/>
          <a:ln/>
        </p:spPr>
        <p:txBody>
          <a:bodyPr wrap="square" lIns="0" tIns="0" rIns="0" bIns="0" rtlCol="0" anchor="t"/>
          <a:lstStyle/>
          <a:p>
            <a:pPr algn="l" indent="0" marL="0">
              <a:lnSpc>
                <a:spcPct val="128000"/>
              </a:lnSpc>
              <a:buNone/>
            </a:pPr>
            <a:r>
              <a:rPr lang="en-GB" altLang="en-US" sz="1620" b="1" dirty="0">
                <a:solidFill>
                  <a:srgbClr val="222222"/>
                </a:solidFill>
                <a:latin typeface="Arial" pitchFamily="34" charset="0"/>
                <a:ea typeface="Arial" pitchFamily="34" charset="-122"/>
                <a:cs typeface="Arial" pitchFamily="34" charset="-120"/>
              </a:rPr>
              <a:t>Evidence sources: </a:t>
            </a:r>
            <a:pPr algn="l" indent="0" marL="0">
              <a:lnSpc>
                <a:spcPct val="128000"/>
              </a:lnSpc>
              <a:buNone/>
            </a:pPr>
            <a:r>
              <a:rPr lang="en-GB" altLang="en-US" sz="1620" dirty="0">
                <a:solidFill>
                  <a:srgbClr val="222222"/>
                </a:solidFill>
                <a:latin typeface="Arial" pitchFamily="34" charset="0"/>
                <a:ea typeface="Arial" pitchFamily="34" charset="-122"/>
                <a:cs typeface="Arial" pitchFamily="34" charset="-120"/>
              </a:rPr>
              <a:t>R1 L438; R2 L27, 33</a:t>
            </a:r>
            <a:endParaRPr lang="en-GB" sz="1620" dirty="0"/>
          </a:p>
        </p:txBody>
      </p:sp>
      <p:sp>
        <p:nvSpPr>
          <p:cNvPr id="5" name="e09-2"/>
          <p:cNvSpPr/>
          <p:nvPr/>
        </p:nvSpPr>
        <p:spPr>
          <a:xfrm>
            <a:off x="609600" y="2758440"/>
            <a:ext cx="10972800" cy="365760"/>
          </a:xfrm>
          <a:prstGeom prst="rect">
            <a:avLst/>
          </a:prstGeom>
          <a:noFill/>
          <a:ln/>
        </p:spPr>
        <p:txBody>
          <a:bodyPr wrap="square" lIns="0" tIns="0" rIns="0" bIns="0" rtlCol="0" anchor="t"/>
          <a:lstStyle/>
          <a:p>
            <a:pPr algn="l" indent="0" marL="0">
              <a:lnSpc>
                <a:spcPct val="128000"/>
              </a:lnSpc>
              <a:buNone/>
            </a:pPr>
            <a:r>
              <a:rPr lang="en-GB" altLang="en-US" sz="1620" b="1" dirty="0">
                <a:solidFill>
                  <a:srgbClr val="222222"/>
                </a:solidFill>
                <a:latin typeface="Arial" pitchFamily="34" charset="0"/>
                <a:ea typeface="Arial" pitchFamily="34" charset="-122"/>
                <a:cs typeface="Arial" pitchFamily="34" charset="-120"/>
              </a:rPr>
              <a:t>Fact or inference: </a:t>
            </a:r>
            <a:pPr algn="l" indent="0" marL="0">
              <a:lnSpc>
                <a:spcPct val="128000"/>
              </a:lnSpc>
              <a:buNone/>
            </a:pPr>
            <a:r>
              <a:rPr lang="en-GB" altLang="en-US" sz="1620" dirty="0">
                <a:solidFill>
                  <a:srgbClr val="222222"/>
                </a:solidFill>
                <a:latin typeface="Arial" pitchFamily="34" charset="0"/>
                <a:ea typeface="Arial" pitchFamily="34" charset="-122"/>
                <a:cs typeface="Arial" pitchFamily="34" charset="-120"/>
              </a:rPr>
              <a:t>A: discrepancy across reads</a:t>
            </a:r>
            <a:endParaRPr lang="en-GB" sz="1620" dirty="0"/>
          </a:p>
        </p:txBody>
      </p:sp>
      <p:sp>
        <p:nvSpPr>
          <p:cNvPr id="6" name="e09-3"/>
          <p:cNvSpPr/>
          <p:nvPr/>
        </p:nvSpPr>
        <p:spPr>
          <a:xfrm>
            <a:off x="609600" y="3200400"/>
            <a:ext cx="10972800" cy="365760"/>
          </a:xfrm>
          <a:prstGeom prst="rect">
            <a:avLst/>
          </a:prstGeom>
          <a:noFill/>
          <a:ln/>
        </p:spPr>
        <p:txBody>
          <a:bodyPr wrap="square" lIns="0" tIns="0" rIns="0" bIns="0" rtlCol="0" anchor="t"/>
          <a:lstStyle/>
          <a:p>
            <a:pPr algn="l" indent="0" marL="0">
              <a:lnSpc>
                <a:spcPct val="128000"/>
              </a:lnSpc>
              <a:buNone/>
            </a:pPr>
            <a:r>
              <a:rPr lang="en-GB" altLang="en-US" sz="1620" b="1" dirty="0">
                <a:solidFill>
                  <a:srgbClr val="222222"/>
                </a:solidFill>
                <a:latin typeface="Arial" pitchFamily="34" charset="0"/>
                <a:ea typeface="Arial" pitchFamily="34" charset="-122"/>
                <a:cs typeface="Arial" pitchFamily="34" charset="-120"/>
              </a:rPr>
              <a:t>Evidence strength: </a:t>
            </a:r>
            <a:pPr algn="l" indent="0" marL="0">
              <a:lnSpc>
                <a:spcPct val="128000"/>
              </a:lnSpc>
              <a:buNone/>
            </a:pPr>
            <a:r>
              <a:rPr lang="en-GB" altLang="en-US" sz="1620" dirty="0">
                <a:solidFill>
                  <a:srgbClr val="222222"/>
                </a:solidFill>
                <a:latin typeface="Arial" pitchFamily="34" charset="0"/>
                <a:ea typeface="Arial" pitchFamily="34" charset="-122"/>
                <a:cs typeface="Arial" pitchFamily="34" charset="-120"/>
              </a:rPr>
              <a:t>High</a:t>
            </a:r>
            <a:endParaRPr lang="en-GB" sz="1620" dirty="0"/>
          </a:p>
        </p:txBody>
      </p:sp>
      <p:sp>
        <p:nvSpPr>
          <p:cNvPr id="7" name="e09-4"/>
          <p:cNvSpPr/>
          <p:nvPr/>
        </p:nvSpPr>
        <p:spPr>
          <a:xfrm>
            <a:off x="609600" y="3642360"/>
            <a:ext cx="10972800" cy="365760"/>
          </a:xfrm>
          <a:prstGeom prst="rect">
            <a:avLst/>
          </a:prstGeom>
          <a:noFill/>
          <a:ln/>
        </p:spPr>
        <p:txBody>
          <a:bodyPr wrap="square" lIns="0" tIns="0" rIns="0" bIns="0" rtlCol="0" anchor="t"/>
          <a:lstStyle/>
          <a:p>
            <a:pPr algn="l" indent="0" marL="0">
              <a:lnSpc>
                <a:spcPct val="128000"/>
              </a:lnSpc>
              <a:buNone/>
            </a:pPr>
            <a:r>
              <a:rPr lang="en-GB" altLang="en-US" sz="1620" b="1" dirty="0">
                <a:solidFill>
                  <a:srgbClr val="222222"/>
                </a:solidFill>
                <a:latin typeface="Arial" pitchFamily="34" charset="0"/>
                <a:ea typeface="Arial" pitchFamily="34" charset="-122"/>
                <a:cs typeface="Arial" pitchFamily="34" charset="-120"/>
              </a:rPr>
              <a:t>Open question: </a:t>
            </a:r>
            <a:pPr algn="l" indent="0" marL="0">
              <a:lnSpc>
                <a:spcPct val="128000"/>
              </a:lnSpc>
              <a:buNone/>
            </a:pPr>
            <a:r>
              <a:rPr lang="en-GB" altLang="en-US" sz="1620" dirty="0">
                <a:solidFill>
                  <a:srgbClr val="222222"/>
                </a:solidFill>
                <a:latin typeface="Arial" pitchFamily="34" charset="0"/>
                <a:ea typeface="Arial" pitchFamily="34" charset="-122"/>
                <a:cs typeface="Arial" pitchFamily="34" charset="-120"/>
              </a:rPr>
              <a:t>Same tenant/connector scope, concurrent resets and server-side persistence</a:t>
            </a:r>
            <a:endParaRPr lang="en-GB" sz="1620" dirty="0"/>
          </a:p>
        </p:txBody>
      </p:sp>
      <p:sp>
        <p:nvSpPr>
          <p:cNvPr id="8" name="e09-5"/>
          <p:cNvSpPr/>
          <p:nvPr/>
        </p:nvSpPr>
        <p:spPr>
          <a:xfrm>
            <a:off x="609600" y="4084320"/>
            <a:ext cx="10972800" cy="640080"/>
          </a:xfrm>
          <a:prstGeom prst="rect">
            <a:avLst/>
          </a:prstGeom>
          <a:noFill/>
          <a:ln/>
        </p:spPr>
        <p:txBody>
          <a:bodyPr wrap="square" lIns="0" tIns="0" rIns="0" bIns="0" rtlCol="0" anchor="t"/>
          <a:lstStyle/>
          <a:p>
            <a:pPr algn="l" indent="0" marL="0">
              <a:lnSpc>
                <a:spcPct val="128000"/>
              </a:lnSpc>
              <a:buNone/>
            </a:pPr>
            <a:r>
              <a:rPr lang="en-GB" altLang="en-US" sz="1620" b="1" dirty="0">
                <a:solidFill>
                  <a:srgbClr val="222222"/>
                </a:solidFill>
                <a:latin typeface="Arial" pitchFamily="34" charset="0"/>
                <a:ea typeface="Arial" pitchFamily="34" charset="-122"/>
                <a:cs typeface="Arial" pitchFamily="34" charset="-120"/>
              </a:rPr>
              <a:t>Implication for this report: </a:t>
            </a:r>
            <a:pPr algn="l" indent="0" marL="0">
              <a:lnSpc>
                <a:spcPct val="128000"/>
              </a:lnSpc>
              <a:buNone/>
            </a:pPr>
            <a:r>
              <a:rPr lang="en-GB" altLang="en-US" sz="1620" dirty="0">
                <a:solidFill>
                  <a:srgbClr val="222222"/>
                </a:solidFill>
                <a:latin typeface="Arial" pitchFamily="34" charset="0"/>
                <a:ea typeface="Arial" pitchFamily="34" charset="-122"/>
                <a:cs typeface="Arial" pitchFamily="34" charset="-120"/>
              </a:rPr>
              <a:t>The discrepancy already occurred that day; do not describe it only as disappearance on 10-14</a:t>
            </a:r>
            <a:endParaRPr lang="en-GB" sz="1620" dirty="0"/>
          </a:p>
        </p:txBody>
      </p:sp>
      <p:sp>
        <p:nvSpPr>
          <p:cNvPr id="10" name="Text 1"/>
          <p:cNvSpPr/>
          <p:nvPr>
            <p:ph idx="102" type="body" hasCustomPrompt="1"/>
          </p:nvPr>
        </p:nvSpPr>
        <p:spPr>
          <a:xfrm>
            <a:off x="762000" y="2057400"/>
            <a:ext cx="10668000" cy="3886200"/>
          </a:xfrm>
          <a:prstGeom prst="rect">
            <a:avLst/>
          </a:prstGeom>
          <a:noFill/>
          <a:ln/>
        </p:spPr>
        <p:txBody>
          <a:bodyPr wrap="square" lIns="0" tIns="0" rIns="0" bIns="0" rtlCol="0" anchor="t"/>
          <a:lstStyle/>
          <a:p>
            <a:pPr indent="0" marL="0">
              <a:buNone/>
            </a:pPr>
            <a:endParaRPr lang="en-US" sz="168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FFFFF"/>
        </a:solidFill>
      </p:bgPr>
    </p:bg>
    <p:spTree>
      <p:nvGrpSpPr>
        <p:cNvPr id="1" name=""/>
        <p:cNvGrpSpPr/>
        <p:nvPr/>
      </p:nvGrpSpPr>
      <p:grpSpPr>
        <a:xfrm>
          <a:off x="0" y="0"/>
          <a:ext cx="0" cy="0"/>
          <a:chOff x="0" y="0"/>
          <a:chExt cx="0" cy="0"/>
        </a:xfrm>
      </p:grpSpPr>
      <p:sp>
        <p:nvSpPr>
          <p:cNvPr id="2" name="Text 1"/>
          <p:cNvSpPr/>
          <p:nvPr>
            <p:ph idx="101" type="title" hasCustomPrompt="1"/>
          </p:nvPr>
        </p:nvSpPr>
        <p:spPr>
          <a:xfrm>
            <a:off x="381000" y="891540"/>
            <a:ext cx="11430000" cy="487680"/>
          </a:xfrm>
          <a:prstGeom prst="rect">
            <a:avLst/>
          </a:prstGeom>
          <a:noFill/>
          <a:ln/>
        </p:spPr>
        <p:txBody>
          <a:bodyPr wrap="square" lIns="0" tIns="0" rIns="0" bIns="0" rtlCol="0" anchor="t"/>
          <a:lstStyle/>
          <a:p>
            <a:pPr algn="l" indent="0" marL="0">
              <a:buNone/>
            </a:pPr>
            <a:r>
              <a:rPr lang="en-GB" altLang="en-US" sz="2400" b="1" spc="-84" kern="0" dirty="0">
                <a:solidFill>
                  <a:srgbClr val="000000"/>
                </a:solidFill>
                <a:latin typeface="Arial" pitchFamily="34" charset="0"/>
                <a:ea typeface="Arial" pitchFamily="34" charset="-122"/>
                <a:cs typeface="Arial" pitchFamily="34" charset="-120"/>
              </a:rPr>
              <a:t>E10 · Cause and repair evidence</a:t>
            </a:r>
            <a:endParaRPr lang="en-GB" sz="2400" dirty="0"/>
          </a:p>
        </p:txBody>
      </p:sp>
      <p:sp>
        <p:nvSpPr>
          <p:cNvPr id="3" name="e10-0"/>
          <p:cNvSpPr/>
          <p:nvPr/>
        </p:nvSpPr>
        <p:spPr>
          <a:xfrm>
            <a:off x="609600" y="1600200"/>
            <a:ext cx="10972800" cy="906780"/>
          </a:xfrm>
          <a:prstGeom prst="rect">
            <a:avLst/>
          </a:prstGeom>
          <a:noFill/>
          <a:ln/>
        </p:spPr>
        <p:txBody>
          <a:bodyPr wrap="square" lIns="0" tIns="0" rIns="0" bIns="0" rtlCol="0" anchor="t"/>
          <a:lstStyle/>
          <a:p>
            <a:pPr algn="l" indent="0" marL="0">
              <a:lnSpc>
                <a:spcPct val="128000"/>
              </a:lnSpc>
              <a:buNone/>
            </a:pPr>
            <a:r>
              <a:rPr lang="en-GB" altLang="en-US" sz="1620" b="1" dirty="0">
                <a:solidFill>
                  <a:srgbClr val="222222"/>
                </a:solidFill>
                <a:latin typeface="Arial" pitchFamily="34" charset="0"/>
                <a:ea typeface="Arial" pitchFamily="34" charset="-122"/>
                <a:cs typeface="Arial" pitchFamily="34" charset="-120"/>
              </a:rPr>
              <a:t>Key finding: </a:t>
            </a:r>
            <a:pPr algn="l" indent="0" marL="0">
              <a:lnSpc>
                <a:spcPct val="128000"/>
              </a:lnSpc>
              <a:buNone/>
            </a:pPr>
            <a:r>
              <a:rPr lang="en-GB" altLang="en-US" sz="1620" dirty="0">
                <a:solidFill>
                  <a:srgbClr val="222222"/>
                </a:solidFill>
                <a:latin typeface="Arial" pitchFamily="34" charset="0"/>
                <a:ea typeface="Arial" pitchFamily="34" charset="-122"/>
                <a:cs typeface="Arial" pitchFamily="34" charset="-120"/>
              </a:rPr>
              <a:t>A missed day-seven boundary was the assistant's later explanation. Only the task prompt was changed and enabled status checked; no successful retest under the same data-present conditions was found</a:t>
            </a:r>
            <a:endParaRPr lang="en-GB" sz="1620" dirty="0"/>
          </a:p>
        </p:txBody>
      </p:sp>
      <p:sp>
        <p:nvSpPr>
          <p:cNvPr id="4" name="e10-1"/>
          <p:cNvSpPr/>
          <p:nvPr/>
        </p:nvSpPr>
        <p:spPr>
          <a:xfrm>
            <a:off x="609600" y="2583180"/>
            <a:ext cx="10972800" cy="365760"/>
          </a:xfrm>
          <a:prstGeom prst="rect">
            <a:avLst/>
          </a:prstGeom>
          <a:noFill/>
          <a:ln/>
        </p:spPr>
        <p:txBody>
          <a:bodyPr wrap="square" lIns="0" tIns="0" rIns="0" bIns="0" rtlCol="0" anchor="t"/>
          <a:lstStyle/>
          <a:p>
            <a:pPr algn="l" indent="0" marL="0">
              <a:lnSpc>
                <a:spcPct val="128000"/>
              </a:lnSpc>
              <a:buNone/>
            </a:pPr>
            <a:r>
              <a:rPr lang="en-GB" altLang="en-US" sz="1620" b="1" dirty="0">
                <a:solidFill>
                  <a:srgbClr val="222222"/>
                </a:solidFill>
                <a:latin typeface="Arial" pitchFamily="34" charset="0"/>
                <a:ea typeface="Arial" pitchFamily="34" charset="-122"/>
                <a:cs typeface="Arial" pitchFamily="34" charset="-120"/>
              </a:rPr>
              <a:t>Evidence sources: </a:t>
            </a:r>
            <a:pPr algn="l" indent="0" marL="0">
              <a:lnSpc>
                <a:spcPct val="128000"/>
              </a:lnSpc>
              <a:buNone/>
            </a:pPr>
            <a:r>
              <a:rPr lang="en-GB" altLang="en-US" sz="1620" dirty="0">
                <a:solidFill>
                  <a:srgbClr val="222222"/>
                </a:solidFill>
                <a:latin typeface="Arial" pitchFamily="34" charset="0"/>
                <a:ea typeface="Arial" pitchFamily="34" charset="-122"/>
                <a:cs typeface="Arial" pitchFamily="34" charset="-120"/>
              </a:rPr>
              <a:t>R2 L33; R1 L513–525; R3 L20 and R4 L33 still empty</a:t>
            </a:r>
            <a:endParaRPr lang="en-GB" sz="1620" dirty="0"/>
          </a:p>
        </p:txBody>
      </p:sp>
      <p:sp>
        <p:nvSpPr>
          <p:cNvPr id="5" name="e10-2"/>
          <p:cNvSpPr/>
          <p:nvPr/>
        </p:nvSpPr>
        <p:spPr>
          <a:xfrm>
            <a:off x="609600" y="3025140"/>
            <a:ext cx="10972800" cy="365760"/>
          </a:xfrm>
          <a:prstGeom prst="rect">
            <a:avLst/>
          </a:prstGeom>
          <a:noFill/>
          <a:ln/>
        </p:spPr>
        <p:txBody>
          <a:bodyPr wrap="square" lIns="0" tIns="0" rIns="0" bIns="0" rtlCol="0" anchor="t"/>
          <a:lstStyle/>
          <a:p>
            <a:pPr algn="l" indent="0" marL="0">
              <a:lnSpc>
                <a:spcPct val="128000"/>
              </a:lnSpc>
              <a:buNone/>
            </a:pPr>
            <a:r>
              <a:rPr lang="en-GB" altLang="en-US" sz="1620" b="1" dirty="0">
                <a:solidFill>
                  <a:srgbClr val="222222"/>
                </a:solidFill>
                <a:latin typeface="Arial" pitchFamily="34" charset="0"/>
                <a:ea typeface="Arial" pitchFamily="34" charset="-122"/>
                <a:cs typeface="Arial" pitchFamily="34" charset="-120"/>
              </a:rPr>
              <a:t>Fact or inference: </a:t>
            </a:r>
            <a:pPr algn="l" indent="0" marL="0">
              <a:lnSpc>
                <a:spcPct val="128000"/>
              </a:lnSpc>
              <a:buNone/>
            </a:pPr>
            <a:r>
              <a:rPr lang="en-GB" altLang="en-US" sz="1620" dirty="0">
                <a:solidFill>
                  <a:srgbClr val="222222"/>
                </a:solidFill>
                <a:latin typeface="Arial" pitchFamily="34" charset="0"/>
                <a:ea typeface="Arial" pitchFamily="34" charset="-122"/>
                <a:cs typeface="Arial" pitchFamily="34" charset="-120"/>
              </a:rPr>
              <a:t>A: recorded content; the original cause claim is D</a:t>
            </a:r>
            <a:endParaRPr lang="en-GB" sz="1620" dirty="0"/>
          </a:p>
        </p:txBody>
      </p:sp>
      <p:sp>
        <p:nvSpPr>
          <p:cNvPr id="6" name="e10-3"/>
          <p:cNvSpPr/>
          <p:nvPr/>
        </p:nvSpPr>
        <p:spPr>
          <a:xfrm>
            <a:off x="609600" y="3467100"/>
            <a:ext cx="10972800" cy="365760"/>
          </a:xfrm>
          <a:prstGeom prst="rect">
            <a:avLst/>
          </a:prstGeom>
          <a:noFill/>
          <a:ln/>
        </p:spPr>
        <p:txBody>
          <a:bodyPr wrap="square" lIns="0" tIns="0" rIns="0" bIns="0" rtlCol="0" anchor="t"/>
          <a:lstStyle/>
          <a:p>
            <a:pPr algn="l" indent="0" marL="0">
              <a:lnSpc>
                <a:spcPct val="128000"/>
              </a:lnSpc>
              <a:buNone/>
            </a:pPr>
            <a:r>
              <a:rPr lang="en-GB" altLang="en-US" sz="1620" b="1" dirty="0">
                <a:solidFill>
                  <a:srgbClr val="222222"/>
                </a:solidFill>
                <a:latin typeface="Arial" pitchFamily="34" charset="0"/>
                <a:ea typeface="Arial" pitchFamily="34" charset="-122"/>
                <a:cs typeface="Arial" pitchFamily="34" charset="-120"/>
              </a:rPr>
              <a:t>Evidence strength: </a:t>
            </a:r>
            <a:pPr algn="l" indent="0" marL="0">
              <a:lnSpc>
                <a:spcPct val="128000"/>
              </a:lnSpc>
              <a:buNone/>
            </a:pPr>
            <a:r>
              <a:rPr lang="en-GB" altLang="en-US" sz="1620" dirty="0">
                <a:solidFill>
                  <a:srgbClr val="222222"/>
                </a:solidFill>
                <a:latin typeface="Arial" pitchFamily="34" charset="0"/>
                <a:ea typeface="Arial" pitchFamily="34" charset="-122"/>
                <a:cs typeface="Arial" pitchFamily="34" charset="-120"/>
              </a:rPr>
              <a:t>High, limited to the evidence gap</a:t>
            </a:r>
            <a:endParaRPr lang="en-GB" sz="1620" dirty="0"/>
          </a:p>
        </p:txBody>
      </p:sp>
      <p:sp>
        <p:nvSpPr>
          <p:cNvPr id="7" name="e10-4"/>
          <p:cNvSpPr/>
          <p:nvPr/>
        </p:nvSpPr>
        <p:spPr>
          <a:xfrm>
            <a:off x="609600" y="3909060"/>
            <a:ext cx="10972800" cy="640080"/>
          </a:xfrm>
          <a:prstGeom prst="rect">
            <a:avLst/>
          </a:prstGeom>
          <a:noFill/>
          <a:ln/>
        </p:spPr>
        <p:txBody>
          <a:bodyPr wrap="square" lIns="0" tIns="0" rIns="0" bIns="0" rtlCol="0" anchor="t"/>
          <a:lstStyle/>
          <a:p>
            <a:pPr algn="l" indent="0" marL="0">
              <a:lnSpc>
                <a:spcPct val="128000"/>
              </a:lnSpc>
              <a:buNone/>
            </a:pPr>
            <a:r>
              <a:rPr lang="en-GB" altLang="en-US" sz="1620" b="1" dirty="0">
                <a:solidFill>
                  <a:srgbClr val="222222"/>
                </a:solidFill>
                <a:latin typeface="Arial" pitchFamily="34" charset="0"/>
                <a:ea typeface="Arial" pitchFamily="34" charset="-122"/>
                <a:cs typeface="Arial" pitchFamily="34" charset="-120"/>
              </a:rPr>
              <a:t>Open question: </a:t>
            </a:r>
            <a:pPr algn="l" indent="0" marL="0">
              <a:lnSpc>
                <a:spcPct val="128000"/>
              </a:lnSpc>
              <a:buNone/>
            </a:pPr>
            <a:r>
              <a:rPr lang="en-GB" altLang="en-US" sz="1620" dirty="0">
                <a:solidFill>
                  <a:srgbClr val="222222"/>
                </a:solidFill>
                <a:latin typeface="Arial" pitchFamily="34" charset="0"/>
                <a:ea typeface="Arial" pitchFamily="34" charset="-122"/>
                <a:cs typeface="Arial" pitchFamily="34" charset="-120"/>
              </a:rPr>
              <a:t>If RT-001 is returned, does the rule correctly evaluate the seven-day boundary?</a:t>
            </a:r>
            <a:endParaRPr lang="en-GB" sz="1620" dirty="0"/>
          </a:p>
        </p:txBody>
      </p:sp>
      <p:sp>
        <p:nvSpPr>
          <p:cNvPr id="8" name="e10-5"/>
          <p:cNvSpPr/>
          <p:nvPr/>
        </p:nvSpPr>
        <p:spPr>
          <a:xfrm>
            <a:off x="609600" y="4625340"/>
            <a:ext cx="10972800" cy="640080"/>
          </a:xfrm>
          <a:prstGeom prst="rect">
            <a:avLst/>
          </a:prstGeom>
          <a:noFill/>
          <a:ln/>
        </p:spPr>
        <p:txBody>
          <a:bodyPr wrap="square" lIns="0" tIns="0" rIns="0" bIns="0" rtlCol="0" anchor="t"/>
          <a:lstStyle/>
          <a:p>
            <a:pPr algn="l" indent="0" marL="0">
              <a:lnSpc>
                <a:spcPct val="128000"/>
              </a:lnSpc>
              <a:buNone/>
            </a:pPr>
            <a:r>
              <a:rPr lang="en-GB" altLang="en-US" sz="1620" b="1" dirty="0">
                <a:solidFill>
                  <a:srgbClr val="222222"/>
                </a:solidFill>
                <a:latin typeface="Arial" pitchFamily="34" charset="0"/>
                <a:ea typeface="Arial" pitchFamily="34" charset="-122"/>
                <a:cs typeface="Arial" pitchFamily="34" charset="-120"/>
              </a:rPr>
              <a:t>Implication for this report: </a:t>
            </a:r>
            <a:pPr algn="l" indent="0" marL="0">
              <a:lnSpc>
                <a:spcPct val="128000"/>
              </a:lnSpc>
              <a:buNone/>
            </a:pPr>
            <a:r>
              <a:rPr lang="en-GB" altLang="en-US" sz="1620" dirty="0">
                <a:solidFill>
                  <a:srgbClr val="222222"/>
                </a:solidFill>
                <a:latin typeface="Arial" pitchFamily="34" charset="0"/>
                <a:ea typeface="Arial" pitchFamily="34" charset="-122"/>
                <a:cs typeface="Arial" pitchFamily="34" charset="-120"/>
              </a:rPr>
              <a:t>Withdraw the claim that the boundary defect was fixed and correct behaviour restored</a:t>
            </a:r>
            <a:endParaRPr lang="en-GB" sz="1620" dirty="0"/>
          </a:p>
        </p:txBody>
      </p:sp>
      <p:sp>
        <p:nvSpPr>
          <p:cNvPr id="10" name="Text 1"/>
          <p:cNvSpPr/>
          <p:nvPr>
            <p:ph idx="102" type="body" hasCustomPrompt="1"/>
          </p:nvPr>
        </p:nvSpPr>
        <p:spPr>
          <a:xfrm>
            <a:off x="762000" y="2057400"/>
            <a:ext cx="10668000" cy="3886200"/>
          </a:xfrm>
          <a:prstGeom prst="rect">
            <a:avLst/>
          </a:prstGeom>
          <a:noFill/>
          <a:ln/>
        </p:spPr>
        <p:txBody>
          <a:bodyPr wrap="square" lIns="0" tIns="0" rIns="0" bIns="0" rtlCol="0" anchor="t"/>
          <a:lstStyle/>
          <a:p>
            <a:pPr indent="0" marL="0">
              <a:buNone/>
            </a:pPr>
            <a:endParaRPr lang="en-US" sz="168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FFFFF"/>
        </a:solidFill>
      </p:bgPr>
    </p:bg>
    <p:spTree>
      <p:nvGrpSpPr>
        <p:cNvPr id="1" name=""/>
        <p:cNvGrpSpPr/>
        <p:nvPr/>
      </p:nvGrpSpPr>
      <p:grpSpPr>
        <a:xfrm>
          <a:off x="0" y="0"/>
          <a:ext cx="0" cy="0"/>
          <a:chOff x="0" y="0"/>
          <a:chExt cx="0" cy="0"/>
        </a:xfrm>
      </p:grpSpPr>
      <p:sp>
        <p:nvSpPr>
          <p:cNvPr id="2" name="Text 1"/>
          <p:cNvSpPr/>
          <p:nvPr>
            <p:ph idx="101" type="title" hasCustomPrompt="1"/>
          </p:nvPr>
        </p:nvSpPr>
        <p:spPr>
          <a:xfrm>
            <a:off x="381000" y="891540"/>
            <a:ext cx="11430000" cy="487680"/>
          </a:xfrm>
          <a:prstGeom prst="rect">
            <a:avLst/>
          </a:prstGeom>
          <a:noFill/>
          <a:ln/>
        </p:spPr>
        <p:txBody>
          <a:bodyPr wrap="square" lIns="0" tIns="0" rIns="0" bIns="0" rtlCol="0" anchor="t"/>
          <a:lstStyle/>
          <a:p>
            <a:pPr algn="l" indent="0" marL="0">
              <a:buNone/>
            </a:pPr>
            <a:r>
              <a:rPr lang="en-GB" altLang="en-US" sz="2400" b="1" spc="-84" kern="0" dirty="0">
                <a:solidFill>
                  <a:srgbClr val="000000"/>
                </a:solidFill>
                <a:latin typeface="Arial" pitchFamily="34" charset="0"/>
                <a:ea typeface="Arial" pitchFamily="34" charset="-122"/>
                <a:cs typeface="Arial" pitchFamily="34" charset="-120"/>
              </a:rPr>
              <a:t>E11 · Briefing from three data sources</a:t>
            </a:r>
            <a:endParaRPr lang="en-GB" sz="2400" dirty="0"/>
          </a:p>
        </p:txBody>
      </p:sp>
      <p:sp>
        <p:nvSpPr>
          <p:cNvPr id="3" name="e11-0"/>
          <p:cNvSpPr/>
          <p:nvPr/>
        </p:nvSpPr>
        <p:spPr>
          <a:xfrm>
            <a:off x="609600" y="1600200"/>
            <a:ext cx="10972800" cy="906780"/>
          </a:xfrm>
          <a:prstGeom prst="rect">
            <a:avLst/>
          </a:prstGeom>
          <a:noFill/>
          <a:ln/>
        </p:spPr>
        <p:txBody>
          <a:bodyPr wrap="square" lIns="0" tIns="0" rIns="0" bIns="0" rtlCol="0" anchor="t"/>
          <a:lstStyle/>
          <a:p>
            <a:pPr algn="l" indent="0" marL="0">
              <a:lnSpc>
                <a:spcPct val="128000"/>
              </a:lnSpc>
              <a:buNone/>
            </a:pPr>
            <a:r>
              <a:rPr lang="en-GB" altLang="en-US" sz="1620" b="1" dirty="0">
                <a:solidFill>
                  <a:srgbClr val="222222"/>
                </a:solidFill>
                <a:latin typeface="Arial" pitchFamily="34" charset="0"/>
                <a:ea typeface="Arial" pitchFamily="34" charset="-122"/>
                <a:cs typeface="Arial" pitchFamily="34" charset="-120"/>
              </a:rPr>
              <a:t>Key finding: </a:t>
            </a:r>
            <a:pPr algn="l" indent="0" marL="0">
              <a:lnSpc>
                <a:spcPct val="128000"/>
              </a:lnSpc>
              <a:buNone/>
            </a:pPr>
            <a:r>
              <a:rPr lang="en-GB" altLang="en-US" sz="1620" dirty="0">
                <a:solidFill>
                  <a:srgbClr val="222222"/>
                </a:solidFill>
                <a:latin typeface="Arial" pitchFamily="34" charset="0"/>
                <a:ea typeface="Arial" pitchFamily="34" charset="-122"/>
                <a:cs typeface="Arial" pitchFamily="34" charset="-120"/>
              </a:rPr>
              <a:t>The briefing combined three sources, distinguished archived from awaiting entry, and identified three pending decisions. The group message was readable after the sending command was corrected</a:t>
            </a:r>
            <a:endParaRPr lang="en-GB" sz="1620" dirty="0"/>
          </a:p>
        </p:txBody>
      </p:sp>
      <p:sp>
        <p:nvSpPr>
          <p:cNvPr id="4" name="e11-1"/>
          <p:cNvSpPr/>
          <p:nvPr/>
        </p:nvSpPr>
        <p:spPr>
          <a:xfrm>
            <a:off x="609600" y="2583180"/>
            <a:ext cx="10972800" cy="365760"/>
          </a:xfrm>
          <a:prstGeom prst="rect">
            <a:avLst/>
          </a:prstGeom>
          <a:noFill/>
          <a:ln/>
        </p:spPr>
        <p:txBody>
          <a:bodyPr wrap="square" lIns="0" tIns="0" rIns="0" bIns="0" rtlCol="0" anchor="t"/>
          <a:lstStyle/>
          <a:p>
            <a:pPr algn="l" indent="0" marL="0">
              <a:lnSpc>
                <a:spcPct val="128000"/>
              </a:lnSpc>
              <a:buNone/>
            </a:pPr>
            <a:r>
              <a:rPr lang="en-GB" altLang="en-US" sz="1620" b="1" dirty="0">
                <a:solidFill>
                  <a:srgbClr val="222222"/>
                </a:solidFill>
                <a:latin typeface="Arial" pitchFamily="34" charset="0"/>
                <a:ea typeface="Arial" pitchFamily="34" charset="-122"/>
                <a:cs typeface="Arial" pitchFamily="34" charset="-120"/>
              </a:rPr>
              <a:t>Evidence sources: </a:t>
            </a:r>
            <a:pPr algn="l" indent="0" marL="0">
              <a:lnSpc>
                <a:spcPct val="128000"/>
              </a:lnSpc>
              <a:buNone/>
            </a:pPr>
            <a:r>
              <a:rPr lang="en-GB" altLang="en-US" sz="1620" dirty="0">
                <a:solidFill>
                  <a:srgbClr val="222222"/>
                </a:solidFill>
                <a:latin typeface="Arial" pitchFamily="34" charset="0"/>
                <a:ea typeface="Arial" pitchFamily="34" charset="-122"/>
                <a:cs typeface="Arial" pitchFamily="34" charset="-120"/>
              </a:rPr>
              <a:t>R1 L430–459; R5 L69</a:t>
            </a:r>
            <a:endParaRPr lang="en-GB" sz="1620" dirty="0"/>
          </a:p>
        </p:txBody>
      </p:sp>
      <p:sp>
        <p:nvSpPr>
          <p:cNvPr id="5" name="e11-2"/>
          <p:cNvSpPr/>
          <p:nvPr/>
        </p:nvSpPr>
        <p:spPr>
          <a:xfrm>
            <a:off x="609600" y="3025140"/>
            <a:ext cx="10972800" cy="365760"/>
          </a:xfrm>
          <a:prstGeom prst="rect">
            <a:avLst/>
          </a:prstGeom>
          <a:noFill/>
          <a:ln/>
        </p:spPr>
        <p:txBody>
          <a:bodyPr wrap="square" lIns="0" tIns="0" rIns="0" bIns="0" rtlCol="0" anchor="t"/>
          <a:lstStyle/>
          <a:p>
            <a:pPr algn="l" indent="0" marL="0">
              <a:lnSpc>
                <a:spcPct val="128000"/>
              </a:lnSpc>
              <a:buNone/>
            </a:pPr>
            <a:r>
              <a:rPr lang="en-GB" altLang="en-US" sz="1620" b="1" dirty="0">
                <a:solidFill>
                  <a:srgbClr val="222222"/>
                </a:solidFill>
                <a:latin typeface="Arial" pitchFamily="34" charset="0"/>
                <a:ea typeface="Arial" pitchFamily="34" charset="-122"/>
                <a:cs typeface="Arial" pitchFamily="34" charset="-120"/>
              </a:rPr>
              <a:t>Fact or inference: </a:t>
            </a:r>
            <a:pPr algn="l" indent="0" marL="0">
              <a:lnSpc>
                <a:spcPct val="128000"/>
              </a:lnSpc>
              <a:buNone/>
            </a:pPr>
            <a:r>
              <a:rPr lang="en-GB" altLang="en-US" sz="1620" dirty="0">
                <a:solidFill>
                  <a:srgbClr val="222222"/>
                </a:solidFill>
                <a:latin typeface="Arial" pitchFamily="34" charset="0"/>
                <a:ea typeface="Arial" pitchFamily="34" charset="-122"/>
                <a:cs typeface="Arial" pitchFamily="34" charset="-120"/>
              </a:rPr>
              <a:t>A; readability for management is B</a:t>
            </a:r>
            <a:endParaRPr lang="en-GB" sz="1620" dirty="0"/>
          </a:p>
        </p:txBody>
      </p:sp>
      <p:sp>
        <p:nvSpPr>
          <p:cNvPr id="6" name="e11-3"/>
          <p:cNvSpPr/>
          <p:nvPr/>
        </p:nvSpPr>
        <p:spPr>
          <a:xfrm>
            <a:off x="609600" y="3467100"/>
            <a:ext cx="10972800" cy="365760"/>
          </a:xfrm>
          <a:prstGeom prst="rect">
            <a:avLst/>
          </a:prstGeom>
          <a:noFill/>
          <a:ln/>
        </p:spPr>
        <p:txBody>
          <a:bodyPr wrap="square" lIns="0" tIns="0" rIns="0" bIns="0" rtlCol="0" anchor="t"/>
          <a:lstStyle/>
          <a:p>
            <a:pPr algn="l" indent="0" marL="0">
              <a:lnSpc>
                <a:spcPct val="128000"/>
              </a:lnSpc>
              <a:buNone/>
            </a:pPr>
            <a:r>
              <a:rPr lang="en-GB" altLang="en-US" sz="1620" b="1" dirty="0">
                <a:solidFill>
                  <a:srgbClr val="222222"/>
                </a:solidFill>
                <a:latin typeface="Arial" pitchFamily="34" charset="0"/>
                <a:ea typeface="Arial" pitchFamily="34" charset="-122"/>
                <a:cs typeface="Arial" pitchFamily="34" charset="-120"/>
              </a:rPr>
              <a:t>Evidence strength: </a:t>
            </a:r>
            <a:pPr algn="l" indent="0" marL="0">
              <a:lnSpc>
                <a:spcPct val="128000"/>
              </a:lnSpc>
              <a:buNone/>
            </a:pPr>
            <a:r>
              <a:rPr lang="en-GB" altLang="en-US" sz="1620" dirty="0">
                <a:solidFill>
                  <a:srgbClr val="222222"/>
                </a:solidFill>
                <a:latin typeface="Arial" pitchFamily="34" charset="0"/>
                <a:ea typeface="Arial" pitchFamily="34" charset="-122"/>
                <a:cs typeface="Arial" pitchFamily="34" charset="-120"/>
              </a:rPr>
              <a:t>High for content and delivery records</a:t>
            </a:r>
            <a:endParaRPr lang="en-GB" sz="1620" dirty="0"/>
          </a:p>
        </p:txBody>
      </p:sp>
      <p:sp>
        <p:nvSpPr>
          <p:cNvPr id="7" name="e11-4"/>
          <p:cNvSpPr/>
          <p:nvPr/>
        </p:nvSpPr>
        <p:spPr>
          <a:xfrm>
            <a:off x="609600" y="3909060"/>
            <a:ext cx="10972800" cy="365760"/>
          </a:xfrm>
          <a:prstGeom prst="rect">
            <a:avLst/>
          </a:prstGeom>
          <a:noFill/>
          <a:ln/>
        </p:spPr>
        <p:txBody>
          <a:bodyPr wrap="square" lIns="0" tIns="0" rIns="0" bIns="0" rtlCol="0" anchor="t"/>
          <a:lstStyle/>
          <a:p>
            <a:pPr algn="l" indent="0" marL="0">
              <a:lnSpc>
                <a:spcPct val="128000"/>
              </a:lnSpc>
              <a:buNone/>
            </a:pPr>
            <a:r>
              <a:rPr lang="en-GB" altLang="en-US" sz="1620" b="1" dirty="0">
                <a:solidFill>
                  <a:srgbClr val="222222"/>
                </a:solidFill>
                <a:latin typeface="Arial" pitchFamily="34" charset="0"/>
                <a:ea typeface="Arial" pitchFamily="34" charset="-122"/>
                <a:cs typeface="Arial" pitchFamily="34" charset="-120"/>
              </a:rPr>
              <a:t>Open question: </a:t>
            </a:r>
            <a:pPr algn="l" indent="0" marL="0">
              <a:lnSpc>
                <a:spcPct val="128000"/>
              </a:lnSpc>
              <a:buNone/>
            </a:pPr>
            <a:r>
              <a:rPr lang="en-GB" altLang="en-US" sz="1620" dirty="0">
                <a:solidFill>
                  <a:srgbClr val="222222"/>
                </a:solidFill>
                <a:latin typeface="Arial" pitchFamily="34" charset="0"/>
                <a:ea typeface="Arial" pitchFamily="34" charset="-122"/>
                <a:cs typeface="Arial" pitchFamily="34" charset="-120"/>
              </a:rPr>
              <a:t>Contribution to decisions, recipient understanding and subsequent action</a:t>
            </a:r>
            <a:endParaRPr lang="en-GB" sz="1620" dirty="0"/>
          </a:p>
        </p:txBody>
      </p:sp>
      <p:sp>
        <p:nvSpPr>
          <p:cNvPr id="8" name="e11-5"/>
          <p:cNvSpPr/>
          <p:nvPr/>
        </p:nvSpPr>
        <p:spPr>
          <a:xfrm>
            <a:off x="609600" y="4351020"/>
            <a:ext cx="10972800" cy="640080"/>
          </a:xfrm>
          <a:prstGeom prst="rect">
            <a:avLst/>
          </a:prstGeom>
          <a:noFill/>
          <a:ln/>
        </p:spPr>
        <p:txBody>
          <a:bodyPr wrap="square" lIns="0" tIns="0" rIns="0" bIns="0" rtlCol="0" anchor="t"/>
          <a:lstStyle/>
          <a:p>
            <a:pPr algn="l" indent="0" marL="0">
              <a:lnSpc>
                <a:spcPct val="128000"/>
              </a:lnSpc>
              <a:buNone/>
            </a:pPr>
            <a:r>
              <a:rPr lang="en-GB" altLang="en-US" sz="1620" b="1" dirty="0">
                <a:solidFill>
                  <a:srgbClr val="222222"/>
                </a:solidFill>
                <a:latin typeface="Arial" pitchFamily="34" charset="0"/>
                <a:ea typeface="Arial" pitchFamily="34" charset="-122"/>
                <a:cs typeface="Arial" pitchFamily="34" charset="-120"/>
              </a:rPr>
              <a:t>Implication for this report: </a:t>
            </a:r>
            <a:pPr algn="l" indent="0" marL="0">
              <a:lnSpc>
                <a:spcPct val="128000"/>
              </a:lnSpc>
              <a:buNone/>
            </a:pPr>
            <a:r>
              <a:rPr lang="en-GB" altLang="en-US" sz="1620" dirty="0">
                <a:solidFill>
                  <a:srgbClr val="222222"/>
                </a:solidFill>
                <a:latin typeface="Arial" pitchFamily="34" charset="0"/>
                <a:ea typeface="Arial" pitchFamily="34" charset="-122"/>
                <a:cs typeface="Arial" pitchFamily="34" charset="-120"/>
              </a:rPr>
              <a:t>Supports prioritising project-briefing validation; colours and cards have limited value on their own</a:t>
            </a:r>
            <a:endParaRPr lang="en-GB" sz="1620" dirty="0"/>
          </a:p>
        </p:txBody>
      </p:sp>
      <p:sp>
        <p:nvSpPr>
          <p:cNvPr id="10" name="Text 1"/>
          <p:cNvSpPr/>
          <p:nvPr>
            <p:ph idx="102" type="body" hasCustomPrompt="1"/>
          </p:nvPr>
        </p:nvSpPr>
        <p:spPr>
          <a:xfrm>
            <a:off x="762000" y="2057400"/>
            <a:ext cx="10668000" cy="3886200"/>
          </a:xfrm>
          <a:prstGeom prst="rect">
            <a:avLst/>
          </a:prstGeom>
          <a:noFill/>
          <a:ln/>
        </p:spPr>
        <p:txBody>
          <a:bodyPr wrap="square" lIns="0" tIns="0" rIns="0" bIns="0" rtlCol="0" anchor="t"/>
          <a:lstStyle/>
          <a:p>
            <a:pPr indent="0" marL="0">
              <a:buNone/>
            </a:pPr>
            <a:endParaRPr lang="en-US" sz="168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FFFFF"/>
        </a:solidFill>
      </p:bgPr>
    </p:bg>
    <p:spTree>
      <p:nvGrpSpPr>
        <p:cNvPr id="1" name=""/>
        <p:cNvGrpSpPr/>
        <p:nvPr/>
      </p:nvGrpSpPr>
      <p:grpSpPr>
        <a:xfrm>
          <a:off x="0" y="0"/>
          <a:ext cx="0" cy="0"/>
          <a:chOff x="0" y="0"/>
          <a:chExt cx="0" cy="0"/>
        </a:xfrm>
      </p:grpSpPr>
      <p:sp>
        <p:nvSpPr>
          <p:cNvPr id="2" name="Text 1"/>
          <p:cNvSpPr/>
          <p:nvPr>
            <p:ph idx="101" type="title" hasCustomPrompt="1"/>
          </p:nvPr>
        </p:nvSpPr>
        <p:spPr>
          <a:xfrm>
            <a:off x="381000" y="891540"/>
            <a:ext cx="11430000" cy="487680"/>
          </a:xfrm>
          <a:prstGeom prst="rect">
            <a:avLst/>
          </a:prstGeom>
          <a:noFill/>
          <a:ln/>
        </p:spPr>
        <p:txBody>
          <a:bodyPr wrap="square" lIns="0" tIns="0" rIns="0" bIns="0" rtlCol="0" anchor="t"/>
          <a:lstStyle/>
          <a:p>
            <a:pPr algn="l" indent="0" marL="0">
              <a:buNone/>
            </a:pPr>
            <a:r>
              <a:rPr lang="en-GB" altLang="en-US" sz="2400" b="1" spc="-84" kern="0" dirty="0">
                <a:solidFill>
                  <a:srgbClr val="000000"/>
                </a:solidFill>
                <a:latin typeface="Arial" pitchFamily="34" charset="0"/>
                <a:ea typeface="Arial" pitchFamily="34" charset="-122"/>
                <a:cs typeface="Arial" pitchFamily="34" charset="-120"/>
              </a:rPr>
              <a:t>E12 · Limits of customer interpretation</a:t>
            </a:r>
            <a:endParaRPr lang="en-GB" sz="2400" dirty="0"/>
          </a:p>
        </p:txBody>
      </p:sp>
      <p:sp>
        <p:nvSpPr>
          <p:cNvPr id="3" name="e12-0"/>
          <p:cNvSpPr/>
          <p:nvPr/>
        </p:nvSpPr>
        <p:spPr>
          <a:xfrm>
            <a:off x="609600" y="1600200"/>
            <a:ext cx="10972800" cy="906780"/>
          </a:xfrm>
          <a:prstGeom prst="rect">
            <a:avLst/>
          </a:prstGeom>
          <a:noFill/>
          <a:ln/>
        </p:spPr>
        <p:txBody>
          <a:bodyPr wrap="square" lIns="0" tIns="0" rIns="0" bIns="0" rtlCol="0" anchor="t"/>
          <a:lstStyle/>
          <a:p>
            <a:pPr algn="l" indent="0" marL="0">
              <a:lnSpc>
                <a:spcPct val="128000"/>
              </a:lnSpc>
              <a:buNone/>
            </a:pPr>
            <a:r>
              <a:rPr lang="en-GB" altLang="en-US" sz="1620" b="1" dirty="0">
                <a:solidFill>
                  <a:srgbClr val="222222"/>
                </a:solidFill>
                <a:latin typeface="Arial" pitchFamily="34" charset="0"/>
                <a:ea typeface="Arial" pitchFamily="34" charset="-122"/>
                <a:cs typeface="Arial" pitchFamily="34" charset="-120"/>
              </a:rPr>
              <a:t>Key finding: </a:t>
            </a:r>
            <a:pPr algn="l" indent="0" marL="0">
              <a:lnSpc>
                <a:spcPct val="128000"/>
              </a:lnSpc>
              <a:buNone/>
            </a:pPr>
            <a:r>
              <a:rPr lang="en-GB" altLang="en-US" sz="1620" dirty="0">
                <a:solidFill>
                  <a:srgbClr val="222222"/>
                </a:solidFill>
                <a:latin typeface="Arial" pitchFamily="34" charset="0"/>
                <a:ea typeface="Arial" pitchFamily="34" charset="-122"/>
                <a:cs typeface="Arial" pitchFamily="34" charset="-120"/>
              </a:rPr>
              <a:t>The reply inferred incomplete formalities and revenue without contract protection from expiry dates/active status; the returned data contained no independent supporting evidence</a:t>
            </a:r>
            <a:endParaRPr lang="en-GB" sz="1620" dirty="0"/>
          </a:p>
        </p:txBody>
      </p:sp>
      <p:sp>
        <p:nvSpPr>
          <p:cNvPr id="4" name="e12-1"/>
          <p:cNvSpPr/>
          <p:nvPr/>
        </p:nvSpPr>
        <p:spPr>
          <a:xfrm>
            <a:off x="609600" y="2583180"/>
            <a:ext cx="10972800" cy="365760"/>
          </a:xfrm>
          <a:prstGeom prst="rect">
            <a:avLst/>
          </a:prstGeom>
          <a:noFill/>
          <a:ln/>
        </p:spPr>
        <p:txBody>
          <a:bodyPr wrap="square" lIns="0" tIns="0" rIns="0" bIns="0" rtlCol="0" anchor="t"/>
          <a:lstStyle/>
          <a:p>
            <a:pPr algn="l" indent="0" marL="0">
              <a:lnSpc>
                <a:spcPct val="128000"/>
              </a:lnSpc>
              <a:buNone/>
            </a:pPr>
            <a:r>
              <a:rPr lang="en-GB" altLang="en-US" sz="1620" b="1" dirty="0">
                <a:solidFill>
                  <a:srgbClr val="222222"/>
                </a:solidFill>
                <a:latin typeface="Arial" pitchFamily="34" charset="0"/>
                <a:ea typeface="Arial" pitchFamily="34" charset="-122"/>
                <a:cs typeface="Arial" pitchFamily="34" charset="-120"/>
              </a:rPr>
              <a:t>Evidence sources: </a:t>
            </a:r>
            <a:pPr algn="l" indent="0" marL="0">
              <a:lnSpc>
                <a:spcPct val="128000"/>
              </a:lnSpc>
              <a:buNone/>
            </a:pPr>
            <a:r>
              <a:rPr lang="en-GB" altLang="en-US" sz="1620" dirty="0">
                <a:solidFill>
                  <a:srgbClr val="222222"/>
                </a:solidFill>
                <a:latin typeface="Arial" pitchFamily="34" charset="0"/>
                <a:ea typeface="Arial" pitchFamily="34" charset="-122"/>
                <a:cs typeface="Arial" pitchFamily="34" charset="-120"/>
              </a:rPr>
              <a:t>R1 L415, 418; K6 template</a:t>
            </a:r>
            <a:endParaRPr lang="en-GB" sz="1620" dirty="0"/>
          </a:p>
        </p:txBody>
      </p:sp>
      <p:sp>
        <p:nvSpPr>
          <p:cNvPr id="5" name="e12-2"/>
          <p:cNvSpPr/>
          <p:nvPr/>
        </p:nvSpPr>
        <p:spPr>
          <a:xfrm>
            <a:off x="609600" y="3025140"/>
            <a:ext cx="10972800" cy="365760"/>
          </a:xfrm>
          <a:prstGeom prst="rect">
            <a:avLst/>
          </a:prstGeom>
          <a:noFill/>
          <a:ln/>
        </p:spPr>
        <p:txBody>
          <a:bodyPr wrap="square" lIns="0" tIns="0" rIns="0" bIns="0" rtlCol="0" anchor="t"/>
          <a:lstStyle/>
          <a:p>
            <a:pPr algn="l" indent="0" marL="0">
              <a:lnSpc>
                <a:spcPct val="128000"/>
              </a:lnSpc>
              <a:buNone/>
            </a:pPr>
            <a:r>
              <a:rPr lang="en-GB" altLang="en-US" sz="1620" b="1" dirty="0">
                <a:solidFill>
                  <a:srgbClr val="222222"/>
                </a:solidFill>
                <a:latin typeface="Arial" pitchFamily="34" charset="0"/>
                <a:ea typeface="Arial" pitchFamily="34" charset="-122"/>
                <a:cs typeface="Arial" pitchFamily="34" charset="-120"/>
              </a:rPr>
              <a:t>Fact or inference: </a:t>
            </a:r>
            <a:pPr algn="l" indent="0" marL="0">
              <a:lnSpc>
                <a:spcPct val="128000"/>
              </a:lnSpc>
              <a:buNone/>
            </a:pPr>
            <a:r>
              <a:rPr lang="en-GB" altLang="en-US" sz="1620" dirty="0">
                <a:solidFill>
                  <a:srgbClr val="222222"/>
                </a:solidFill>
                <a:latin typeface="Arial" pitchFamily="34" charset="0"/>
                <a:ea typeface="Arial" pitchFamily="34" charset="-122"/>
                <a:cs typeface="Arial" pitchFamily="34" charset="-120"/>
              </a:rPr>
              <a:t>A: comparison of reply and input; exceeding the evidence is C</a:t>
            </a:r>
            <a:endParaRPr lang="en-GB" sz="1620" dirty="0"/>
          </a:p>
        </p:txBody>
      </p:sp>
      <p:sp>
        <p:nvSpPr>
          <p:cNvPr id="6" name="e12-3"/>
          <p:cNvSpPr/>
          <p:nvPr/>
        </p:nvSpPr>
        <p:spPr>
          <a:xfrm>
            <a:off x="609600" y="3467100"/>
            <a:ext cx="10972800" cy="365760"/>
          </a:xfrm>
          <a:prstGeom prst="rect">
            <a:avLst/>
          </a:prstGeom>
          <a:noFill/>
          <a:ln/>
        </p:spPr>
        <p:txBody>
          <a:bodyPr wrap="square" lIns="0" tIns="0" rIns="0" bIns="0" rtlCol="0" anchor="t"/>
          <a:lstStyle/>
          <a:p>
            <a:pPr algn="l" indent="0" marL="0">
              <a:lnSpc>
                <a:spcPct val="128000"/>
              </a:lnSpc>
              <a:buNone/>
            </a:pPr>
            <a:r>
              <a:rPr lang="en-GB" altLang="en-US" sz="1620" b="1" dirty="0">
                <a:solidFill>
                  <a:srgbClr val="222222"/>
                </a:solidFill>
                <a:latin typeface="Arial" pitchFamily="34" charset="0"/>
                <a:ea typeface="Arial" pitchFamily="34" charset="-122"/>
                <a:cs typeface="Arial" pitchFamily="34" charset="-120"/>
              </a:rPr>
              <a:t>Evidence strength: </a:t>
            </a:r>
            <a:pPr algn="l" indent="0" marL="0">
              <a:lnSpc>
                <a:spcPct val="128000"/>
              </a:lnSpc>
              <a:buNone/>
            </a:pPr>
            <a:r>
              <a:rPr lang="en-GB" altLang="en-US" sz="1620" dirty="0">
                <a:solidFill>
                  <a:srgbClr val="222222"/>
                </a:solidFill>
                <a:latin typeface="Arial" pitchFamily="34" charset="0"/>
                <a:ea typeface="Arial" pitchFamily="34" charset="-122"/>
                <a:cs typeface="Arial" pitchFamily="34" charset="-120"/>
              </a:rPr>
              <a:t>High</a:t>
            </a:r>
            <a:endParaRPr lang="en-GB" sz="1620" dirty="0"/>
          </a:p>
        </p:txBody>
      </p:sp>
      <p:sp>
        <p:nvSpPr>
          <p:cNvPr id="7" name="e12-4"/>
          <p:cNvSpPr/>
          <p:nvPr/>
        </p:nvSpPr>
        <p:spPr>
          <a:xfrm>
            <a:off x="609600" y="3909060"/>
            <a:ext cx="10972800" cy="365760"/>
          </a:xfrm>
          <a:prstGeom prst="rect">
            <a:avLst/>
          </a:prstGeom>
          <a:noFill/>
          <a:ln/>
        </p:spPr>
        <p:txBody>
          <a:bodyPr wrap="square" lIns="0" tIns="0" rIns="0" bIns="0" rtlCol="0" anchor="t"/>
          <a:lstStyle/>
          <a:p>
            <a:pPr algn="l" indent="0" marL="0">
              <a:lnSpc>
                <a:spcPct val="128000"/>
              </a:lnSpc>
              <a:buNone/>
            </a:pPr>
            <a:r>
              <a:rPr lang="en-GB" altLang="en-US" sz="1620" b="1" dirty="0">
                <a:solidFill>
                  <a:srgbClr val="222222"/>
                </a:solidFill>
                <a:latin typeface="Arial" pitchFamily="34" charset="0"/>
                <a:ea typeface="Arial" pitchFamily="34" charset="-122"/>
                <a:cs typeface="Arial" pitchFamily="34" charset="-120"/>
              </a:rPr>
              <a:t>Open question: </a:t>
            </a:r>
            <a:pPr algn="l" indent="0" marL="0">
              <a:lnSpc>
                <a:spcPct val="128000"/>
              </a:lnSpc>
              <a:buNone/>
            </a:pPr>
            <a:r>
              <a:rPr lang="en-GB" altLang="en-US" sz="1620" dirty="0">
                <a:solidFill>
                  <a:srgbClr val="222222"/>
                </a:solidFill>
                <a:latin typeface="Arial" pitchFamily="34" charset="0"/>
                <a:ea typeface="Arial" pitchFamily="34" charset="-122"/>
                <a:cs typeface="Arial" pitchFamily="34" charset="-120"/>
              </a:rPr>
              <a:t>Renewal, payment and contract validity not checked</a:t>
            </a:r>
            <a:endParaRPr lang="en-GB" sz="1620" dirty="0"/>
          </a:p>
        </p:txBody>
      </p:sp>
      <p:sp>
        <p:nvSpPr>
          <p:cNvPr id="8" name="e12-5"/>
          <p:cNvSpPr/>
          <p:nvPr/>
        </p:nvSpPr>
        <p:spPr>
          <a:xfrm>
            <a:off x="609600" y="4351020"/>
            <a:ext cx="10972800" cy="640080"/>
          </a:xfrm>
          <a:prstGeom prst="rect">
            <a:avLst/>
          </a:prstGeom>
          <a:noFill/>
          <a:ln/>
        </p:spPr>
        <p:txBody>
          <a:bodyPr wrap="square" lIns="0" tIns="0" rIns="0" bIns="0" rtlCol="0" anchor="t"/>
          <a:lstStyle/>
          <a:p>
            <a:pPr algn="l" indent="0" marL="0">
              <a:lnSpc>
                <a:spcPct val="128000"/>
              </a:lnSpc>
              <a:buNone/>
            </a:pPr>
            <a:r>
              <a:rPr lang="en-GB" altLang="en-US" sz="1620" b="1" dirty="0">
                <a:solidFill>
                  <a:srgbClr val="222222"/>
                </a:solidFill>
                <a:latin typeface="Arial" pitchFamily="34" charset="0"/>
                <a:ea typeface="Arial" pitchFamily="34" charset="-122"/>
                <a:cs typeface="Arial" pitchFamily="34" charset="-120"/>
              </a:rPr>
              <a:t>Implication for this report: </a:t>
            </a:r>
            <a:pPr algn="l" indent="0" marL="0">
              <a:lnSpc>
                <a:spcPct val="128000"/>
              </a:lnSpc>
              <a:buNone/>
            </a:pPr>
            <a:r>
              <a:rPr lang="en-GB" altLang="en-US" sz="1620" dirty="0">
                <a:solidFill>
                  <a:srgbClr val="222222"/>
                </a:solidFill>
                <a:latin typeface="Arial" pitchFamily="34" charset="0"/>
                <a:ea typeface="Arial" pitchFamily="34" charset="-122"/>
                <a:cs typeface="Arial" pitchFamily="34" charset="-120"/>
              </a:rPr>
              <a:t>Correct numbers do not ensure reliable judgement; do not treat these interpretations as facts</a:t>
            </a:r>
            <a:endParaRPr lang="en-GB" sz="1620" dirty="0"/>
          </a:p>
        </p:txBody>
      </p:sp>
      <p:sp>
        <p:nvSpPr>
          <p:cNvPr id="10" name="Text 1"/>
          <p:cNvSpPr/>
          <p:nvPr>
            <p:ph idx="102" type="body" hasCustomPrompt="1"/>
          </p:nvPr>
        </p:nvSpPr>
        <p:spPr>
          <a:xfrm>
            <a:off x="762000" y="2057400"/>
            <a:ext cx="10668000" cy="3886200"/>
          </a:xfrm>
          <a:prstGeom prst="rect">
            <a:avLst/>
          </a:prstGeom>
          <a:noFill/>
          <a:ln/>
        </p:spPr>
        <p:txBody>
          <a:bodyPr wrap="square" lIns="0" tIns="0" rIns="0" bIns="0" rtlCol="0" anchor="t"/>
          <a:lstStyle/>
          <a:p>
            <a:pPr indent="0" marL="0">
              <a:buNone/>
            </a:pPr>
            <a:endParaRPr lang="en-US" sz="168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FFFFFF"/>
        </a:solidFill>
      </p:bgPr>
    </p:bg>
    <p:spTree>
      <p:nvGrpSpPr>
        <p:cNvPr id="1" name=""/>
        <p:cNvGrpSpPr/>
        <p:nvPr/>
      </p:nvGrpSpPr>
      <p:grpSpPr>
        <a:xfrm>
          <a:off x="0" y="0"/>
          <a:ext cx="0" cy="0"/>
          <a:chOff x="0" y="0"/>
          <a:chExt cx="0" cy="0"/>
        </a:xfrm>
      </p:grpSpPr>
      <p:sp>
        <p:nvSpPr>
          <p:cNvPr id="2" name="Text 1"/>
          <p:cNvSpPr/>
          <p:nvPr>
            <p:ph idx="101" type="title" hasCustomPrompt="1"/>
          </p:nvPr>
        </p:nvSpPr>
        <p:spPr>
          <a:xfrm>
            <a:off x="381000" y="891540"/>
            <a:ext cx="11430000" cy="487680"/>
          </a:xfrm>
          <a:prstGeom prst="rect">
            <a:avLst/>
          </a:prstGeom>
          <a:noFill/>
          <a:ln/>
        </p:spPr>
        <p:txBody>
          <a:bodyPr wrap="square" lIns="0" tIns="0" rIns="0" bIns="0" rtlCol="0" anchor="t"/>
          <a:lstStyle/>
          <a:p>
            <a:pPr algn="l" indent="0" marL="0">
              <a:buNone/>
            </a:pPr>
            <a:r>
              <a:rPr lang="en-GB" altLang="en-US" sz="2400" b="1" spc="-84" kern="0" dirty="0">
                <a:solidFill>
                  <a:srgbClr val="000000"/>
                </a:solidFill>
                <a:latin typeface="Arial" pitchFamily="34" charset="0"/>
                <a:ea typeface="Arial" pitchFamily="34" charset="-122"/>
                <a:cs typeface="Arial" pitchFamily="34" charset="-120"/>
              </a:rPr>
              <a:t>E13 · @mention format validation</a:t>
            </a:r>
            <a:endParaRPr lang="en-GB" sz="2400" dirty="0"/>
          </a:p>
        </p:txBody>
      </p:sp>
      <p:sp>
        <p:nvSpPr>
          <p:cNvPr id="3" name="e13-0"/>
          <p:cNvSpPr/>
          <p:nvPr/>
        </p:nvSpPr>
        <p:spPr>
          <a:xfrm>
            <a:off x="609600" y="1600200"/>
            <a:ext cx="10972800" cy="640080"/>
          </a:xfrm>
          <a:prstGeom prst="rect">
            <a:avLst/>
          </a:prstGeom>
          <a:noFill/>
          <a:ln/>
        </p:spPr>
        <p:txBody>
          <a:bodyPr wrap="square" lIns="0" tIns="0" rIns="0" bIns="0" rtlCol="0" anchor="t"/>
          <a:lstStyle/>
          <a:p>
            <a:pPr algn="l" indent="0" marL="0">
              <a:lnSpc>
                <a:spcPct val="128000"/>
              </a:lnSpc>
              <a:buNone/>
            </a:pPr>
            <a:r>
              <a:rPr lang="en-GB" altLang="en-US" sz="1620" b="1" dirty="0">
                <a:solidFill>
                  <a:srgbClr val="222222"/>
                </a:solidFill>
                <a:latin typeface="Arial" pitchFamily="34" charset="0"/>
                <a:ea typeface="Arial" pitchFamily="34" charset="-122"/>
                <a:cs typeface="Arial" pitchFamily="34" charset="-120"/>
              </a:rPr>
              <a:t>Key finding: </a:t>
            </a:r>
            <a:pPr algn="l" indent="0" marL="0">
              <a:lnSpc>
                <a:spcPct val="128000"/>
              </a:lnSpc>
              <a:buNone/>
            </a:pPr>
            <a:r>
              <a:rPr lang="en-GB" altLang="en-US" sz="1620" dirty="0">
                <a:solidFill>
                  <a:srgbClr val="222222"/>
                </a:solidFill>
                <a:latin typeface="Arial" pitchFamily="34" charset="0"/>
                <a:ea typeface="Arial" pitchFamily="34" charset="-122"/>
                <a:cs typeface="Arial" pitchFamily="34" charset="-120"/>
              </a:rPr>
              <a:t>An @mention missing a placeholder was rejected by validation, then succeeded after correction. This is a format check</a:t>
            </a:r>
            <a:endParaRPr lang="en-GB" sz="1620" dirty="0"/>
          </a:p>
        </p:txBody>
      </p:sp>
      <p:sp>
        <p:nvSpPr>
          <p:cNvPr id="4" name="e13-1"/>
          <p:cNvSpPr/>
          <p:nvPr/>
        </p:nvSpPr>
        <p:spPr>
          <a:xfrm>
            <a:off x="609600" y="2316480"/>
            <a:ext cx="10972800" cy="365760"/>
          </a:xfrm>
          <a:prstGeom prst="rect">
            <a:avLst/>
          </a:prstGeom>
          <a:noFill/>
          <a:ln/>
        </p:spPr>
        <p:txBody>
          <a:bodyPr wrap="square" lIns="0" tIns="0" rIns="0" bIns="0" rtlCol="0" anchor="t"/>
          <a:lstStyle/>
          <a:p>
            <a:pPr algn="l" indent="0" marL="0">
              <a:lnSpc>
                <a:spcPct val="128000"/>
              </a:lnSpc>
              <a:buNone/>
            </a:pPr>
            <a:r>
              <a:rPr lang="en-GB" altLang="en-US" sz="1620" b="1" dirty="0">
                <a:solidFill>
                  <a:srgbClr val="222222"/>
                </a:solidFill>
                <a:latin typeface="Arial" pitchFamily="34" charset="0"/>
                <a:ea typeface="Arial" pitchFamily="34" charset="-122"/>
                <a:cs typeface="Arial" pitchFamily="34" charset="-120"/>
              </a:rPr>
              <a:t>Evidence sources: </a:t>
            </a:r>
            <a:pPr algn="l" indent="0" marL="0">
              <a:lnSpc>
                <a:spcPct val="128000"/>
              </a:lnSpc>
              <a:buNone/>
            </a:pPr>
            <a:r>
              <a:rPr lang="en-GB" altLang="en-US" sz="1620" dirty="0">
                <a:solidFill>
                  <a:srgbClr val="222222"/>
                </a:solidFill>
                <a:latin typeface="Arial" pitchFamily="34" charset="0"/>
                <a:ea typeface="Arial" pitchFamily="34" charset="-122"/>
                <a:cs typeface="Arial" pitchFamily="34" charset="-120"/>
              </a:rPr>
              <a:t>R1 L445, 451, 453, 459</a:t>
            </a:r>
            <a:endParaRPr lang="en-GB" sz="1620" dirty="0"/>
          </a:p>
        </p:txBody>
      </p:sp>
      <p:sp>
        <p:nvSpPr>
          <p:cNvPr id="5" name="e13-2"/>
          <p:cNvSpPr/>
          <p:nvPr/>
        </p:nvSpPr>
        <p:spPr>
          <a:xfrm>
            <a:off x="609600" y="2758440"/>
            <a:ext cx="10972800" cy="365760"/>
          </a:xfrm>
          <a:prstGeom prst="rect">
            <a:avLst/>
          </a:prstGeom>
          <a:noFill/>
          <a:ln/>
        </p:spPr>
        <p:txBody>
          <a:bodyPr wrap="square" lIns="0" tIns="0" rIns="0" bIns="0" rtlCol="0" anchor="t"/>
          <a:lstStyle/>
          <a:p>
            <a:pPr algn="l" indent="0" marL="0">
              <a:lnSpc>
                <a:spcPct val="128000"/>
              </a:lnSpc>
              <a:buNone/>
            </a:pPr>
            <a:r>
              <a:rPr lang="en-GB" altLang="en-US" sz="1620" b="1" dirty="0">
                <a:solidFill>
                  <a:srgbClr val="222222"/>
                </a:solidFill>
                <a:latin typeface="Arial" pitchFamily="34" charset="0"/>
                <a:ea typeface="Arial" pitchFamily="34" charset="-122"/>
                <a:cs typeface="Arial" pitchFamily="34" charset="-120"/>
              </a:rPr>
              <a:t>Fact or inference: </a:t>
            </a:r>
            <a:pPr algn="l" indent="0" marL="0">
              <a:lnSpc>
                <a:spcPct val="128000"/>
              </a:lnSpc>
              <a:buNone/>
            </a:pPr>
            <a:r>
              <a:rPr lang="en-GB" altLang="en-US" sz="1620" dirty="0">
                <a:solidFill>
                  <a:srgbClr val="222222"/>
                </a:solidFill>
                <a:latin typeface="Arial" pitchFamily="34" charset="0"/>
                <a:ea typeface="Arial" pitchFamily="34" charset="-122"/>
                <a:cs typeface="Arial" pitchFamily="34" charset="-120"/>
              </a:rPr>
              <a:t>A</a:t>
            </a:r>
            <a:endParaRPr lang="en-GB" sz="1620" dirty="0"/>
          </a:p>
        </p:txBody>
      </p:sp>
      <p:sp>
        <p:nvSpPr>
          <p:cNvPr id="6" name="e13-3"/>
          <p:cNvSpPr/>
          <p:nvPr/>
        </p:nvSpPr>
        <p:spPr>
          <a:xfrm>
            <a:off x="609600" y="3200400"/>
            <a:ext cx="10972800" cy="365760"/>
          </a:xfrm>
          <a:prstGeom prst="rect">
            <a:avLst/>
          </a:prstGeom>
          <a:noFill/>
          <a:ln/>
        </p:spPr>
        <p:txBody>
          <a:bodyPr wrap="square" lIns="0" tIns="0" rIns="0" bIns="0" rtlCol="0" anchor="t"/>
          <a:lstStyle/>
          <a:p>
            <a:pPr algn="l" indent="0" marL="0">
              <a:lnSpc>
                <a:spcPct val="128000"/>
              </a:lnSpc>
              <a:buNone/>
            </a:pPr>
            <a:r>
              <a:rPr lang="en-GB" altLang="en-US" sz="1620" b="1" dirty="0">
                <a:solidFill>
                  <a:srgbClr val="222222"/>
                </a:solidFill>
                <a:latin typeface="Arial" pitchFamily="34" charset="0"/>
                <a:ea typeface="Arial" pitchFamily="34" charset="-122"/>
                <a:cs typeface="Arial" pitchFamily="34" charset="-120"/>
              </a:rPr>
              <a:t>Evidence strength: </a:t>
            </a:r>
            <a:pPr algn="l" indent="0" marL="0">
              <a:lnSpc>
                <a:spcPct val="128000"/>
              </a:lnSpc>
              <a:buNone/>
            </a:pPr>
            <a:r>
              <a:rPr lang="en-GB" altLang="en-US" sz="1620" dirty="0">
                <a:solidFill>
                  <a:srgbClr val="222222"/>
                </a:solidFill>
                <a:latin typeface="Arial" pitchFamily="34" charset="0"/>
                <a:ea typeface="Arial" pitchFamily="34" charset="-122"/>
                <a:cs typeface="Arial" pitchFamily="34" charset="-120"/>
              </a:rPr>
              <a:t>High</a:t>
            </a:r>
            <a:endParaRPr lang="en-GB" sz="1620" dirty="0"/>
          </a:p>
        </p:txBody>
      </p:sp>
      <p:sp>
        <p:nvSpPr>
          <p:cNvPr id="7" name="e13-4"/>
          <p:cNvSpPr/>
          <p:nvPr/>
        </p:nvSpPr>
        <p:spPr>
          <a:xfrm>
            <a:off x="609600" y="3642360"/>
            <a:ext cx="10972800" cy="640080"/>
          </a:xfrm>
          <a:prstGeom prst="rect">
            <a:avLst/>
          </a:prstGeom>
          <a:noFill/>
          <a:ln/>
        </p:spPr>
        <p:txBody>
          <a:bodyPr wrap="square" lIns="0" tIns="0" rIns="0" bIns="0" rtlCol="0" anchor="t"/>
          <a:lstStyle/>
          <a:p>
            <a:pPr algn="l" indent="0" marL="0">
              <a:lnSpc>
                <a:spcPct val="128000"/>
              </a:lnSpc>
              <a:buNone/>
            </a:pPr>
            <a:r>
              <a:rPr lang="en-GB" altLang="en-US" sz="1620" b="1" dirty="0">
                <a:solidFill>
                  <a:srgbClr val="222222"/>
                </a:solidFill>
                <a:latin typeface="Arial" pitchFamily="34" charset="0"/>
                <a:ea typeface="Arial" pitchFamily="34" charset="-122"/>
                <a:cs typeface="Arial" pitchFamily="34" charset="-120"/>
              </a:rPr>
              <a:t>Open question: </a:t>
            </a:r>
            <a:pPr algn="l" indent="0" marL="0">
              <a:lnSpc>
                <a:spcPct val="128000"/>
              </a:lnSpc>
              <a:buNone/>
            </a:pPr>
            <a:r>
              <a:rPr lang="en-GB" altLang="en-US" sz="1620" dirty="0">
                <a:solidFill>
                  <a:srgbClr val="222222"/>
                </a:solidFill>
                <a:latin typeface="Arial" pitchFamily="34" charset="0"/>
                <a:ea typeface="Arial" pitchFamily="34" charset="-122"/>
                <a:cs typeface="Arial" pitchFamily="34" charset="-120"/>
              </a:rPr>
              <a:t>Blocking of permission issues, business-content problems and wrong-group posts not tested</a:t>
            </a:r>
            <a:endParaRPr lang="en-GB" sz="1620" dirty="0"/>
          </a:p>
        </p:txBody>
      </p:sp>
      <p:sp>
        <p:nvSpPr>
          <p:cNvPr id="8" name="e13-5"/>
          <p:cNvSpPr/>
          <p:nvPr/>
        </p:nvSpPr>
        <p:spPr>
          <a:xfrm>
            <a:off x="609600" y="4358640"/>
            <a:ext cx="10972800" cy="640080"/>
          </a:xfrm>
          <a:prstGeom prst="rect">
            <a:avLst/>
          </a:prstGeom>
          <a:noFill/>
          <a:ln/>
        </p:spPr>
        <p:txBody>
          <a:bodyPr wrap="square" lIns="0" tIns="0" rIns="0" bIns="0" rtlCol="0" anchor="t"/>
          <a:lstStyle/>
          <a:p>
            <a:pPr algn="l" indent="0" marL="0">
              <a:lnSpc>
                <a:spcPct val="128000"/>
              </a:lnSpc>
              <a:buNone/>
            </a:pPr>
            <a:r>
              <a:rPr lang="en-GB" altLang="en-US" sz="1620" b="1" dirty="0">
                <a:solidFill>
                  <a:srgbClr val="222222"/>
                </a:solidFill>
                <a:latin typeface="Arial" pitchFamily="34" charset="0"/>
                <a:ea typeface="Arial" pitchFamily="34" charset="-122"/>
                <a:cs typeface="Arial" pitchFamily="34" charset="-120"/>
              </a:rPr>
              <a:t>Implication for this report: </a:t>
            </a:r>
            <a:pPr algn="l" indent="0" marL="0">
              <a:lnSpc>
                <a:spcPct val="128000"/>
              </a:lnSpc>
              <a:buNone/>
            </a:pPr>
            <a:r>
              <a:rPr lang="en-GB" altLang="en-US" sz="1620" dirty="0">
                <a:solidFill>
                  <a:srgbClr val="222222"/>
                </a:solidFill>
                <a:latin typeface="Arial" pitchFamily="34" charset="0"/>
                <a:ea typeface="Arial" pitchFamily="34" charset="-122"/>
                <a:cs typeface="Arial" pitchFamily="34" charset="-120"/>
              </a:rPr>
              <a:t>Format validation is not business approval or a general safety gate</a:t>
            </a:r>
            <a:endParaRPr lang="en-GB" sz="1620" dirty="0"/>
          </a:p>
        </p:txBody>
      </p:sp>
      <p:sp>
        <p:nvSpPr>
          <p:cNvPr id="10" name="Text 1"/>
          <p:cNvSpPr/>
          <p:nvPr>
            <p:ph idx="102" type="body" hasCustomPrompt="1"/>
          </p:nvPr>
        </p:nvSpPr>
        <p:spPr>
          <a:xfrm>
            <a:off x="762000" y="2057400"/>
            <a:ext cx="10668000" cy="3886200"/>
          </a:xfrm>
          <a:prstGeom prst="rect">
            <a:avLst/>
          </a:prstGeom>
          <a:noFill/>
          <a:ln/>
        </p:spPr>
        <p:txBody>
          <a:bodyPr wrap="square" lIns="0" tIns="0" rIns="0" bIns="0" rtlCol="0" anchor="t"/>
          <a:lstStyle/>
          <a:p>
            <a:pPr indent="0" marL="0">
              <a:buNone/>
            </a:pPr>
            <a:endParaRPr lang="en-US" sz="168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FFFFFF"/>
        </a:solidFill>
      </p:bgPr>
    </p:bg>
    <p:spTree>
      <p:nvGrpSpPr>
        <p:cNvPr id="1" name=""/>
        <p:cNvGrpSpPr/>
        <p:nvPr/>
      </p:nvGrpSpPr>
      <p:grpSpPr>
        <a:xfrm>
          <a:off x="0" y="0"/>
          <a:ext cx="0" cy="0"/>
          <a:chOff x="0" y="0"/>
          <a:chExt cx="0" cy="0"/>
        </a:xfrm>
      </p:grpSpPr>
      <p:sp>
        <p:nvSpPr>
          <p:cNvPr id="2" name="Text 1"/>
          <p:cNvSpPr/>
          <p:nvPr>
            <p:ph idx="101" type="title" hasCustomPrompt="1"/>
          </p:nvPr>
        </p:nvSpPr>
        <p:spPr>
          <a:xfrm>
            <a:off x="381000" y="891540"/>
            <a:ext cx="11430000" cy="487680"/>
          </a:xfrm>
          <a:prstGeom prst="rect">
            <a:avLst/>
          </a:prstGeom>
          <a:noFill/>
          <a:ln/>
        </p:spPr>
        <p:txBody>
          <a:bodyPr wrap="square" lIns="0" tIns="0" rIns="0" bIns="0" rtlCol="0" anchor="t"/>
          <a:lstStyle/>
          <a:p>
            <a:pPr algn="l" indent="0" marL="0">
              <a:buNone/>
            </a:pPr>
            <a:r>
              <a:rPr lang="en-GB" altLang="en-US" sz="2400" b="1" spc="-84" kern="0" dirty="0">
                <a:solidFill>
                  <a:srgbClr val="000000"/>
                </a:solidFill>
                <a:latin typeface="Arial" pitchFamily="34" charset="0"/>
                <a:ea typeface="Arial" pitchFamily="34" charset="-122"/>
                <a:cs typeface="Arial" pitchFamily="34" charset="-120"/>
              </a:rPr>
              <a:t>E14 · Confirmation and control validation</a:t>
            </a:r>
            <a:endParaRPr lang="en-GB" sz="2400" dirty="0"/>
          </a:p>
        </p:txBody>
      </p:sp>
      <p:sp>
        <p:nvSpPr>
          <p:cNvPr id="3" name="e14-0"/>
          <p:cNvSpPr/>
          <p:nvPr/>
        </p:nvSpPr>
        <p:spPr>
          <a:xfrm>
            <a:off x="609600" y="1600200"/>
            <a:ext cx="10972800" cy="1181100"/>
          </a:xfrm>
          <a:prstGeom prst="rect">
            <a:avLst/>
          </a:prstGeom>
          <a:noFill/>
          <a:ln/>
        </p:spPr>
        <p:txBody>
          <a:bodyPr wrap="square" lIns="0" tIns="0" rIns="0" bIns="0" rtlCol="0" anchor="t"/>
          <a:lstStyle/>
          <a:p>
            <a:pPr algn="l" indent="0" marL="0">
              <a:lnSpc>
                <a:spcPct val="128000"/>
              </a:lnSpc>
              <a:buNone/>
            </a:pPr>
            <a:r>
              <a:rPr lang="en-GB" altLang="en-US" sz="1620" b="1" dirty="0">
                <a:solidFill>
                  <a:srgbClr val="222222"/>
                </a:solidFill>
                <a:latin typeface="Arial" pitchFamily="34" charset="0"/>
                <a:ea typeface="Arial" pitchFamily="34" charset="-122"/>
                <a:cs typeface="Arial" pitchFamily="34" charset="-120"/>
              </a:rPr>
              <a:t>Key finding: </a:t>
            </a:r>
            <a:pPr algn="l" indent="0" marL="0">
              <a:lnSpc>
                <a:spcPct val="128000"/>
              </a:lnSpc>
              <a:buNone/>
            </a:pPr>
            <a:r>
              <a:rPr lang="en-GB" altLang="en-US" sz="1620" dirty="0">
                <a:solidFill>
                  <a:srgbClr val="222222"/>
                </a:solidFill>
                <a:latin typeface="Arial" pitchFamily="34" charset="0"/>
                <a:ea typeface="Arial" pitchFamily="34" charset="-122"/>
                <a:cs typeface="Arial" pitchFamily="34" charset="-120"/>
              </a:rPr>
              <a:t>Confirmation was requested after extraction. I observed later AI entry, but reviewed records do not establish the full confirmation-to-write sequence. Customer analysis stayed in the conversation; the risk skill explicitly posts to the group by default and skips CLI interaction</a:t>
            </a:r>
            <a:endParaRPr lang="en-GB" sz="1620" dirty="0"/>
          </a:p>
        </p:txBody>
      </p:sp>
      <p:sp>
        <p:nvSpPr>
          <p:cNvPr id="4" name="e14-1"/>
          <p:cNvSpPr/>
          <p:nvPr/>
        </p:nvSpPr>
        <p:spPr>
          <a:xfrm>
            <a:off x="609600" y="2857500"/>
            <a:ext cx="10972800" cy="365760"/>
          </a:xfrm>
          <a:prstGeom prst="rect">
            <a:avLst/>
          </a:prstGeom>
          <a:noFill/>
          <a:ln/>
        </p:spPr>
        <p:txBody>
          <a:bodyPr wrap="square" lIns="0" tIns="0" rIns="0" bIns="0" rtlCol="0" anchor="t"/>
          <a:lstStyle/>
          <a:p>
            <a:pPr algn="l" indent="0" marL="0">
              <a:lnSpc>
                <a:spcPct val="128000"/>
              </a:lnSpc>
              <a:buNone/>
            </a:pPr>
            <a:r>
              <a:rPr lang="en-GB" altLang="en-US" sz="1620" b="1" dirty="0">
                <a:solidFill>
                  <a:srgbClr val="222222"/>
                </a:solidFill>
                <a:latin typeface="Arial" pitchFamily="34" charset="0"/>
                <a:ea typeface="Arial" pitchFamily="34" charset="-122"/>
                <a:cs typeface="Arial" pitchFamily="34" charset="-120"/>
              </a:rPr>
              <a:t>Evidence sources: </a:t>
            </a:r>
            <a:pPr algn="l" indent="0" marL="0">
              <a:lnSpc>
                <a:spcPct val="128000"/>
              </a:lnSpc>
              <a:buNone/>
            </a:pPr>
            <a:r>
              <a:rPr lang="en-GB" altLang="en-US" sz="1620" dirty="0">
                <a:solidFill>
                  <a:srgbClr val="222222"/>
                </a:solidFill>
                <a:latin typeface="Arial" pitchFamily="34" charset="0"/>
                <a:ea typeface="Arial" pitchFamily="34" charset="-122"/>
                <a:cs typeface="Arial" pitchFamily="34" charset="-120"/>
              </a:rPr>
              <a:t>R1 L325, 418; </a:t>
            </a:r>
            <a:pPr algn="l" indent="0" marL="0">
              <a:lnSpc>
                <a:spcPct val="128000"/>
              </a:lnSpc>
              <a:buNone/>
            </a:pPr>
            <a:r>
              <a:rPr lang="en-GB" altLang="en-US" sz="1620" u="sng" dirty="0">
                <a:solidFill>
                  <a:srgbClr val="B80010"/>
                </a:solidFill>
                <a:latin typeface="Arial" pitchFamily="34" charset="0"/>
                <a:ea typeface="Arial" pitchFamily="34" charset="-122"/>
                <a:cs typeface="Arial" pitchFamily="34" charset="-120"/>
                <a:hlinkClick r:id="rId1" action="ppaction://hlinksldjump" tooltip="">
                  <a:extLst>
                    <a:ext uri="{A12FA001-AC4F-418D-AE19-62706E023703}">
                      <ahyp:hlinkClr xmlns:ahyp="http://schemas.microsoft.com/office/drawing/2018/hyperlinkcolor" val="tx"/>
                    </a:ext>
                  </a:extLst>
                </a:hlinkClick>
              </a:rPr>
              <a:t>U3</a:t>
            </a:r>
            <a:pPr algn="l" indent="0" marL="0">
              <a:lnSpc>
                <a:spcPct val="128000"/>
              </a:lnSpc>
              <a:buNone/>
            </a:pPr>
            <a:r>
              <a:rPr lang="en-GB" altLang="en-US" sz="1620" dirty="0">
                <a:solidFill>
                  <a:srgbClr val="222222"/>
                </a:solidFill>
                <a:latin typeface="Arial" pitchFamily="34" charset="0"/>
                <a:ea typeface="Arial" pitchFamily="34" charset="-122"/>
                <a:cs typeface="Arial" pitchFamily="34" charset="-120"/>
              </a:rPr>
              <a:t>; K2, K4, K6</a:t>
            </a:r>
            <a:endParaRPr lang="en-GB" sz="1620" dirty="0"/>
          </a:p>
        </p:txBody>
      </p:sp>
      <p:sp>
        <p:nvSpPr>
          <p:cNvPr id="5" name="e14-2"/>
          <p:cNvSpPr/>
          <p:nvPr/>
        </p:nvSpPr>
        <p:spPr>
          <a:xfrm>
            <a:off x="609600" y="3299460"/>
            <a:ext cx="10972800" cy="365760"/>
          </a:xfrm>
          <a:prstGeom prst="rect">
            <a:avLst/>
          </a:prstGeom>
          <a:noFill/>
          <a:ln/>
        </p:spPr>
        <p:txBody>
          <a:bodyPr wrap="square" lIns="0" tIns="0" rIns="0" bIns="0" rtlCol="0" anchor="t"/>
          <a:lstStyle/>
          <a:p>
            <a:pPr algn="l" indent="0" marL="0">
              <a:lnSpc>
                <a:spcPct val="128000"/>
              </a:lnSpc>
              <a:buNone/>
            </a:pPr>
            <a:r>
              <a:rPr lang="en-GB" altLang="en-US" sz="1620" b="1" dirty="0">
                <a:solidFill>
                  <a:srgbClr val="222222"/>
                </a:solidFill>
                <a:latin typeface="Arial" pitchFamily="34" charset="0"/>
                <a:ea typeface="Arial" pitchFamily="34" charset="-122"/>
                <a:cs typeface="Arial" pitchFamily="34" charset="-120"/>
              </a:rPr>
              <a:t>Fact or inference: </a:t>
            </a:r>
            <a:pPr algn="l" indent="0" marL="0">
              <a:lnSpc>
                <a:spcPct val="128000"/>
              </a:lnSpc>
              <a:buNone/>
            </a:pPr>
            <a:r>
              <a:rPr lang="en-GB" altLang="en-US" sz="1620" dirty="0">
                <a:solidFill>
                  <a:srgbClr val="222222"/>
                </a:solidFill>
                <a:latin typeface="Arial" pitchFamily="34" charset="0"/>
                <a:ea typeface="Arial" pitchFamily="34" charset="-122"/>
                <a:cs typeface="Arial" pitchFamily="34" charset="-120"/>
              </a:rPr>
              <a:t>A: request and skill contents; B: entry observation</a:t>
            </a:r>
            <a:endParaRPr lang="en-GB" sz="1620" dirty="0"/>
          </a:p>
        </p:txBody>
      </p:sp>
      <p:sp>
        <p:nvSpPr>
          <p:cNvPr id="6" name="e14-3"/>
          <p:cNvSpPr/>
          <p:nvPr/>
        </p:nvSpPr>
        <p:spPr>
          <a:xfrm>
            <a:off x="609600" y="3741420"/>
            <a:ext cx="10972800" cy="365760"/>
          </a:xfrm>
          <a:prstGeom prst="rect">
            <a:avLst/>
          </a:prstGeom>
          <a:noFill/>
          <a:ln/>
        </p:spPr>
        <p:txBody>
          <a:bodyPr wrap="square" lIns="0" tIns="0" rIns="0" bIns="0" rtlCol="0" anchor="t"/>
          <a:lstStyle/>
          <a:p>
            <a:pPr algn="l" indent="0" marL="0">
              <a:lnSpc>
                <a:spcPct val="128000"/>
              </a:lnSpc>
              <a:buNone/>
            </a:pPr>
            <a:r>
              <a:rPr lang="en-GB" altLang="en-US" sz="1620" b="1" dirty="0">
                <a:solidFill>
                  <a:srgbClr val="222222"/>
                </a:solidFill>
                <a:latin typeface="Arial" pitchFamily="34" charset="0"/>
                <a:ea typeface="Arial" pitchFamily="34" charset="-122"/>
                <a:cs typeface="Arial" pitchFamily="34" charset="-120"/>
              </a:rPr>
              <a:t>Evidence strength: </a:t>
            </a:r>
            <a:pPr algn="l" indent="0" marL="0">
              <a:lnSpc>
                <a:spcPct val="128000"/>
              </a:lnSpc>
              <a:buNone/>
            </a:pPr>
            <a:r>
              <a:rPr lang="en-GB" altLang="en-US" sz="1620" dirty="0">
                <a:solidFill>
                  <a:srgbClr val="222222"/>
                </a:solidFill>
                <a:latin typeface="Arial" pitchFamily="34" charset="0"/>
                <a:ea typeface="Arial" pitchFamily="34" charset="-122"/>
                <a:cs typeface="Arial" pitchFamily="34" charset="-120"/>
              </a:rPr>
              <a:t>High for the existence of a request; enforcement unverified</a:t>
            </a:r>
            <a:endParaRPr lang="en-GB" sz="1620" dirty="0"/>
          </a:p>
        </p:txBody>
      </p:sp>
      <p:sp>
        <p:nvSpPr>
          <p:cNvPr id="7" name="e14-4"/>
          <p:cNvSpPr/>
          <p:nvPr/>
        </p:nvSpPr>
        <p:spPr>
          <a:xfrm>
            <a:off x="609600" y="4183380"/>
            <a:ext cx="10972800" cy="640080"/>
          </a:xfrm>
          <a:prstGeom prst="rect">
            <a:avLst/>
          </a:prstGeom>
          <a:noFill/>
          <a:ln/>
        </p:spPr>
        <p:txBody>
          <a:bodyPr wrap="square" lIns="0" tIns="0" rIns="0" bIns="0" rtlCol="0" anchor="t"/>
          <a:lstStyle/>
          <a:p>
            <a:pPr algn="l" indent="0" marL="0">
              <a:lnSpc>
                <a:spcPct val="128000"/>
              </a:lnSpc>
              <a:buNone/>
            </a:pPr>
            <a:r>
              <a:rPr lang="en-GB" altLang="en-US" sz="1620" b="1" dirty="0">
                <a:solidFill>
                  <a:srgbClr val="222222"/>
                </a:solidFill>
                <a:latin typeface="Arial" pitchFamily="34" charset="0"/>
                <a:ea typeface="Arial" pitchFamily="34" charset="-122"/>
                <a:cs typeface="Arial" pitchFamily="34" charset="-120"/>
              </a:rPr>
              <a:t>Open question: </a:t>
            </a:r>
            <a:pPr algn="l" indent="0" marL="0">
              <a:lnSpc>
                <a:spcPct val="128000"/>
              </a:lnSpc>
              <a:buNone/>
            </a:pPr>
            <a:r>
              <a:rPr lang="en-GB" altLang="en-US" sz="1620" dirty="0">
                <a:solidFill>
                  <a:srgbClr val="222222"/>
                </a:solidFill>
                <a:latin typeface="Arial" pitchFamily="34" charset="0"/>
                <a:ea typeface="Arial" pitchFamily="34" charset="-122"/>
                <a:cs typeface="Arial" pitchFamily="34" charset="-120"/>
              </a:rPr>
              <a:t>Mapping confirmation to writes, refusal, reconfirmation after changes, conflicting instructions and wrong destinations</a:t>
            </a:r>
            <a:endParaRPr lang="en-GB" sz="1620" dirty="0"/>
          </a:p>
        </p:txBody>
      </p:sp>
      <p:sp>
        <p:nvSpPr>
          <p:cNvPr id="8" name="e14-5"/>
          <p:cNvSpPr/>
          <p:nvPr/>
        </p:nvSpPr>
        <p:spPr>
          <a:xfrm>
            <a:off x="609600" y="4899660"/>
            <a:ext cx="10972800" cy="640080"/>
          </a:xfrm>
          <a:prstGeom prst="rect">
            <a:avLst/>
          </a:prstGeom>
          <a:noFill/>
          <a:ln/>
        </p:spPr>
        <p:txBody>
          <a:bodyPr wrap="square" lIns="0" tIns="0" rIns="0" bIns="0" rtlCol="0" anchor="t"/>
          <a:lstStyle/>
          <a:p>
            <a:pPr algn="l" indent="0" marL="0">
              <a:lnSpc>
                <a:spcPct val="128000"/>
              </a:lnSpc>
              <a:buNone/>
            </a:pPr>
            <a:r>
              <a:rPr lang="en-GB" altLang="en-US" sz="1620" b="1" dirty="0">
                <a:solidFill>
                  <a:srgbClr val="222222"/>
                </a:solidFill>
                <a:latin typeface="Arial" pitchFamily="34" charset="0"/>
                <a:ea typeface="Arial" pitchFamily="34" charset="-122"/>
                <a:cs typeface="Arial" pitchFamily="34" charset="-120"/>
              </a:rPr>
              <a:t>Implication for this report: </a:t>
            </a:r>
            <a:pPr algn="l" indent="0" marL="0">
              <a:lnSpc>
                <a:spcPct val="128000"/>
              </a:lnSpc>
              <a:buNone/>
            </a:pPr>
            <a:r>
              <a:rPr lang="en-GB" altLang="en-US" sz="1620" dirty="0">
                <a:solidFill>
                  <a:srgbClr val="222222"/>
                </a:solidFill>
                <a:latin typeface="Arial" pitchFamily="34" charset="0"/>
                <a:ea typeface="Arial" pitchFamily="34" charset="-122"/>
                <a:cs typeface="Arial" pitchFamily="34" charset="-120"/>
              </a:rPr>
              <a:t>A request alone proves neither waiting nor enforcement. Not clicking the agreement also does not establish lack of authorisation</a:t>
            </a:r>
            <a:endParaRPr lang="en-GB" sz="1620" dirty="0"/>
          </a:p>
        </p:txBody>
      </p:sp>
      <p:sp>
        <p:nvSpPr>
          <p:cNvPr id="10" name="Text 1"/>
          <p:cNvSpPr/>
          <p:nvPr>
            <p:ph idx="102" type="body" hasCustomPrompt="1"/>
          </p:nvPr>
        </p:nvSpPr>
        <p:spPr>
          <a:xfrm>
            <a:off x="762000" y="2057400"/>
            <a:ext cx="10668000" cy="3886200"/>
          </a:xfrm>
          <a:prstGeom prst="rect">
            <a:avLst/>
          </a:prstGeom>
          <a:noFill/>
          <a:ln/>
        </p:spPr>
        <p:txBody>
          <a:bodyPr wrap="square" lIns="0" tIns="0" rIns="0" bIns="0" rtlCol="0" anchor="t"/>
          <a:lstStyle/>
          <a:p>
            <a:pPr indent="0" marL="0">
              <a:buNone/>
            </a:pPr>
            <a:endParaRPr lang="en-US" sz="168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FFFFFF"/>
        </a:solidFill>
      </p:bgPr>
    </p:bg>
    <p:spTree>
      <p:nvGrpSpPr>
        <p:cNvPr id="1" name=""/>
        <p:cNvGrpSpPr/>
        <p:nvPr/>
      </p:nvGrpSpPr>
      <p:grpSpPr>
        <a:xfrm>
          <a:off x="0" y="0"/>
          <a:ext cx="0" cy="0"/>
          <a:chOff x="0" y="0"/>
          <a:chExt cx="0" cy="0"/>
        </a:xfrm>
      </p:grpSpPr>
      <p:sp>
        <p:nvSpPr>
          <p:cNvPr id="2" name="Text 1"/>
          <p:cNvSpPr/>
          <p:nvPr>
            <p:ph idx="101" type="title" hasCustomPrompt="1"/>
          </p:nvPr>
        </p:nvSpPr>
        <p:spPr>
          <a:xfrm>
            <a:off x="381000" y="891540"/>
            <a:ext cx="11430000" cy="487680"/>
          </a:xfrm>
          <a:prstGeom prst="rect">
            <a:avLst/>
          </a:prstGeom>
          <a:noFill/>
          <a:ln/>
        </p:spPr>
        <p:txBody>
          <a:bodyPr wrap="square" lIns="0" tIns="0" rIns="0" bIns="0" rtlCol="0" anchor="t"/>
          <a:lstStyle/>
          <a:p>
            <a:pPr algn="l" indent="0" marL="0">
              <a:buNone/>
            </a:pPr>
            <a:r>
              <a:rPr lang="en-GB" altLang="en-US" sz="2400" b="1" spc="-84" kern="0" dirty="0">
                <a:solidFill>
                  <a:srgbClr val="000000"/>
                </a:solidFill>
                <a:latin typeface="Arial" pitchFamily="34" charset="0"/>
                <a:ea typeface="Arial" pitchFamily="34" charset="-122"/>
                <a:cs typeface="Arial" pitchFamily="34" charset="-120"/>
              </a:rPr>
              <a:t>E15 · Scheduled inspection records</a:t>
            </a:r>
            <a:endParaRPr lang="en-GB" sz="2400" dirty="0"/>
          </a:p>
        </p:txBody>
      </p:sp>
      <p:sp>
        <p:nvSpPr>
          <p:cNvPr id="3" name="e15-0"/>
          <p:cNvSpPr/>
          <p:nvPr/>
        </p:nvSpPr>
        <p:spPr>
          <a:xfrm>
            <a:off x="609600" y="1600200"/>
            <a:ext cx="10972800" cy="640080"/>
          </a:xfrm>
          <a:prstGeom prst="rect">
            <a:avLst/>
          </a:prstGeom>
          <a:noFill/>
          <a:ln/>
        </p:spPr>
        <p:txBody>
          <a:bodyPr wrap="square" lIns="0" tIns="0" rIns="0" bIns="0" rtlCol="0" anchor="t"/>
          <a:lstStyle/>
          <a:p>
            <a:pPr algn="l" indent="0" marL="0">
              <a:lnSpc>
                <a:spcPct val="128000"/>
              </a:lnSpc>
              <a:buNone/>
            </a:pPr>
            <a:r>
              <a:rPr lang="en-GB" altLang="en-US" sz="1620" b="1" dirty="0">
                <a:solidFill>
                  <a:srgbClr val="222222"/>
                </a:solidFill>
                <a:latin typeface="Arial" pitchFamily="34" charset="0"/>
                <a:ea typeface="Arial" pitchFamily="34" charset="-122"/>
                <a:cs typeface="Arial" pitchFamily="34" charset="-120"/>
              </a:rPr>
              <a:t>Key finding: </a:t>
            </a:r>
            <a:pPr algn="l" indent="0" marL="0">
              <a:lnSpc>
                <a:spcPct val="128000"/>
              </a:lnSpc>
              <a:buNone/>
            </a:pPr>
            <a:r>
              <a:rPr lang="en-GB" altLang="en-US" sz="1620" dirty="0">
                <a:solidFill>
                  <a:srgbClr val="222222"/>
                </a:solidFill>
                <a:latin typeface="Arial" pitchFamily="34" charset="0"/>
                <a:ea typeface="Arial" pitchFamily="34" charset="-122"/>
                <a:cs typeface="Arial" pitchFamily="34" charset="-120"/>
              </a:rPr>
              <a:t>Qwen scheduled daily runs at 09:00. Two execution errors on 10-11/12 and two scheduled ok records on 10-13/14; also a manual demonstration on 10-10</a:t>
            </a:r>
            <a:endParaRPr lang="en-GB" sz="1620" dirty="0"/>
          </a:p>
        </p:txBody>
      </p:sp>
      <p:sp>
        <p:nvSpPr>
          <p:cNvPr id="4" name="e15-1"/>
          <p:cNvSpPr/>
          <p:nvPr/>
        </p:nvSpPr>
        <p:spPr>
          <a:xfrm>
            <a:off x="609600" y="2316480"/>
            <a:ext cx="10972800" cy="365760"/>
          </a:xfrm>
          <a:prstGeom prst="rect">
            <a:avLst/>
          </a:prstGeom>
          <a:noFill/>
          <a:ln/>
        </p:spPr>
        <p:txBody>
          <a:bodyPr wrap="square" lIns="0" tIns="0" rIns="0" bIns="0" rtlCol="0" anchor="t"/>
          <a:lstStyle/>
          <a:p>
            <a:pPr algn="l" indent="0" marL="0">
              <a:lnSpc>
                <a:spcPct val="128000"/>
              </a:lnSpc>
              <a:buNone/>
            </a:pPr>
            <a:r>
              <a:rPr lang="en-GB" altLang="en-US" sz="1620" b="1" dirty="0">
                <a:solidFill>
                  <a:srgbClr val="222222"/>
                </a:solidFill>
                <a:latin typeface="Arial" pitchFamily="34" charset="0"/>
                <a:ea typeface="Arial" pitchFamily="34" charset="-122"/>
                <a:cs typeface="Arial" pitchFamily="34" charset="-120"/>
              </a:rPr>
              <a:t>Evidence sources: </a:t>
            </a:r>
            <a:pPr algn="l" indent="0" marL="0">
              <a:lnSpc>
                <a:spcPct val="128000"/>
              </a:lnSpc>
              <a:buNone/>
            </a:pPr>
            <a:r>
              <a:rPr lang="en-GB" altLang="en-US" sz="1620" dirty="0">
                <a:solidFill>
                  <a:srgbClr val="222222"/>
                </a:solidFill>
                <a:latin typeface="Arial" pitchFamily="34" charset="0"/>
                <a:ea typeface="Arial" pitchFamily="34" charset="-122"/>
                <a:cs typeface="Arial" pitchFamily="34" charset="-120"/>
              </a:rPr>
              <a:t>R1 L474, 476; R5 L61; R2–R4</a:t>
            </a:r>
            <a:endParaRPr lang="en-GB" sz="1620" dirty="0"/>
          </a:p>
        </p:txBody>
      </p:sp>
      <p:sp>
        <p:nvSpPr>
          <p:cNvPr id="5" name="e15-2"/>
          <p:cNvSpPr/>
          <p:nvPr/>
        </p:nvSpPr>
        <p:spPr>
          <a:xfrm>
            <a:off x="609600" y="2758440"/>
            <a:ext cx="10972800" cy="365760"/>
          </a:xfrm>
          <a:prstGeom prst="rect">
            <a:avLst/>
          </a:prstGeom>
          <a:noFill/>
          <a:ln/>
        </p:spPr>
        <p:txBody>
          <a:bodyPr wrap="square" lIns="0" tIns="0" rIns="0" bIns="0" rtlCol="0" anchor="t"/>
          <a:lstStyle/>
          <a:p>
            <a:pPr algn="l" indent="0" marL="0">
              <a:lnSpc>
                <a:spcPct val="128000"/>
              </a:lnSpc>
              <a:buNone/>
            </a:pPr>
            <a:r>
              <a:rPr lang="en-GB" altLang="en-US" sz="1620" b="1" dirty="0">
                <a:solidFill>
                  <a:srgbClr val="222222"/>
                </a:solidFill>
                <a:latin typeface="Arial" pitchFamily="34" charset="0"/>
                <a:ea typeface="Arial" pitchFamily="34" charset="-122"/>
                <a:cs typeface="Arial" pitchFamily="34" charset="-120"/>
              </a:rPr>
              <a:t>Fact or inference: </a:t>
            </a:r>
            <a:pPr algn="l" indent="0" marL="0">
              <a:lnSpc>
                <a:spcPct val="128000"/>
              </a:lnSpc>
              <a:buNone/>
            </a:pPr>
            <a:r>
              <a:rPr lang="en-GB" altLang="en-US" sz="1620" dirty="0">
                <a:solidFill>
                  <a:srgbClr val="222222"/>
                </a:solidFill>
                <a:latin typeface="Arial" pitchFamily="34" charset="0"/>
                <a:ea typeface="Arial" pitchFamily="34" charset="-122"/>
                <a:cs typeface="Arial" pitchFamily="34" charset="-120"/>
              </a:rPr>
              <a:t>A</a:t>
            </a:r>
            <a:endParaRPr lang="en-GB" sz="1620" dirty="0"/>
          </a:p>
        </p:txBody>
      </p:sp>
      <p:sp>
        <p:nvSpPr>
          <p:cNvPr id="6" name="e15-3"/>
          <p:cNvSpPr/>
          <p:nvPr/>
        </p:nvSpPr>
        <p:spPr>
          <a:xfrm>
            <a:off x="609600" y="3200400"/>
            <a:ext cx="10972800" cy="365760"/>
          </a:xfrm>
          <a:prstGeom prst="rect">
            <a:avLst/>
          </a:prstGeom>
          <a:noFill/>
          <a:ln/>
        </p:spPr>
        <p:txBody>
          <a:bodyPr wrap="square" lIns="0" tIns="0" rIns="0" bIns="0" rtlCol="0" anchor="t"/>
          <a:lstStyle/>
          <a:p>
            <a:pPr algn="l" indent="0" marL="0">
              <a:lnSpc>
                <a:spcPct val="128000"/>
              </a:lnSpc>
              <a:buNone/>
            </a:pPr>
            <a:r>
              <a:rPr lang="en-GB" altLang="en-US" sz="1620" b="1" dirty="0">
                <a:solidFill>
                  <a:srgbClr val="222222"/>
                </a:solidFill>
                <a:latin typeface="Arial" pitchFamily="34" charset="0"/>
                <a:ea typeface="Arial" pitchFamily="34" charset="-122"/>
                <a:cs typeface="Arial" pitchFamily="34" charset="-120"/>
              </a:rPr>
              <a:t>Evidence strength: </a:t>
            </a:r>
            <a:pPr algn="l" indent="0" marL="0">
              <a:lnSpc>
                <a:spcPct val="128000"/>
              </a:lnSpc>
              <a:buNone/>
            </a:pPr>
            <a:r>
              <a:rPr lang="en-GB" altLang="en-US" sz="1620" dirty="0">
                <a:solidFill>
                  <a:srgbClr val="222222"/>
                </a:solidFill>
                <a:latin typeface="Arial" pitchFamily="34" charset="0"/>
                <a:ea typeface="Arial" pitchFamily="34" charset="-122"/>
                <a:cs typeface="Arial" pitchFamily="34" charset="-120"/>
              </a:rPr>
              <a:t>High, limited to these five logs</a:t>
            </a:r>
            <a:endParaRPr lang="en-GB" sz="1620" dirty="0"/>
          </a:p>
        </p:txBody>
      </p:sp>
      <p:sp>
        <p:nvSpPr>
          <p:cNvPr id="7" name="e15-4"/>
          <p:cNvSpPr/>
          <p:nvPr/>
        </p:nvSpPr>
        <p:spPr>
          <a:xfrm>
            <a:off x="609600" y="3642360"/>
            <a:ext cx="10972800" cy="365760"/>
          </a:xfrm>
          <a:prstGeom prst="rect">
            <a:avLst/>
          </a:prstGeom>
          <a:noFill/>
          <a:ln/>
        </p:spPr>
        <p:txBody>
          <a:bodyPr wrap="square" lIns="0" tIns="0" rIns="0" bIns="0" rtlCol="0" anchor="t"/>
          <a:lstStyle/>
          <a:p>
            <a:pPr algn="l" indent="0" marL="0">
              <a:lnSpc>
                <a:spcPct val="128000"/>
              </a:lnSpc>
              <a:buNone/>
            </a:pPr>
            <a:r>
              <a:rPr lang="en-GB" altLang="en-US" sz="1620" b="1" dirty="0">
                <a:solidFill>
                  <a:srgbClr val="222222"/>
                </a:solidFill>
                <a:latin typeface="Arial" pitchFamily="34" charset="0"/>
                <a:ea typeface="Arial" pitchFamily="34" charset="-122"/>
                <a:cs typeface="Arial" pitchFamily="34" charset="-120"/>
              </a:rPr>
              <a:t>Open question: </a:t>
            </a:r>
            <a:pPr algn="l" indent="0" marL="0">
              <a:lnSpc>
                <a:spcPct val="128000"/>
              </a:lnSpc>
              <a:buNone/>
            </a:pPr>
            <a:r>
              <a:rPr lang="en-GB" altLang="en-US" sz="1620" dirty="0">
                <a:solidFill>
                  <a:srgbClr val="222222"/>
                </a:solidFill>
                <a:latin typeface="Arial" pitchFamily="34" charset="0"/>
                <a:ea typeface="Arial" pitchFamily="34" charset="-122"/>
                <a:cs typeface="Arial" pitchFamily="34" charset="-120"/>
              </a:rPr>
              <a:t>Root cause of too_late, recovery from sleep and other notification channels</a:t>
            </a:r>
            <a:endParaRPr lang="en-GB" sz="1620" dirty="0"/>
          </a:p>
        </p:txBody>
      </p:sp>
      <p:sp>
        <p:nvSpPr>
          <p:cNvPr id="8" name="e15-5"/>
          <p:cNvSpPr/>
          <p:nvPr/>
        </p:nvSpPr>
        <p:spPr>
          <a:xfrm>
            <a:off x="609600" y="4084320"/>
            <a:ext cx="10972800" cy="640080"/>
          </a:xfrm>
          <a:prstGeom prst="rect">
            <a:avLst/>
          </a:prstGeom>
          <a:noFill/>
          <a:ln/>
        </p:spPr>
        <p:txBody>
          <a:bodyPr wrap="square" lIns="0" tIns="0" rIns="0" bIns="0" rtlCol="0" anchor="t"/>
          <a:lstStyle/>
          <a:p>
            <a:pPr algn="l" indent="0" marL="0">
              <a:lnSpc>
                <a:spcPct val="128000"/>
              </a:lnSpc>
              <a:buNone/>
            </a:pPr>
            <a:r>
              <a:rPr lang="en-GB" altLang="en-US" sz="1620" b="1" dirty="0">
                <a:solidFill>
                  <a:srgbClr val="222222"/>
                </a:solidFill>
                <a:latin typeface="Arial" pitchFamily="34" charset="0"/>
                <a:ea typeface="Arial" pitchFamily="34" charset="-122"/>
                <a:cs typeface="Arial" pitchFamily="34" charset="-120"/>
              </a:rPr>
              <a:t>Implication for this report: </a:t>
            </a:r>
            <a:pPr algn="l" indent="0" marL="0">
              <a:lnSpc>
                <a:spcPct val="128000"/>
              </a:lnSpc>
              <a:buNone/>
            </a:pPr>
            <a:r>
              <a:rPr lang="en-GB" altLang="en-US" sz="1620" dirty="0">
                <a:solidFill>
                  <a:srgbClr val="222222"/>
                </a:solidFill>
                <a:latin typeface="Arial" pitchFamily="34" charset="0"/>
                <a:ea typeface="Arial" pitchFamily="34" charset="-122"/>
                <a:cs typeface="Arial" pitchFamily="34" charset="-120"/>
              </a:rPr>
              <a:t>Say 'two of four scheduled runs have completion records', not four consecutive successful days or an overall product success rate</a:t>
            </a:r>
            <a:endParaRPr lang="en-GB" sz="1620" dirty="0"/>
          </a:p>
        </p:txBody>
      </p:sp>
      <p:sp>
        <p:nvSpPr>
          <p:cNvPr id="10" name="Text 1"/>
          <p:cNvSpPr/>
          <p:nvPr>
            <p:ph idx="102" type="body" hasCustomPrompt="1"/>
          </p:nvPr>
        </p:nvSpPr>
        <p:spPr>
          <a:xfrm>
            <a:off x="762000" y="2057400"/>
            <a:ext cx="10668000" cy="3886200"/>
          </a:xfrm>
          <a:prstGeom prst="rect">
            <a:avLst/>
          </a:prstGeom>
          <a:noFill/>
          <a:ln/>
        </p:spPr>
        <p:txBody>
          <a:bodyPr wrap="square" lIns="0" tIns="0" rIns="0" bIns="0" rtlCol="0" anchor="t"/>
          <a:lstStyle/>
          <a:p>
            <a:pPr indent="0" marL="0">
              <a:buNone/>
            </a:pPr>
            <a:endParaRPr lang="en-US" sz="168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FFFFFF"/>
        </a:solidFill>
      </p:bgPr>
    </p:bg>
    <p:spTree>
      <p:nvGrpSpPr>
        <p:cNvPr id="1" name=""/>
        <p:cNvGrpSpPr/>
        <p:nvPr/>
      </p:nvGrpSpPr>
      <p:grpSpPr>
        <a:xfrm>
          <a:off x="0" y="0"/>
          <a:ext cx="0" cy="0"/>
          <a:chOff x="0" y="0"/>
          <a:chExt cx="0" cy="0"/>
        </a:xfrm>
      </p:grpSpPr>
      <p:sp>
        <p:nvSpPr>
          <p:cNvPr id="2" name="Text 1"/>
          <p:cNvSpPr/>
          <p:nvPr>
            <p:ph idx="101" type="title" hasCustomPrompt="1"/>
          </p:nvPr>
        </p:nvSpPr>
        <p:spPr>
          <a:xfrm>
            <a:off x="381000" y="891540"/>
            <a:ext cx="11430000" cy="487680"/>
          </a:xfrm>
          <a:prstGeom prst="rect">
            <a:avLst/>
          </a:prstGeom>
          <a:noFill/>
          <a:ln/>
        </p:spPr>
        <p:txBody>
          <a:bodyPr wrap="square" lIns="0" tIns="0" rIns="0" bIns="0" rtlCol="0" anchor="t"/>
          <a:lstStyle/>
          <a:p>
            <a:pPr algn="l" indent="0" marL="0">
              <a:buNone/>
            </a:pPr>
            <a:r>
              <a:rPr lang="en-GB" altLang="en-US" sz="2400" b="1" spc="-84" kern="0" dirty="0">
                <a:solidFill>
                  <a:srgbClr val="000000"/>
                </a:solidFill>
                <a:latin typeface="Arial" pitchFamily="34" charset="0"/>
                <a:ea typeface="Arial" pitchFamily="34" charset="-122"/>
                <a:cs typeface="Arial" pitchFamily="34" charset="-120"/>
              </a:rPr>
              <a:t>E16 · Scheduled and delivery times</a:t>
            </a:r>
            <a:endParaRPr lang="en-GB" sz="2400" dirty="0"/>
          </a:p>
        </p:txBody>
      </p:sp>
      <p:sp>
        <p:nvSpPr>
          <p:cNvPr id="3" name="e16-0"/>
          <p:cNvSpPr/>
          <p:nvPr/>
        </p:nvSpPr>
        <p:spPr>
          <a:xfrm>
            <a:off x="609600" y="1600200"/>
            <a:ext cx="10972800" cy="640080"/>
          </a:xfrm>
          <a:prstGeom prst="rect">
            <a:avLst/>
          </a:prstGeom>
          <a:noFill/>
          <a:ln/>
        </p:spPr>
        <p:txBody>
          <a:bodyPr wrap="square" lIns="0" tIns="0" rIns="0" bIns="0" rtlCol="0" anchor="t"/>
          <a:lstStyle/>
          <a:p>
            <a:pPr algn="l" indent="0" marL="0">
              <a:lnSpc>
                <a:spcPct val="128000"/>
              </a:lnSpc>
              <a:buNone/>
            </a:pPr>
            <a:r>
              <a:rPr lang="en-GB" altLang="en-US" sz="1620" b="1" dirty="0">
                <a:solidFill>
                  <a:srgbClr val="222222"/>
                </a:solidFill>
                <a:latin typeface="Arial" pitchFamily="34" charset="0"/>
                <a:ea typeface="Arial" pitchFamily="34" charset="-122"/>
                <a:cs typeface="Arial" pitchFamily="34" charset="-120"/>
              </a:rPr>
              <a:t>Key finding: </a:t>
            </a:r>
            <a:pPr algn="l" indent="0" marL="0">
              <a:lnSpc>
                <a:spcPct val="128000"/>
              </a:lnSpc>
              <a:buNone/>
            </a:pPr>
            <a:r>
              <a:rPr lang="en-GB" altLang="en-US" sz="1620" dirty="0">
                <a:solidFill>
                  <a:srgbClr val="222222"/>
                </a:solidFill>
                <a:latin typeface="Arial" pitchFamily="34" charset="0"/>
                <a:ea typeface="Arial" pitchFamily="34" charset="-122"/>
                <a:cs typeface="Arial" pitchFamily="34" charset="-120"/>
              </a:rPr>
              <a:t>Group messages on 10-13 and 10-14 were at 09:11:57 and 09:11:38, about 12 minutes after 09:00. Possible peak-time queuing was noted when the task was created</a:t>
            </a:r>
            <a:endParaRPr lang="en-GB" sz="1620" dirty="0"/>
          </a:p>
        </p:txBody>
      </p:sp>
      <p:sp>
        <p:nvSpPr>
          <p:cNvPr id="4" name="e16-1"/>
          <p:cNvSpPr/>
          <p:nvPr/>
        </p:nvSpPr>
        <p:spPr>
          <a:xfrm>
            <a:off x="609600" y="2316480"/>
            <a:ext cx="10972800" cy="365760"/>
          </a:xfrm>
          <a:prstGeom prst="rect">
            <a:avLst/>
          </a:prstGeom>
          <a:noFill/>
          <a:ln/>
        </p:spPr>
        <p:txBody>
          <a:bodyPr wrap="square" lIns="0" tIns="0" rIns="0" bIns="0" rtlCol="0" anchor="t"/>
          <a:lstStyle/>
          <a:p>
            <a:pPr algn="l" indent="0" marL="0">
              <a:lnSpc>
                <a:spcPct val="128000"/>
              </a:lnSpc>
              <a:buNone/>
            </a:pPr>
            <a:r>
              <a:rPr lang="en-GB" altLang="en-US" sz="1620" b="1" dirty="0">
                <a:solidFill>
                  <a:srgbClr val="222222"/>
                </a:solidFill>
                <a:latin typeface="Arial" pitchFamily="34" charset="0"/>
                <a:ea typeface="Arial" pitchFamily="34" charset="-122"/>
                <a:cs typeface="Arial" pitchFamily="34" charset="-120"/>
              </a:rPr>
              <a:t>Evidence sources: </a:t>
            </a:r>
            <a:pPr algn="l" indent="0" marL="0">
              <a:lnSpc>
                <a:spcPct val="128000"/>
              </a:lnSpc>
              <a:buNone/>
            </a:pPr>
            <a:r>
              <a:rPr lang="en-GB" altLang="en-US" sz="1620" dirty="0">
                <a:solidFill>
                  <a:srgbClr val="222222"/>
                </a:solidFill>
                <a:latin typeface="Arial" pitchFamily="34" charset="0"/>
                <a:ea typeface="Arial" pitchFamily="34" charset="-122"/>
                <a:cs typeface="Arial" pitchFamily="34" charset="-120"/>
              </a:rPr>
              <a:t>R5 L69; R1 L476</a:t>
            </a:r>
            <a:endParaRPr lang="en-GB" sz="1620" dirty="0"/>
          </a:p>
        </p:txBody>
      </p:sp>
      <p:sp>
        <p:nvSpPr>
          <p:cNvPr id="5" name="e16-2"/>
          <p:cNvSpPr/>
          <p:nvPr/>
        </p:nvSpPr>
        <p:spPr>
          <a:xfrm>
            <a:off x="609600" y="2758440"/>
            <a:ext cx="10972800" cy="365760"/>
          </a:xfrm>
          <a:prstGeom prst="rect">
            <a:avLst/>
          </a:prstGeom>
          <a:noFill/>
          <a:ln/>
        </p:spPr>
        <p:txBody>
          <a:bodyPr wrap="square" lIns="0" tIns="0" rIns="0" bIns="0" rtlCol="0" anchor="t"/>
          <a:lstStyle/>
          <a:p>
            <a:pPr algn="l" indent="0" marL="0">
              <a:lnSpc>
                <a:spcPct val="128000"/>
              </a:lnSpc>
              <a:buNone/>
            </a:pPr>
            <a:r>
              <a:rPr lang="en-GB" altLang="en-US" sz="1620" b="1" dirty="0">
                <a:solidFill>
                  <a:srgbClr val="222222"/>
                </a:solidFill>
                <a:latin typeface="Arial" pitchFamily="34" charset="0"/>
                <a:ea typeface="Arial" pitchFamily="34" charset="-122"/>
                <a:cs typeface="Arial" pitchFamily="34" charset="-120"/>
              </a:rPr>
              <a:t>Fact or inference: </a:t>
            </a:r>
            <a:pPr algn="l" indent="0" marL="0">
              <a:lnSpc>
                <a:spcPct val="128000"/>
              </a:lnSpc>
              <a:buNone/>
            </a:pPr>
            <a:r>
              <a:rPr lang="en-GB" altLang="en-US" sz="1620" dirty="0">
                <a:solidFill>
                  <a:srgbClr val="222222"/>
                </a:solidFill>
                <a:latin typeface="Arial" pitchFamily="34" charset="0"/>
                <a:ea typeface="Arial" pitchFamily="34" charset="-122"/>
                <a:cs typeface="Arial" pitchFamily="34" charset="-120"/>
              </a:rPr>
              <a:t>A; the unproven cause of delay is D</a:t>
            </a:r>
            <a:endParaRPr lang="en-GB" sz="1620" dirty="0"/>
          </a:p>
        </p:txBody>
      </p:sp>
      <p:sp>
        <p:nvSpPr>
          <p:cNvPr id="6" name="e16-3"/>
          <p:cNvSpPr/>
          <p:nvPr/>
        </p:nvSpPr>
        <p:spPr>
          <a:xfrm>
            <a:off x="609600" y="3200400"/>
            <a:ext cx="10972800" cy="365760"/>
          </a:xfrm>
          <a:prstGeom prst="rect">
            <a:avLst/>
          </a:prstGeom>
          <a:noFill/>
          <a:ln/>
        </p:spPr>
        <p:txBody>
          <a:bodyPr wrap="square" lIns="0" tIns="0" rIns="0" bIns="0" rtlCol="0" anchor="t"/>
          <a:lstStyle/>
          <a:p>
            <a:pPr algn="l" indent="0" marL="0">
              <a:lnSpc>
                <a:spcPct val="128000"/>
              </a:lnSpc>
              <a:buNone/>
            </a:pPr>
            <a:r>
              <a:rPr lang="en-GB" altLang="en-US" sz="1620" b="1" dirty="0">
                <a:solidFill>
                  <a:srgbClr val="222222"/>
                </a:solidFill>
                <a:latin typeface="Arial" pitchFamily="34" charset="0"/>
                <a:ea typeface="Arial" pitchFamily="34" charset="-122"/>
                <a:cs typeface="Arial" pitchFamily="34" charset="-120"/>
              </a:rPr>
              <a:t>Evidence strength: </a:t>
            </a:r>
            <a:pPr algn="l" indent="0" marL="0">
              <a:lnSpc>
                <a:spcPct val="128000"/>
              </a:lnSpc>
              <a:buNone/>
            </a:pPr>
            <a:r>
              <a:rPr lang="en-GB" altLang="en-US" sz="1620" dirty="0">
                <a:solidFill>
                  <a:srgbClr val="222222"/>
                </a:solidFill>
                <a:latin typeface="Arial" pitchFamily="34" charset="0"/>
                <a:ea typeface="Arial" pitchFamily="34" charset="-122"/>
                <a:cs typeface="Arial" pitchFamily="34" charset="-120"/>
              </a:rPr>
              <a:t>High, limited to timestamps</a:t>
            </a:r>
            <a:endParaRPr lang="en-GB" sz="1620" dirty="0"/>
          </a:p>
        </p:txBody>
      </p:sp>
      <p:sp>
        <p:nvSpPr>
          <p:cNvPr id="7" name="e16-4"/>
          <p:cNvSpPr/>
          <p:nvPr/>
        </p:nvSpPr>
        <p:spPr>
          <a:xfrm>
            <a:off x="609600" y="3642360"/>
            <a:ext cx="10972800" cy="365760"/>
          </a:xfrm>
          <a:prstGeom prst="rect">
            <a:avLst/>
          </a:prstGeom>
          <a:noFill/>
          <a:ln/>
        </p:spPr>
        <p:txBody>
          <a:bodyPr wrap="square" lIns="0" tIns="0" rIns="0" bIns="0" rtlCol="0" anchor="t"/>
          <a:lstStyle/>
          <a:p>
            <a:pPr algn="l" indent="0" marL="0">
              <a:lnSpc>
                <a:spcPct val="128000"/>
              </a:lnSpc>
              <a:buNone/>
            </a:pPr>
            <a:r>
              <a:rPr lang="en-GB" altLang="en-US" sz="1620" b="1" dirty="0">
                <a:solidFill>
                  <a:srgbClr val="222222"/>
                </a:solidFill>
                <a:latin typeface="Arial" pitchFamily="34" charset="0"/>
                <a:ea typeface="Arial" pitchFamily="34" charset="-122"/>
                <a:cs typeface="Arial" pitchFamily="34" charset="-120"/>
              </a:rPr>
              <a:t>Open question: </a:t>
            </a:r>
            <a:pPr algn="l" indent="0" marL="0">
              <a:lnSpc>
                <a:spcPct val="128000"/>
              </a:lnSpc>
              <a:buNone/>
            </a:pPr>
            <a:r>
              <a:rPr lang="en-GB" altLang="en-US" sz="1620" dirty="0">
                <a:solidFill>
                  <a:srgbClr val="222222"/>
                </a:solidFill>
                <a:latin typeface="Arial" pitchFamily="34" charset="0"/>
                <a:ea typeface="Arial" pitchFamily="34" charset="-122"/>
                <a:cs typeface="Arial" pitchFamily="34" charset="-120"/>
              </a:rPr>
              <a:t>Time attributable to queuing, startup and connection</a:t>
            </a:r>
            <a:endParaRPr lang="en-GB" sz="1620" dirty="0"/>
          </a:p>
        </p:txBody>
      </p:sp>
      <p:sp>
        <p:nvSpPr>
          <p:cNvPr id="8" name="e16-5"/>
          <p:cNvSpPr/>
          <p:nvPr/>
        </p:nvSpPr>
        <p:spPr>
          <a:xfrm>
            <a:off x="609600" y="4084320"/>
            <a:ext cx="10972800" cy="640080"/>
          </a:xfrm>
          <a:prstGeom prst="rect">
            <a:avLst/>
          </a:prstGeom>
          <a:noFill/>
          <a:ln/>
        </p:spPr>
        <p:txBody>
          <a:bodyPr wrap="square" lIns="0" tIns="0" rIns="0" bIns="0" rtlCol="0" anchor="t"/>
          <a:lstStyle/>
          <a:p>
            <a:pPr algn="l" indent="0" marL="0">
              <a:lnSpc>
                <a:spcPct val="128000"/>
              </a:lnSpc>
              <a:buNone/>
            </a:pPr>
            <a:r>
              <a:rPr lang="en-GB" altLang="en-US" sz="1620" b="1" dirty="0">
                <a:solidFill>
                  <a:srgbClr val="222222"/>
                </a:solidFill>
                <a:latin typeface="Arial" pitchFamily="34" charset="0"/>
                <a:ea typeface="Arial" pitchFamily="34" charset="-122"/>
                <a:cs typeface="Arial" pitchFamily="34" charset="-120"/>
              </a:rPr>
              <a:t>Implication for this report: </a:t>
            </a:r>
            <a:pPr algn="l" indent="0" marL="0">
              <a:lnSpc>
                <a:spcPct val="128000"/>
              </a:lnSpc>
              <a:buNone/>
            </a:pPr>
            <a:r>
              <a:rPr lang="en-GB" altLang="en-US" sz="1620" dirty="0">
                <a:solidFill>
                  <a:srgbClr val="222222"/>
                </a:solidFill>
                <a:latin typeface="Arial" pitchFamily="34" charset="0"/>
                <a:ea typeface="Arial" pitchFamily="34" charset="-122"/>
                <a:cs typeface="Arial" pitchFamily="34" charset="-120"/>
              </a:rPr>
              <a:t>Distinguish roughly one minute of runtime from total scheduled-to-delivery delay</a:t>
            </a:r>
            <a:endParaRPr lang="en-GB" sz="1620" dirty="0"/>
          </a:p>
        </p:txBody>
      </p:sp>
      <p:sp>
        <p:nvSpPr>
          <p:cNvPr id="10" name="Text 1"/>
          <p:cNvSpPr/>
          <p:nvPr>
            <p:ph idx="102" type="body" hasCustomPrompt="1"/>
          </p:nvPr>
        </p:nvSpPr>
        <p:spPr>
          <a:xfrm>
            <a:off x="762000" y="2057400"/>
            <a:ext cx="10668000" cy="3886200"/>
          </a:xfrm>
          <a:prstGeom prst="rect">
            <a:avLst/>
          </a:prstGeom>
          <a:noFill/>
          <a:ln/>
        </p:spPr>
        <p:txBody>
          <a:bodyPr wrap="square" lIns="0" tIns="0" rIns="0" bIns="0" rtlCol="0" anchor="t"/>
          <a:lstStyle/>
          <a:p>
            <a:pPr indent="0" marL="0">
              <a:buNone/>
            </a:pPr>
            <a:endParaRPr lang="en-US" sz="168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FFFFFF"/>
        </a:solidFill>
      </p:bgPr>
    </p:bg>
    <p:spTree>
      <p:nvGrpSpPr>
        <p:cNvPr id="1" name=""/>
        <p:cNvGrpSpPr/>
        <p:nvPr/>
      </p:nvGrpSpPr>
      <p:grpSpPr>
        <a:xfrm>
          <a:off x="0" y="0"/>
          <a:ext cx="0" cy="0"/>
          <a:chOff x="0" y="0"/>
          <a:chExt cx="0" cy="0"/>
        </a:xfrm>
      </p:grpSpPr>
      <p:sp>
        <p:nvSpPr>
          <p:cNvPr id="2" name="Text 1"/>
          <p:cNvSpPr/>
          <p:nvPr>
            <p:ph idx="101" type="title" hasCustomPrompt="1"/>
          </p:nvPr>
        </p:nvSpPr>
        <p:spPr>
          <a:xfrm>
            <a:off x="381000" y="891540"/>
            <a:ext cx="11430000" cy="487680"/>
          </a:xfrm>
          <a:prstGeom prst="rect">
            <a:avLst/>
          </a:prstGeom>
          <a:noFill/>
          <a:ln/>
        </p:spPr>
        <p:txBody>
          <a:bodyPr wrap="square" lIns="0" tIns="0" rIns="0" bIns="0" rtlCol="0" anchor="t"/>
          <a:lstStyle/>
          <a:p>
            <a:pPr algn="l" indent="0" marL="0">
              <a:buNone/>
            </a:pPr>
            <a:r>
              <a:rPr lang="en-GB" altLang="en-US" sz="2400" b="1" spc="-84" kern="0" dirty="0">
                <a:solidFill>
                  <a:srgbClr val="000000"/>
                </a:solidFill>
                <a:latin typeface="Arial" pitchFamily="34" charset="0"/>
                <a:ea typeface="Arial" pitchFamily="34" charset="-122"/>
                <a:cs typeface="Arial" pitchFamily="34" charset="-120"/>
              </a:rPr>
              <a:t>E17 · Business silence and run health</a:t>
            </a:r>
            <a:endParaRPr lang="en-GB" sz="2400" dirty="0"/>
          </a:p>
        </p:txBody>
      </p:sp>
      <p:sp>
        <p:nvSpPr>
          <p:cNvPr id="3" name="e17-0"/>
          <p:cNvSpPr/>
          <p:nvPr/>
        </p:nvSpPr>
        <p:spPr>
          <a:xfrm>
            <a:off x="609600" y="1600200"/>
            <a:ext cx="10972800" cy="640080"/>
          </a:xfrm>
          <a:prstGeom prst="rect">
            <a:avLst/>
          </a:prstGeom>
          <a:noFill/>
          <a:ln/>
        </p:spPr>
        <p:txBody>
          <a:bodyPr wrap="square" lIns="0" tIns="0" rIns="0" bIns="0" rtlCol="0" anchor="t"/>
          <a:lstStyle/>
          <a:p>
            <a:pPr algn="l" indent="0" marL="0">
              <a:lnSpc>
                <a:spcPct val="128000"/>
              </a:lnSpc>
              <a:buNone/>
            </a:pPr>
            <a:r>
              <a:rPr lang="en-GB" altLang="en-US" sz="1620" b="1" dirty="0">
                <a:solidFill>
                  <a:srgbClr val="222222"/>
                </a:solidFill>
                <a:latin typeface="Arial" pitchFamily="34" charset="0"/>
                <a:ea typeface="Arial" pitchFamily="34" charset="-122"/>
                <a:cs typeface="Arial" pitchFamily="34" charset="-120"/>
              </a:rPr>
              <a:t>Key finding: </a:t>
            </a:r>
            <a:pPr algn="l" indent="0" marL="0">
              <a:lnSpc>
                <a:spcPct val="128000"/>
              </a:lnSpc>
              <a:buNone/>
            </a:pPr>
            <a:r>
              <a:rPr lang="en-GB" altLang="en-US" sz="1620" dirty="0">
                <a:solidFill>
                  <a:srgbClr val="222222"/>
                </a:solidFill>
                <a:latin typeface="Arial" pitchFamily="34" charset="0"/>
                <a:ea typeface="Arial" pitchFamily="34" charset="-122"/>
                <a:cs typeface="Arial" pitchFamily="34" charset="-120"/>
              </a:rPr>
              <a:t>No daily briefing for 10-11/12 appeared in the queried group page. Logs recorded errors, but not all notification channels were checked</a:t>
            </a:r>
            <a:endParaRPr lang="en-GB" sz="1620" dirty="0"/>
          </a:p>
        </p:txBody>
      </p:sp>
      <p:sp>
        <p:nvSpPr>
          <p:cNvPr id="4" name="e17-1"/>
          <p:cNvSpPr/>
          <p:nvPr/>
        </p:nvSpPr>
        <p:spPr>
          <a:xfrm>
            <a:off x="609600" y="2316480"/>
            <a:ext cx="10972800" cy="365760"/>
          </a:xfrm>
          <a:prstGeom prst="rect">
            <a:avLst/>
          </a:prstGeom>
          <a:noFill/>
          <a:ln/>
        </p:spPr>
        <p:txBody>
          <a:bodyPr wrap="square" lIns="0" tIns="0" rIns="0" bIns="0" rtlCol="0" anchor="t"/>
          <a:lstStyle/>
          <a:p>
            <a:pPr algn="l" indent="0" marL="0">
              <a:lnSpc>
                <a:spcPct val="128000"/>
              </a:lnSpc>
              <a:buNone/>
            </a:pPr>
            <a:r>
              <a:rPr lang="en-GB" altLang="en-US" sz="1620" b="1" dirty="0">
                <a:solidFill>
                  <a:srgbClr val="222222"/>
                </a:solidFill>
                <a:latin typeface="Arial" pitchFamily="34" charset="0"/>
                <a:ea typeface="Arial" pitchFamily="34" charset="-122"/>
                <a:cs typeface="Arial" pitchFamily="34" charset="-120"/>
              </a:rPr>
              <a:t>Evidence sources: </a:t>
            </a:r>
            <a:pPr algn="l" indent="0" marL="0">
              <a:lnSpc>
                <a:spcPct val="128000"/>
              </a:lnSpc>
              <a:buNone/>
            </a:pPr>
            <a:r>
              <a:rPr lang="en-GB" altLang="en-US" sz="1620" dirty="0">
                <a:solidFill>
                  <a:srgbClr val="222222"/>
                </a:solidFill>
                <a:latin typeface="Arial" pitchFamily="34" charset="0"/>
                <a:ea typeface="Arial" pitchFamily="34" charset="-122"/>
                <a:cs typeface="Arial" pitchFamily="34" charset="-120"/>
              </a:rPr>
              <a:t>R5 L61, 69</a:t>
            </a:r>
            <a:endParaRPr lang="en-GB" sz="1620" dirty="0"/>
          </a:p>
        </p:txBody>
      </p:sp>
      <p:sp>
        <p:nvSpPr>
          <p:cNvPr id="5" name="e17-2"/>
          <p:cNvSpPr/>
          <p:nvPr/>
        </p:nvSpPr>
        <p:spPr>
          <a:xfrm>
            <a:off x="609600" y="2758440"/>
            <a:ext cx="10972800" cy="365760"/>
          </a:xfrm>
          <a:prstGeom prst="rect">
            <a:avLst/>
          </a:prstGeom>
          <a:noFill/>
          <a:ln/>
        </p:spPr>
        <p:txBody>
          <a:bodyPr wrap="square" lIns="0" tIns="0" rIns="0" bIns="0" rtlCol="0" anchor="t"/>
          <a:lstStyle/>
          <a:p>
            <a:pPr algn="l" indent="0" marL="0">
              <a:lnSpc>
                <a:spcPct val="128000"/>
              </a:lnSpc>
              <a:buNone/>
            </a:pPr>
            <a:r>
              <a:rPr lang="en-GB" altLang="en-US" sz="1620" b="1" dirty="0">
                <a:solidFill>
                  <a:srgbClr val="222222"/>
                </a:solidFill>
                <a:latin typeface="Arial" pitchFamily="34" charset="0"/>
                <a:ea typeface="Arial" pitchFamily="34" charset="-122"/>
                <a:cs typeface="Arial" pitchFamily="34" charset="-120"/>
              </a:rPr>
              <a:t>Fact or inference: </a:t>
            </a:r>
            <a:pPr algn="l" indent="0" marL="0">
              <a:lnSpc>
                <a:spcPct val="128000"/>
              </a:lnSpc>
              <a:buNone/>
            </a:pPr>
            <a:r>
              <a:rPr lang="en-GB" altLang="en-US" sz="1620" dirty="0">
                <a:solidFill>
                  <a:srgbClr val="222222"/>
                </a:solidFill>
                <a:latin typeface="Arial" pitchFamily="34" charset="0"/>
                <a:ea typeface="Arial" pitchFamily="34" charset="-122"/>
                <a:cs typeface="Arial" pitchFamily="34" charset="-120"/>
              </a:rPr>
              <a:t>A; inability to distinguish no issue from no run by silence alone is C</a:t>
            </a:r>
            <a:endParaRPr lang="en-GB" sz="1620" dirty="0"/>
          </a:p>
        </p:txBody>
      </p:sp>
      <p:sp>
        <p:nvSpPr>
          <p:cNvPr id="6" name="e17-3"/>
          <p:cNvSpPr/>
          <p:nvPr/>
        </p:nvSpPr>
        <p:spPr>
          <a:xfrm>
            <a:off x="609600" y="3200400"/>
            <a:ext cx="10972800" cy="365760"/>
          </a:xfrm>
          <a:prstGeom prst="rect">
            <a:avLst/>
          </a:prstGeom>
          <a:noFill/>
          <a:ln/>
        </p:spPr>
        <p:txBody>
          <a:bodyPr wrap="square" lIns="0" tIns="0" rIns="0" bIns="0" rtlCol="0" anchor="t"/>
          <a:lstStyle/>
          <a:p>
            <a:pPr algn="l" indent="0" marL="0">
              <a:lnSpc>
                <a:spcPct val="128000"/>
              </a:lnSpc>
              <a:buNone/>
            </a:pPr>
            <a:r>
              <a:rPr lang="en-GB" altLang="en-US" sz="1620" b="1" dirty="0">
                <a:solidFill>
                  <a:srgbClr val="222222"/>
                </a:solidFill>
                <a:latin typeface="Arial" pitchFamily="34" charset="0"/>
                <a:ea typeface="Arial" pitchFamily="34" charset="-122"/>
                <a:cs typeface="Arial" pitchFamily="34" charset="-120"/>
              </a:rPr>
              <a:t>Evidence strength: </a:t>
            </a:r>
            <a:pPr algn="l" indent="0" marL="0">
              <a:lnSpc>
                <a:spcPct val="128000"/>
              </a:lnSpc>
              <a:buNone/>
            </a:pPr>
            <a:r>
              <a:rPr lang="en-GB" altLang="en-US" sz="1620" dirty="0">
                <a:solidFill>
                  <a:srgbClr val="222222"/>
                </a:solidFill>
                <a:latin typeface="Arial" pitchFamily="34" charset="0"/>
                <a:ea typeface="Arial" pitchFamily="34" charset="-122"/>
                <a:cs typeface="Arial" pitchFamily="34" charset="-120"/>
              </a:rPr>
              <a:t>High for this group; no basis for asserting the platform has no alerts</a:t>
            </a:r>
            <a:endParaRPr lang="en-GB" sz="1620" dirty="0"/>
          </a:p>
        </p:txBody>
      </p:sp>
      <p:sp>
        <p:nvSpPr>
          <p:cNvPr id="7" name="e17-4"/>
          <p:cNvSpPr/>
          <p:nvPr/>
        </p:nvSpPr>
        <p:spPr>
          <a:xfrm>
            <a:off x="609600" y="3642360"/>
            <a:ext cx="10972800" cy="365760"/>
          </a:xfrm>
          <a:prstGeom prst="rect">
            <a:avLst/>
          </a:prstGeom>
          <a:noFill/>
          <a:ln/>
        </p:spPr>
        <p:txBody>
          <a:bodyPr wrap="square" lIns="0" tIns="0" rIns="0" bIns="0" rtlCol="0" anchor="t"/>
          <a:lstStyle/>
          <a:p>
            <a:pPr algn="l" indent="0" marL="0">
              <a:lnSpc>
                <a:spcPct val="128000"/>
              </a:lnSpc>
              <a:buNone/>
            </a:pPr>
            <a:r>
              <a:rPr lang="en-GB" altLang="en-US" sz="1620" b="1" dirty="0">
                <a:solidFill>
                  <a:srgbClr val="222222"/>
                </a:solidFill>
                <a:latin typeface="Arial" pitchFamily="34" charset="0"/>
                <a:ea typeface="Arial" pitchFamily="34" charset="-122"/>
                <a:cs typeface="Arial" pitchFamily="34" charset="-120"/>
              </a:rPr>
              <a:t>Open question: </a:t>
            </a:r>
            <a:pPr algn="l" indent="0" marL="0">
              <a:lnSpc>
                <a:spcPct val="128000"/>
              </a:lnSpc>
              <a:buNone/>
            </a:pPr>
            <a:r>
              <a:rPr lang="en-GB" altLang="en-US" sz="1620" dirty="0">
                <a:solidFill>
                  <a:srgbClr val="222222"/>
                </a:solidFill>
                <a:latin typeface="Arial" pitchFamily="34" charset="0"/>
                <a:ea typeface="Arial" pitchFamily="34" charset="-122"/>
                <a:cs typeface="Arial" pitchFamily="34" charset="-120"/>
              </a:rPr>
              <a:t>Personal notifications, system reminders and operational monitoring</a:t>
            </a:r>
            <a:endParaRPr lang="en-GB" sz="1620" dirty="0"/>
          </a:p>
        </p:txBody>
      </p:sp>
      <p:sp>
        <p:nvSpPr>
          <p:cNvPr id="8" name="e17-5"/>
          <p:cNvSpPr/>
          <p:nvPr/>
        </p:nvSpPr>
        <p:spPr>
          <a:xfrm>
            <a:off x="609600" y="4084320"/>
            <a:ext cx="10972800" cy="640080"/>
          </a:xfrm>
          <a:prstGeom prst="rect">
            <a:avLst/>
          </a:prstGeom>
          <a:noFill/>
          <a:ln/>
        </p:spPr>
        <p:txBody>
          <a:bodyPr wrap="square" lIns="0" tIns="0" rIns="0" bIns="0" rtlCol="0" anchor="t"/>
          <a:lstStyle/>
          <a:p>
            <a:pPr algn="l" indent="0" marL="0">
              <a:lnSpc>
                <a:spcPct val="128000"/>
              </a:lnSpc>
              <a:buNone/>
            </a:pPr>
            <a:r>
              <a:rPr lang="en-GB" altLang="en-US" sz="1620" b="1" dirty="0">
                <a:solidFill>
                  <a:srgbClr val="222222"/>
                </a:solidFill>
                <a:latin typeface="Arial" pitchFamily="34" charset="0"/>
                <a:ea typeface="Arial" pitchFamily="34" charset="-122"/>
                <a:cs typeface="Arial" pitchFamily="34" charset="-120"/>
              </a:rPr>
              <a:t>Implication for this report: </a:t>
            </a:r>
            <a:pPr algn="l" indent="0" marL="0">
              <a:lnSpc>
                <a:spcPct val="128000"/>
              </a:lnSpc>
              <a:buNone/>
            </a:pPr>
            <a:r>
              <a:rPr lang="en-GB" altLang="en-US" sz="1620" dirty="0">
                <a:solidFill>
                  <a:srgbClr val="222222"/>
                </a:solidFill>
                <a:latin typeface="Arial" pitchFamily="34" charset="0"/>
                <a:ea typeface="Arial" pitchFamily="34" charset="-122"/>
                <a:cs typeface="Arial" pitchFamily="34" charset="-120"/>
              </a:rPr>
              <a:t>Monitor business silence and execution failure separately; do not claim the platform has no alert mechanism</a:t>
            </a:r>
            <a:endParaRPr lang="en-GB" sz="1620" dirty="0"/>
          </a:p>
        </p:txBody>
      </p:sp>
      <p:sp>
        <p:nvSpPr>
          <p:cNvPr id="10" name="Text 1"/>
          <p:cNvSpPr/>
          <p:nvPr>
            <p:ph idx="102" type="body" hasCustomPrompt="1"/>
          </p:nvPr>
        </p:nvSpPr>
        <p:spPr>
          <a:xfrm>
            <a:off x="762000" y="2057400"/>
            <a:ext cx="10668000" cy="3886200"/>
          </a:xfrm>
          <a:prstGeom prst="rect">
            <a:avLst/>
          </a:prstGeom>
          <a:noFill/>
          <a:ln/>
        </p:spPr>
        <p:txBody>
          <a:bodyPr wrap="square" lIns="0" tIns="0" rIns="0" bIns="0" rtlCol="0" anchor="t"/>
          <a:lstStyle/>
          <a:p>
            <a:pPr indent="0" marL="0">
              <a:buNone/>
            </a:pPr>
            <a:endParaRPr lang="en-US" sz="168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FFFFFF"/>
        </a:solidFill>
      </p:bgPr>
    </p:bg>
    <p:spTree>
      <p:nvGrpSpPr>
        <p:cNvPr id="1" name=""/>
        <p:cNvGrpSpPr/>
        <p:nvPr/>
      </p:nvGrpSpPr>
      <p:grpSpPr>
        <a:xfrm>
          <a:off x="0" y="0"/>
          <a:ext cx="0" cy="0"/>
          <a:chOff x="0" y="0"/>
          <a:chExt cx="0" cy="0"/>
        </a:xfrm>
      </p:grpSpPr>
      <p:sp>
        <p:nvSpPr>
          <p:cNvPr id="2" name="Text 1"/>
          <p:cNvSpPr/>
          <p:nvPr>
            <p:ph idx="101" type="title" hasCustomPrompt="1"/>
          </p:nvPr>
        </p:nvSpPr>
        <p:spPr>
          <a:xfrm>
            <a:off x="381000" y="891540"/>
            <a:ext cx="11430000" cy="487680"/>
          </a:xfrm>
          <a:prstGeom prst="rect">
            <a:avLst/>
          </a:prstGeom>
          <a:noFill/>
          <a:ln/>
        </p:spPr>
        <p:txBody>
          <a:bodyPr wrap="square" lIns="0" tIns="0" rIns="0" bIns="0" rtlCol="0" anchor="t"/>
          <a:lstStyle/>
          <a:p>
            <a:pPr algn="l" indent="0" marL="0">
              <a:buNone/>
            </a:pPr>
            <a:r>
              <a:rPr lang="en-GB" altLang="en-US" sz="2400" b="1" spc="-84" kern="0" dirty="0">
                <a:solidFill>
                  <a:srgbClr val="000000"/>
                </a:solidFill>
                <a:latin typeface="Arial" pitchFamily="34" charset="0"/>
                <a:ea typeface="Arial" pitchFamily="34" charset="-122"/>
                <a:cs typeface="Arial" pitchFamily="34" charset="-120"/>
              </a:rPr>
              <a:t>E18 · Sending errors and retries</a:t>
            </a:r>
            <a:endParaRPr lang="en-GB" sz="2400" dirty="0"/>
          </a:p>
        </p:txBody>
      </p:sp>
      <p:sp>
        <p:nvSpPr>
          <p:cNvPr id="3" name="e18-0"/>
          <p:cNvSpPr/>
          <p:nvPr/>
        </p:nvSpPr>
        <p:spPr>
          <a:xfrm>
            <a:off x="609600" y="1600200"/>
            <a:ext cx="10972800" cy="640080"/>
          </a:xfrm>
          <a:prstGeom prst="rect">
            <a:avLst/>
          </a:prstGeom>
          <a:noFill/>
          <a:ln/>
        </p:spPr>
        <p:txBody>
          <a:bodyPr wrap="square" lIns="0" tIns="0" rIns="0" bIns="0" rtlCol="0" anchor="t"/>
          <a:lstStyle/>
          <a:p>
            <a:pPr algn="l" indent="0" marL="0">
              <a:lnSpc>
                <a:spcPct val="128000"/>
              </a:lnSpc>
              <a:buNone/>
            </a:pPr>
            <a:r>
              <a:rPr lang="en-GB" altLang="en-US" sz="1620" b="1" dirty="0">
                <a:solidFill>
                  <a:srgbClr val="222222"/>
                </a:solidFill>
                <a:latin typeface="Arial" pitchFamily="34" charset="0"/>
                <a:ea typeface="Arial" pitchFamily="34" charset="-122"/>
                <a:cs typeface="Arial" pitchFamily="34" charset="-120"/>
              </a:rPr>
              <a:t>Key finding: </a:t>
            </a:r>
            <a:pPr algn="l" indent="0" marL="0">
              <a:lnSpc>
                <a:spcPct val="128000"/>
              </a:lnSpc>
              <a:buNone/>
            </a:pPr>
            <a:r>
              <a:rPr lang="en-GB" altLang="en-US" sz="1620" dirty="0">
                <a:solidFill>
                  <a:srgbClr val="222222"/>
                </a:solidFill>
                <a:latin typeface="Arial" pitchFamily="34" charset="0"/>
                <a:ea typeface="Arial" pitchFamily="34" charset="-122"/>
                <a:cs typeface="Arial" pitchFamily="34" charset="-120"/>
              </a:rPr>
              <a:t>The first sending command in the 10-14 automatic task failed because '+' was missing; it sent after correction</a:t>
            </a:r>
            <a:endParaRPr lang="en-GB" sz="1620" dirty="0"/>
          </a:p>
        </p:txBody>
      </p:sp>
      <p:sp>
        <p:nvSpPr>
          <p:cNvPr id="4" name="e18-1"/>
          <p:cNvSpPr/>
          <p:nvPr/>
        </p:nvSpPr>
        <p:spPr>
          <a:xfrm>
            <a:off x="609600" y="2316480"/>
            <a:ext cx="10972800" cy="365760"/>
          </a:xfrm>
          <a:prstGeom prst="rect">
            <a:avLst/>
          </a:prstGeom>
          <a:noFill/>
          <a:ln/>
        </p:spPr>
        <p:txBody>
          <a:bodyPr wrap="square" lIns="0" tIns="0" rIns="0" bIns="0" rtlCol="0" anchor="t"/>
          <a:lstStyle/>
          <a:p>
            <a:pPr algn="l" indent="0" marL="0">
              <a:lnSpc>
                <a:spcPct val="128000"/>
              </a:lnSpc>
              <a:buNone/>
            </a:pPr>
            <a:r>
              <a:rPr lang="en-GB" altLang="en-US" sz="1620" b="1" dirty="0">
                <a:solidFill>
                  <a:srgbClr val="222222"/>
                </a:solidFill>
                <a:latin typeface="Arial" pitchFamily="34" charset="0"/>
                <a:ea typeface="Arial" pitchFamily="34" charset="-122"/>
                <a:cs typeface="Arial" pitchFamily="34" charset="-120"/>
              </a:rPr>
              <a:t>Evidence sources: </a:t>
            </a:r>
            <a:pPr algn="l" indent="0" marL="0">
              <a:lnSpc>
                <a:spcPct val="128000"/>
              </a:lnSpc>
              <a:buNone/>
            </a:pPr>
            <a:r>
              <a:rPr lang="en-GB" altLang="en-US" sz="1620" dirty="0">
                <a:solidFill>
                  <a:srgbClr val="222222"/>
                </a:solidFill>
                <a:latin typeface="Arial" pitchFamily="34" charset="0"/>
                <a:ea typeface="Arial" pitchFamily="34" charset="-122"/>
                <a:cs typeface="Arial" pitchFamily="34" charset="-120"/>
              </a:rPr>
              <a:t>R4 L37, 39, 42, 44; R5 L69</a:t>
            </a:r>
            <a:endParaRPr lang="en-GB" sz="1620" dirty="0"/>
          </a:p>
        </p:txBody>
      </p:sp>
      <p:sp>
        <p:nvSpPr>
          <p:cNvPr id="5" name="e18-2"/>
          <p:cNvSpPr/>
          <p:nvPr/>
        </p:nvSpPr>
        <p:spPr>
          <a:xfrm>
            <a:off x="609600" y="2758440"/>
            <a:ext cx="10972800" cy="365760"/>
          </a:xfrm>
          <a:prstGeom prst="rect">
            <a:avLst/>
          </a:prstGeom>
          <a:noFill/>
          <a:ln/>
        </p:spPr>
        <p:txBody>
          <a:bodyPr wrap="square" lIns="0" tIns="0" rIns="0" bIns="0" rtlCol="0" anchor="t"/>
          <a:lstStyle/>
          <a:p>
            <a:pPr algn="l" indent="0" marL="0">
              <a:lnSpc>
                <a:spcPct val="128000"/>
              </a:lnSpc>
              <a:buNone/>
            </a:pPr>
            <a:r>
              <a:rPr lang="en-GB" altLang="en-US" sz="1620" b="1" dirty="0">
                <a:solidFill>
                  <a:srgbClr val="222222"/>
                </a:solidFill>
                <a:latin typeface="Arial" pitchFamily="34" charset="0"/>
                <a:ea typeface="Arial" pitchFamily="34" charset="-122"/>
                <a:cs typeface="Arial" pitchFamily="34" charset="-120"/>
              </a:rPr>
              <a:t>Fact or inference: </a:t>
            </a:r>
            <a:pPr algn="l" indent="0" marL="0">
              <a:lnSpc>
                <a:spcPct val="128000"/>
              </a:lnSpc>
              <a:buNone/>
            </a:pPr>
            <a:r>
              <a:rPr lang="en-GB" altLang="en-US" sz="1620" dirty="0">
                <a:solidFill>
                  <a:srgbClr val="222222"/>
                </a:solidFill>
                <a:latin typeface="Arial" pitchFamily="34" charset="0"/>
                <a:ea typeface="Arial" pitchFamily="34" charset="-122"/>
                <a:cs typeface="Arial" pitchFamily="34" charset="-120"/>
              </a:rPr>
              <a:t>A</a:t>
            </a:r>
            <a:endParaRPr lang="en-GB" sz="1620" dirty="0"/>
          </a:p>
        </p:txBody>
      </p:sp>
      <p:sp>
        <p:nvSpPr>
          <p:cNvPr id="6" name="e18-3"/>
          <p:cNvSpPr/>
          <p:nvPr/>
        </p:nvSpPr>
        <p:spPr>
          <a:xfrm>
            <a:off x="609600" y="3200400"/>
            <a:ext cx="10972800" cy="365760"/>
          </a:xfrm>
          <a:prstGeom prst="rect">
            <a:avLst/>
          </a:prstGeom>
          <a:noFill/>
          <a:ln/>
        </p:spPr>
        <p:txBody>
          <a:bodyPr wrap="square" lIns="0" tIns="0" rIns="0" bIns="0" rtlCol="0" anchor="t"/>
          <a:lstStyle/>
          <a:p>
            <a:pPr algn="l" indent="0" marL="0">
              <a:lnSpc>
                <a:spcPct val="128000"/>
              </a:lnSpc>
              <a:buNone/>
            </a:pPr>
            <a:r>
              <a:rPr lang="en-GB" altLang="en-US" sz="1620" b="1" dirty="0">
                <a:solidFill>
                  <a:srgbClr val="222222"/>
                </a:solidFill>
                <a:latin typeface="Arial" pitchFamily="34" charset="0"/>
                <a:ea typeface="Arial" pitchFamily="34" charset="-122"/>
                <a:cs typeface="Arial" pitchFamily="34" charset="-120"/>
              </a:rPr>
              <a:t>Evidence strength: </a:t>
            </a:r>
            <a:pPr algn="l" indent="0" marL="0">
              <a:lnSpc>
                <a:spcPct val="128000"/>
              </a:lnSpc>
              <a:buNone/>
            </a:pPr>
            <a:r>
              <a:rPr lang="en-GB" altLang="en-US" sz="1620" dirty="0">
                <a:solidFill>
                  <a:srgbClr val="222222"/>
                </a:solidFill>
                <a:latin typeface="Arial" pitchFamily="34" charset="0"/>
                <a:ea typeface="Arial" pitchFamily="34" charset="-122"/>
                <a:cs typeface="Arial" pitchFamily="34" charset="-120"/>
              </a:rPr>
              <a:t>High</a:t>
            </a:r>
            <a:endParaRPr lang="en-GB" sz="1620" dirty="0"/>
          </a:p>
        </p:txBody>
      </p:sp>
      <p:sp>
        <p:nvSpPr>
          <p:cNvPr id="7" name="e18-4"/>
          <p:cNvSpPr/>
          <p:nvPr/>
        </p:nvSpPr>
        <p:spPr>
          <a:xfrm>
            <a:off x="609600" y="3642360"/>
            <a:ext cx="10972800" cy="365760"/>
          </a:xfrm>
          <a:prstGeom prst="rect">
            <a:avLst/>
          </a:prstGeom>
          <a:noFill/>
          <a:ln/>
        </p:spPr>
        <p:txBody>
          <a:bodyPr wrap="square" lIns="0" tIns="0" rIns="0" bIns="0" rtlCol="0" anchor="t"/>
          <a:lstStyle/>
          <a:p>
            <a:pPr algn="l" indent="0" marL="0">
              <a:lnSpc>
                <a:spcPct val="128000"/>
              </a:lnSpc>
              <a:buNone/>
            </a:pPr>
            <a:r>
              <a:rPr lang="en-GB" altLang="en-US" sz="1620" b="1" dirty="0">
                <a:solidFill>
                  <a:srgbClr val="222222"/>
                </a:solidFill>
                <a:latin typeface="Arial" pitchFamily="34" charset="0"/>
                <a:ea typeface="Arial" pitchFamily="34" charset="-122"/>
                <a:cs typeface="Arial" pitchFamily="34" charset="-120"/>
              </a:rPr>
              <a:t>Open question: </a:t>
            </a:r>
            <a:pPr algn="l" indent="0" marL="0">
              <a:lnSpc>
                <a:spcPct val="128000"/>
              </a:lnSpc>
              <a:buNone/>
            </a:pPr>
            <a:r>
              <a:rPr lang="en-GB" altLang="en-US" sz="1620" dirty="0">
                <a:solidFill>
                  <a:srgbClr val="222222"/>
                </a:solidFill>
                <a:latin typeface="Arial" pitchFamily="34" charset="0"/>
                <a:ea typeface="Arial" pitchFamily="34" charset="-122"/>
                <a:cs typeface="Arial" pitchFamily="34" charset="-120"/>
              </a:rPr>
              <a:t>Recovery from other exceptions and possible duplicate sending</a:t>
            </a:r>
            <a:endParaRPr lang="en-GB" sz="1620" dirty="0"/>
          </a:p>
        </p:txBody>
      </p:sp>
      <p:sp>
        <p:nvSpPr>
          <p:cNvPr id="8" name="e18-5"/>
          <p:cNvSpPr/>
          <p:nvPr/>
        </p:nvSpPr>
        <p:spPr>
          <a:xfrm>
            <a:off x="609600" y="4084320"/>
            <a:ext cx="10972800" cy="640080"/>
          </a:xfrm>
          <a:prstGeom prst="rect">
            <a:avLst/>
          </a:prstGeom>
          <a:noFill/>
          <a:ln/>
        </p:spPr>
        <p:txBody>
          <a:bodyPr wrap="square" lIns="0" tIns="0" rIns="0" bIns="0" rtlCol="0" anchor="t"/>
          <a:lstStyle/>
          <a:p>
            <a:pPr algn="l" indent="0" marL="0">
              <a:lnSpc>
                <a:spcPct val="128000"/>
              </a:lnSpc>
              <a:buNone/>
            </a:pPr>
            <a:r>
              <a:rPr lang="en-GB" altLang="en-US" sz="1620" b="1" dirty="0">
                <a:solidFill>
                  <a:srgbClr val="222222"/>
                </a:solidFill>
                <a:latin typeface="Arial" pitchFamily="34" charset="0"/>
                <a:ea typeface="Arial" pitchFamily="34" charset="-122"/>
                <a:cs typeface="Arial" pitchFamily="34" charset="-120"/>
              </a:rPr>
              <a:t>Implication for this report: </a:t>
            </a:r>
            <a:pPr algn="l" indent="0" marL="0">
              <a:lnSpc>
                <a:spcPct val="128000"/>
              </a:lnSpc>
              <a:buNone/>
            </a:pPr>
            <a:r>
              <a:rPr lang="en-GB" altLang="en-US" sz="1620" dirty="0">
                <a:solidFill>
                  <a:srgbClr val="222222"/>
                </a:solidFill>
                <a:latin typeface="Arial" pitchFamily="34" charset="0"/>
                <a:ea typeface="Arial" pitchFamily="34" charset="-122"/>
                <a:cs typeface="Arial" pitchFamily="34" charset="-120"/>
              </a:rPr>
              <a:t>One recovery is useful evidence, but troubleshooting and maintenance still cost effort</a:t>
            </a:r>
            <a:endParaRPr lang="en-GB" sz="1620" dirty="0"/>
          </a:p>
        </p:txBody>
      </p:sp>
      <p:sp>
        <p:nvSpPr>
          <p:cNvPr id="10" name="Text 1"/>
          <p:cNvSpPr/>
          <p:nvPr>
            <p:ph idx="102" type="body" hasCustomPrompt="1"/>
          </p:nvPr>
        </p:nvSpPr>
        <p:spPr>
          <a:xfrm>
            <a:off x="762000" y="2057400"/>
            <a:ext cx="10668000" cy="3886200"/>
          </a:xfrm>
          <a:prstGeom prst="rect">
            <a:avLst/>
          </a:prstGeom>
          <a:noFill/>
          <a:ln/>
        </p:spPr>
        <p:txBody>
          <a:bodyPr wrap="square" lIns="0" tIns="0" rIns="0" bIns="0" rtlCol="0" anchor="t"/>
          <a:lstStyle/>
          <a:p>
            <a:pPr indent="0" marL="0">
              <a:buNone/>
            </a:pPr>
            <a:endParaRPr lang="en-US" sz="168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solidFill>
          <a:srgbClr val="FFFFFF"/>
        </a:solidFill>
      </p:bgPr>
    </p:bg>
    <p:spTree>
      <p:nvGrpSpPr>
        <p:cNvPr id="1" name=""/>
        <p:cNvGrpSpPr/>
        <p:nvPr/>
      </p:nvGrpSpPr>
      <p:grpSpPr>
        <a:xfrm>
          <a:off x="0" y="0"/>
          <a:ext cx="0" cy="0"/>
          <a:chOff x="0" y="0"/>
          <a:chExt cx="0" cy="0"/>
        </a:xfrm>
      </p:grpSpPr>
      <p:sp>
        <p:nvSpPr>
          <p:cNvPr id="2" name="Text 1"/>
          <p:cNvSpPr/>
          <p:nvPr>
            <p:ph idx="101" type="title" hasCustomPrompt="1"/>
          </p:nvPr>
        </p:nvSpPr>
        <p:spPr>
          <a:xfrm>
            <a:off x="381000" y="891540"/>
            <a:ext cx="11430000" cy="487680"/>
          </a:xfrm>
          <a:prstGeom prst="rect">
            <a:avLst/>
          </a:prstGeom>
          <a:noFill/>
          <a:ln/>
        </p:spPr>
        <p:txBody>
          <a:bodyPr wrap="square" lIns="0" tIns="0" rIns="0" bIns="0" rtlCol="0" anchor="t"/>
          <a:lstStyle/>
          <a:p>
            <a:pPr algn="l" indent="0" marL="0">
              <a:buNone/>
            </a:pPr>
            <a:r>
              <a:rPr lang="en-GB" altLang="en-US" sz="2400" b="1" spc="-84" kern="0" dirty="0">
                <a:solidFill>
                  <a:srgbClr val="000000"/>
                </a:solidFill>
                <a:latin typeface="Arial" pitchFamily="34" charset="0"/>
                <a:ea typeface="Arial" pitchFamily="34" charset="-122"/>
                <a:cs typeface="Arial" pitchFamily="34" charset="-120"/>
              </a:rPr>
              <a:t>E19 · Skill migration dependencies</a:t>
            </a:r>
            <a:endParaRPr lang="en-GB" sz="2400" dirty="0"/>
          </a:p>
        </p:txBody>
      </p:sp>
      <p:sp>
        <p:nvSpPr>
          <p:cNvPr id="3" name="e19-0"/>
          <p:cNvSpPr/>
          <p:nvPr/>
        </p:nvSpPr>
        <p:spPr>
          <a:xfrm>
            <a:off x="609600" y="1600200"/>
            <a:ext cx="10972800" cy="640080"/>
          </a:xfrm>
          <a:prstGeom prst="rect">
            <a:avLst/>
          </a:prstGeom>
          <a:noFill/>
          <a:ln/>
        </p:spPr>
        <p:txBody>
          <a:bodyPr wrap="square" lIns="0" tIns="0" rIns="0" bIns="0" rtlCol="0" anchor="t"/>
          <a:lstStyle/>
          <a:p>
            <a:pPr algn="l" indent="0" marL="0">
              <a:lnSpc>
                <a:spcPct val="128000"/>
              </a:lnSpc>
              <a:buNone/>
            </a:pPr>
            <a:r>
              <a:rPr lang="en-GB" altLang="en-US" sz="1620" b="1" dirty="0">
                <a:solidFill>
                  <a:srgbClr val="222222"/>
                </a:solidFill>
                <a:latin typeface="Arial" pitchFamily="34" charset="0"/>
                <a:ea typeface="Arial" pitchFamily="34" charset="-122"/>
                <a:cs typeface="Arial" pitchFamily="34" charset="-120"/>
              </a:rPr>
              <a:t>Key finding: </a:t>
            </a:r>
            <a:pPr algn="l" indent="0" marL="0">
              <a:lnSpc>
                <a:spcPct val="128000"/>
              </a:lnSpc>
              <a:buNone/>
            </a:pPr>
            <a:r>
              <a:rPr lang="en-GB" altLang="en-US" sz="1620" dirty="0">
                <a:solidFill>
                  <a:srgbClr val="222222"/>
                </a:solidFill>
                <a:latin typeface="Arial" pitchFamily="34" charset="0"/>
                <a:ea typeface="Arial" pitchFamily="34" charset="-122"/>
                <a:cs typeface="Arial" pitchFamily="34" charset="-120"/>
              </a:rPr>
              <a:t>Skills contain fixed group/person examples, old dates and differing parameter syntax. Actual runs substituted the current group and schema</a:t>
            </a:r>
            <a:endParaRPr lang="en-GB" sz="1620" dirty="0"/>
          </a:p>
        </p:txBody>
      </p:sp>
      <p:sp>
        <p:nvSpPr>
          <p:cNvPr id="4" name="e19-1"/>
          <p:cNvSpPr/>
          <p:nvPr/>
        </p:nvSpPr>
        <p:spPr>
          <a:xfrm>
            <a:off x="609600" y="2316480"/>
            <a:ext cx="10972800" cy="365760"/>
          </a:xfrm>
          <a:prstGeom prst="rect">
            <a:avLst/>
          </a:prstGeom>
          <a:noFill/>
          <a:ln/>
        </p:spPr>
        <p:txBody>
          <a:bodyPr wrap="square" lIns="0" tIns="0" rIns="0" bIns="0" rtlCol="0" anchor="t"/>
          <a:lstStyle/>
          <a:p>
            <a:pPr algn="l" indent="0" marL="0">
              <a:lnSpc>
                <a:spcPct val="128000"/>
              </a:lnSpc>
              <a:buNone/>
            </a:pPr>
            <a:r>
              <a:rPr lang="en-GB" altLang="en-US" sz="1620" b="1" dirty="0">
                <a:solidFill>
                  <a:srgbClr val="222222"/>
                </a:solidFill>
                <a:latin typeface="Arial" pitchFamily="34" charset="0"/>
                <a:ea typeface="Arial" pitchFamily="34" charset="-122"/>
                <a:cs typeface="Arial" pitchFamily="34" charset="-120"/>
              </a:rPr>
              <a:t>Evidence sources: </a:t>
            </a:r>
            <a:pPr algn="l" indent="0" marL="0">
              <a:lnSpc>
                <a:spcPct val="128000"/>
              </a:lnSpc>
              <a:buNone/>
            </a:pPr>
            <a:r>
              <a:rPr lang="en-GB" altLang="en-US" sz="1620" dirty="0">
                <a:solidFill>
                  <a:srgbClr val="222222"/>
                </a:solidFill>
                <a:latin typeface="Arial" pitchFamily="34" charset="0"/>
                <a:ea typeface="Arial" pitchFamily="34" charset="-122"/>
                <a:cs typeface="Arial" pitchFamily="34" charset="-120"/>
              </a:rPr>
              <a:t>K1–K7; R1 L341, 378, 451, 474</a:t>
            </a:r>
            <a:endParaRPr lang="en-GB" sz="1620" dirty="0"/>
          </a:p>
        </p:txBody>
      </p:sp>
      <p:sp>
        <p:nvSpPr>
          <p:cNvPr id="5" name="e19-2"/>
          <p:cNvSpPr/>
          <p:nvPr/>
        </p:nvSpPr>
        <p:spPr>
          <a:xfrm>
            <a:off x="609600" y="2758440"/>
            <a:ext cx="10972800" cy="365760"/>
          </a:xfrm>
          <a:prstGeom prst="rect">
            <a:avLst/>
          </a:prstGeom>
          <a:noFill/>
          <a:ln/>
        </p:spPr>
        <p:txBody>
          <a:bodyPr wrap="square" lIns="0" tIns="0" rIns="0" bIns="0" rtlCol="0" anchor="t"/>
          <a:lstStyle/>
          <a:p>
            <a:pPr algn="l" indent="0" marL="0">
              <a:lnSpc>
                <a:spcPct val="128000"/>
              </a:lnSpc>
              <a:buNone/>
            </a:pPr>
            <a:r>
              <a:rPr lang="en-GB" altLang="en-US" sz="1620" b="1" dirty="0">
                <a:solidFill>
                  <a:srgbClr val="222222"/>
                </a:solidFill>
                <a:latin typeface="Arial" pitchFamily="34" charset="0"/>
                <a:ea typeface="Arial" pitchFamily="34" charset="-122"/>
                <a:cs typeface="Arial" pitchFamily="34" charset="-120"/>
              </a:rPr>
              <a:t>Fact or inference: </a:t>
            </a:r>
            <a:pPr algn="l" indent="0" marL="0">
              <a:lnSpc>
                <a:spcPct val="128000"/>
              </a:lnSpc>
              <a:buNone/>
            </a:pPr>
            <a:r>
              <a:rPr lang="en-GB" altLang="en-US" sz="1620" dirty="0">
                <a:solidFill>
                  <a:srgbClr val="222222"/>
                </a:solidFill>
                <a:latin typeface="Arial" pitchFamily="34" charset="0"/>
                <a:ea typeface="Arial" pitchFamily="34" charset="-122"/>
                <a:cs typeface="Arial" pitchFamily="34" charset="-120"/>
              </a:rPr>
              <a:t>A; configuration review for migration is C</a:t>
            </a:r>
            <a:endParaRPr lang="en-GB" sz="1620" dirty="0"/>
          </a:p>
        </p:txBody>
      </p:sp>
      <p:sp>
        <p:nvSpPr>
          <p:cNvPr id="6" name="e19-3"/>
          <p:cNvSpPr/>
          <p:nvPr/>
        </p:nvSpPr>
        <p:spPr>
          <a:xfrm>
            <a:off x="609600" y="3200400"/>
            <a:ext cx="10972800" cy="365760"/>
          </a:xfrm>
          <a:prstGeom prst="rect">
            <a:avLst/>
          </a:prstGeom>
          <a:noFill/>
          <a:ln/>
        </p:spPr>
        <p:txBody>
          <a:bodyPr wrap="square" lIns="0" tIns="0" rIns="0" bIns="0" rtlCol="0" anchor="t"/>
          <a:lstStyle/>
          <a:p>
            <a:pPr algn="l" indent="0" marL="0">
              <a:lnSpc>
                <a:spcPct val="128000"/>
              </a:lnSpc>
              <a:buNone/>
            </a:pPr>
            <a:r>
              <a:rPr lang="en-GB" altLang="en-US" sz="1620" b="1" dirty="0">
                <a:solidFill>
                  <a:srgbClr val="222222"/>
                </a:solidFill>
                <a:latin typeface="Arial" pitchFamily="34" charset="0"/>
                <a:ea typeface="Arial" pitchFamily="34" charset="-122"/>
                <a:cs typeface="Arial" pitchFamily="34" charset="-120"/>
              </a:rPr>
              <a:t>Evidence strength: </a:t>
            </a:r>
            <a:pPr algn="l" indent="0" marL="0">
              <a:lnSpc>
                <a:spcPct val="128000"/>
              </a:lnSpc>
              <a:buNone/>
            </a:pPr>
            <a:r>
              <a:rPr lang="en-GB" altLang="en-US" sz="1620" dirty="0">
                <a:solidFill>
                  <a:srgbClr val="222222"/>
                </a:solidFill>
                <a:latin typeface="Arial" pitchFamily="34" charset="0"/>
                <a:ea typeface="Arial" pitchFamily="34" charset="-122"/>
                <a:cs typeface="Arial" pitchFamily="34" charset="-120"/>
              </a:rPr>
              <a:t>High</a:t>
            </a:r>
            <a:endParaRPr lang="en-GB" sz="1620" dirty="0"/>
          </a:p>
        </p:txBody>
      </p:sp>
      <p:sp>
        <p:nvSpPr>
          <p:cNvPr id="7" name="e19-4"/>
          <p:cNvSpPr/>
          <p:nvPr/>
        </p:nvSpPr>
        <p:spPr>
          <a:xfrm>
            <a:off x="609600" y="3642360"/>
            <a:ext cx="10972800" cy="365760"/>
          </a:xfrm>
          <a:prstGeom prst="rect">
            <a:avLst/>
          </a:prstGeom>
          <a:noFill/>
          <a:ln/>
        </p:spPr>
        <p:txBody>
          <a:bodyPr wrap="square" lIns="0" tIns="0" rIns="0" bIns="0" rtlCol="0" anchor="t"/>
          <a:lstStyle/>
          <a:p>
            <a:pPr algn="l" indent="0" marL="0">
              <a:lnSpc>
                <a:spcPct val="128000"/>
              </a:lnSpc>
              <a:buNone/>
            </a:pPr>
            <a:r>
              <a:rPr lang="en-GB" altLang="en-US" sz="1620" b="1" dirty="0">
                <a:solidFill>
                  <a:srgbClr val="222222"/>
                </a:solidFill>
                <a:latin typeface="Arial" pitchFamily="34" charset="0"/>
                <a:ea typeface="Arial" pitchFamily="34" charset="-122"/>
                <a:cs typeface="Arial" pitchFamily="34" charset="-120"/>
              </a:rPr>
              <a:t>Open question: </a:t>
            </a:r>
            <a:pPr algn="l" indent="0" marL="0">
              <a:lnSpc>
                <a:spcPct val="128000"/>
              </a:lnSpc>
              <a:buNone/>
            </a:pPr>
            <a:r>
              <a:rPr lang="en-GB" altLang="en-US" sz="1620" dirty="0">
                <a:solidFill>
                  <a:srgbClr val="222222"/>
                </a:solidFill>
                <a:latin typeface="Arial" pitchFamily="34" charset="0"/>
                <a:ea typeface="Arial" pitchFamily="34" charset="-122"/>
                <a:cs typeface="Arial" pitchFamily="34" charset="-120"/>
              </a:rPr>
              <a:t>Subsequent version management and configuration binding</a:t>
            </a:r>
            <a:endParaRPr lang="en-GB" sz="1620" dirty="0"/>
          </a:p>
        </p:txBody>
      </p:sp>
      <p:sp>
        <p:nvSpPr>
          <p:cNvPr id="8" name="e19-5"/>
          <p:cNvSpPr/>
          <p:nvPr/>
        </p:nvSpPr>
        <p:spPr>
          <a:xfrm>
            <a:off x="609600" y="4084320"/>
            <a:ext cx="10972800" cy="640080"/>
          </a:xfrm>
          <a:prstGeom prst="rect">
            <a:avLst/>
          </a:prstGeom>
          <a:noFill/>
          <a:ln/>
        </p:spPr>
        <p:txBody>
          <a:bodyPr wrap="square" lIns="0" tIns="0" rIns="0" bIns="0" rtlCol="0" anchor="t"/>
          <a:lstStyle/>
          <a:p>
            <a:pPr algn="l" indent="0" marL="0">
              <a:lnSpc>
                <a:spcPct val="128000"/>
              </a:lnSpc>
              <a:buNone/>
            </a:pPr>
            <a:r>
              <a:rPr lang="en-GB" altLang="en-US" sz="1620" b="1" dirty="0">
                <a:solidFill>
                  <a:srgbClr val="222222"/>
                </a:solidFill>
                <a:latin typeface="Arial" pitchFamily="34" charset="0"/>
                <a:ea typeface="Arial" pitchFamily="34" charset="-122"/>
                <a:cs typeface="Arial" pitchFamily="34" charset="-120"/>
              </a:rPr>
              <a:t>Implication for this report: </a:t>
            </a:r>
            <a:pPr algn="l" indent="0" marL="0">
              <a:lnSpc>
                <a:spcPct val="128000"/>
              </a:lnSpc>
              <a:buNone/>
            </a:pPr>
            <a:r>
              <a:rPr lang="en-GB" altLang="en-US" sz="1620" dirty="0">
                <a:solidFill>
                  <a:srgbClr val="222222"/>
                </a:solidFill>
                <a:latin typeface="Arial" pitchFamily="34" charset="0"/>
                <a:ea typeface="Arial" pitchFamily="34" charset="-122"/>
                <a:cs typeface="Arial" pitchFamily="34" charset="-120"/>
              </a:rPr>
              <a:t>Do not claim 'install and use without adjustment'; test unfamiliar inputs and destination binding before reuse</a:t>
            </a:r>
            <a:endParaRPr lang="en-GB" sz="1620" dirty="0"/>
          </a:p>
        </p:txBody>
      </p:sp>
      <p:sp>
        <p:nvSpPr>
          <p:cNvPr id="10" name="Text 1"/>
          <p:cNvSpPr/>
          <p:nvPr>
            <p:ph idx="102" type="body" hasCustomPrompt="1"/>
          </p:nvPr>
        </p:nvSpPr>
        <p:spPr>
          <a:xfrm>
            <a:off x="762000" y="2057400"/>
            <a:ext cx="10668000" cy="3886200"/>
          </a:xfrm>
          <a:prstGeom prst="rect">
            <a:avLst/>
          </a:prstGeom>
          <a:noFill/>
          <a:ln/>
        </p:spPr>
        <p:txBody>
          <a:bodyPr wrap="square" lIns="0" tIns="0" rIns="0" bIns="0" rtlCol="0" anchor="t"/>
          <a:lstStyle/>
          <a:p>
            <a:pPr indent="0" marL="0">
              <a:buNone/>
            </a:pPr>
            <a:endParaRPr lang="en-US" sz="168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solidFill>
          <a:srgbClr val="FFFFFF"/>
        </a:solidFill>
      </p:bgPr>
    </p:bg>
    <p:spTree>
      <p:nvGrpSpPr>
        <p:cNvPr id="1" name=""/>
        <p:cNvGrpSpPr/>
        <p:nvPr/>
      </p:nvGrpSpPr>
      <p:grpSpPr>
        <a:xfrm>
          <a:off x="0" y="0"/>
          <a:ext cx="0" cy="0"/>
          <a:chOff x="0" y="0"/>
          <a:chExt cx="0" cy="0"/>
        </a:xfrm>
      </p:grpSpPr>
      <p:sp>
        <p:nvSpPr>
          <p:cNvPr id="2" name="Text 1"/>
          <p:cNvSpPr/>
          <p:nvPr>
            <p:ph idx="101" type="title" hasCustomPrompt="1"/>
          </p:nvPr>
        </p:nvSpPr>
        <p:spPr>
          <a:xfrm>
            <a:off x="381000" y="891540"/>
            <a:ext cx="11430000" cy="487680"/>
          </a:xfrm>
          <a:prstGeom prst="rect">
            <a:avLst/>
          </a:prstGeom>
          <a:noFill/>
          <a:ln/>
        </p:spPr>
        <p:txBody>
          <a:bodyPr wrap="square" lIns="0" tIns="0" rIns="0" bIns="0" rtlCol="0" anchor="t"/>
          <a:lstStyle/>
          <a:p>
            <a:pPr algn="l" indent="0" marL="0">
              <a:buNone/>
            </a:pPr>
            <a:r>
              <a:rPr lang="en-GB" altLang="en-US" sz="2400" b="1" spc="-84" kern="0" dirty="0">
                <a:solidFill>
                  <a:srgbClr val="000000"/>
                </a:solidFill>
                <a:latin typeface="Arial" pitchFamily="34" charset="0"/>
                <a:ea typeface="Arial" pitchFamily="34" charset="-122"/>
                <a:cs typeface="Arial" pitchFamily="34" charset="-120"/>
              </a:rPr>
              <a:t>E20 · Roles of the three tools</a:t>
            </a:r>
            <a:endParaRPr lang="en-GB" sz="2400" dirty="0"/>
          </a:p>
        </p:txBody>
      </p:sp>
      <p:sp>
        <p:nvSpPr>
          <p:cNvPr id="3" name="e20-0"/>
          <p:cNvSpPr/>
          <p:nvPr/>
        </p:nvSpPr>
        <p:spPr>
          <a:xfrm>
            <a:off x="609600" y="1600200"/>
            <a:ext cx="10972800" cy="640080"/>
          </a:xfrm>
          <a:prstGeom prst="rect">
            <a:avLst/>
          </a:prstGeom>
          <a:noFill/>
          <a:ln/>
        </p:spPr>
        <p:txBody>
          <a:bodyPr wrap="square" lIns="0" tIns="0" rIns="0" bIns="0" rtlCol="0" anchor="t"/>
          <a:lstStyle/>
          <a:p>
            <a:pPr algn="l" indent="0" marL="0">
              <a:lnSpc>
                <a:spcPct val="128000"/>
              </a:lnSpc>
              <a:buNone/>
            </a:pPr>
            <a:r>
              <a:rPr lang="en-GB" altLang="en-US" sz="1620" b="1" dirty="0">
                <a:solidFill>
                  <a:srgbClr val="222222"/>
                </a:solidFill>
                <a:latin typeface="Arial" pitchFamily="34" charset="0"/>
                <a:ea typeface="Arial" pitchFamily="34" charset="-122"/>
                <a:cs typeface="Arial" pitchFamily="34" charset="-120"/>
              </a:rPr>
              <a:t>Key finding: </a:t>
            </a:r>
            <a:pPr algn="l" indent="0" marL="0">
              <a:lnSpc>
                <a:spcPct val="128000"/>
              </a:lnSpc>
              <a:buNone/>
            </a:pPr>
            <a:r>
              <a:rPr lang="en-GB" altLang="en-US" sz="1620" dirty="0">
                <a:solidFill>
                  <a:srgbClr val="222222"/>
                </a:solidFill>
                <a:latin typeface="Arial" pitchFamily="34" charset="0"/>
                <a:ea typeface="Arial" pitchFamily="34" charset="-122"/>
                <a:cs typeface="Arial" pitchFamily="34" charset="-120"/>
              </a:rPr>
              <a:t>DingTalk held documents, group messages and personal to-dos. The business ledger handled persistence/queries; Qwen handled understanding, orchestration and scheduling</a:t>
            </a:r>
            <a:endParaRPr lang="en-GB" sz="1620" dirty="0"/>
          </a:p>
        </p:txBody>
      </p:sp>
      <p:sp>
        <p:nvSpPr>
          <p:cNvPr id="4" name="e20-1"/>
          <p:cNvSpPr/>
          <p:nvPr/>
        </p:nvSpPr>
        <p:spPr>
          <a:xfrm>
            <a:off x="609600" y="2316480"/>
            <a:ext cx="10972800" cy="365760"/>
          </a:xfrm>
          <a:prstGeom prst="rect">
            <a:avLst/>
          </a:prstGeom>
          <a:noFill/>
          <a:ln/>
        </p:spPr>
        <p:txBody>
          <a:bodyPr wrap="square" lIns="0" tIns="0" rIns="0" bIns="0" rtlCol="0" anchor="t"/>
          <a:lstStyle/>
          <a:p>
            <a:pPr algn="l" indent="0" marL="0">
              <a:lnSpc>
                <a:spcPct val="128000"/>
              </a:lnSpc>
              <a:buNone/>
            </a:pPr>
            <a:r>
              <a:rPr lang="en-GB" altLang="en-US" sz="1620" b="1" dirty="0">
                <a:solidFill>
                  <a:srgbClr val="222222"/>
                </a:solidFill>
                <a:latin typeface="Arial" pitchFamily="34" charset="0"/>
                <a:ea typeface="Arial" pitchFamily="34" charset="-122"/>
                <a:cs typeface="Arial" pitchFamily="34" charset="-120"/>
              </a:rPr>
              <a:t>Evidence sources: </a:t>
            </a:r>
            <a:pPr algn="l" indent="0" marL="0">
              <a:lnSpc>
                <a:spcPct val="128000"/>
              </a:lnSpc>
              <a:buNone/>
            </a:pPr>
            <a:r>
              <a:rPr lang="en-GB" altLang="en-US" sz="1620" dirty="0">
                <a:solidFill>
                  <a:srgbClr val="222222"/>
                </a:solidFill>
                <a:latin typeface="Arial" pitchFamily="34" charset="0"/>
                <a:ea typeface="Arial" pitchFamily="34" charset="-122"/>
                <a:cs typeface="Arial" pitchFamily="34" charset="-120"/>
              </a:rPr>
              <a:t>Calls and returns in R1 and R2–R5</a:t>
            </a:r>
            <a:endParaRPr lang="en-GB" sz="1620" dirty="0"/>
          </a:p>
        </p:txBody>
      </p:sp>
      <p:sp>
        <p:nvSpPr>
          <p:cNvPr id="5" name="e20-2"/>
          <p:cNvSpPr/>
          <p:nvPr/>
        </p:nvSpPr>
        <p:spPr>
          <a:xfrm>
            <a:off x="609600" y="2758440"/>
            <a:ext cx="10972800" cy="365760"/>
          </a:xfrm>
          <a:prstGeom prst="rect">
            <a:avLst/>
          </a:prstGeom>
          <a:noFill/>
          <a:ln/>
        </p:spPr>
        <p:txBody>
          <a:bodyPr wrap="square" lIns="0" tIns="0" rIns="0" bIns="0" rtlCol="0" anchor="t"/>
          <a:lstStyle/>
          <a:p>
            <a:pPr algn="l" indent="0" marL="0">
              <a:lnSpc>
                <a:spcPct val="128000"/>
              </a:lnSpc>
              <a:buNone/>
            </a:pPr>
            <a:r>
              <a:rPr lang="en-GB" altLang="en-US" sz="1620" b="1" dirty="0">
                <a:solidFill>
                  <a:srgbClr val="222222"/>
                </a:solidFill>
                <a:latin typeface="Arial" pitchFamily="34" charset="0"/>
                <a:ea typeface="Arial" pitchFamily="34" charset="-122"/>
                <a:cs typeface="Arial" pitchFamily="34" charset="-120"/>
              </a:rPr>
              <a:t>Fact or inference: </a:t>
            </a:r>
            <a:pPr algn="l" indent="0" marL="0">
              <a:lnSpc>
                <a:spcPct val="128000"/>
              </a:lnSpc>
              <a:buNone/>
            </a:pPr>
            <a:r>
              <a:rPr lang="en-GB" altLang="en-US" sz="1620" dirty="0">
                <a:solidFill>
                  <a:srgbClr val="222222"/>
                </a:solidFill>
                <a:latin typeface="Arial" pitchFamily="34" charset="0"/>
                <a:ea typeface="Arial" pitchFamily="34" charset="-122"/>
                <a:cs typeface="Arial" pitchFamily="34" charset="-120"/>
              </a:rPr>
              <a:t>A; possible reduction of manual copying is C</a:t>
            </a:r>
            <a:endParaRPr lang="en-GB" sz="1620" dirty="0"/>
          </a:p>
        </p:txBody>
      </p:sp>
      <p:sp>
        <p:nvSpPr>
          <p:cNvPr id="6" name="e20-3"/>
          <p:cNvSpPr/>
          <p:nvPr/>
        </p:nvSpPr>
        <p:spPr>
          <a:xfrm>
            <a:off x="609600" y="3200400"/>
            <a:ext cx="10972800" cy="365760"/>
          </a:xfrm>
          <a:prstGeom prst="rect">
            <a:avLst/>
          </a:prstGeom>
          <a:noFill/>
          <a:ln/>
        </p:spPr>
        <p:txBody>
          <a:bodyPr wrap="square" lIns="0" tIns="0" rIns="0" bIns="0" rtlCol="0" anchor="t"/>
          <a:lstStyle/>
          <a:p>
            <a:pPr algn="l" indent="0" marL="0">
              <a:lnSpc>
                <a:spcPct val="128000"/>
              </a:lnSpc>
              <a:buNone/>
            </a:pPr>
            <a:r>
              <a:rPr lang="en-GB" altLang="en-US" sz="1620" b="1" dirty="0">
                <a:solidFill>
                  <a:srgbClr val="222222"/>
                </a:solidFill>
                <a:latin typeface="Arial" pitchFamily="34" charset="0"/>
                <a:ea typeface="Arial" pitchFamily="34" charset="-122"/>
                <a:cs typeface="Arial" pitchFamily="34" charset="-120"/>
              </a:rPr>
              <a:t>Evidence strength: </a:t>
            </a:r>
            <a:pPr algn="l" indent="0" marL="0">
              <a:lnSpc>
                <a:spcPct val="128000"/>
              </a:lnSpc>
              <a:buNone/>
            </a:pPr>
            <a:r>
              <a:rPr lang="en-GB" altLang="en-US" sz="1620" dirty="0">
                <a:solidFill>
                  <a:srgbClr val="222222"/>
                </a:solidFill>
                <a:latin typeface="Arial" pitchFamily="34" charset="0"/>
                <a:ea typeface="Arial" pitchFamily="34" charset="-122"/>
                <a:cs typeface="Arial" pitchFamily="34" charset="-120"/>
              </a:rPr>
              <a:t>High for roles; benefits not measured</a:t>
            </a:r>
            <a:endParaRPr lang="en-GB" sz="1620" dirty="0"/>
          </a:p>
        </p:txBody>
      </p:sp>
      <p:sp>
        <p:nvSpPr>
          <p:cNvPr id="7" name="e20-4"/>
          <p:cNvSpPr/>
          <p:nvPr/>
        </p:nvSpPr>
        <p:spPr>
          <a:xfrm>
            <a:off x="609600" y="3642360"/>
            <a:ext cx="10972800" cy="365760"/>
          </a:xfrm>
          <a:prstGeom prst="rect">
            <a:avLst/>
          </a:prstGeom>
          <a:noFill/>
          <a:ln/>
        </p:spPr>
        <p:txBody>
          <a:bodyPr wrap="square" lIns="0" tIns="0" rIns="0" bIns="0" rtlCol="0" anchor="t"/>
          <a:lstStyle/>
          <a:p>
            <a:pPr algn="l" indent="0" marL="0">
              <a:lnSpc>
                <a:spcPct val="128000"/>
              </a:lnSpc>
              <a:buNone/>
            </a:pPr>
            <a:r>
              <a:rPr lang="en-GB" altLang="en-US" sz="1620" b="1" dirty="0">
                <a:solidFill>
                  <a:srgbClr val="222222"/>
                </a:solidFill>
                <a:latin typeface="Arial" pitchFamily="34" charset="0"/>
                <a:ea typeface="Arial" pitchFamily="34" charset="-122"/>
                <a:cs typeface="Arial" pitchFamily="34" charset="-120"/>
              </a:rPr>
              <a:t>Open question: </a:t>
            </a:r>
            <a:pPr algn="l" indent="0" marL="0">
              <a:lnSpc>
                <a:spcPct val="128000"/>
              </a:lnSpc>
              <a:buNone/>
            </a:pPr>
            <a:r>
              <a:rPr lang="en-GB" altLang="en-US" sz="1620" dirty="0">
                <a:solidFill>
                  <a:srgbClr val="222222"/>
                </a:solidFill>
                <a:latin typeface="Arial" pitchFamily="34" charset="0"/>
                <a:ea typeface="Arial" pitchFamily="34" charset="-122"/>
                <a:cs typeface="Arial" pitchFamily="34" charset="-120"/>
              </a:rPr>
              <a:t>Same-task comparison with standalone AI/existing automation</a:t>
            </a:r>
            <a:endParaRPr lang="en-GB" sz="1620" dirty="0"/>
          </a:p>
        </p:txBody>
      </p:sp>
      <p:sp>
        <p:nvSpPr>
          <p:cNvPr id="8" name="e20-5"/>
          <p:cNvSpPr/>
          <p:nvPr/>
        </p:nvSpPr>
        <p:spPr>
          <a:xfrm>
            <a:off x="609600" y="4084320"/>
            <a:ext cx="10972800" cy="640080"/>
          </a:xfrm>
          <a:prstGeom prst="rect">
            <a:avLst/>
          </a:prstGeom>
          <a:noFill/>
          <a:ln/>
        </p:spPr>
        <p:txBody>
          <a:bodyPr wrap="square" lIns="0" tIns="0" rIns="0" bIns="0" rtlCol="0" anchor="t"/>
          <a:lstStyle/>
          <a:p>
            <a:pPr algn="l" indent="0" marL="0">
              <a:lnSpc>
                <a:spcPct val="128000"/>
              </a:lnSpc>
              <a:buNone/>
            </a:pPr>
            <a:r>
              <a:rPr lang="en-GB" altLang="en-US" sz="1620" b="1" dirty="0">
                <a:solidFill>
                  <a:srgbClr val="222222"/>
                </a:solidFill>
                <a:latin typeface="Arial" pitchFamily="34" charset="0"/>
                <a:ea typeface="Arial" pitchFamily="34" charset="-122"/>
                <a:cs typeface="Arial" pitchFamily="34" charset="-120"/>
              </a:rPr>
              <a:t>Implication for this report: </a:t>
            </a:r>
            <a:pPr algn="l" indent="0" marL="0">
              <a:lnSpc>
                <a:spcPct val="128000"/>
              </a:lnSpc>
              <a:buNone/>
            </a:pPr>
            <a:r>
              <a:rPr lang="en-GB" altLang="en-US" sz="1620" dirty="0">
                <a:solidFill>
                  <a:srgbClr val="222222"/>
                </a:solidFill>
                <a:latin typeface="Arial" pitchFamily="34" charset="0"/>
                <a:ea typeface="Arial" pitchFamily="34" charset="-122"/>
                <a:cs typeface="Arial" pitchFamily="34" charset="-120"/>
              </a:rPr>
              <a:t>Combined value lies in connecting information to action; do not attribute all backend rules and scheduling to the model or DingTalk</a:t>
            </a:r>
            <a:endParaRPr lang="en-GB" sz="1620" dirty="0"/>
          </a:p>
        </p:txBody>
      </p:sp>
      <p:sp>
        <p:nvSpPr>
          <p:cNvPr id="10" name="Text 1"/>
          <p:cNvSpPr/>
          <p:nvPr>
            <p:ph idx="102" type="body" hasCustomPrompt="1"/>
          </p:nvPr>
        </p:nvSpPr>
        <p:spPr>
          <a:xfrm>
            <a:off x="762000" y="2057400"/>
            <a:ext cx="10668000" cy="3886200"/>
          </a:xfrm>
          <a:prstGeom prst="rect">
            <a:avLst/>
          </a:prstGeom>
          <a:noFill/>
          <a:ln/>
        </p:spPr>
        <p:txBody>
          <a:bodyPr wrap="square" lIns="0" tIns="0" rIns="0" bIns="0" rtlCol="0" anchor="t"/>
          <a:lstStyle/>
          <a:p>
            <a:pPr indent="0" marL="0">
              <a:buNone/>
            </a:pPr>
            <a:endParaRPr lang="en-US" sz="168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bg>
      <p:bgPr>
        <a:solidFill>
          <a:srgbClr val="FFFFFF"/>
        </a:solidFill>
      </p:bgPr>
    </p:bg>
    <p:spTree>
      <p:nvGrpSpPr>
        <p:cNvPr id="1" name=""/>
        <p:cNvGrpSpPr/>
        <p:nvPr/>
      </p:nvGrpSpPr>
      <p:grpSpPr>
        <a:xfrm>
          <a:off x="0" y="0"/>
          <a:ext cx="0" cy="0"/>
          <a:chOff x="0" y="0"/>
          <a:chExt cx="0" cy="0"/>
        </a:xfrm>
      </p:grpSpPr>
      <p:sp>
        <p:nvSpPr>
          <p:cNvPr id="2" name="Text 1"/>
          <p:cNvSpPr/>
          <p:nvPr>
            <p:ph idx="101" type="title" hasCustomPrompt="1"/>
          </p:nvPr>
        </p:nvSpPr>
        <p:spPr>
          <a:xfrm>
            <a:off x="381000" y="891540"/>
            <a:ext cx="11430000" cy="487680"/>
          </a:xfrm>
          <a:prstGeom prst="rect">
            <a:avLst/>
          </a:prstGeom>
          <a:noFill/>
          <a:ln/>
        </p:spPr>
        <p:txBody>
          <a:bodyPr wrap="square" lIns="0" tIns="0" rIns="0" bIns="0" rtlCol="0" anchor="t"/>
          <a:lstStyle/>
          <a:p>
            <a:pPr algn="l" indent="0" marL="0">
              <a:buNone/>
            </a:pPr>
            <a:r>
              <a:rPr lang="en-GB" altLang="en-US" sz="2400" b="1" spc="-84" kern="0" dirty="0">
                <a:solidFill>
                  <a:srgbClr val="000000"/>
                </a:solidFill>
                <a:latin typeface="Arial" pitchFamily="34" charset="0"/>
                <a:ea typeface="Arial" pitchFamily="34" charset="-122"/>
                <a:cs typeface="Arial" pitchFamily="34" charset="-120"/>
              </a:rPr>
              <a:t>E21 · No benefits baseline</a:t>
            </a:r>
            <a:endParaRPr lang="en-GB" sz="2400" dirty="0"/>
          </a:p>
        </p:txBody>
      </p:sp>
      <p:sp>
        <p:nvSpPr>
          <p:cNvPr id="3" name="e21-0"/>
          <p:cNvSpPr/>
          <p:nvPr/>
        </p:nvSpPr>
        <p:spPr>
          <a:xfrm>
            <a:off x="609600" y="1600200"/>
            <a:ext cx="10972800" cy="640080"/>
          </a:xfrm>
          <a:prstGeom prst="rect">
            <a:avLst/>
          </a:prstGeom>
          <a:noFill/>
          <a:ln/>
        </p:spPr>
        <p:txBody>
          <a:bodyPr wrap="square" lIns="0" tIns="0" rIns="0" bIns="0" rtlCol="0" anchor="t"/>
          <a:lstStyle/>
          <a:p>
            <a:pPr algn="l" indent="0" marL="0">
              <a:lnSpc>
                <a:spcPct val="128000"/>
              </a:lnSpc>
              <a:buNone/>
            </a:pPr>
            <a:r>
              <a:rPr lang="en-GB" altLang="en-US" sz="1620" b="1" dirty="0">
                <a:solidFill>
                  <a:srgbClr val="222222"/>
                </a:solidFill>
                <a:latin typeface="Arial" pitchFamily="34" charset="0"/>
                <a:ea typeface="Arial" pitchFamily="34" charset="-122"/>
                <a:cs typeface="Arial" pitchFamily="34" charset="-120"/>
              </a:rPr>
              <a:t>Key finding: </a:t>
            </a:r>
            <a:pPr algn="l" indent="0" marL="0">
              <a:lnSpc>
                <a:spcPct val="128000"/>
              </a:lnSpc>
              <a:buNone/>
            </a:pPr>
            <a:r>
              <a:rPr lang="en-GB" altLang="en-US" sz="1620" dirty="0">
                <a:solidFill>
                  <a:srgbClr val="222222"/>
                </a:solidFill>
                <a:latin typeface="Arial" pitchFamily="34" charset="0"/>
                <a:ea typeface="Arial" pitchFamily="34" charset="-122"/>
                <a:cs typeface="Arial" pitchFamily="34" charset="-120"/>
              </a:rPr>
              <a:t>No manual baseline, revision effort, quality scoring or real multi-person handoff data in the reviewed material</a:t>
            </a:r>
            <a:endParaRPr lang="en-GB" sz="1620" dirty="0"/>
          </a:p>
        </p:txBody>
      </p:sp>
      <p:sp>
        <p:nvSpPr>
          <p:cNvPr id="4" name="e21-1"/>
          <p:cNvSpPr/>
          <p:nvPr/>
        </p:nvSpPr>
        <p:spPr>
          <a:xfrm>
            <a:off x="609600" y="2316480"/>
            <a:ext cx="10972800" cy="365760"/>
          </a:xfrm>
          <a:prstGeom prst="rect">
            <a:avLst/>
          </a:prstGeom>
          <a:noFill/>
          <a:ln/>
        </p:spPr>
        <p:txBody>
          <a:bodyPr wrap="square" lIns="0" tIns="0" rIns="0" bIns="0" rtlCol="0" anchor="t"/>
          <a:lstStyle/>
          <a:p>
            <a:pPr algn="l" indent="0" marL="0">
              <a:lnSpc>
                <a:spcPct val="128000"/>
              </a:lnSpc>
              <a:buNone/>
            </a:pPr>
            <a:r>
              <a:rPr lang="en-GB" altLang="en-US" sz="1620" b="1" dirty="0">
                <a:solidFill>
                  <a:srgbClr val="222222"/>
                </a:solidFill>
                <a:latin typeface="Arial" pitchFamily="34" charset="0"/>
                <a:ea typeface="Arial" pitchFamily="34" charset="-122"/>
                <a:cs typeface="Arial" pitchFamily="34" charset="-120"/>
              </a:rPr>
              <a:t>Evidence sources: </a:t>
            </a:r>
            <a:pPr algn="l" indent="0" marL="0">
              <a:lnSpc>
                <a:spcPct val="128000"/>
              </a:lnSpc>
              <a:buNone/>
            </a:pPr>
            <a:r>
              <a:rPr lang="en-GB" altLang="en-US" sz="1620" dirty="0">
                <a:solidFill>
                  <a:srgbClr val="222222"/>
                </a:solidFill>
                <a:latin typeface="Arial" pitchFamily="34" charset="0"/>
                <a:ea typeface="Arial" pitchFamily="34" charset="-122"/>
                <a:cs typeface="Arial" pitchFamily="34" charset="-120"/>
              </a:rPr>
              <a:t>M1–M4, R1–R5; </a:t>
            </a:r>
            <a:pPr algn="l" indent="0" marL="0">
              <a:lnSpc>
                <a:spcPct val="128000"/>
              </a:lnSpc>
              <a:buNone/>
            </a:pPr>
            <a:r>
              <a:rPr lang="en-GB" altLang="en-US" sz="1620" u="sng" dirty="0">
                <a:solidFill>
                  <a:srgbClr val="B80010"/>
                </a:solidFill>
                <a:latin typeface="Arial" pitchFamily="34" charset="0"/>
                <a:ea typeface="Arial" pitchFamily="34" charset="-122"/>
                <a:cs typeface="Arial" pitchFamily="34" charset="-120"/>
                <a:hlinkClick r:id="rId1" action="ppaction://hlinksldjump" tooltip="">
                  <a:extLst>
                    <a:ext uri="{A12FA001-AC4F-418D-AE19-62706E023703}">
                      <ahyp:hlinkClr xmlns:ahyp="http://schemas.microsoft.com/office/drawing/2018/hyperlinkcolor" val="tx"/>
                    </a:ext>
                  </a:extLst>
                </a:hlinkClick>
              </a:rPr>
              <a:t>U2</a:t>
            </a:r>
            <a:endParaRPr lang="en-GB" sz="1620" dirty="0"/>
          </a:p>
        </p:txBody>
      </p:sp>
      <p:sp>
        <p:nvSpPr>
          <p:cNvPr id="5" name="e21-2"/>
          <p:cNvSpPr/>
          <p:nvPr/>
        </p:nvSpPr>
        <p:spPr>
          <a:xfrm>
            <a:off x="609600" y="2758440"/>
            <a:ext cx="10972800" cy="365760"/>
          </a:xfrm>
          <a:prstGeom prst="rect">
            <a:avLst/>
          </a:prstGeom>
          <a:noFill/>
          <a:ln/>
        </p:spPr>
        <p:txBody>
          <a:bodyPr wrap="square" lIns="0" tIns="0" rIns="0" bIns="0" rtlCol="0" anchor="t"/>
          <a:lstStyle/>
          <a:p>
            <a:pPr algn="l" indent="0" marL="0">
              <a:lnSpc>
                <a:spcPct val="128000"/>
              </a:lnSpc>
              <a:buNone/>
            </a:pPr>
            <a:r>
              <a:rPr lang="en-GB" altLang="en-US" sz="1620" b="1" dirty="0">
                <a:solidFill>
                  <a:srgbClr val="222222"/>
                </a:solidFill>
                <a:latin typeface="Arial" pitchFamily="34" charset="0"/>
                <a:ea typeface="Arial" pitchFamily="34" charset="-122"/>
                <a:cs typeface="Arial" pitchFamily="34" charset="-120"/>
              </a:rPr>
              <a:t>Fact or inference: </a:t>
            </a:r>
            <a:pPr algn="l" indent="0" marL="0">
              <a:lnSpc>
                <a:spcPct val="128000"/>
              </a:lnSpc>
              <a:buNone/>
            </a:pPr>
            <a:r>
              <a:rPr lang="en-GB" altLang="en-US" sz="1620" dirty="0">
                <a:solidFill>
                  <a:srgbClr val="222222"/>
                </a:solidFill>
                <a:latin typeface="Arial" pitchFamily="34" charset="0"/>
                <a:ea typeface="Arial" pitchFamily="34" charset="-122"/>
                <a:cs typeface="Arial" pitchFamily="34" charset="-120"/>
              </a:rPr>
              <a:t>A, within the reviewed scope</a:t>
            </a:r>
            <a:endParaRPr lang="en-GB" sz="1620" dirty="0"/>
          </a:p>
        </p:txBody>
      </p:sp>
      <p:sp>
        <p:nvSpPr>
          <p:cNvPr id="6" name="e21-3"/>
          <p:cNvSpPr/>
          <p:nvPr/>
        </p:nvSpPr>
        <p:spPr>
          <a:xfrm>
            <a:off x="609600" y="3200400"/>
            <a:ext cx="10972800" cy="365760"/>
          </a:xfrm>
          <a:prstGeom prst="rect">
            <a:avLst/>
          </a:prstGeom>
          <a:noFill/>
          <a:ln/>
        </p:spPr>
        <p:txBody>
          <a:bodyPr wrap="square" lIns="0" tIns="0" rIns="0" bIns="0" rtlCol="0" anchor="t"/>
          <a:lstStyle/>
          <a:p>
            <a:pPr algn="l" indent="0" marL="0">
              <a:lnSpc>
                <a:spcPct val="128000"/>
              </a:lnSpc>
              <a:buNone/>
            </a:pPr>
            <a:r>
              <a:rPr lang="en-GB" altLang="en-US" sz="1620" b="1" dirty="0">
                <a:solidFill>
                  <a:srgbClr val="222222"/>
                </a:solidFill>
                <a:latin typeface="Arial" pitchFamily="34" charset="0"/>
                <a:ea typeface="Arial" pitchFamily="34" charset="-122"/>
                <a:cs typeface="Arial" pitchFamily="34" charset="-120"/>
              </a:rPr>
              <a:t>Evidence strength: </a:t>
            </a:r>
            <a:pPr algn="l" indent="0" marL="0">
              <a:lnSpc>
                <a:spcPct val="128000"/>
              </a:lnSpc>
              <a:buNone/>
            </a:pPr>
            <a:r>
              <a:rPr lang="en-GB" altLang="en-US" sz="1620" dirty="0">
                <a:solidFill>
                  <a:srgbClr val="222222"/>
                </a:solidFill>
                <a:latin typeface="Arial" pitchFamily="34" charset="0"/>
                <a:ea typeface="Arial" pitchFamily="34" charset="-122"/>
                <a:cs typeface="Arial" pitchFamily="34" charset="-120"/>
              </a:rPr>
              <a:t>High</a:t>
            </a:r>
            <a:endParaRPr lang="en-GB" sz="1620" dirty="0"/>
          </a:p>
        </p:txBody>
      </p:sp>
      <p:sp>
        <p:nvSpPr>
          <p:cNvPr id="7" name="e21-4"/>
          <p:cNvSpPr/>
          <p:nvPr/>
        </p:nvSpPr>
        <p:spPr>
          <a:xfrm>
            <a:off x="609600" y="3642360"/>
            <a:ext cx="10972800" cy="365760"/>
          </a:xfrm>
          <a:prstGeom prst="rect">
            <a:avLst/>
          </a:prstGeom>
          <a:noFill/>
          <a:ln/>
        </p:spPr>
        <p:txBody>
          <a:bodyPr wrap="square" lIns="0" tIns="0" rIns="0" bIns="0" rtlCol="0" anchor="t"/>
          <a:lstStyle/>
          <a:p>
            <a:pPr algn="l" indent="0" marL="0">
              <a:lnSpc>
                <a:spcPct val="128000"/>
              </a:lnSpc>
              <a:buNone/>
            </a:pPr>
            <a:r>
              <a:rPr lang="en-GB" altLang="en-US" sz="1620" b="1" dirty="0">
                <a:solidFill>
                  <a:srgbClr val="222222"/>
                </a:solidFill>
                <a:latin typeface="Arial" pitchFamily="34" charset="0"/>
                <a:ea typeface="Arial" pitchFamily="34" charset="-122"/>
                <a:cs typeface="Arial" pitchFamily="34" charset="-120"/>
              </a:rPr>
              <a:t>Open question: </a:t>
            </a:r>
            <a:pPr algn="l" indent="0" marL="0">
              <a:lnSpc>
                <a:spcPct val="128000"/>
              </a:lnSpc>
              <a:buNone/>
            </a:pPr>
            <a:r>
              <a:rPr lang="en-GB" altLang="en-US" sz="1620" dirty="0">
                <a:solidFill>
                  <a:srgbClr val="222222"/>
                </a:solidFill>
                <a:latin typeface="Arial" pitchFamily="34" charset="0"/>
                <a:ea typeface="Arial" pitchFamily="34" charset="-122"/>
                <a:cs typeface="Arial" pitchFamily="34" charset="-120"/>
              </a:rPr>
              <a:t>Can comparable tasks be measured later?</a:t>
            </a:r>
            <a:endParaRPr lang="en-GB" sz="1620" dirty="0"/>
          </a:p>
        </p:txBody>
      </p:sp>
      <p:sp>
        <p:nvSpPr>
          <p:cNvPr id="8" name="e21-5"/>
          <p:cNvSpPr/>
          <p:nvPr/>
        </p:nvSpPr>
        <p:spPr>
          <a:xfrm>
            <a:off x="609600" y="4084320"/>
            <a:ext cx="10972800" cy="640080"/>
          </a:xfrm>
          <a:prstGeom prst="rect">
            <a:avLst/>
          </a:prstGeom>
          <a:noFill/>
          <a:ln/>
        </p:spPr>
        <p:txBody>
          <a:bodyPr wrap="square" lIns="0" tIns="0" rIns="0" bIns="0" rtlCol="0" anchor="t"/>
          <a:lstStyle/>
          <a:p>
            <a:pPr algn="l" indent="0" marL="0">
              <a:lnSpc>
                <a:spcPct val="128000"/>
              </a:lnSpc>
              <a:buNone/>
            </a:pPr>
            <a:r>
              <a:rPr lang="en-GB" altLang="en-US" sz="1620" b="1" dirty="0">
                <a:solidFill>
                  <a:srgbClr val="222222"/>
                </a:solidFill>
                <a:latin typeface="Arial" pitchFamily="34" charset="0"/>
                <a:ea typeface="Arial" pitchFamily="34" charset="-122"/>
                <a:cs typeface="Arial" pitchFamily="34" charset="-120"/>
              </a:rPr>
              <a:t>Implication for this report: </a:t>
            </a:r>
            <a:pPr algn="l" indent="0" marL="0">
              <a:lnSpc>
                <a:spcPct val="128000"/>
              </a:lnSpc>
              <a:buNone/>
            </a:pPr>
            <a:r>
              <a:rPr lang="en-GB" altLang="en-US" sz="1620" dirty="0">
                <a:solidFill>
                  <a:srgbClr val="222222"/>
                </a:solidFill>
                <a:latin typeface="Arial" pitchFamily="34" charset="0"/>
                <a:ea typeface="Arial" pitchFamily="34" charset="-122"/>
                <a:cs typeface="Arial" pitchFamily="34" charset="-120"/>
              </a:rPr>
              <a:t>Evidence supports working functions and partial scenario feasibility; benefits and readiness to expand remain unverified</a:t>
            </a:r>
            <a:endParaRPr lang="en-GB" sz="1620" dirty="0"/>
          </a:p>
        </p:txBody>
      </p:sp>
      <p:sp>
        <p:nvSpPr>
          <p:cNvPr id="10" name="Text 1"/>
          <p:cNvSpPr/>
          <p:nvPr>
            <p:ph idx="102" type="body" hasCustomPrompt="1"/>
          </p:nvPr>
        </p:nvSpPr>
        <p:spPr>
          <a:xfrm>
            <a:off x="762000" y="2057400"/>
            <a:ext cx="10668000" cy="3886200"/>
          </a:xfrm>
          <a:prstGeom prst="rect">
            <a:avLst/>
          </a:prstGeom>
          <a:noFill/>
          <a:ln/>
        </p:spPr>
        <p:txBody>
          <a:bodyPr wrap="square" lIns="0" tIns="0" rIns="0" bIns="0" rtlCol="0" anchor="t"/>
          <a:lstStyle/>
          <a:p>
            <a:pPr indent="0" marL="0">
              <a:buNone/>
            </a:pPr>
            <a:endParaRPr lang="en-US" sz="168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bg>
      <p:bgPr>
        <a:solidFill>
          <a:srgbClr val="FFFFFF"/>
        </a:solidFill>
      </p:bgPr>
    </p:bg>
    <p:spTree>
      <p:nvGrpSpPr>
        <p:cNvPr id="1" name=""/>
        <p:cNvGrpSpPr/>
        <p:nvPr/>
      </p:nvGrpSpPr>
      <p:grpSpPr>
        <a:xfrm>
          <a:off x="0" y="0"/>
          <a:ext cx="0" cy="0"/>
          <a:chOff x="0" y="0"/>
          <a:chExt cx="0" cy="0"/>
        </a:xfrm>
      </p:grpSpPr>
      <p:sp>
        <p:nvSpPr>
          <p:cNvPr id="2" name="Text 1"/>
          <p:cNvSpPr/>
          <p:nvPr>
            <p:ph idx="101" type="title" hasCustomPrompt="1"/>
          </p:nvPr>
        </p:nvSpPr>
        <p:spPr>
          <a:xfrm>
            <a:off x="381000" y="891540"/>
            <a:ext cx="11430000" cy="487680"/>
          </a:xfrm>
          <a:prstGeom prst="rect">
            <a:avLst/>
          </a:prstGeom>
          <a:noFill/>
          <a:ln/>
        </p:spPr>
        <p:txBody>
          <a:bodyPr wrap="square" lIns="0" tIns="0" rIns="0" bIns="0" rtlCol="0" anchor="t"/>
          <a:lstStyle/>
          <a:p>
            <a:pPr algn="l" indent="0" marL="0">
              <a:buNone/>
            </a:pPr>
            <a:r>
              <a:rPr lang="en-GB" altLang="en-US" sz="2400" b="1" spc="-84" kern="0" dirty="0">
                <a:solidFill>
                  <a:srgbClr val="000000"/>
                </a:solidFill>
                <a:latin typeface="Arial" pitchFamily="34" charset="0"/>
                <a:ea typeface="Arial" pitchFamily="34" charset="-122"/>
                <a:cs typeface="Arial" pitchFamily="34" charset="-120"/>
              </a:rPr>
              <a:t>E22 · Priorities for limited validation</a:t>
            </a:r>
            <a:endParaRPr lang="en-GB" sz="2400" dirty="0"/>
          </a:p>
        </p:txBody>
      </p:sp>
      <p:sp>
        <p:nvSpPr>
          <p:cNvPr id="3" name="e22-0"/>
          <p:cNvSpPr/>
          <p:nvPr/>
        </p:nvSpPr>
        <p:spPr>
          <a:xfrm>
            <a:off x="609600" y="1600200"/>
            <a:ext cx="10972800" cy="640080"/>
          </a:xfrm>
          <a:prstGeom prst="rect">
            <a:avLst/>
          </a:prstGeom>
          <a:noFill/>
          <a:ln/>
        </p:spPr>
        <p:txBody>
          <a:bodyPr wrap="square" lIns="0" tIns="0" rIns="0" bIns="0" rtlCol="0" anchor="t"/>
          <a:lstStyle/>
          <a:p>
            <a:pPr algn="l" indent="0" marL="0">
              <a:lnSpc>
                <a:spcPct val="128000"/>
              </a:lnSpc>
              <a:buNone/>
            </a:pPr>
            <a:r>
              <a:rPr lang="en-GB" altLang="en-US" sz="1620" b="1" dirty="0">
                <a:solidFill>
                  <a:srgbClr val="222222"/>
                </a:solidFill>
                <a:latin typeface="Arial" pitchFamily="34" charset="0"/>
                <a:ea typeface="Arial" pitchFamily="34" charset="-122"/>
                <a:cs typeface="Arial" pitchFamily="34" charset="-120"/>
              </a:rPr>
              <a:t>Key finding: </a:t>
            </a:r>
            <a:pPr algn="l" indent="0" marL="0">
              <a:lnSpc>
                <a:spcPct val="128000"/>
              </a:lnSpc>
              <a:buNone/>
            </a:pPr>
            <a:r>
              <a:rPr lang="en-GB" altLang="en-US" sz="1620" dirty="0">
                <a:solidFill>
                  <a:srgbClr val="222222"/>
                </a:solidFill>
                <a:latin typeface="Arial" pitchFamily="34" charset="0"/>
                <a:ea typeface="Arial" pitchFamily="34" charset="-122"/>
                <a:cs typeface="Arial" pitchFamily="34" charset="-120"/>
              </a:rPr>
              <a:t>Document extraction and briefing drafts are suitable for limited follow-up tests; test distribution only after people and destinations are clear</a:t>
            </a:r>
            <a:endParaRPr lang="en-GB" sz="1620" dirty="0"/>
          </a:p>
        </p:txBody>
      </p:sp>
      <p:sp>
        <p:nvSpPr>
          <p:cNvPr id="4" name="e22-1"/>
          <p:cNvSpPr/>
          <p:nvPr/>
        </p:nvSpPr>
        <p:spPr>
          <a:xfrm>
            <a:off x="609600" y="2316480"/>
            <a:ext cx="10972800" cy="365760"/>
          </a:xfrm>
          <a:prstGeom prst="rect">
            <a:avLst/>
          </a:prstGeom>
          <a:noFill/>
          <a:ln/>
        </p:spPr>
        <p:txBody>
          <a:bodyPr wrap="square" lIns="0" tIns="0" rIns="0" bIns="0" rtlCol="0" anchor="t"/>
          <a:lstStyle/>
          <a:p>
            <a:pPr algn="l" indent="0" marL="0">
              <a:lnSpc>
                <a:spcPct val="128000"/>
              </a:lnSpc>
              <a:buNone/>
            </a:pPr>
            <a:r>
              <a:rPr lang="en-GB" altLang="en-US" sz="1620" b="1" dirty="0">
                <a:solidFill>
                  <a:srgbClr val="222222"/>
                </a:solidFill>
                <a:latin typeface="Arial" pitchFamily="34" charset="0"/>
                <a:ea typeface="Arial" pitchFamily="34" charset="-122"/>
                <a:cs typeface="Arial" pitchFamily="34" charset="-120"/>
              </a:rPr>
              <a:t>Evidence sources: </a:t>
            </a:r>
            <a:pPr algn="l" indent="0" marL="0">
              <a:lnSpc>
                <a:spcPct val="128000"/>
              </a:lnSpc>
              <a:buNone/>
            </a:pPr>
            <a:r>
              <a:rPr lang="en-GB" altLang="en-US" sz="1620" u="sng" dirty="0">
                <a:solidFill>
                  <a:srgbClr val="B80010"/>
                </a:solidFill>
                <a:latin typeface="Arial" pitchFamily="34" charset="0"/>
                <a:ea typeface="Arial" pitchFamily="34" charset="-122"/>
                <a:cs typeface="Arial" pitchFamily="34" charset="-120"/>
                <a:hlinkClick r:id="rId1" action="ppaction://hlinksldjump" tooltip="">
                  <a:extLst>
                    <a:ext uri="{A12FA001-AC4F-418D-AE19-62706E023703}">
                      <ahyp:hlinkClr xmlns:ahyp="http://schemas.microsoft.com/office/drawing/2018/hyperlinkcolor" val="tx"/>
                    </a:ext>
                  </a:extLst>
                </a:hlinkClick>
              </a:rPr>
              <a:t>E04</a:t>
            </a:r>
            <a:pPr algn="l" indent="0" marL="0">
              <a:lnSpc>
                <a:spcPct val="128000"/>
              </a:lnSpc>
              <a:buNone/>
            </a:pPr>
            <a:r>
              <a:rPr lang="en-GB" altLang="en-US" sz="1620" dirty="0">
                <a:solidFill>
                  <a:srgbClr val="222222"/>
                </a:solidFill>
                <a:latin typeface="Arial" pitchFamily="34" charset="0"/>
                <a:ea typeface="Arial" pitchFamily="34" charset="-122"/>
                <a:cs typeface="Arial" pitchFamily="34" charset="-120"/>
              </a:rPr>
              <a:t>, </a:t>
            </a:r>
            <a:pPr algn="l" indent="0" marL="0">
              <a:lnSpc>
                <a:spcPct val="128000"/>
              </a:lnSpc>
              <a:buNone/>
            </a:pPr>
            <a:r>
              <a:rPr lang="en-GB" altLang="en-US" sz="1620" u="sng" dirty="0">
                <a:solidFill>
                  <a:srgbClr val="B80010"/>
                </a:solidFill>
                <a:latin typeface="Arial" pitchFamily="34" charset="0"/>
                <a:ea typeface="Arial" pitchFamily="34" charset="-122"/>
                <a:cs typeface="Arial" pitchFamily="34" charset="-120"/>
                <a:hlinkClick r:id="rId2" action="ppaction://hlinksldjump" tooltip="">
                  <a:extLst>
                    <a:ext uri="{A12FA001-AC4F-418D-AE19-62706E023703}">
                      <ahyp:hlinkClr xmlns:ahyp="http://schemas.microsoft.com/office/drawing/2018/hyperlinkcolor" val="tx"/>
                    </a:ext>
                  </a:extLst>
                </a:hlinkClick>
              </a:rPr>
              <a:t>E07</a:t>
            </a:r>
            <a:pPr algn="l" indent="0" marL="0">
              <a:lnSpc>
                <a:spcPct val="128000"/>
              </a:lnSpc>
              <a:buNone/>
            </a:pPr>
            <a:r>
              <a:rPr lang="en-GB" altLang="en-US" sz="1620" dirty="0">
                <a:solidFill>
                  <a:srgbClr val="222222"/>
                </a:solidFill>
                <a:latin typeface="Arial" pitchFamily="34" charset="0"/>
                <a:ea typeface="Arial" pitchFamily="34" charset="-122"/>
                <a:cs typeface="Arial" pitchFamily="34" charset="-120"/>
              </a:rPr>
              <a:t>–</a:t>
            </a:r>
            <a:pPr algn="l" indent="0" marL="0">
              <a:lnSpc>
                <a:spcPct val="128000"/>
              </a:lnSpc>
              <a:buNone/>
            </a:pPr>
            <a:r>
              <a:rPr lang="en-GB" altLang="en-US" sz="1620" u="sng" dirty="0">
                <a:solidFill>
                  <a:srgbClr val="B80010"/>
                </a:solidFill>
                <a:latin typeface="Arial" pitchFamily="34" charset="0"/>
                <a:ea typeface="Arial" pitchFamily="34" charset="-122"/>
                <a:cs typeface="Arial" pitchFamily="34" charset="-120"/>
                <a:hlinkClick r:id="rId3" action="ppaction://hlinksldjump" tooltip="">
                  <a:extLst>
                    <a:ext uri="{A12FA001-AC4F-418D-AE19-62706E023703}">
                      <ahyp:hlinkClr xmlns:ahyp="http://schemas.microsoft.com/office/drawing/2018/hyperlinkcolor" val="tx"/>
                    </a:ext>
                  </a:extLst>
                </a:hlinkClick>
              </a:rPr>
              <a:t>E14</a:t>
            </a:r>
            <a:pPr algn="l" indent="0" marL="0">
              <a:lnSpc>
                <a:spcPct val="128000"/>
              </a:lnSpc>
              <a:buNone/>
            </a:pPr>
            <a:r>
              <a:rPr lang="en-GB" altLang="en-US" sz="1620" dirty="0">
                <a:solidFill>
                  <a:srgbClr val="222222"/>
                </a:solidFill>
                <a:latin typeface="Arial" pitchFamily="34" charset="0"/>
                <a:ea typeface="Arial" pitchFamily="34" charset="-122"/>
                <a:cs typeface="Arial" pitchFamily="34" charset="-120"/>
              </a:rPr>
              <a:t>, </a:t>
            </a:r>
            <a:pPr algn="l" indent="0" marL="0">
              <a:lnSpc>
                <a:spcPct val="128000"/>
              </a:lnSpc>
              <a:buNone/>
            </a:pPr>
            <a:r>
              <a:rPr lang="en-GB" altLang="en-US" sz="1620" u="sng" dirty="0">
                <a:solidFill>
                  <a:srgbClr val="B80010"/>
                </a:solidFill>
                <a:latin typeface="Arial" pitchFamily="34" charset="0"/>
                <a:ea typeface="Arial" pitchFamily="34" charset="-122"/>
                <a:cs typeface="Arial" pitchFamily="34" charset="-120"/>
                <a:hlinkClick r:id="rId4" action="ppaction://hlinksldjump" tooltip="">
                  <a:extLst>
                    <a:ext uri="{A12FA001-AC4F-418D-AE19-62706E023703}">
                      <ahyp:hlinkClr xmlns:ahyp="http://schemas.microsoft.com/office/drawing/2018/hyperlinkcolor" val="tx"/>
                    </a:ext>
                  </a:extLst>
                </a:hlinkClick>
              </a:rPr>
              <a:t>E20</a:t>
            </a:r>
            <a:pPr algn="l" indent="0" marL="0">
              <a:lnSpc>
                <a:spcPct val="128000"/>
              </a:lnSpc>
              <a:buNone/>
            </a:pPr>
            <a:r>
              <a:rPr lang="en-GB" altLang="en-US" sz="1620" dirty="0">
                <a:solidFill>
                  <a:srgbClr val="222222"/>
                </a:solidFill>
                <a:latin typeface="Arial" pitchFamily="34" charset="0"/>
                <a:ea typeface="Arial" pitchFamily="34" charset="-122"/>
                <a:cs typeface="Arial" pitchFamily="34" charset="-120"/>
              </a:rPr>
              <a:t>–</a:t>
            </a:r>
            <a:pPr algn="l" indent="0" marL="0">
              <a:lnSpc>
                <a:spcPct val="128000"/>
              </a:lnSpc>
              <a:buNone/>
            </a:pPr>
            <a:r>
              <a:rPr lang="en-GB" altLang="en-US" sz="1620" u="sng" dirty="0">
                <a:solidFill>
                  <a:srgbClr val="B80010"/>
                </a:solidFill>
                <a:latin typeface="Arial" pitchFamily="34" charset="0"/>
                <a:ea typeface="Arial" pitchFamily="34" charset="-122"/>
                <a:cs typeface="Arial" pitchFamily="34" charset="-120"/>
                <a:hlinkClick r:id="rId5" action="ppaction://hlinksldjump" tooltip="">
                  <a:extLst>
                    <a:ext uri="{A12FA001-AC4F-418D-AE19-62706E023703}">
                      <ahyp:hlinkClr xmlns:ahyp="http://schemas.microsoft.com/office/drawing/2018/hyperlinkcolor" val="tx"/>
                    </a:ext>
                  </a:extLst>
                </a:hlinkClick>
              </a:rPr>
              <a:t>E21</a:t>
            </a:r>
            <a:endParaRPr lang="en-GB" sz="1620" dirty="0"/>
          </a:p>
        </p:txBody>
      </p:sp>
      <p:sp>
        <p:nvSpPr>
          <p:cNvPr id="5" name="e22-2"/>
          <p:cNvSpPr/>
          <p:nvPr/>
        </p:nvSpPr>
        <p:spPr>
          <a:xfrm>
            <a:off x="609600" y="2758440"/>
            <a:ext cx="10972800" cy="365760"/>
          </a:xfrm>
          <a:prstGeom prst="rect">
            <a:avLst/>
          </a:prstGeom>
          <a:noFill/>
          <a:ln/>
        </p:spPr>
        <p:txBody>
          <a:bodyPr wrap="square" lIns="0" tIns="0" rIns="0" bIns="0" rtlCol="0" anchor="t"/>
          <a:lstStyle/>
          <a:p>
            <a:pPr algn="l" indent="0" marL="0">
              <a:lnSpc>
                <a:spcPct val="128000"/>
              </a:lnSpc>
              <a:buNone/>
            </a:pPr>
            <a:r>
              <a:rPr lang="en-GB" altLang="en-US" sz="1620" b="1" dirty="0">
                <a:solidFill>
                  <a:srgbClr val="222222"/>
                </a:solidFill>
                <a:latin typeface="Arial" pitchFamily="34" charset="0"/>
                <a:ea typeface="Arial" pitchFamily="34" charset="-122"/>
                <a:cs typeface="Arial" pitchFamily="34" charset="-120"/>
              </a:rPr>
              <a:t>Fact or inference: </a:t>
            </a:r>
            <a:pPr algn="l" indent="0" marL="0">
              <a:lnSpc>
                <a:spcPct val="128000"/>
              </a:lnSpc>
              <a:buNone/>
            </a:pPr>
            <a:r>
              <a:rPr lang="en-GB" altLang="en-US" sz="1620" dirty="0">
                <a:solidFill>
                  <a:srgbClr val="222222"/>
                </a:solidFill>
                <a:latin typeface="Arial" pitchFamily="34" charset="0"/>
                <a:ea typeface="Arial" pitchFamily="34" charset="-122"/>
                <a:cs typeface="Arial" pitchFamily="34" charset="-120"/>
              </a:rPr>
              <a:t>C: management judgement; D: evaluation proposal</a:t>
            </a:r>
            <a:endParaRPr lang="en-GB" sz="1620" dirty="0"/>
          </a:p>
        </p:txBody>
      </p:sp>
      <p:sp>
        <p:nvSpPr>
          <p:cNvPr id="6" name="e22-3"/>
          <p:cNvSpPr/>
          <p:nvPr/>
        </p:nvSpPr>
        <p:spPr>
          <a:xfrm>
            <a:off x="609600" y="3200400"/>
            <a:ext cx="10972800" cy="365760"/>
          </a:xfrm>
          <a:prstGeom prst="rect">
            <a:avLst/>
          </a:prstGeom>
          <a:noFill/>
          <a:ln/>
        </p:spPr>
        <p:txBody>
          <a:bodyPr wrap="square" lIns="0" tIns="0" rIns="0" bIns="0" rtlCol="0" anchor="t"/>
          <a:lstStyle/>
          <a:p>
            <a:pPr algn="l" indent="0" marL="0">
              <a:lnSpc>
                <a:spcPct val="128000"/>
              </a:lnSpc>
              <a:buNone/>
            </a:pPr>
            <a:r>
              <a:rPr lang="en-GB" altLang="en-US" sz="1620" b="1" dirty="0">
                <a:solidFill>
                  <a:srgbClr val="222222"/>
                </a:solidFill>
                <a:latin typeface="Arial" pitchFamily="34" charset="0"/>
                <a:ea typeface="Arial" pitchFamily="34" charset="-122"/>
                <a:cs typeface="Arial" pitchFamily="34" charset="-120"/>
              </a:rPr>
              <a:t>Evidence strength: </a:t>
            </a:r>
            <a:pPr algn="l" indent="0" marL="0">
              <a:lnSpc>
                <a:spcPct val="128000"/>
              </a:lnSpc>
              <a:buNone/>
            </a:pPr>
            <a:r>
              <a:rPr lang="en-GB" altLang="en-US" sz="1620" dirty="0">
                <a:solidFill>
                  <a:srgbClr val="222222"/>
                </a:solidFill>
                <a:latin typeface="Arial" pitchFamily="34" charset="0"/>
                <a:ea typeface="Arial" pitchFamily="34" charset="-122"/>
                <a:cs typeface="Arial" pitchFamily="34" charset="-120"/>
              </a:rPr>
              <a:t>Medium; testing needed</a:t>
            </a:r>
            <a:endParaRPr lang="en-GB" sz="1620" dirty="0"/>
          </a:p>
        </p:txBody>
      </p:sp>
      <p:sp>
        <p:nvSpPr>
          <p:cNvPr id="7" name="e22-4"/>
          <p:cNvSpPr/>
          <p:nvPr/>
        </p:nvSpPr>
        <p:spPr>
          <a:xfrm>
            <a:off x="609600" y="3642360"/>
            <a:ext cx="10972800" cy="365760"/>
          </a:xfrm>
          <a:prstGeom prst="rect">
            <a:avLst/>
          </a:prstGeom>
          <a:noFill/>
          <a:ln/>
        </p:spPr>
        <p:txBody>
          <a:bodyPr wrap="square" lIns="0" tIns="0" rIns="0" bIns="0" rtlCol="0" anchor="t"/>
          <a:lstStyle/>
          <a:p>
            <a:pPr algn="l" indent="0" marL="0">
              <a:lnSpc>
                <a:spcPct val="128000"/>
              </a:lnSpc>
              <a:buNone/>
            </a:pPr>
            <a:r>
              <a:rPr lang="en-GB" altLang="en-US" sz="1620" b="1" dirty="0">
                <a:solidFill>
                  <a:srgbClr val="222222"/>
                </a:solidFill>
                <a:latin typeface="Arial" pitchFamily="34" charset="0"/>
                <a:ea typeface="Arial" pitchFamily="34" charset="-122"/>
                <a:cs typeface="Arial" pitchFamily="34" charset="-120"/>
              </a:rPr>
              <a:t>Open question: </a:t>
            </a:r>
            <a:pPr algn="l" indent="0" marL="0">
              <a:lnSpc>
                <a:spcPct val="128000"/>
              </a:lnSpc>
              <a:buNone/>
            </a:pPr>
            <a:r>
              <a:rPr lang="en-GB" altLang="en-US" sz="1620" dirty="0">
                <a:solidFill>
                  <a:srgbClr val="222222"/>
                </a:solidFill>
                <a:latin typeface="Arial" pitchFamily="34" charset="0"/>
                <a:ea typeface="Arial" pitchFamily="34" charset="-122"/>
                <a:cs typeface="Arial" pitchFamily="34" charset="-120"/>
              </a:rPr>
              <a:t>Will total review effort offset time savings?</a:t>
            </a:r>
            <a:endParaRPr lang="en-GB" sz="1620" dirty="0"/>
          </a:p>
        </p:txBody>
      </p:sp>
      <p:sp>
        <p:nvSpPr>
          <p:cNvPr id="8" name="e22-5"/>
          <p:cNvSpPr/>
          <p:nvPr/>
        </p:nvSpPr>
        <p:spPr>
          <a:xfrm>
            <a:off x="609600" y="4084320"/>
            <a:ext cx="10972800" cy="640080"/>
          </a:xfrm>
          <a:prstGeom prst="rect">
            <a:avLst/>
          </a:prstGeom>
          <a:noFill/>
          <a:ln/>
        </p:spPr>
        <p:txBody>
          <a:bodyPr wrap="square" lIns="0" tIns="0" rIns="0" bIns="0" rtlCol="0" anchor="t"/>
          <a:lstStyle/>
          <a:p>
            <a:pPr algn="l" indent="0" marL="0">
              <a:lnSpc>
                <a:spcPct val="128000"/>
              </a:lnSpc>
              <a:buNone/>
            </a:pPr>
            <a:r>
              <a:rPr lang="en-GB" altLang="en-US" sz="1620" b="1" dirty="0">
                <a:solidFill>
                  <a:srgbClr val="222222"/>
                </a:solidFill>
                <a:latin typeface="Arial" pitchFamily="34" charset="0"/>
                <a:ea typeface="Arial" pitchFamily="34" charset="-122"/>
                <a:cs typeface="Arial" pitchFamily="34" charset="-120"/>
              </a:rPr>
              <a:t>Implication for this report: </a:t>
            </a:r>
            <a:pPr algn="l" indent="0" marL="0">
              <a:lnSpc>
                <a:spcPct val="128000"/>
              </a:lnSpc>
              <a:buNone/>
            </a:pPr>
            <a:r>
              <a:rPr lang="en-GB" altLang="en-US" sz="1620" dirty="0">
                <a:solidFill>
                  <a:srgbClr val="222222"/>
                </a:solidFill>
                <a:latin typeface="Arial" pitchFamily="34" charset="0"/>
                <a:ea typeface="Arial" pitchFamily="34" charset="-122"/>
                <a:cs typeface="Arial" pitchFamily="34" charset="-120"/>
              </a:rPr>
              <a:t>Recommend a small evaluation, not immediate procurement, deployment or team-wide rollout</a:t>
            </a:r>
            <a:endParaRPr lang="en-GB" sz="1620" dirty="0"/>
          </a:p>
        </p:txBody>
      </p:sp>
      <p:sp>
        <p:nvSpPr>
          <p:cNvPr id="10" name="Text 1"/>
          <p:cNvSpPr/>
          <p:nvPr>
            <p:ph idx="102" type="body" hasCustomPrompt="1"/>
          </p:nvPr>
        </p:nvSpPr>
        <p:spPr>
          <a:xfrm>
            <a:off x="762000" y="2057400"/>
            <a:ext cx="10668000" cy="3886200"/>
          </a:xfrm>
          <a:prstGeom prst="rect">
            <a:avLst/>
          </a:prstGeom>
          <a:noFill/>
          <a:ln/>
        </p:spPr>
        <p:txBody>
          <a:bodyPr wrap="square" lIns="0" tIns="0" rIns="0" bIns="0" rtlCol="0" anchor="t"/>
          <a:lstStyle/>
          <a:p>
            <a:pPr indent="0" marL="0">
              <a:buNone/>
            </a:pPr>
            <a:endParaRPr lang="en-US" sz="168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bg>
      <p:bgPr>
        <a:solidFill>
          <a:srgbClr val="FFFFFF"/>
        </a:solidFill>
      </p:bgPr>
    </p:bg>
    <p:spTree>
      <p:nvGrpSpPr>
        <p:cNvPr id="1" name=""/>
        <p:cNvGrpSpPr/>
        <p:nvPr/>
      </p:nvGrpSpPr>
      <p:grpSpPr>
        <a:xfrm>
          <a:off x="0" y="0"/>
          <a:ext cx="0" cy="0"/>
          <a:chOff x="0" y="0"/>
          <a:chExt cx="0" cy="0"/>
        </a:xfrm>
      </p:grpSpPr>
      <p:sp>
        <p:nvSpPr>
          <p:cNvPr id="2" name="Text 1"/>
          <p:cNvSpPr/>
          <p:nvPr>
            <p:ph idx="101" type="title" hasCustomPrompt="1"/>
          </p:nvPr>
        </p:nvSpPr>
        <p:spPr>
          <a:xfrm>
            <a:off x="381000" y="891540"/>
            <a:ext cx="11430000" cy="487680"/>
          </a:xfrm>
          <a:prstGeom prst="rect">
            <a:avLst/>
          </a:prstGeom>
          <a:noFill/>
          <a:ln/>
        </p:spPr>
        <p:txBody>
          <a:bodyPr wrap="square" lIns="0" tIns="0" rIns="0" bIns="0" rtlCol="0" anchor="t"/>
          <a:lstStyle/>
          <a:p>
            <a:pPr algn="l" indent="0" marL="0">
              <a:buNone/>
            </a:pPr>
            <a:r>
              <a:rPr lang="en-GB" altLang="en-US" sz="2400" b="1" spc="-84" kern="0" dirty="0">
                <a:solidFill>
                  <a:srgbClr val="000000"/>
                </a:solidFill>
                <a:latin typeface="Arial" pitchFamily="34" charset="0"/>
                <a:ea typeface="Arial" pitchFamily="34" charset="-122"/>
                <a:cs typeface="Arial" pitchFamily="34" charset="-120"/>
              </a:rPr>
              <a:t>E23 · Numbers and business definitions</a:t>
            </a:r>
            <a:endParaRPr lang="en-GB" sz="2400" dirty="0"/>
          </a:p>
        </p:txBody>
      </p:sp>
      <p:sp>
        <p:nvSpPr>
          <p:cNvPr id="3" name="e23-0"/>
          <p:cNvSpPr/>
          <p:nvPr/>
        </p:nvSpPr>
        <p:spPr>
          <a:xfrm>
            <a:off x="609600" y="1600200"/>
            <a:ext cx="10972800" cy="640080"/>
          </a:xfrm>
          <a:prstGeom prst="rect">
            <a:avLst/>
          </a:prstGeom>
          <a:noFill/>
          <a:ln/>
        </p:spPr>
        <p:txBody>
          <a:bodyPr wrap="square" lIns="0" tIns="0" rIns="0" bIns="0" rtlCol="0" anchor="t"/>
          <a:lstStyle/>
          <a:p>
            <a:pPr algn="l" indent="0" marL="0">
              <a:lnSpc>
                <a:spcPct val="128000"/>
              </a:lnSpc>
              <a:buNone/>
            </a:pPr>
            <a:r>
              <a:rPr lang="en-GB" altLang="en-US" sz="1620" b="1" dirty="0">
                <a:solidFill>
                  <a:srgbClr val="222222"/>
                </a:solidFill>
                <a:latin typeface="Arial" pitchFamily="34" charset="0"/>
                <a:ea typeface="Arial" pitchFamily="34" charset="-122"/>
                <a:cs typeface="Arial" pitchFamily="34" charset="-120"/>
              </a:rPr>
              <a:t>Key finding: </a:t>
            </a:r>
            <a:pPr algn="l" indent="0" marL="0">
              <a:lnSpc>
                <a:spcPct val="128000"/>
              </a:lnSpc>
              <a:buNone/>
            </a:pPr>
            <a:r>
              <a:rPr lang="en-GB" altLang="en-US" sz="1620" dirty="0">
                <a:solidFill>
                  <a:srgbClr val="222222"/>
                </a:solidFill>
                <a:latin typeface="Arial" pitchFamily="34" charset="0"/>
                <a:ea typeface="Arial" pitchFamily="34" charset="-122"/>
                <a:cs typeface="Arial" pitchFamily="34" charset="-120"/>
              </a:rPr>
              <a:t>Contract amount and expiry cannot directly establish overdue receivables. Planned 60% versus actual 45% is a 15-percentage-point gap</a:t>
            </a:r>
            <a:endParaRPr lang="en-GB" sz="1620" dirty="0"/>
          </a:p>
        </p:txBody>
      </p:sp>
      <p:sp>
        <p:nvSpPr>
          <p:cNvPr id="4" name="e23-1"/>
          <p:cNvSpPr/>
          <p:nvPr/>
        </p:nvSpPr>
        <p:spPr>
          <a:xfrm>
            <a:off x="609600" y="2316480"/>
            <a:ext cx="10972800" cy="365760"/>
          </a:xfrm>
          <a:prstGeom prst="rect">
            <a:avLst/>
          </a:prstGeom>
          <a:noFill/>
          <a:ln/>
        </p:spPr>
        <p:txBody>
          <a:bodyPr wrap="square" lIns="0" tIns="0" rIns="0" bIns="0" rtlCol="0" anchor="t"/>
          <a:lstStyle/>
          <a:p>
            <a:pPr algn="l" indent="0" marL="0">
              <a:lnSpc>
                <a:spcPct val="128000"/>
              </a:lnSpc>
              <a:buNone/>
            </a:pPr>
            <a:r>
              <a:rPr lang="en-GB" altLang="en-US" sz="1620" b="1" dirty="0">
                <a:solidFill>
                  <a:srgbClr val="222222"/>
                </a:solidFill>
                <a:latin typeface="Arial" pitchFamily="34" charset="0"/>
                <a:ea typeface="Arial" pitchFamily="34" charset="-122"/>
                <a:cs typeface="Arial" pitchFamily="34" charset="-120"/>
              </a:rPr>
              <a:t>Evidence sources: </a:t>
            </a:r>
            <a:pPr algn="l" indent="0" marL="0">
              <a:lnSpc>
                <a:spcPct val="128000"/>
              </a:lnSpc>
              <a:buNone/>
            </a:pPr>
            <a:r>
              <a:rPr lang="en-GB" altLang="en-US" sz="1620" dirty="0">
                <a:solidFill>
                  <a:srgbClr val="222222"/>
                </a:solidFill>
                <a:latin typeface="Arial" pitchFamily="34" charset="0"/>
                <a:ea typeface="Arial" pitchFamily="34" charset="-122"/>
                <a:cs typeface="Arial" pitchFamily="34" charset="-120"/>
              </a:rPr>
              <a:t>R1 L353, 355, 415, 418; M5 payment terms</a:t>
            </a:r>
            <a:endParaRPr lang="en-GB" sz="1620" dirty="0"/>
          </a:p>
        </p:txBody>
      </p:sp>
      <p:sp>
        <p:nvSpPr>
          <p:cNvPr id="5" name="e23-2"/>
          <p:cNvSpPr/>
          <p:nvPr/>
        </p:nvSpPr>
        <p:spPr>
          <a:xfrm>
            <a:off x="609600" y="2758440"/>
            <a:ext cx="10972800" cy="365760"/>
          </a:xfrm>
          <a:prstGeom prst="rect">
            <a:avLst/>
          </a:prstGeom>
          <a:noFill/>
          <a:ln/>
        </p:spPr>
        <p:txBody>
          <a:bodyPr wrap="square" lIns="0" tIns="0" rIns="0" bIns="0" rtlCol="0" anchor="t"/>
          <a:lstStyle/>
          <a:p>
            <a:pPr algn="l" indent="0" marL="0">
              <a:lnSpc>
                <a:spcPct val="128000"/>
              </a:lnSpc>
              <a:buNone/>
            </a:pPr>
            <a:r>
              <a:rPr lang="en-GB" altLang="en-US" sz="1620" b="1" dirty="0">
                <a:solidFill>
                  <a:srgbClr val="222222"/>
                </a:solidFill>
                <a:latin typeface="Arial" pitchFamily="34" charset="0"/>
                <a:ea typeface="Arial" pitchFamily="34" charset="-122"/>
                <a:cs typeface="Arial" pitchFamily="34" charset="-120"/>
              </a:rPr>
              <a:t>Fact or inference: </a:t>
            </a:r>
            <a:pPr algn="l" indent="0" marL="0">
              <a:lnSpc>
                <a:spcPct val="128000"/>
              </a:lnSpc>
              <a:buNone/>
            </a:pPr>
            <a:r>
              <a:rPr lang="en-GB" altLang="en-US" sz="1620" dirty="0">
                <a:solidFill>
                  <a:srgbClr val="222222"/>
                </a:solidFill>
                <a:latin typeface="Arial" pitchFamily="34" charset="0"/>
                <a:ea typeface="Arial" pitchFamily="34" charset="-122"/>
                <a:cs typeface="Arial" pitchFamily="34" charset="-120"/>
              </a:rPr>
              <a:t>A: fields; interpretation correction is C</a:t>
            </a:r>
            <a:endParaRPr lang="en-GB" sz="1620" dirty="0"/>
          </a:p>
        </p:txBody>
      </p:sp>
      <p:sp>
        <p:nvSpPr>
          <p:cNvPr id="6" name="e23-3"/>
          <p:cNvSpPr/>
          <p:nvPr/>
        </p:nvSpPr>
        <p:spPr>
          <a:xfrm>
            <a:off x="609600" y="3200400"/>
            <a:ext cx="10972800" cy="365760"/>
          </a:xfrm>
          <a:prstGeom prst="rect">
            <a:avLst/>
          </a:prstGeom>
          <a:noFill/>
          <a:ln/>
        </p:spPr>
        <p:txBody>
          <a:bodyPr wrap="square" lIns="0" tIns="0" rIns="0" bIns="0" rtlCol="0" anchor="t"/>
          <a:lstStyle/>
          <a:p>
            <a:pPr algn="l" indent="0" marL="0">
              <a:lnSpc>
                <a:spcPct val="128000"/>
              </a:lnSpc>
              <a:buNone/>
            </a:pPr>
            <a:r>
              <a:rPr lang="en-GB" altLang="en-US" sz="1620" b="1" dirty="0">
                <a:solidFill>
                  <a:srgbClr val="222222"/>
                </a:solidFill>
                <a:latin typeface="Arial" pitchFamily="34" charset="0"/>
                <a:ea typeface="Arial" pitchFamily="34" charset="-122"/>
                <a:cs typeface="Arial" pitchFamily="34" charset="-120"/>
              </a:rPr>
              <a:t>Evidence strength: </a:t>
            </a:r>
            <a:pPr algn="l" indent="0" marL="0">
              <a:lnSpc>
                <a:spcPct val="128000"/>
              </a:lnSpc>
              <a:buNone/>
            </a:pPr>
            <a:r>
              <a:rPr lang="en-GB" altLang="en-US" sz="1620" dirty="0">
                <a:solidFill>
                  <a:srgbClr val="222222"/>
                </a:solidFill>
                <a:latin typeface="Arial" pitchFamily="34" charset="0"/>
                <a:ea typeface="Arial" pitchFamily="34" charset="-122"/>
                <a:cs typeface="Arial" pitchFamily="34" charset="-120"/>
              </a:rPr>
              <a:t>High</a:t>
            </a:r>
            <a:endParaRPr lang="en-GB" sz="1620" dirty="0"/>
          </a:p>
        </p:txBody>
      </p:sp>
      <p:sp>
        <p:nvSpPr>
          <p:cNvPr id="7" name="e23-4"/>
          <p:cNvSpPr/>
          <p:nvPr/>
        </p:nvSpPr>
        <p:spPr>
          <a:xfrm>
            <a:off x="609600" y="3642360"/>
            <a:ext cx="10972800" cy="365760"/>
          </a:xfrm>
          <a:prstGeom prst="rect">
            <a:avLst/>
          </a:prstGeom>
          <a:noFill/>
          <a:ln/>
        </p:spPr>
        <p:txBody>
          <a:bodyPr wrap="square" lIns="0" tIns="0" rIns="0" bIns="0" rtlCol="0" anchor="t"/>
          <a:lstStyle/>
          <a:p>
            <a:pPr algn="l" indent="0" marL="0">
              <a:lnSpc>
                <a:spcPct val="128000"/>
              </a:lnSpc>
              <a:buNone/>
            </a:pPr>
            <a:r>
              <a:rPr lang="en-GB" altLang="en-US" sz="1620" b="1" dirty="0">
                <a:solidFill>
                  <a:srgbClr val="222222"/>
                </a:solidFill>
                <a:latin typeface="Arial" pitchFamily="34" charset="0"/>
                <a:ea typeface="Arial" pitchFamily="34" charset="-122"/>
                <a:cs typeface="Arial" pitchFamily="34" charset="-120"/>
              </a:rPr>
              <a:t>Open question: </a:t>
            </a:r>
            <a:pPr algn="l" indent="0" marL="0">
              <a:lnSpc>
                <a:spcPct val="128000"/>
              </a:lnSpc>
              <a:buNone/>
            </a:pPr>
            <a:r>
              <a:rPr lang="en-GB" altLang="en-US" sz="1620" dirty="0">
                <a:solidFill>
                  <a:srgbClr val="222222"/>
                </a:solidFill>
                <a:latin typeface="Arial" pitchFamily="34" charset="0"/>
                <a:ea typeface="Arial" pitchFamily="34" charset="-122"/>
                <a:cs typeface="Arial" pitchFamily="34" charset="-120"/>
              </a:rPr>
              <a:t>Actual payments, renewal and contract terms not validated</a:t>
            </a:r>
            <a:endParaRPr lang="en-GB" sz="1620" dirty="0"/>
          </a:p>
        </p:txBody>
      </p:sp>
      <p:sp>
        <p:nvSpPr>
          <p:cNvPr id="8" name="e23-5"/>
          <p:cNvSpPr/>
          <p:nvPr/>
        </p:nvSpPr>
        <p:spPr>
          <a:xfrm>
            <a:off x="609600" y="4084320"/>
            <a:ext cx="10972800" cy="640080"/>
          </a:xfrm>
          <a:prstGeom prst="rect">
            <a:avLst/>
          </a:prstGeom>
          <a:noFill/>
          <a:ln/>
        </p:spPr>
        <p:txBody>
          <a:bodyPr wrap="square" lIns="0" tIns="0" rIns="0" bIns="0" rtlCol="0" anchor="t"/>
          <a:lstStyle/>
          <a:p>
            <a:pPr algn="l" indent="0" marL="0">
              <a:lnSpc>
                <a:spcPct val="128000"/>
              </a:lnSpc>
              <a:buNone/>
            </a:pPr>
            <a:r>
              <a:rPr lang="en-GB" altLang="en-US" sz="1620" b="1" dirty="0">
                <a:solidFill>
                  <a:srgbClr val="222222"/>
                </a:solidFill>
                <a:latin typeface="Arial" pitchFamily="34" charset="0"/>
                <a:ea typeface="Arial" pitchFamily="34" charset="-122"/>
                <a:cs typeface="Arial" pitchFamily="34" charset="-120"/>
              </a:rPr>
              <a:t>Implication for this report: </a:t>
            </a:r>
            <a:pPr algn="l" indent="0" marL="0">
              <a:lnSpc>
                <a:spcPct val="128000"/>
              </a:lnSpc>
              <a:buNone/>
            </a:pPr>
            <a:r>
              <a:rPr lang="en-GB" altLang="en-US" sz="1620" dirty="0">
                <a:solidFill>
                  <a:srgbClr val="222222"/>
                </a:solidFill>
                <a:latin typeface="Arial" pitchFamily="34" charset="0"/>
                <a:ea typeface="Arial" pitchFamily="34" charset="-122"/>
                <a:cs typeface="Arial" pitchFamily="34" charset="-120"/>
              </a:rPr>
              <a:t>Do not label contract value as loss/debt, or percentage points as efficiency or a relative percentage decline</a:t>
            </a:r>
            <a:endParaRPr lang="en-GB" sz="1620" dirty="0"/>
          </a:p>
        </p:txBody>
      </p:sp>
      <p:sp>
        <p:nvSpPr>
          <p:cNvPr id="10" name="Text 1"/>
          <p:cNvSpPr/>
          <p:nvPr>
            <p:ph idx="102" type="body" hasCustomPrompt="1"/>
          </p:nvPr>
        </p:nvSpPr>
        <p:spPr>
          <a:xfrm>
            <a:off x="762000" y="2057400"/>
            <a:ext cx="10668000" cy="3886200"/>
          </a:xfrm>
          <a:prstGeom prst="rect">
            <a:avLst/>
          </a:prstGeom>
          <a:noFill/>
          <a:ln/>
        </p:spPr>
        <p:txBody>
          <a:bodyPr wrap="square" lIns="0" tIns="0" rIns="0" bIns="0" rtlCol="0" anchor="t"/>
          <a:lstStyle/>
          <a:p>
            <a:pPr indent="0" marL="0">
              <a:buNone/>
            </a:pPr>
            <a:endParaRPr lang="en-US" sz="168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bg>
      <p:bgPr>
        <a:solidFill>
          <a:srgbClr val="FFFFFF"/>
        </a:solidFill>
      </p:bgPr>
    </p:bg>
    <p:spTree>
      <p:nvGrpSpPr>
        <p:cNvPr id="1" name=""/>
        <p:cNvGrpSpPr/>
        <p:nvPr/>
      </p:nvGrpSpPr>
      <p:grpSpPr>
        <a:xfrm>
          <a:off x="0" y="0"/>
          <a:ext cx="0" cy="0"/>
          <a:chOff x="0" y="0"/>
          <a:chExt cx="0" cy="0"/>
        </a:xfrm>
      </p:grpSpPr>
      <p:sp>
        <p:nvSpPr>
          <p:cNvPr id="2" name="Text 1"/>
          <p:cNvSpPr/>
          <p:nvPr>
            <p:ph idx="101" type="title" hasCustomPrompt="1"/>
          </p:nvPr>
        </p:nvSpPr>
        <p:spPr>
          <a:xfrm>
            <a:off x="381000" y="891540"/>
            <a:ext cx="11430000" cy="487680"/>
          </a:xfrm>
          <a:prstGeom prst="rect">
            <a:avLst/>
          </a:prstGeom>
          <a:noFill/>
          <a:ln/>
        </p:spPr>
        <p:txBody>
          <a:bodyPr wrap="square" lIns="0" tIns="0" rIns="0" bIns="0" rtlCol="0" anchor="t"/>
          <a:lstStyle/>
          <a:p>
            <a:pPr algn="l" indent="0" marL="0">
              <a:buNone/>
            </a:pPr>
            <a:r>
              <a:rPr lang="en-GB" altLang="en-US" sz="2400" b="1" spc="-84" kern="0" dirty="0">
                <a:solidFill>
                  <a:srgbClr val="000000"/>
                </a:solidFill>
                <a:latin typeface="Arial" pitchFamily="34" charset="0"/>
                <a:ea typeface="Arial" pitchFamily="34" charset="-122"/>
                <a:cs typeface="Arial" pitchFamily="34" charset="-120"/>
              </a:rPr>
              <a:t>E24 · Conditions for use in a bank</a:t>
            </a:r>
            <a:endParaRPr lang="en-GB" sz="2400" dirty="0"/>
          </a:p>
        </p:txBody>
      </p:sp>
      <p:sp>
        <p:nvSpPr>
          <p:cNvPr id="3" name="e24-0"/>
          <p:cNvSpPr/>
          <p:nvPr/>
        </p:nvSpPr>
        <p:spPr>
          <a:xfrm>
            <a:off x="609600" y="1600200"/>
            <a:ext cx="10972800" cy="640080"/>
          </a:xfrm>
          <a:prstGeom prst="rect">
            <a:avLst/>
          </a:prstGeom>
          <a:noFill/>
          <a:ln/>
        </p:spPr>
        <p:txBody>
          <a:bodyPr wrap="square" lIns="0" tIns="0" rIns="0" bIns="0" rtlCol="0" anchor="t"/>
          <a:lstStyle/>
          <a:p>
            <a:pPr algn="l" indent="0" marL="0">
              <a:lnSpc>
                <a:spcPct val="128000"/>
              </a:lnSpc>
              <a:buNone/>
            </a:pPr>
            <a:r>
              <a:rPr lang="en-GB" altLang="en-US" sz="1620" b="1" dirty="0">
                <a:solidFill>
                  <a:srgbClr val="222222"/>
                </a:solidFill>
                <a:latin typeface="Arial" pitchFamily="34" charset="0"/>
                <a:ea typeface="Arial" pitchFamily="34" charset="-122"/>
                <a:cs typeface="Arial" pitchFamily="34" charset="-120"/>
              </a:rPr>
              <a:t>Key finding: </a:t>
            </a:r>
            <a:pPr algn="l" indent="0" marL="0">
              <a:lnSpc>
                <a:spcPct val="128000"/>
              </a:lnSpc>
              <a:buNone/>
            </a:pPr>
            <a:r>
              <a:rPr lang="en-GB" altLang="en-US" sz="1620" dirty="0">
                <a:solidFill>
                  <a:srgbClr val="222222"/>
                </a:solidFill>
                <a:latin typeface="Arial" pitchFamily="34" charset="0"/>
                <a:ea typeface="Arial" pitchFamily="34" charset="-122"/>
                <a:cs typeface="Arial" pitchFamily="34" charset="-120"/>
              </a:rPr>
              <a:t>No evidence of adaptation to real bank data, systems, permissions or audit. Relevant internal owners must confirm whether use is permitted</a:t>
            </a:r>
            <a:endParaRPr lang="en-GB" sz="1620" dirty="0"/>
          </a:p>
        </p:txBody>
      </p:sp>
      <p:sp>
        <p:nvSpPr>
          <p:cNvPr id="4" name="e24-1"/>
          <p:cNvSpPr/>
          <p:nvPr/>
        </p:nvSpPr>
        <p:spPr>
          <a:xfrm>
            <a:off x="609600" y="2316480"/>
            <a:ext cx="10972800" cy="365760"/>
          </a:xfrm>
          <a:prstGeom prst="rect">
            <a:avLst/>
          </a:prstGeom>
          <a:noFill/>
          <a:ln/>
        </p:spPr>
        <p:txBody>
          <a:bodyPr wrap="square" lIns="0" tIns="0" rIns="0" bIns="0" rtlCol="0" anchor="t"/>
          <a:lstStyle/>
          <a:p>
            <a:pPr algn="l" indent="0" marL="0">
              <a:lnSpc>
                <a:spcPct val="128000"/>
              </a:lnSpc>
              <a:buNone/>
            </a:pPr>
            <a:r>
              <a:rPr lang="en-GB" altLang="en-US" sz="1620" b="1" dirty="0">
                <a:solidFill>
                  <a:srgbClr val="222222"/>
                </a:solidFill>
                <a:latin typeface="Arial" pitchFamily="34" charset="0"/>
                <a:ea typeface="Arial" pitchFamily="34" charset="-122"/>
                <a:cs typeface="Arial" pitchFamily="34" charset="-120"/>
              </a:rPr>
              <a:t>Evidence sources: </a:t>
            </a:r>
            <a:pPr algn="l" indent="0" marL="0">
              <a:lnSpc>
                <a:spcPct val="128000"/>
              </a:lnSpc>
              <a:buNone/>
            </a:pPr>
            <a:r>
              <a:rPr lang="en-GB" altLang="en-US" sz="1620" u="sng" dirty="0">
                <a:solidFill>
                  <a:srgbClr val="B80010"/>
                </a:solidFill>
                <a:latin typeface="Arial" pitchFamily="34" charset="0"/>
                <a:ea typeface="Arial" pitchFamily="34" charset="-122"/>
                <a:cs typeface="Arial" pitchFamily="34" charset="-120"/>
                <a:hlinkClick r:id="rId1" action="ppaction://hlinksldjump" tooltip="">
                  <a:extLst>
                    <a:ext uri="{A12FA001-AC4F-418D-AE19-62706E023703}">
                      <ahyp:hlinkClr xmlns:ahyp="http://schemas.microsoft.com/office/drawing/2018/hyperlinkcolor" val="tx"/>
                    </a:ext>
                  </a:extLst>
                </a:hlinkClick>
              </a:rPr>
              <a:t>U1</a:t>
            </a:r>
            <a:pPr algn="l" indent="0" marL="0">
              <a:lnSpc>
                <a:spcPct val="128000"/>
              </a:lnSpc>
              <a:buNone/>
            </a:pPr>
            <a:r>
              <a:rPr lang="en-GB" altLang="en-US" sz="1620" dirty="0">
                <a:solidFill>
                  <a:srgbClr val="222222"/>
                </a:solidFill>
                <a:latin typeface="Arial" pitchFamily="34" charset="0"/>
                <a:ea typeface="Arial" pitchFamily="34" charset="-122"/>
                <a:cs typeface="Arial" pitchFamily="34" charset="-120"/>
              </a:rPr>
              <a:t>, M1–M4, demo call scope</a:t>
            </a:r>
            <a:endParaRPr lang="en-GB" sz="1620" dirty="0"/>
          </a:p>
        </p:txBody>
      </p:sp>
      <p:sp>
        <p:nvSpPr>
          <p:cNvPr id="5" name="e24-2"/>
          <p:cNvSpPr/>
          <p:nvPr/>
        </p:nvSpPr>
        <p:spPr>
          <a:xfrm>
            <a:off x="609600" y="2758440"/>
            <a:ext cx="10972800" cy="365760"/>
          </a:xfrm>
          <a:prstGeom prst="rect">
            <a:avLst/>
          </a:prstGeom>
          <a:noFill/>
          <a:ln/>
        </p:spPr>
        <p:txBody>
          <a:bodyPr wrap="square" lIns="0" tIns="0" rIns="0" bIns="0" rtlCol="0" anchor="t"/>
          <a:lstStyle/>
          <a:p>
            <a:pPr algn="l" indent="0" marL="0">
              <a:lnSpc>
                <a:spcPct val="128000"/>
              </a:lnSpc>
              <a:buNone/>
            </a:pPr>
            <a:r>
              <a:rPr lang="en-GB" altLang="en-US" sz="1620" b="1" dirty="0">
                <a:solidFill>
                  <a:srgbClr val="222222"/>
                </a:solidFill>
                <a:latin typeface="Arial" pitchFamily="34" charset="0"/>
                <a:ea typeface="Arial" pitchFamily="34" charset="-122"/>
                <a:cs typeface="Arial" pitchFamily="34" charset="-120"/>
              </a:rPr>
              <a:t>Fact or inference: </a:t>
            </a:r>
            <a:pPr algn="l" indent="0" marL="0">
              <a:lnSpc>
                <a:spcPct val="128000"/>
              </a:lnSpc>
              <a:buNone/>
            </a:pPr>
            <a:r>
              <a:rPr lang="en-GB" altLang="en-US" sz="1620" dirty="0">
                <a:solidFill>
                  <a:srgbClr val="222222"/>
                </a:solidFill>
                <a:latin typeface="Arial" pitchFamily="34" charset="0"/>
                <a:ea typeface="Arial" pitchFamily="34" charset="-122"/>
                <a:cs typeface="Arial" pitchFamily="34" charset="-120"/>
              </a:rPr>
              <a:t>A within the reviewed scope; implementation conditions are D</a:t>
            </a:r>
            <a:endParaRPr lang="en-GB" sz="1620" dirty="0"/>
          </a:p>
        </p:txBody>
      </p:sp>
      <p:sp>
        <p:nvSpPr>
          <p:cNvPr id="6" name="e24-3"/>
          <p:cNvSpPr/>
          <p:nvPr/>
        </p:nvSpPr>
        <p:spPr>
          <a:xfrm>
            <a:off x="609600" y="3200400"/>
            <a:ext cx="10972800" cy="365760"/>
          </a:xfrm>
          <a:prstGeom prst="rect">
            <a:avLst/>
          </a:prstGeom>
          <a:noFill/>
          <a:ln/>
        </p:spPr>
        <p:txBody>
          <a:bodyPr wrap="square" lIns="0" tIns="0" rIns="0" bIns="0" rtlCol="0" anchor="t"/>
          <a:lstStyle/>
          <a:p>
            <a:pPr algn="l" indent="0" marL="0">
              <a:lnSpc>
                <a:spcPct val="128000"/>
              </a:lnSpc>
              <a:buNone/>
            </a:pPr>
            <a:r>
              <a:rPr lang="en-GB" altLang="en-US" sz="1620" b="1" dirty="0">
                <a:solidFill>
                  <a:srgbClr val="222222"/>
                </a:solidFill>
                <a:latin typeface="Arial" pitchFamily="34" charset="0"/>
                <a:ea typeface="Arial" pitchFamily="34" charset="-122"/>
                <a:cs typeface="Arial" pitchFamily="34" charset="-120"/>
              </a:rPr>
              <a:t>Evidence strength: </a:t>
            </a:r>
            <a:pPr algn="l" indent="0" marL="0">
              <a:lnSpc>
                <a:spcPct val="128000"/>
              </a:lnSpc>
              <a:buNone/>
            </a:pPr>
            <a:r>
              <a:rPr lang="en-GB" altLang="en-US" sz="1620" dirty="0">
                <a:solidFill>
                  <a:srgbClr val="222222"/>
                </a:solidFill>
                <a:latin typeface="Arial" pitchFamily="34" charset="0"/>
                <a:ea typeface="Arial" pitchFamily="34" charset="-122"/>
                <a:cs typeface="Arial" pitchFamily="34" charset="-120"/>
              </a:rPr>
              <a:t>High, limited to the absence of validation</a:t>
            </a:r>
            <a:endParaRPr lang="en-GB" sz="1620" dirty="0"/>
          </a:p>
        </p:txBody>
      </p:sp>
      <p:sp>
        <p:nvSpPr>
          <p:cNvPr id="7" name="e24-4"/>
          <p:cNvSpPr/>
          <p:nvPr/>
        </p:nvSpPr>
        <p:spPr>
          <a:xfrm>
            <a:off x="609600" y="3642360"/>
            <a:ext cx="10972800" cy="365760"/>
          </a:xfrm>
          <a:prstGeom prst="rect">
            <a:avLst/>
          </a:prstGeom>
          <a:noFill/>
          <a:ln/>
        </p:spPr>
        <p:txBody>
          <a:bodyPr wrap="square" lIns="0" tIns="0" rIns="0" bIns="0" rtlCol="0" anchor="t"/>
          <a:lstStyle/>
          <a:p>
            <a:pPr algn="l" indent="0" marL="0">
              <a:lnSpc>
                <a:spcPct val="128000"/>
              </a:lnSpc>
              <a:buNone/>
            </a:pPr>
            <a:r>
              <a:rPr lang="en-GB" altLang="en-US" sz="1620" b="1" dirty="0">
                <a:solidFill>
                  <a:srgbClr val="222222"/>
                </a:solidFill>
                <a:latin typeface="Arial" pitchFamily="34" charset="0"/>
                <a:ea typeface="Arial" pitchFamily="34" charset="-122"/>
                <a:cs typeface="Arial" pitchFamily="34" charset="-120"/>
              </a:rPr>
              <a:t>Open question: </a:t>
            </a:r>
            <a:pPr algn="l" indent="0" marL="0">
              <a:lnSpc>
                <a:spcPct val="128000"/>
              </a:lnSpc>
              <a:buNone/>
            </a:pPr>
            <a:r>
              <a:rPr lang="en-GB" altLang="en-US" sz="1620" dirty="0">
                <a:solidFill>
                  <a:srgbClr val="222222"/>
                </a:solidFill>
                <a:latin typeface="Arial" pitchFamily="34" charset="0"/>
                <a:ea typeface="Arial" pitchFamily="34" charset="-122"/>
                <a:cs typeface="Arial" pitchFamily="34" charset="-120"/>
              </a:rPr>
              <a:t>Company-permitted tools, data, identities and integration methods</a:t>
            </a:r>
            <a:endParaRPr lang="en-GB" sz="1620" dirty="0"/>
          </a:p>
        </p:txBody>
      </p:sp>
      <p:sp>
        <p:nvSpPr>
          <p:cNvPr id="8" name="e24-5"/>
          <p:cNvSpPr/>
          <p:nvPr/>
        </p:nvSpPr>
        <p:spPr>
          <a:xfrm>
            <a:off x="609600" y="4084320"/>
            <a:ext cx="10972800" cy="640080"/>
          </a:xfrm>
          <a:prstGeom prst="rect">
            <a:avLst/>
          </a:prstGeom>
          <a:noFill/>
          <a:ln/>
        </p:spPr>
        <p:txBody>
          <a:bodyPr wrap="square" lIns="0" tIns="0" rIns="0" bIns="0" rtlCol="0" anchor="t"/>
          <a:lstStyle/>
          <a:p>
            <a:pPr algn="l" indent="0" marL="0">
              <a:lnSpc>
                <a:spcPct val="128000"/>
              </a:lnSpc>
              <a:buNone/>
            </a:pPr>
            <a:r>
              <a:rPr lang="en-GB" altLang="en-US" sz="1620" b="1" dirty="0">
                <a:solidFill>
                  <a:srgbClr val="222222"/>
                </a:solidFill>
                <a:latin typeface="Arial" pitchFamily="34" charset="0"/>
                <a:ea typeface="Arial" pitchFamily="34" charset="-122"/>
                <a:cs typeface="Arial" pitchFamily="34" charset="-120"/>
              </a:rPr>
              <a:t>Implication for this report: </a:t>
            </a:r>
            <a:pPr algn="l" indent="0" marL="0">
              <a:lnSpc>
                <a:spcPct val="128000"/>
              </a:lnSpc>
              <a:buNone/>
            </a:pPr>
            <a:r>
              <a:rPr lang="en-GB" altLang="en-US" sz="1620" dirty="0">
                <a:solidFill>
                  <a:srgbClr val="222222"/>
                </a:solidFill>
                <a:latin typeface="Arial" pitchFamily="34" charset="0"/>
                <a:ea typeface="Arial" pitchFamily="34" charset="-122"/>
                <a:cs typeface="Arial" pitchFamily="34" charset="-120"/>
              </a:rPr>
              <a:t>Decide product capability and eligibility for bank use separately; do not infer existing internal problems</a:t>
            </a:r>
            <a:endParaRPr lang="en-GB" sz="1620" dirty="0"/>
          </a:p>
        </p:txBody>
      </p:sp>
      <p:sp>
        <p:nvSpPr>
          <p:cNvPr id="10" name="Text 1"/>
          <p:cNvSpPr/>
          <p:nvPr>
            <p:ph idx="102" type="body" hasCustomPrompt="1"/>
          </p:nvPr>
        </p:nvSpPr>
        <p:spPr>
          <a:xfrm>
            <a:off x="762000" y="2057400"/>
            <a:ext cx="10668000" cy="3886200"/>
          </a:xfrm>
          <a:prstGeom prst="rect">
            <a:avLst/>
          </a:prstGeom>
          <a:noFill/>
          <a:ln/>
        </p:spPr>
        <p:txBody>
          <a:bodyPr wrap="square" lIns="0" tIns="0" rIns="0" bIns="0" rtlCol="0" anchor="t"/>
          <a:lstStyle/>
          <a:p>
            <a:pPr indent="0" marL="0">
              <a:buNone/>
            </a:pPr>
            <a:endParaRPr lang="en-US" sz="1680" dirty="0"/>
          </a:p>
        </p:txBody>
      </p:sp>
    </p:spTree>
  </p:cSld>
  <p:clrMapOvr>
    <a:masterClrMapping/>
  </p:clrMapOvr>
</p:sld>
</file>

<file path=ppt/theme/theme1.xml><?xml version="1.0" encoding="utf-8"?>
<a:theme xmlns:a="http://schemas.openxmlformats.org/drawingml/2006/main" name="Office Theme">
  <a:themeElements>
    <a:clrScheme name="Corporate">
      <a:dk1>
        <a:srgbClr val="000000"/>
      </a:dk1>
      <a:lt1>
        <a:srgbClr val="FFFFFF"/>
      </a:lt1>
      <a:dk2>
        <a:srgbClr val="444444"/>
      </a:dk2>
      <a:lt2>
        <a:srgbClr val="F4F4F4"/>
      </a:lt2>
      <a:accent1>
        <a:srgbClr val="DB0011"/>
      </a:accent1>
      <a:accent2>
        <a:srgbClr val="000000"/>
      </a:accent2>
      <a:accent3>
        <a:srgbClr val="999999"/>
      </a:accent3>
      <a:accent4>
        <a:srgbClr val="A3000D"/>
      </a:accent4>
      <a:accent5>
        <a:srgbClr val="B6B6B6"/>
      </a:accent5>
      <a:accent6>
        <a:srgbClr val="E6E6E6"/>
      </a:accent6>
      <a:hlink>
        <a:srgbClr val="DB0011"/>
      </a:hlink>
      <a:folHlink>
        <a:srgbClr val="8D0B20"/>
      </a:folHlink>
    </a:clrScheme>
    <a:fontScheme name="Office">
      <a:majorFont>
        <a:latin typeface="Arial"/>
        <a:ea typeface="Arial"/>
        <a:cs typeface=""/>
        <a:font script="Jpan" typeface="游ゴシック Light"/>
        <a:font script="Hang" typeface="맑은 고딕"/>
        <a:font script="Hans" typeface="Arial"/>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Arial"/>
        <a:cs typeface=""/>
        <a:font script="Jpan" typeface="游ゴシック"/>
        <a:font script="Hang" typeface="맑은 고딕"/>
        <a:font script="Hans" typeface="Arial"/>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74</Slides>
  <Notes>74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74</vt:i4>
      </vt:variant>
    </vt:vector>
  </HeadingPairs>
  <TitlesOfParts>
    <vt:vector size="7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vector>
  </TitlesOfParts>
  <Company>HSBC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Qwen Office × DingTalk: A Shanqin Case Study</dc:title>
  <dc:subject>Native editable slides; web animations export as visible final state.</dc:subject>
  <dc:creator>Leo Zhang</dc:creator>
  <cp:lastModifiedBy>Leo Zhang</cp:lastModifiedBy>
  <cp:revision>1</cp:revision>
  <dcterms:created xsi:type="dcterms:W3CDTF">2026-10-15T02:19:27Z</dcterms:created>
  <dcterms:modified xsi:type="dcterms:W3CDTF">2026-10-15T02:19:27Z</dcterms:modified>
</cp:coreProperties>
</file>