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让业务数据走到下一步行动
业务系统 × 千问办公 × 钉钉
从陕秦模拟项目看办公协同：把资料与台账中的信息，组织成主管可讨论的简报、待决策事项和跟进任务。
实践人员：Leo Zhang · 实践 2026.10.10 · 简报 2026.10.15
给主管的建议
先验证“少整理、交得清”， 再决定是否扩大使用。
本次已展示部分跨系统操作。值得验证的是人工搬运是否减少、交接是否更清楚；当前没有实测省时比例或规模化效果。
Leo Zhang · 个人实践研究 · 供管理讨论
不代表机构官方评价、产品背书或部署决定。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三项待验证的业务价值
待验证的三项业务价值
01 / 信息准备
减少重复整理与搬运
资料提取、台账查询与简报草拟衔接起来。
验证：计入复核与返工后，人工投入是否下降。
02 / 管理沟通
让待决策事项更清楚
把“发生了什么、需要确认什么”分开表达。
验证：关键事实是否完整，结论是否有据。
03 / 工作交接
让跟进事项有落点
将口头要求转成记录、通知和带期限的待办。
验证：真实责任人能否接单、反馈与办结。
本次已展示部分跨系统操作。值得验证的是人工搬运是否减少、交接是否更清楚；当前没有实测省时比例或规模化效果。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三个工具，各自承担什么
业务系统保存记录并提供部分规则计算；千问理解和组织任务；钉钉承载资料、消息与待办。下面按场景展示实际衔接方向。
业务系统
事实与业务规则
提供合同、项目风险与跟踪数据，返回逾期、超支及进度差。
千问办公
理解与组织
调用三路数据，整理“新增、风险、已处理、待拍板”内容。
钉钉
沟通与确认入口
协同群收到项目简报，记录中可回读三项待拍板事项。
动作依据日志归纳；此框为流程示意。
流程为基于记录的示意，非实时系统演示。截图均于2026年10月15日补采；千问动作来自日志与本人观察。单人、模拟数据、预置技能，不代表真实多人管理闭环。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风险台账 → 管理简报
陕秦案例：地铁监测项目实际进度45%、计划60%；预算315万元、支出340万元。
已展示：汇总、发群及回读
01 / 业务系统
事实与业务规则
提供合同、项目风险与跟踪数据，返回逾期、超支及进度差。
可核对：超支25万元；进度差15个百分点。
02 / 千问办公
理解与组织
调用三路数据，整理“新增、风险、已处理、待拍板”内容。
动作依据日志归纳；此框为流程示意。
03 / 钉钉
沟通与确认入口
协同群收到项目简报，记录中可回读三项待拍板事项。
主管可集中看事实与问题，再作业务判断。
流程为基于记录的示意，非实时系统演示。截图均于2026年10月15日补采；千问动作来自日志与本人观察。单人、模拟数据、预置技能，不代表真实多人管理闭环。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可核对的项目事实
项目台账显示实际进度45%、计划60%、预算315万元及支出340万元
真实界面 · 项目台账 · 10月15日补采，属于当前状态。
主管能看到的价值机会
把查数据、写摘要、发消息衔接起来，让管理沟通更快进入“需要确认什么”。响应速度与决策质量尚未实测。
项目台账：进度与预算风险
业务演示系统 /demo30/projects；2026年10月15日本轮只读补采。
这是10月15日只读补采状态，不能替代10月10日接口返回。界面“滞后15%”按两项进度值应解读为相差15个百分点；风险标签由业务系统显示，不能全部归为模型独立识别。
E06、E23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简报仍需要业务判断
钉钉群中保留的10月10日项目简报节选
真实界面 · 历史群简报 · 10月15日补采，消息初始版本未核验。
需要人把关
合同到期不等于欠款，合同金额不等于待追回金额。简报中的“追收、止损”等建议不能直接作为决策依据。
群简报：信息已进入钉钉会话
本机DingTalk，“陕秦·项目协同群”；2026年10月15日补采。
这是当前客户端中的历史消息，不能单凭它确定最初版本或后续办结状态。群为单人演示；消息中的“自动提示”也不等于提醒送达已获验证。
E07、E08、E11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群内协议 → 业务台账
陕秦案例：HT-2026-0007 补充协议，金额85万元，到期日2026年9月10日。
已展示：读取与字段提取
01 / 钉钉
资料入口
群消息关联在线协议，为读取原始条款提供入口。
本次输入为预置短模板，未测陌生合同或扫描件。
02 / 千问办公
提取与确认请求
提取编号、客户、项目、金额及到期日，并提出确认请求。
Leo Zhang 全程观察到 AI 完成录入。
03 / 业务系统
业务记录
后续台账可见该协议，包含85万元金额与10月10日录入日期。
具体写入调用及确认上下文仍需补齐。
流程为基于记录的示意，非实时系统演示。截图均于2026年10月15日补采；千问动作来自日志与本人观察。单人、模拟数据、预置技能，不代表真实多人管理闭环。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把提取结果变成可复核交付物
合同台账中可见 HT-2026-0007、85万元及录入日期2026-10-10
真实界面 · 合同台账 · 10月15日补采；录入过程的说明依据本人更正 U3。
主管能看到的价值机会
将“找资料、读材料、填字段”变成可以逐项复核的交付物。可借鉴到科技项目交接资料、需求要素和变更材料提取。
合同录入结果：业务系统台账
业务演示系统 /demo30/contracts；2026年10月15日补采。
这是补采时的台账状态。截图本身不展示写入过程；“本人全程观察AI录入、未点击补充协议”的说明仍依据本人更正U3。
E04、E05、U3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保留原文出处与确认过程
保留原文出处与人工确认，核验字段和目标记录。当前截图展示结果，不能单独证明完整写入过程或确认控制已验收。
Leo Zhang 全程观察到 AI 完成录入。
具体写入调用及确认上下文仍需补齐。
E04 · E05 · U3
这是补采时的台账状态。截图本身不展示写入过程；“本人全程观察AI录入、未点击补充协议”的说明仍依据本人更正U3。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口头要求 → 跟进记录
陕秦案例：地铁项目超支纠偏要求，跟踪项 RT-001，期限指向10月17日。
已展示：登记与通知
01 / 千问办公
理解口语要求
把口头要求组织成项目、事项、期限与负责人字段。
后续向业务系统和钉钉分别调用；图中并列展示落点。
02 / 业务系统
业务跟踪落点
日志曾记录 RT-001 创建并读回；随后巡检读取为空。
状态差异原因未明，需查连接上下文与持久化记录。
03 / 钉钉
个人待办与群通知
创建带期限的个人待办并发送整改通知，截图可见待办。
本次给演示者自己，尚无真实多人交接。
流程为基于记录的示意，非实时系统演示。截图均于2026年10月15日补采；千问动作来自日志与本人观察。单人、模拟数据、预置技能，不代表真实多人管理闭环。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让会议要求有可查的记录
两项实践待办仍在钉钉列表中显示
真实界面 · 待办存在 · 相对日期与通知触达需要另行核对。
主管能看到的价值机会
让会议要求落到可查的事项。借鉴到科技项目时，可围绕同一事项关联负责人、期限、执行反馈与验收记录。
钉钉待办：从消息形成跟进事项
本机DingTalk，To-Dos列表；2026年10月15日补采。
截图补强待办存在的证据，未证明提醒触达、负责人接单或业务办结。相对日期需结合采集日与原始记录解读，不视为新的执行效果测试。
E07、E08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创建成功仍不等于办结
风险跟踪页面全部筛选下显示暂无风险跟踪项
真实界面 · 跟踪列表为空 · 当前状态不能证明历史删除或根因。
需要人把关
创建成功不等于送达、接单或办结。跨系统状态一致和真实责任人接单，应作为下一阶段的验收重点。
风险跟踪：当前列表为空
业务演示系统 /demo30/risks；2026年10月15日本轮只读补采。
这是10月15日的当前界面，不证明RT-001被删除，也不能解释10月10日两次读取差异的原因。与待办仍存在的截图并列，说明不同工作对象的状态需分别核对。
E07、E09、E10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科技部门可优先验证的两类工作
以下是候选用途，需先确认实际需求与内部允许的工具、数据和权限；不假定本部门已有相同问题。
项目周报与待决策简报
可借鉴的做法
从获准的项目资料汇总进度、风险、阻塞与待确认项，附来源，交由负责人复核后分发。
验收时看什么
准备与复核总工时；关键事实完整性；是否出现无依据的业务判断。
需求、变更与交接资料提取
可借鉴的做法
将非结构化材料转成约定字段清单，标记缺失或冲突，并保留原文定位。
验收时看什么
字段准确性与遗漏；修改轮次；计入返工后的人工投入。
优先验证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下一阶段：把交接做可靠
下一阶段 / 会议行动项与任务交接
经确认后形成实名负责人、截止时间与事项ID，在双人场景中验证接单、反馈和验收。
验收时看什么
不同系统是否对应同一事项；责任人是否收到并接受；能否追溯办结。
科技团队要补齐什么
业务数据口径与接口 → 身份权限和写入确认 → 事项ID及状态对应 → 执行日志、失败告警与人工接管。固定规则可与现有模板、普通自动化比较，再选择合适工具。
以下是候选用途，需先确认实际需求与内部允许的工具、数据和权限；不假定本部门已有相同问题。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做一次有限对照验证
选两类任务， 做一次有限对照验证。
建议两周以内，以合成资料开始。用结果判断保留、扩大或停止；当前材料支持开展验证。
1. 指定任务负责人及验收人
确认真实需求、允许的环境与数据范围；先做字段提取和简报草拟。
2. 按相同质量标准比较人工与 AI 辅助
参考方案：每场景6对相近任务。记录完整耗时、准确性、返工及失败，样本仅作初步观察。
3. 质量合格且有净改善，再扩到双人交接
将复核与维护成本计入收益。先约定阈值；状态不一致、关键遗漏或未授权动作触发停止与人工接管。
03 / 建议主管作出的下一步选择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证据支持什么，还缺少什么
已展示的能力
E04–E05 / U3：字段提取、本人观察 AI 录入及后续台账。E06 / E11：业务数据查询、简报分发及回读。E07–E08：跟踪创建、待办和通知。E20：三个工具的分工。
仍需验证的部分
E09–E10：跨次跟踪状态差异未解释。E15–E17：四次计划巡检中两次完成、两次执行错误。E21–E24：无人工效果基线，未验证真实多人协作、银行环境适配与规模化收益。
本页依据《千问办公与钉钉协同实践分析》及 E01–E24 证据矩阵提炼，是管理沟通衍生材料，不新增独立证据。“业务价值”和“科技借鉴”为待验证的分析与建议。配图保留演示业务数据，不代表完整匿名化。
流程为基于记录的示意，非实时系统演示。截图均于2026年10月15日补采；千问动作来自日志与本人观察。单人、模拟数据、预置技能，不代表真实多人管理闭环。
依据与判断边界 · 为什么建议验证，而不是直接推广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谢谢
Q&amp;A
Leo Zhang · 个人实践研究 · 供管理讨论
不代表机构官方评价、产品背书或部署决定。
建议两周以内，以合成资料开始。用结果判断保留、扩大或停止；当前材料支持开展验证。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304800" y="182880"/>
            <a:ext cx="114300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5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45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456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62000" y="2743200"/>
            <a:ext cx="10668000" cy="259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6156960"/>
            <a:ext cx="4351020" cy="518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743200"/>
            <a:ext cx="10668000" cy="259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TITLE_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TWO_COLUM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6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IMAGE_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6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KP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35052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2484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89916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8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9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6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35052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2484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89916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8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9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PROCES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35052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2484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8991600" y="2286000"/>
            <a:ext cx="2438400" cy="304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8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9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DA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743200"/>
            <a:ext cx="10668000" cy="259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FREEFOR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IMPORT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SBC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685800"/>
            <a:ext cx="11430000" cy="7620"/>
          </a:xfrm>
          <a:prstGeom prst="rect">
            <a:avLst/>
          </a:prstGeom>
          <a:solidFill>
            <a:srgbClr val="BDA8AA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add title</a:t>
            </a:r>
            <a:endParaRPr lang="en-US" sz="2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680" dirty="0"/>
          </a:p>
        </p:txBody>
      </p:sp>
      <p:sp>
        <p:nvSpPr>
          <p:cNvPr id="5" name="Shape 1"/>
          <p:cNvSpPr/>
          <p:nvPr/>
        </p:nvSpPr>
        <p:spPr>
          <a:xfrm>
            <a:off x="381000" y="685800"/>
            <a:ext cx="3276600" cy="22860"/>
          </a:xfrm>
          <a:prstGeom prst="rect">
            <a:avLst/>
          </a:prstGeom>
          <a:solidFill>
            <a:srgbClr val="DB0011"/>
          </a:solidFill>
          <a:ln w="12700">
            <a:solidFill>
              <a:srgbClr val="DB0011">
                <a:alpha val="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81000" y="18288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Technology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6172200"/>
            <a:ext cx="1356360" cy="4419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304800" y="182880"/>
            <a:ext cx="1143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456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让业务数据走到下一步行动</a:t>
            </a:r>
            <a:endParaRPr lang="zh-CN" sz="4560" dirty="0"/>
          </a:p>
        </p:txBody>
      </p:sp>
      <p:sp>
        <p:nvSpPr>
          <p:cNvPr id="3" name="overview-tools"/>
          <p:cNvSpPr/>
          <p:nvPr/>
        </p:nvSpPr>
        <p:spPr>
          <a:xfrm>
            <a:off x="457200" y="1371600"/>
            <a:ext cx="1127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92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业务系统 × 千问办公 × 钉钉</a:t>
            </a:r>
            <a:endParaRPr lang="zh-CN" sz="1920" dirty="0"/>
          </a:p>
        </p:txBody>
      </p:sp>
      <p:sp>
        <p:nvSpPr>
          <p:cNvPr id="4" name="overview-lead"/>
          <p:cNvSpPr/>
          <p:nvPr/>
        </p:nvSpPr>
        <p:spPr>
          <a:xfrm>
            <a:off x="457200" y="1981200"/>
            <a:ext cx="1127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从陕秦模拟项目看办公协同：把资料与台账中的信息，组织成主管可讨论的简报、待决策事项和跟进任务。</a:t>
            </a:r>
            <a:endParaRPr lang="zh-CN" sz="1920" dirty="0"/>
          </a:p>
        </p:txBody>
      </p:sp>
      <p:sp>
        <p:nvSpPr>
          <p:cNvPr id="5" name="overview-practitioner"/>
          <p:cNvSpPr/>
          <p:nvPr/>
        </p:nvSpPr>
        <p:spPr>
          <a:xfrm>
            <a:off x="457200" y="3048000"/>
            <a:ext cx="11277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5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实践人员：Leo Zhang · 实践 2026.10.10 · 简报 2026.10.15</a:t>
            </a:r>
            <a:endParaRPr lang="zh-CN" sz="1560" dirty="0"/>
          </a:p>
        </p:txBody>
      </p:sp>
      <p:sp>
        <p:nvSpPr>
          <p:cNvPr id="6" name="overview-recommendation"/>
          <p:cNvSpPr/>
          <p:nvPr/>
        </p:nvSpPr>
        <p:spPr>
          <a:xfrm>
            <a:off x="457200" y="3771900"/>
            <a:ext cx="11277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B80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给主管的建议</a:t>
            </a:r>
            <a:endParaRPr lang="zh-CN" sz="19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B80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先验证“少整理、交得清”， 再决定是否扩大使用。</a:t>
            </a:r>
            <a:endParaRPr lang="zh-CN" sz="1920" dirty="0"/>
          </a:p>
        </p:txBody>
      </p:sp>
      <p:sp>
        <p:nvSpPr>
          <p:cNvPr id="7" name="overview-scope"/>
          <p:cNvSpPr/>
          <p:nvPr/>
        </p:nvSpPr>
        <p:spPr>
          <a:xfrm>
            <a:off x="457200" y="4762500"/>
            <a:ext cx="11277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本次已展示部分跨系统操作。值得验证的是人工搬运是否减少、交接是否更清楚；当前没有实测省时比例或规模化效果。</a:t>
            </a:r>
            <a:endParaRPr lang="zh-CN" sz="1620" dirty="0"/>
          </a:p>
        </p:txBody>
      </p:sp>
      <p:sp>
        <p:nvSpPr>
          <p:cNvPr id="9" name="Text 0"/>
          <p:cNvSpPr/>
          <p:nvPr>
            <p:ph idx="102" type="body" hasCustomPrompt="1"/>
          </p:nvPr>
        </p:nvSpPr>
        <p:spPr>
          <a:xfrm>
            <a:off x="762000" y="2743200"/>
            <a:ext cx="106680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三项待验证的业务价值</a:t>
            </a:r>
            <a:endParaRPr lang="zh-CN" sz="2400" dirty="0"/>
          </a:p>
        </p:txBody>
      </p:sp>
      <p:sp>
        <p:nvSpPr>
          <p:cNvPr id="3" name="business-value-context"/>
          <p:cNvSpPr/>
          <p:nvPr/>
        </p:nvSpPr>
        <p:spPr>
          <a:xfrm>
            <a:off x="457200" y="1562100"/>
            <a:ext cx="11277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待验证的三项业务价值</a:t>
            </a:r>
            <a:endParaRPr lang="zh-CN" sz="1920" dirty="0"/>
          </a:p>
        </p:txBody>
      </p:sp>
      <p:sp>
        <p:nvSpPr>
          <p:cNvPr id="4" name="business-value-value-0"/>
          <p:cNvSpPr/>
          <p:nvPr/>
        </p:nvSpPr>
        <p:spPr>
          <a:xfrm>
            <a:off x="457200" y="2362200"/>
            <a:ext cx="3581400" cy="304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362200"/>
            <a:ext cx="3581400" cy="3048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信息准备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减少重复整理与搬运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资料提取、台账查询与简报草拟衔接起来。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验证：计入复核与返工后，人工投入是否下降。</a:t>
            </a:r>
            <a:endParaRPr lang="zh-CN" sz="1620" dirty="0"/>
          </a:p>
        </p:txBody>
      </p:sp>
      <p:sp>
        <p:nvSpPr>
          <p:cNvPr id="6" name="business-value-value-1"/>
          <p:cNvSpPr/>
          <p:nvPr/>
        </p:nvSpPr>
        <p:spPr>
          <a:xfrm>
            <a:off x="4343400" y="2362200"/>
            <a:ext cx="3581400" cy="304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362200"/>
            <a:ext cx="3581400" cy="3048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管理沟通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让待决策事项更清楚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把“发生了什么、需要确认什么”分开表达。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验证：关键事实是否完整，结论是否有据。</a:t>
            </a:r>
            <a:endParaRPr lang="zh-CN" sz="1620" dirty="0"/>
          </a:p>
        </p:txBody>
      </p:sp>
      <p:sp>
        <p:nvSpPr>
          <p:cNvPr id="8" name="business-value-value-2"/>
          <p:cNvSpPr/>
          <p:nvPr/>
        </p:nvSpPr>
        <p:spPr>
          <a:xfrm>
            <a:off x="8229600" y="2362200"/>
            <a:ext cx="3581400" cy="304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2362200"/>
            <a:ext cx="3581400" cy="3048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工作交接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让跟进事项有落点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将口头要求转成记录、通知和带期限的待办。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验证：真实责任人能否接单、反馈与办结。</a:t>
            </a:r>
            <a:endParaRPr lang="zh-CN" sz="162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2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三个工具，各自承担什么</a:t>
            </a:r>
            <a:endParaRPr lang="zh-CN" sz="2400" dirty="0"/>
          </a:p>
        </p:txBody>
      </p:sp>
      <p:sp>
        <p:nvSpPr>
          <p:cNvPr id="3" name="roles-division"/>
          <p:cNvSpPr/>
          <p:nvPr/>
        </p:nvSpPr>
        <p:spPr>
          <a:xfrm>
            <a:off x="457200" y="1524000"/>
            <a:ext cx="1127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业务系统保存记录并提供部分规则计算；千问理解和组织任务；钉钉承载资料、消息与待办。下面按场景展示实际衔接方向。</a:t>
            </a:r>
            <a:endParaRPr lang="zh-CN" sz="1920" dirty="0"/>
          </a:p>
        </p:txBody>
      </p:sp>
      <p:sp>
        <p:nvSpPr>
          <p:cNvPr id="4" name="roles-system-role"/>
          <p:cNvSpPr/>
          <p:nvPr/>
        </p:nvSpPr>
        <p:spPr>
          <a:xfrm>
            <a:off x="457200" y="3200400"/>
            <a:ext cx="3581400" cy="21336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0"/>
            <a:ext cx="3581400" cy="2133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业务系统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事实与业务规则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提供合同、项目风险与跟踪数据，返回逾期、超支及进度差。</a:t>
            </a:r>
            <a:endParaRPr lang="zh-CN" sz="1620" dirty="0"/>
          </a:p>
        </p:txBody>
      </p:sp>
      <p:sp>
        <p:nvSpPr>
          <p:cNvPr id="6" name="roles-qwen-role"/>
          <p:cNvSpPr/>
          <p:nvPr/>
        </p:nvSpPr>
        <p:spPr>
          <a:xfrm>
            <a:off x="4343400" y="3200400"/>
            <a:ext cx="3581400" cy="21336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3200400"/>
            <a:ext cx="3581400" cy="2133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千问办公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理解与组织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调用三路数据，整理“新增、风险、已处理、待拍板”内容。</a:t>
            </a:r>
            <a:endParaRPr lang="zh-CN" sz="1620" dirty="0"/>
          </a:p>
        </p:txBody>
      </p:sp>
      <p:sp>
        <p:nvSpPr>
          <p:cNvPr id="8" name="roles-dingtalk-role"/>
          <p:cNvSpPr/>
          <p:nvPr/>
        </p:nvSpPr>
        <p:spPr>
          <a:xfrm>
            <a:off x="8229600" y="3200400"/>
            <a:ext cx="3581400" cy="21336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3200400"/>
            <a:ext cx="3581400" cy="21336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钉钉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沟通与确认入口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协同群收到项目简报，记录中可回读三项待拍板事项。</a:t>
            </a:r>
            <a:endParaRPr lang="zh-CN" sz="1620" dirty="0"/>
          </a:p>
        </p:txBody>
      </p:sp>
      <p:sp>
        <p:nvSpPr>
          <p:cNvPr id="10" name="roles-illustration"/>
          <p:cNvSpPr/>
          <p:nvPr/>
        </p:nvSpPr>
        <p:spPr>
          <a:xfrm>
            <a:off x="457200" y="5600700"/>
            <a:ext cx="1127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3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动作依据日志归纳；此框为流程示意。</a:t>
            </a:r>
            <a:endParaRPr lang="zh-CN" sz="1380" dirty="0"/>
          </a:p>
        </p:txBody>
      </p:sp>
      <p:sp>
        <p:nvSpPr>
          <p:cNvPr id="12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3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风险台账 → 管理简报</a:t>
            </a:r>
            <a:endParaRPr lang="zh-CN" sz="2400" dirty="0"/>
          </a:p>
        </p:txBody>
      </p:sp>
      <p:sp>
        <p:nvSpPr>
          <p:cNvPr id="3" name="risk-flow-context"/>
          <p:cNvSpPr/>
          <p:nvPr/>
        </p:nvSpPr>
        <p:spPr>
          <a:xfrm>
            <a:off x="457200" y="1562100"/>
            <a:ext cx="11277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陕秦案例：地铁监测项目实际进度45%、计划60%；预算315万元、支出340万元。</a:t>
            </a:r>
            <a:endParaRPr lang="zh-CN" sz="174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已展示：汇总、发群及回读</a:t>
            </a:r>
            <a:endParaRPr lang="zh-CN" sz="1740" dirty="0"/>
          </a:p>
        </p:txBody>
      </p:sp>
      <p:sp>
        <p:nvSpPr>
          <p:cNvPr id="4" name="risk-flow-step-1"/>
          <p:cNvSpPr/>
          <p:nvPr/>
        </p:nvSpPr>
        <p:spPr>
          <a:xfrm>
            <a:off x="4572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业务系统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事实与业务规则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提供合同、项目风险与跟踪数据，返回逾期、超支及进度差。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可核对：超支25万元；进度差15个百分点。</a:t>
            </a:r>
            <a:endParaRPr lang="zh-CN" sz="1620" dirty="0"/>
          </a:p>
        </p:txBody>
      </p:sp>
      <p:sp>
        <p:nvSpPr>
          <p:cNvPr id="6" name="risk-flow-step-2"/>
          <p:cNvSpPr/>
          <p:nvPr/>
        </p:nvSpPr>
        <p:spPr>
          <a:xfrm>
            <a:off x="43434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千问办公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理解与组织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调用三路数据，整理“新增、风险、已处理、待拍板”内容。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动作依据日志归纳；此框为流程示意。</a:t>
            </a:r>
            <a:endParaRPr lang="zh-CN" sz="1620" dirty="0"/>
          </a:p>
        </p:txBody>
      </p:sp>
      <p:sp>
        <p:nvSpPr>
          <p:cNvPr id="8" name="risk-flow-step-3"/>
          <p:cNvSpPr/>
          <p:nvPr/>
        </p:nvSpPr>
        <p:spPr>
          <a:xfrm>
            <a:off x="82296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钉钉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沟通与确认入口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协同群收到项目简报，记录中可回读三项待拍板事项。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主管可集中看事实与问题，再作业务判断。</a:t>
            </a:r>
            <a:endParaRPr lang="zh-CN" sz="162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2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可核对的项目事实</a:t>
            </a:r>
            <a:endParaRPr lang="zh-CN" sz="2400" dirty="0"/>
          </a:p>
        </p:txBody>
      </p:sp>
      <p:pic>
        <p:nvPicPr>
          <p:cNvPr id="3" name="risk-record-evidence-image" descr="项目台账显示实际进度45%、计划60%、预算315万元及支出340万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379" y="1562100"/>
            <a:ext cx="9937242" cy="2628900"/>
          </a:xfrm>
          <a:prstGeom prst="rect">
            <a:avLst/>
          </a:prstGeom>
        </p:spPr>
      </p:pic>
      <p:sp>
        <p:nvSpPr>
          <p:cNvPr id="4" name="risk-record-caption"/>
          <p:cNvSpPr/>
          <p:nvPr/>
        </p:nvSpPr>
        <p:spPr>
          <a:xfrm>
            <a:off x="457200" y="4267200"/>
            <a:ext cx="1127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38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真实界面 · 项目台账 · 10月15日补采，属于当前状态。</a:t>
            </a:r>
            <a:endParaRPr lang="zh-CN" sz="1380" dirty="0"/>
          </a:p>
        </p:txBody>
      </p:sp>
      <p:sp>
        <p:nvSpPr>
          <p:cNvPr id="5" name="risk-record-analysis"/>
          <p:cNvSpPr/>
          <p:nvPr/>
        </p:nvSpPr>
        <p:spPr>
          <a:xfrm>
            <a:off x="457200" y="4838700"/>
            <a:ext cx="11277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主管能看到的价值机会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把查数据、写摘要、发消息衔接起来，让管理沟通更快进入“需要确认什么”。响应速度与决策质量尚未实测。</a:t>
            </a:r>
            <a:endParaRPr lang="zh-CN" sz="162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简报仍需要业务判断</a:t>
            </a:r>
            <a:endParaRPr lang="zh-CN" sz="2400" dirty="0"/>
          </a:p>
        </p:txBody>
      </p:sp>
      <p:pic>
        <p:nvPicPr>
          <p:cNvPr id="3" name="risk-message-evidence-image" descr="钉钉群中保留的10月10日项目简报节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78518"/>
            <a:ext cx="5943600" cy="3034364"/>
          </a:xfrm>
          <a:prstGeom prst="rect">
            <a:avLst/>
          </a:prstGeom>
        </p:spPr>
      </p:pic>
      <p:sp>
        <p:nvSpPr>
          <p:cNvPr id="4" name="risk-message-caption"/>
          <p:cNvSpPr/>
          <p:nvPr/>
        </p:nvSpPr>
        <p:spPr>
          <a:xfrm>
            <a:off x="6743700" y="1562100"/>
            <a:ext cx="495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38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真实界面 · 历史群简报 · 10月15日补采，消息初始版本未核验。</a:t>
            </a:r>
            <a:endParaRPr lang="zh-CN" sz="1380" dirty="0"/>
          </a:p>
        </p:txBody>
      </p:sp>
      <p:sp>
        <p:nvSpPr>
          <p:cNvPr id="5" name="risk-message-analysis"/>
          <p:cNvSpPr/>
          <p:nvPr/>
        </p:nvSpPr>
        <p:spPr>
          <a:xfrm>
            <a:off x="6743700" y="2514600"/>
            <a:ext cx="4953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需要人把关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合同到期不等于欠款，合同金额不等于待追回金额。简报中的“追收、止损”等建议不能直接作为决策依据。</a:t>
            </a:r>
            <a:endParaRPr lang="zh-CN" sz="162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群内协议 → 业务台账</a:t>
            </a:r>
            <a:endParaRPr lang="zh-CN" sz="2400" dirty="0"/>
          </a:p>
        </p:txBody>
      </p:sp>
      <p:sp>
        <p:nvSpPr>
          <p:cNvPr id="3" name="contract-flow-context"/>
          <p:cNvSpPr/>
          <p:nvPr/>
        </p:nvSpPr>
        <p:spPr>
          <a:xfrm>
            <a:off x="457200" y="1562100"/>
            <a:ext cx="11277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陕秦案例：HT-2026-0007 补充协议，金额85万元，到期日2026年9月10日。</a:t>
            </a:r>
            <a:endParaRPr lang="zh-CN" sz="174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已展示：读取与字段提取</a:t>
            </a:r>
            <a:endParaRPr lang="zh-CN" sz="1740" dirty="0"/>
          </a:p>
        </p:txBody>
      </p:sp>
      <p:sp>
        <p:nvSpPr>
          <p:cNvPr id="4" name="contract-flow-step-1"/>
          <p:cNvSpPr/>
          <p:nvPr/>
        </p:nvSpPr>
        <p:spPr>
          <a:xfrm>
            <a:off x="4572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钉钉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资料入口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群消息关联在线协议，为读取原始条款提供入口。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本次输入为预置短模板，未测陌生合同或扫描件。</a:t>
            </a:r>
            <a:endParaRPr lang="zh-CN" sz="1620" dirty="0"/>
          </a:p>
        </p:txBody>
      </p:sp>
      <p:sp>
        <p:nvSpPr>
          <p:cNvPr id="6" name="contract-flow-step-2"/>
          <p:cNvSpPr/>
          <p:nvPr/>
        </p:nvSpPr>
        <p:spPr>
          <a:xfrm>
            <a:off x="43434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千问办公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提取与确认请求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提取编号、客户、项目、金额及到期日，并提出确认请求。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Zhang 全程观察到 AI 完成录入。</a:t>
            </a:r>
            <a:endParaRPr lang="zh-CN" sz="1620" dirty="0"/>
          </a:p>
        </p:txBody>
      </p:sp>
      <p:sp>
        <p:nvSpPr>
          <p:cNvPr id="8" name="contract-flow-step-3"/>
          <p:cNvSpPr/>
          <p:nvPr/>
        </p:nvSpPr>
        <p:spPr>
          <a:xfrm>
            <a:off x="82296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业务系统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业务记录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后续台账可见该协议，包含85万元金额与10月10日录入日期。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具体写入调用及确认上下文仍需补齐。</a:t>
            </a:r>
            <a:endParaRPr lang="zh-CN" sz="162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2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把提取结果变成可复核交付物</a:t>
            </a:r>
            <a:endParaRPr lang="zh-CN" sz="2400" dirty="0"/>
          </a:p>
        </p:txBody>
      </p:sp>
      <p:pic>
        <p:nvPicPr>
          <p:cNvPr id="3" name="contract-record-evidence-image" descr="合同台账中可见 HT-2026-0007、85万元及录入日期2026-10-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483" y="1562100"/>
            <a:ext cx="8281035" cy="2628900"/>
          </a:xfrm>
          <a:prstGeom prst="rect">
            <a:avLst/>
          </a:prstGeom>
        </p:spPr>
      </p:pic>
      <p:sp>
        <p:nvSpPr>
          <p:cNvPr id="4" name="contract-record-caption"/>
          <p:cNvSpPr/>
          <p:nvPr/>
        </p:nvSpPr>
        <p:spPr>
          <a:xfrm>
            <a:off x="457200" y="4267200"/>
            <a:ext cx="1127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38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真实界面 · 合同台账 · 10月15日补采；录入过程的说明依据本人更正 U3。</a:t>
            </a:r>
            <a:endParaRPr lang="zh-CN" sz="1380" dirty="0"/>
          </a:p>
        </p:txBody>
      </p:sp>
      <p:sp>
        <p:nvSpPr>
          <p:cNvPr id="5" name="contract-record-analysis"/>
          <p:cNvSpPr/>
          <p:nvPr/>
        </p:nvSpPr>
        <p:spPr>
          <a:xfrm>
            <a:off x="457200" y="4838700"/>
            <a:ext cx="11277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主管能看到的价值机会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将“找资料、读材料、填字段”变成可以逐项复核的交付物。可借鉴到科技项目交接资料、需求要素和变更材料提取。</a:t>
            </a:r>
            <a:endParaRPr lang="zh-CN" sz="162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保留原文出处与确认过程</a:t>
            </a:r>
            <a:endParaRPr lang="zh-CN" sz="2400" dirty="0"/>
          </a:p>
        </p:txBody>
      </p:sp>
      <p:sp>
        <p:nvSpPr>
          <p:cNvPr id="3" name="contract-control-control"/>
          <p:cNvSpPr/>
          <p:nvPr/>
        </p:nvSpPr>
        <p:spPr>
          <a:xfrm>
            <a:off x="457200" y="1676400"/>
            <a:ext cx="112776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保留原文出处与人工确认，核验字段和目标记录。当前截图展示结果，不能单独证明完整写入过程或确认控制已验收。</a:t>
            </a:r>
            <a:endParaRPr lang="zh-CN" sz="2100" dirty="0"/>
          </a:p>
        </p:txBody>
      </p:sp>
      <p:sp>
        <p:nvSpPr>
          <p:cNvPr id="4" name="contract-control-observation"/>
          <p:cNvSpPr/>
          <p:nvPr/>
        </p:nvSpPr>
        <p:spPr>
          <a:xfrm>
            <a:off x="457200" y="3733800"/>
            <a:ext cx="11277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Zhang 全程观察到 AI 完成录入。</a:t>
            </a:r>
            <a:endParaRPr lang="zh-CN" sz="1920" dirty="0"/>
          </a:p>
          <a:p>
            <a:pPr algn="l" indent="0" marL="0">
              <a:lnSpc>
                <a:spcPct val="128000"/>
              </a:lnSpc>
              <a:buNone/>
            </a:pPr>
            <a:endParaRPr lang="zh-CN" sz="19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9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具体写入调用及确认上下文仍需补齐。</a:t>
            </a:r>
            <a:endParaRPr lang="zh-CN" sz="1920" dirty="0"/>
          </a:p>
        </p:txBody>
      </p:sp>
      <p:sp>
        <p:nvSpPr>
          <p:cNvPr id="5" name="contract-control-evidence"/>
          <p:cNvSpPr/>
          <p:nvPr/>
        </p:nvSpPr>
        <p:spPr>
          <a:xfrm>
            <a:off x="457200" y="54864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440" dirty="0">
                <a:solidFill>
                  <a:srgbClr val="B80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E04 · E05 · U3</a:t>
            </a:r>
            <a:endParaRPr lang="zh-CN" sz="144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口头要求 → 跟进记录</a:t>
            </a:r>
            <a:endParaRPr lang="zh-CN" sz="2400" dirty="0"/>
          </a:p>
        </p:txBody>
      </p:sp>
      <p:sp>
        <p:nvSpPr>
          <p:cNvPr id="3" name="task-flow-context"/>
          <p:cNvSpPr/>
          <p:nvPr/>
        </p:nvSpPr>
        <p:spPr>
          <a:xfrm>
            <a:off x="457200" y="1562100"/>
            <a:ext cx="11277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陕秦案例：地铁项目超支纠偏要求，跟踪项 RT-001，期限指向10月17日。</a:t>
            </a:r>
            <a:endParaRPr lang="zh-CN" sz="174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已展示：登记与通知</a:t>
            </a:r>
            <a:endParaRPr lang="zh-CN" sz="1740" dirty="0"/>
          </a:p>
        </p:txBody>
      </p:sp>
      <p:sp>
        <p:nvSpPr>
          <p:cNvPr id="4" name="task-flow-step-1"/>
          <p:cNvSpPr/>
          <p:nvPr/>
        </p:nvSpPr>
        <p:spPr>
          <a:xfrm>
            <a:off x="4572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千问办公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理解口语要求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把口头要求组织成项目、事项、期限与负责人字段。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后续向业务系统和钉钉分别调用；图中并列展示落点。</a:t>
            </a:r>
            <a:endParaRPr lang="zh-CN" sz="1620" dirty="0"/>
          </a:p>
        </p:txBody>
      </p:sp>
      <p:sp>
        <p:nvSpPr>
          <p:cNvPr id="6" name="task-flow-step-2"/>
          <p:cNvSpPr/>
          <p:nvPr/>
        </p:nvSpPr>
        <p:spPr>
          <a:xfrm>
            <a:off x="43434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434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/ 业务系统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业务跟踪落点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日志曾记录 RT-001 创建并读回；随后巡检读取为空。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状态差异原因未明，需查连接上下文与持久化记录。</a:t>
            </a:r>
            <a:endParaRPr lang="zh-CN" sz="1620" dirty="0"/>
          </a:p>
        </p:txBody>
      </p:sp>
      <p:sp>
        <p:nvSpPr>
          <p:cNvPr id="8" name="task-flow-step-3"/>
          <p:cNvSpPr/>
          <p:nvPr/>
        </p:nvSpPr>
        <p:spPr>
          <a:xfrm>
            <a:off x="8229600" y="2667000"/>
            <a:ext cx="3581400" cy="33909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2667000"/>
            <a:ext cx="3581400" cy="3390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/ 钉钉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个人待办与群通知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创建带期限的个人待办并发送整改通知，截图可见待办。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本次给演示者自己，尚无真实多人交接。</a:t>
            </a:r>
            <a:endParaRPr lang="zh-CN" sz="1620" dirty="0"/>
          </a:p>
        </p:txBody>
      </p:sp>
      <p:sp>
        <p:nvSpPr>
          <p:cNvPr id="11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2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让会议要求有可查的记录</a:t>
            </a:r>
            <a:endParaRPr lang="zh-CN" sz="2400" dirty="0"/>
          </a:p>
        </p:txBody>
      </p:sp>
      <p:pic>
        <p:nvPicPr>
          <p:cNvPr id="3" name="task-todos-evidence-image" descr="两项实践待办仍在钉钉列表中显示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2087" y="1562100"/>
            <a:ext cx="8467825" cy="2628900"/>
          </a:xfrm>
          <a:prstGeom prst="rect">
            <a:avLst/>
          </a:prstGeom>
        </p:spPr>
      </p:pic>
      <p:sp>
        <p:nvSpPr>
          <p:cNvPr id="4" name="task-todos-caption"/>
          <p:cNvSpPr/>
          <p:nvPr/>
        </p:nvSpPr>
        <p:spPr>
          <a:xfrm>
            <a:off x="457200" y="4267200"/>
            <a:ext cx="1127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38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真实界面 · 待办存在 · 相对日期与通知触达需要另行核对。</a:t>
            </a:r>
            <a:endParaRPr lang="zh-CN" sz="1380" dirty="0"/>
          </a:p>
        </p:txBody>
      </p:sp>
      <p:sp>
        <p:nvSpPr>
          <p:cNvPr id="5" name="task-todos-analysis"/>
          <p:cNvSpPr/>
          <p:nvPr/>
        </p:nvSpPr>
        <p:spPr>
          <a:xfrm>
            <a:off x="457200" y="4838700"/>
            <a:ext cx="11277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主管能看到的价值机会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让会议要求落到可查的事项。借鉴到科技项目时，可围绕同一事项关联负责人、期限、执行反馈与验收记录。</a:t>
            </a:r>
            <a:endParaRPr lang="zh-CN" sz="162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创建成功仍不等于办结</a:t>
            </a:r>
            <a:endParaRPr lang="zh-CN" sz="2400" dirty="0"/>
          </a:p>
        </p:txBody>
      </p:sp>
      <p:pic>
        <p:nvPicPr>
          <p:cNvPr id="3" name="task-discrepancy-evidence-image" descr="风险跟踪页面全部筛选下显示暂无风险跟踪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379" y="1562100"/>
            <a:ext cx="9937242" cy="2628900"/>
          </a:xfrm>
          <a:prstGeom prst="rect">
            <a:avLst/>
          </a:prstGeom>
        </p:spPr>
      </p:pic>
      <p:sp>
        <p:nvSpPr>
          <p:cNvPr id="4" name="task-discrepancy-caption"/>
          <p:cNvSpPr/>
          <p:nvPr/>
        </p:nvSpPr>
        <p:spPr>
          <a:xfrm>
            <a:off x="457200" y="4267200"/>
            <a:ext cx="1127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38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真实界面 · 跟踪列表为空 · 当前状态不能证明历史删除或根因。</a:t>
            </a:r>
            <a:endParaRPr lang="zh-CN" sz="1380" dirty="0"/>
          </a:p>
        </p:txBody>
      </p:sp>
      <p:sp>
        <p:nvSpPr>
          <p:cNvPr id="5" name="task-discrepancy-analysis"/>
          <p:cNvSpPr/>
          <p:nvPr/>
        </p:nvSpPr>
        <p:spPr>
          <a:xfrm>
            <a:off x="457200" y="4838700"/>
            <a:ext cx="11277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需要人把关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创建成功不等于送达、接单或办结。跨系统状态一致和真实责任人接单，应作为下一阶段的验收重点。</a:t>
            </a:r>
            <a:endParaRPr lang="zh-CN" sz="162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科技部门可优先验证的两类工作</a:t>
            </a:r>
            <a:endParaRPr lang="zh-CN" sz="2400" dirty="0"/>
          </a:p>
        </p:txBody>
      </p:sp>
      <p:sp>
        <p:nvSpPr>
          <p:cNvPr id="3" name="technology-use-candidate-scope"/>
          <p:cNvSpPr/>
          <p:nvPr/>
        </p:nvSpPr>
        <p:spPr>
          <a:xfrm>
            <a:off x="457200" y="1562100"/>
            <a:ext cx="112776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7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以下是候选用途，需先确认实际需求与内部允许的工具、数据和权限；不假定本部门已有相同问题。</a:t>
            </a:r>
            <a:endParaRPr lang="zh-CN" sz="1740" dirty="0"/>
          </a:p>
        </p:txBody>
      </p:sp>
      <p:sp>
        <p:nvSpPr>
          <p:cNvPr id="4" name="technology-use-brief-use"/>
          <p:cNvSpPr/>
          <p:nvPr/>
        </p:nvSpPr>
        <p:spPr>
          <a:xfrm>
            <a:off x="457200" y="2705100"/>
            <a:ext cx="5486400" cy="304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05100"/>
            <a:ext cx="5486400" cy="3048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项目周报与待决策简报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可借鉴的做法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从获准的项目资料汇总进度、风险、阻塞与待确认项，附来源，交由负责人复核后分发。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验收时看什么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准备与复核总工时；关键事实完整性；是否出现无依据的业务判断。</a:t>
            </a:r>
            <a:endParaRPr lang="zh-CN" sz="1620" dirty="0"/>
          </a:p>
        </p:txBody>
      </p:sp>
      <p:sp>
        <p:nvSpPr>
          <p:cNvPr id="6" name="technology-use-extraction-use"/>
          <p:cNvSpPr/>
          <p:nvPr/>
        </p:nvSpPr>
        <p:spPr>
          <a:xfrm>
            <a:off x="6324600" y="2705100"/>
            <a:ext cx="5486400" cy="30480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24600" y="2705100"/>
            <a:ext cx="5486400" cy="3048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需求、变更与交接资料提取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可借鉴的做法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将非结构化材料转成约定字段清单，标记缺失或冲突，并保留原文定位。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验收时看什么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字段准确性与遗漏；修改轮次；计入返工后的人工投入。</a:t>
            </a:r>
            <a:endParaRPr lang="zh-CN" sz="1620" dirty="0"/>
          </a:p>
        </p:txBody>
      </p:sp>
      <p:sp>
        <p:nvSpPr>
          <p:cNvPr id="9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0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下一阶段：把交接做可靠</a:t>
            </a:r>
            <a:endParaRPr lang="zh-CN" sz="2400" dirty="0"/>
          </a:p>
        </p:txBody>
      </p:sp>
      <p:sp>
        <p:nvSpPr>
          <p:cNvPr id="3" name="technology-foundations-candidate"/>
          <p:cNvSpPr/>
          <p:nvPr/>
        </p:nvSpPr>
        <p:spPr>
          <a:xfrm>
            <a:off x="457200" y="1562100"/>
            <a:ext cx="1127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20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下一阶段 / 会议行动项与任务交接</a:t>
            </a:r>
            <a:endParaRPr lang="zh-CN" sz="2040" dirty="0"/>
          </a:p>
        </p:txBody>
      </p:sp>
      <p:sp>
        <p:nvSpPr>
          <p:cNvPr id="4" name="technology-foundations-approach"/>
          <p:cNvSpPr/>
          <p:nvPr/>
        </p:nvSpPr>
        <p:spPr>
          <a:xfrm>
            <a:off x="457200" y="2324100"/>
            <a:ext cx="11277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经确认后形成实名负责人、截止时间与事项ID，在双人场景中验证接单、反馈和验收。</a:t>
            </a:r>
            <a:endParaRPr lang="zh-CN" sz="1860" dirty="0"/>
          </a:p>
        </p:txBody>
      </p:sp>
      <p:sp>
        <p:nvSpPr>
          <p:cNvPr id="5" name="technology-foundations-checks"/>
          <p:cNvSpPr/>
          <p:nvPr/>
        </p:nvSpPr>
        <p:spPr>
          <a:xfrm>
            <a:off x="457200" y="3467100"/>
            <a:ext cx="11277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验收时看什么</a:t>
            </a:r>
            <a:endParaRPr lang="zh-CN" sz="186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8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不同系统是否对应同一事项；责任人是否收到并接受；能否追溯办结。</a:t>
            </a:r>
            <a:endParaRPr lang="zh-CN" sz="1860" dirty="0"/>
          </a:p>
        </p:txBody>
      </p:sp>
      <p:sp>
        <p:nvSpPr>
          <p:cNvPr id="6" name="technology-foundations-engineering"/>
          <p:cNvSpPr/>
          <p:nvPr/>
        </p:nvSpPr>
        <p:spPr>
          <a:xfrm>
            <a:off x="457200" y="4686300"/>
            <a:ext cx="11277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科技团队要补齐什么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业务数据口径与接口 → 身份权限和写入确认 → 事项ID及状态对应 → 执行日志、失败告警与人工接管。固定规则可与现有模板、普通自动化比较，再选择合适工具。</a:t>
            </a:r>
            <a:endParaRPr lang="zh-CN" sz="1620" dirty="0"/>
          </a:p>
        </p:txBody>
      </p:sp>
      <p:sp>
        <p:nvSpPr>
          <p:cNvPr id="8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做一次有限对照验证</a:t>
            </a:r>
            <a:endParaRPr lang="zh-CN" sz="2400" dirty="0"/>
          </a:p>
        </p:txBody>
      </p:sp>
      <p:sp>
        <p:nvSpPr>
          <p:cNvPr id="3" name="next-step-proposal"/>
          <p:cNvSpPr/>
          <p:nvPr/>
        </p:nvSpPr>
        <p:spPr>
          <a:xfrm>
            <a:off x="457200" y="1562100"/>
            <a:ext cx="112776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选两类任务， 做一次有限对照验证。</a:t>
            </a:r>
            <a:endParaRPr lang="zh-CN" sz="18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建议两周以内，以合成资料开始。用结果判断保留、扩大或停止；当前材料支持开展验证。</a:t>
            </a:r>
            <a:endParaRPr lang="zh-CN" sz="1800" dirty="0"/>
          </a:p>
        </p:txBody>
      </p:sp>
      <p:sp>
        <p:nvSpPr>
          <p:cNvPr id="4" name="next-step-step-0"/>
          <p:cNvSpPr/>
          <p:nvPr/>
        </p:nvSpPr>
        <p:spPr>
          <a:xfrm>
            <a:off x="457200" y="2781300"/>
            <a:ext cx="11277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指定任务负责人及验收人</a:t>
            </a:r>
            <a:endParaRPr lang="zh-CN" sz="168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确认真实需求、允许的环境与数据范围；先做字段提取和简报草拟。</a:t>
            </a:r>
            <a:endParaRPr lang="zh-CN" sz="1680" dirty="0"/>
          </a:p>
        </p:txBody>
      </p:sp>
      <p:sp>
        <p:nvSpPr>
          <p:cNvPr id="5" name="next-step-step-1"/>
          <p:cNvSpPr/>
          <p:nvPr/>
        </p:nvSpPr>
        <p:spPr>
          <a:xfrm>
            <a:off x="457200" y="3848100"/>
            <a:ext cx="11277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按相同质量标准比较人工与 AI 辅助</a:t>
            </a:r>
            <a:endParaRPr lang="zh-CN" sz="168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参考方案：每场景6对相近任务。记录完整耗时、准确性、返工及失败，样本仅作初步观察。</a:t>
            </a:r>
            <a:endParaRPr lang="zh-CN" sz="1680" dirty="0"/>
          </a:p>
        </p:txBody>
      </p:sp>
      <p:sp>
        <p:nvSpPr>
          <p:cNvPr id="6" name="next-step-step-2"/>
          <p:cNvSpPr/>
          <p:nvPr/>
        </p:nvSpPr>
        <p:spPr>
          <a:xfrm>
            <a:off x="457200" y="4914900"/>
            <a:ext cx="11277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质量合格且有净改善，再扩到双人交接</a:t>
            </a:r>
            <a:endParaRPr lang="zh-CN" sz="168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将复核与维护成本计入收益。先约定阈值；状态不一致、关键遗漏或未授权动作触发停止与人工接管。</a:t>
            </a:r>
            <a:endParaRPr lang="zh-CN" sz="1680" dirty="0"/>
          </a:p>
        </p:txBody>
      </p:sp>
      <p:sp>
        <p:nvSpPr>
          <p:cNvPr id="8" name="Text 1"/>
          <p:cNvSpPr/>
          <p:nvPr>
            <p:ph idx="102" type="body" hasCustomPrompt="1"/>
          </p:nvPr>
        </p:nvSpPr>
        <p:spPr>
          <a:xfrm>
            <a:off x="762000" y="2057400"/>
            <a:ext cx="106680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证据支持什么，还缺少什么</a:t>
            </a:r>
            <a:endParaRPr lang="zh-CN" sz="2400" dirty="0"/>
          </a:p>
        </p:txBody>
      </p:sp>
      <p:sp>
        <p:nvSpPr>
          <p:cNvPr id="3" name="evidence-and-limits-shown"/>
          <p:cNvSpPr/>
          <p:nvPr/>
        </p:nvSpPr>
        <p:spPr>
          <a:xfrm>
            <a:off x="457200" y="1600200"/>
            <a:ext cx="5486400" cy="2362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00200"/>
            <a:ext cx="5486400" cy="2362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已展示的能力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E04–E05 / U3：字段提取、本人观察 AI 录入及后续台账。E06 / E11：业务数据查询、简报分发及回读。E07–E08：跟踪创建、待办和通知。E20：三个工具的分工。</a:t>
            </a:r>
            <a:endParaRPr lang="zh-CN" sz="1620" dirty="0"/>
          </a:p>
        </p:txBody>
      </p:sp>
      <p:sp>
        <p:nvSpPr>
          <p:cNvPr id="5" name="evidence-and-limits-unverified"/>
          <p:cNvSpPr/>
          <p:nvPr/>
        </p:nvSpPr>
        <p:spPr>
          <a:xfrm>
            <a:off x="6324600" y="1600200"/>
            <a:ext cx="5486400" cy="236220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24600" y="1600200"/>
            <a:ext cx="5486400" cy="2362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仍需验证的部分</a:t>
            </a: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endParaRPr lang="zh-CN" sz="1620" dirty="0"/>
          </a:p>
          <a:p>
            <a:pPr algn="l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E09–E10：跨次跟踪状态差异未解释。E15–E17：四次计划巡检中两次完成、两次执行错误。E21–E24：无人工效果基线，未验证真实多人协作、银行环境适配与规模化收益。</a:t>
            </a:r>
            <a:endParaRPr lang="zh-CN" sz="1620" dirty="0"/>
          </a:p>
        </p:txBody>
      </p:sp>
      <p:sp>
        <p:nvSpPr>
          <p:cNvPr id="7" name="evidence-and-limits-derivation"/>
          <p:cNvSpPr/>
          <p:nvPr/>
        </p:nvSpPr>
        <p:spPr>
          <a:xfrm>
            <a:off x="457200" y="4229100"/>
            <a:ext cx="1127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5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本页依据《千问办公与钉钉协同实践分析》及 E01–E24 证据矩阵提炼，是管理沟通衍生材料，不新增独立证据。“业务价值”和“科技借鉴”为待验证的分析与建议。配图保留演示业务数据，不代表完整匿名化。</a:t>
            </a:r>
            <a:endParaRPr lang="zh-CN" sz="1560" dirty="0"/>
          </a:p>
        </p:txBody>
      </p:sp>
      <p:sp>
        <p:nvSpPr>
          <p:cNvPr id="8" name="evidence-and-limits-scope"/>
          <p:cNvSpPr/>
          <p:nvPr/>
        </p:nvSpPr>
        <p:spPr>
          <a:xfrm>
            <a:off x="457200" y="5410200"/>
            <a:ext cx="11277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zh-CN" altLang="en-US" sz="13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流程为基于记录的示意，非实时系统演示。截图均于2026年10月15日补采；千问动作来自日志与本人观察。单人、模拟数据、预置技能，不代表真实多人管理闭环。</a:t>
            </a:r>
            <a:endParaRPr lang="zh-CN" sz="1380" dirty="0"/>
          </a:p>
        </p:txBody>
      </p:sp>
      <p:sp>
        <p:nvSpPr>
          <p:cNvPr id="10" name="Text 1"/>
          <p:cNvSpPr/>
          <p:nvPr>
            <p:ph idx="102" type="body" hasCustomPrompt="1"/>
          </p:nvPr>
        </p:nvSpPr>
        <p:spPr>
          <a:xfrm>
            <a:off x="7620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  <p:sp>
        <p:nvSpPr>
          <p:cNvPr id="11" name="Text 1"/>
          <p:cNvSpPr/>
          <p:nvPr>
            <p:ph idx="103" type="body" hasCustomPrompt="1"/>
          </p:nvPr>
        </p:nvSpPr>
        <p:spPr>
          <a:xfrm>
            <a:off x="6324600" y="2057400"/>
            <a:ext cx="51054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81000" y="891540"/>
            <a:ext cx="11430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400" b="1" spc="-8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zh-CN" sz="2400" dirty="0"/>
          </a:p>
        </p:txBody>
      </p:sp>
      <p:sp>
        <p:nvSpPr>
          <p:cNvPr id="3" name="closing-qa"/>
          <p:cNvSpPr/>
          <p:nvPr/>
        </p:nvSpPr>
        <p:spPr>
          <a:xfrm>
            <a:off x="762000" y="3413760"/>
            <a:ext cx="1066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CN" altLang="en-US" sz="2160" dirty="0">
                <a:solidFill>
                  <a:srgbClr val="DB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zh-CN" sz="2160" dirty="0"/>
          </a:p>
        </p:txBody>
      </p:sp>
      <p:sp>
        <p:nvSpPr>
          <p:cNvPr id="4" name="closing-byline"/>
          <p:cNvSpPr/>
          <p:nvPr/>
        </p:nvSpPr>
        <p:spPr>
          <a:xfrm>
            <a:off x="762000" y="4229100"/>
            <a:ext cx="1066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CN" altLang="en-US" sz="16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 Zhang · 个人实践研究 · 供管理讨论</a:t>
            </a:r>
            <a:endParaRPr lang="zh-CN" sz="1620" dirty="0"/>
          </a:p>
        </p:txBody>
      </p:sp>
      <p:sp>
        <p:nvSpPr>
          <p:cNvPr id="5" name="closing-endorsement"/>
          <p:cNvSpPr/>
          <p:nvPr/>
        </p:nvSpPr>
        <p:spPr>
          <a:xfrm>
            <a:off x="762000" y="4876800"/>
            <a:ext cx="10668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8000"/>
              </a:lnSpc>
              <a:buNone/>
            </a:pPr>
            <a:r>
              <a:rPr lang="zh-CN" alt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不代表机构官方评价、产品背书或部署决定。</a:t>
            </a:r>
            <a:endParaRPr lang="zh-CN" sz="1500" dirty="0"/>
          </a:p>
        </p:txBody>
      </p:sp>
      <p:sp>
        <p:nvSpPr>
          <p:cNvPr id="7" name="Text 1"/>
          <p:cNvSpPr/>
          <p:nvPr>
            <p:ph idx="102" type="body" hasCustomPrompt="1"/>
          </p:nvPr>
        </p:nvSpPr>
        <p:spPr>
          <a:xfrm>
            <a:off x="762000" y="2743200"/>
            <a:ext cx="10668000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rporate">
      <a:dk1>
        <a:srgbClr val="000000"/>
      </a:dk1>
      <a:lt1>
        <a:srgbClr val="FFFFFF"/>
      </a:lt1>
      <a:dk2>
        <a:srgbClr val="444444"/>
      </a:dk2>
      <a:lt2>
        <a:srgbClr val="F4F4F4"/>
      </a:lt2>
      <a:accent1>
        <a:srgbClr val="DB0011"/>
      </a:accent1>
      <a:accent2>
        <a:srgbClr val="000000"/>
      </a:accent2>
      <a:accent3>
        <a:srgbClr val="999999"/>
      </a:accent3>
      <a:accent4>
        <a:srgbClr val="A3000D"/>
      </a:accent4>
      <a:accent5>
        <a:srgbClr val="B6B6B6"/>
      </a:accent5>
      <a:accent6>
        <a:srgbClr val="E6E6E6"/>
      </a:accent6>
      <a:hlink>
        <a:srgbClr val="DB0011"/>
      </a:hlink>
      <a:folHlink>
        <a:srgbClr val="8D0B20"/>
      </a:folHlink>
    </a:clrScheme>
    <a:fontScheme name="Office">
      <a:majorFont>
        <a:latin typeface="Arial"/>
        <a:ea typeface="Arial"/>
        <a:cs typeface=""/>
        <a:font script="Jpan" typeface="游ゴシック Light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Arial"/>
        <a:cs typeface=""/>
        <a:font script="Jpan" typeface="游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HSBC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从业务数据到行动｜主管简报</dc:title>
  <dc:subject>Native editable slides; web animations export as visible final state.</dc:subject>
  <dc:creator>Leo Zhang</dc:creator>
  <cp:lastModifiedBy>Leo Zhang</cp:lastModifiedBy>
  <cp:revision>1</cp:revision>
  <dcterms:created xsi:type="dcterms:W3CDTF">2026-10-15T01:28:45Z</dcterms:created>
  <dcterms:modified xsi:type="dcterms:W3CDTF">2026-10-15T01:28:45Z</dcterms:modified>
</cp:coreProperties>
</file>